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STRIP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 Operating Review: Mixed Results Against Target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and retention gained ground, but pipeline, win rate, and implementation time missed target by material margins.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q2-kpis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2072640"/>
            <a:ext cx="1905000" cy="0"/>
          </a:xfrm>
          <a:prstGeom prst="line">
            <a:avLst/>
          </a:prstGeom>
          <a:noFill/>
          <a:ln w="19050">
            <a:solidFill>
              <a:srgbClr val="A63B32"/>
            </a:solidFill>
            <a:prstDash val="solid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48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4.8</a:t>
            </a:r>
            <a:endParaRPr lang="en-US" sz="3712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· $M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5.0 target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2834640" y="2072640"/>
            <a:ext cx="1905000" cy="0"/>
          </a:xfrm>
          <a:prstGeom prst="line">
            <a:avLst/>
          </a:prstGeom>
          <a:noFill/>
          <a:ln w="50800">
            <a:solidFill>
              <a:srgbClr val="A63B32"/>
            </a:solidFill>
            <a:prstDash val="solid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2834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608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7.4</a:t>
            </a:r>
            <a:endParaRPr lang="en-US" sz="4608" dirty="0"/>
          </a:p>
        </p:txBody>
      </p:sp>
      <p:sp>
        <p:nvSpPr>
          <p:cNvPr id="14" name="Text 12"/>
          <p:cNvSpPr/>
          <p:nvPr/>
        </p:nvSpPr>
        <p:spPr>
          <a:xfrm>
            <a:off x="2834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· $M</a:t>
            </a:r>
            <a:endParaRPr lang="en-US" sz="1344" dirty="0"/>
          </a:p>
        </p:txBody>
      </p:sp>
      <p:sp>
        <p:nvSpPr>
          <p:cNvPr id="15" name="Text 13"/>
          <p:cNvSpPr/>
          <p:nvPr/>
        </p:nvSpPr>
        <p:spPr>
          <a:xfrm>
            <a:off x="2834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10.0 target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5120640" y="2072640"/>
            <a:ext cx="1905000" cy="0"/>
          </a:xfrm>
          <a:prstGeom prst="line">
            <a:avLst/>
          </a:prstGeom>
          <a:noFill/>
          <a:ln w="19050">
            <a:solidFill>
              <a:srgbClr val="A63B32"/>
            </a:solidFill>
            <a:prstDash val="solid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5120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21%</a:t>
            </a:r>
            <a:endParaRPr lang="en-US" sz="3712" dirty="0"/>
          </a:p>
        </p:txBody>
      </p:sp>
      <p:sp>
        <p:nvSpPr>
          <p:cNvPr id="18" name="Text 16"/>
          <p:cNvSpPr/>
          <p:nvPr/>
        </p:nvSpPr>
        <p:spPr>
          <a:xfrm>
            <a:off x="5120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 rate</a:t>
            </a:r>
            <a:endParaRPr lang="en-US" sz="1344" dirty="0"/>
          </a:p>
        </p:txBody>
      </p:sp>
      <p:sp>
        <p:nvSpPr>
          <p:cNvPr id="19" name="Text 17"/>
          <p:cNvSpPr/>
          <p:nvPr/>
        </p:nvSpPr>
        <p:spPr>
          <a:xfrm>
            <a:off x="5120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28% target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7406640" y="2072640"/>
            <a:ext cx="1905000" cy="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7406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39d</a:t>
            </a:r>
            <a:endParaRPr lang="en-US" sz="3712" dirty="0"/>
          </a:p>
        </p:txBody>
      </p:sp>
      <p:sp>
        <p:nvSpPr>
          <p:cNvPr id="22" name="Text 20"/>
          <p:cNvSpPr/>
          <p:nvPr/>
        </p:nvSpPr>
        <p:spPr>
          <a:xfrm>
            <a:off x="7406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</a:t>
            </a:r>
            <a:endParaRPr lang="en-US" sz="1344" dirty="0"/>
          </a:p>
        </p:txBody>
      </p:sp>
      <p:sp>
        <p:nvSpPr>
          <p:cNvPr id="23" name="Text 21"/>
          <p:cNvSpPr/>
          <p:nvPr/>
        </p:nvSpPr>
        <p:spPr>
          <a:xfrm>
            <a:off x="7406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 from 46d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9692640" y="2072640"/>
            <a:ext cx="1905000" cy="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9692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94%</a:t>
            </a:r>
            <a:endParaRPr lang="en-US" sz="3712" dirty="0"/>
          </a:p>
        </p:txBody>
      </p:sp>
      <p:sp>
        <p:nvSpPr>
          <p:cNvPr id="26" name="Text 24"/>
          <p:cNvSpPr/>
          <p:nvPr/>
        </p:nvSpPr>
        <p:spPr>
          <a:xfrm>
            <a:off x="9692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</a:t>
            </a:r>
            <a:endParaRPr lang="en-US" sz="1344" dirty="0"/>
          </a:p>
        </p:txBody>
      </p:sp>
      <p:sp>
        <p:nvSpPr>
          <p:cNvPr id="27" name="Text 25"/>
          <p:cNvSpPr/>
          <p:nvPr/>
        </p:nvSpPr>
        <p:spPr>
          <a:xfrm>
            <a:off x="9692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95% target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548640" y="4648200"/>
            <a:ext cx="70866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9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and win rate are the binding Q3 constraints.</a:t>
            </a:r>
            <a:endParaRPr lang="en-US" sz="1792" dirty="0"/>
          </a:p>
        </p:txBody>
      </p:sp>
      <p:sp>
        <p:nvSpPr>
          <p:cNvPr id="29" name="Text 27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revenue 4.8 million · pipeline 7.4 million · win rate 21 percent · implementation 39 days · retention 94 percent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Bars show Q2 actual against prior-quarter and target markers; flagged metrics missed target by more than one point of scale.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Q2 Operating Review: Mixed Results Against Target</dc:title>
  <dc:subject>kpi-strip benchmark candidate</dc:subject>
  <dc:creator>NodeSlide Artifact Arena</dc:creator>
  <cp:lastModifiedBy>NodeSlide Artifact Arena</cp:lastModifiedBy>
  <cp:revision>1</cp:revision>
  <dcterms:created xsi:type="dcterms:W3CDTF">2026-07-22T03:32:27Z</dcterms:created>
  <dcterms:modified xsi:type="dcterms:W3CDTF">2026-07-22T03:32:27Z</dcterms:modified>
</cp:coreProperties>
</file>