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017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01723"/>
          </a:solidFill>
          <a:ln w="6350">
            <a:solidFill>
              <a:srgbClr val="101723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411480"/>
            <a:ext cx="7924800" cy="3352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52" b="1" dirty="0">
                <a:solidFill>
                  <a:srgbClr val="B6E3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RISK MATRIX</a:t>
            </a:r>
            <a:endParaRPr lang="en-US" sz="1152" dirty="0"/>
          </a:p>
        </p:txBody>
      </p:sp>
      <p:sp>
        <p:nvSpPr>
          <p:cNvPr id="4" name="Text 2"/>
          <p:cNvSpPr/>
          <p:nvPr/>
        </p:nvSpPr>
        <p:spPr>
          <a:xfrm>
            <a:off x="548640" y="746760"/>
            <a:ext cx="9753600" cy="853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816" b="1" dirty="0">
                <a:solidFill>
                  <a:srgbClr val="F7F2E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Q2 Operating Risk Matrix</a:t>
            </a:r>
            <a:endParaRPr lang="en-US" sz="2816" dirty="0"/>
          </a:p>
        </p:txBody>
      </p:sp>
      <p:sp>
        <p:nvSpPr>
          <p:cNvPr id="5" name="Text 3"/>
          <p:cNvSpPr/>
          <p:nvPr/>
        </p:nvSpPr>
        <p:spPr>
          <a:xfrm>
            <a:off x="548640" y="6019800"/>
            <a:ext cx="8001000" cy="259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52" dirty="0">
                <a:solidFill>
                  <a:srgbClr val="A4B1C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Pipeline coverage is highest priority; retention concentration and implementation capacity follow.</a:t>
            </a:r>
            <a:endParaRPr lang="en-US" sz="1152" dirty="0"/>
          </a:p>
        </p:txBody>
      </p:sp>
      <p:sp>
        <p:nvSpPr>
          <p:cNvPr id="6" name="Text 4"/>
          <p:cNvSpPr/>
          <p:nvPr/>
        </p:nvSpPr>
        <p:spPr>
          <a:xfrm>
            <a:off x="548640" y="6416040"/>
            <a:ext cx="838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A4B1C1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SOURCE · q2-risks · Kimi K3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10896600" y="6416040"/>
            <a:ext cx="685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A4B1C1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ATLAS 01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1905000" y="1790700"/>
            <a:ext cx="3810000" cy="3810000"/>
          </a:xfrm>
          <a:prstGeom prst="rect">
            <a:avLst/>
          </a:prstGeom>
          <a:solidFill>
            <a:srgbClr val="172132"/>
          </a:solidFill>
          <a:ln w="6350">
            <a:solidFill>
              <a:srgbClr val="A4B1C1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667000" y="1790700"/>
            <a:ext cx="0" cy="3810000"/>
          </a:xfrm>
          <a:prstGeom prst="line">
            <a:avLst/>
          </a:prstGeom>
          <a:noFill/>
          <a:ln w="12700">
            <a:solidFill>
              <a:srgbClr val="253044"/>
            </a:solidFill>
            <a:prstDash val="solid"/>
            <a:tailEnd type="none"/>
          </a:ln>
        </p:spPr>
      </p:sp>
      <p:sp>
        <p:nvSpPr>
          <p:cNvPr id="10" name="Shape 8"/>
          <p:cNvSpPr/>
          <p:nvPr/>
        </p:nvSpPr>
        <p:spPr>
          <a:xfrm>
            <a:off x="1905000" y="2552700"/>
            <a:ext cx="3810000" cy="0"/>
          </a:xfrm>
          <a:prstGeom prst="line">
            <a:avLst/>
          </a:prstGeom>
          <a:noFill/>
          <a:ln w="12700">
            <a:solidFill>
              <a:srgbClr val="253044"/>
            </a:solidFill>
            <a:prstDash val="solid"/>
            <a:tailEnd type="none"/>
          </a:ln>
        </p:spPr>
      </p:sp>
      <p:sp>
        <p:nvSpPr>
          <p:cNvPr id="11" name="Shape 9"/>
          <p:cNvSpPr/>
          <p:nvPr/>
        </p:nvSpPr>
        <p:spPr>
          <a:xfrm>
            <a:off x="3429000" y="1790700"/>
            <a:ext cx="0" cy="3810000"/>
          </a:xfrm>
          <a:prstGeom prst="line">
            <a:avLst/>
          </a:prstGeom>
          <a:noFill/>
          <a:ln w="12700">
            <a:solidFill>
              <a:srgbClr val="253044"/>
            </a:solidFill>
            <a:prstDash val="solid"/>
            <a:tailEnd type="none"/>
          </a:ln>
        </p:spPr>
      </p:sp>
      <p:sp>
        <p:nvSpPr>
          <p:cNvPr id="12" name="Shape 10"/>
          <p:cNvSpPr/>
          <p:nvPr/>
        </p:nvSpPr>
        <p:spPr>
          <a:xfrm>
            <a:off x="1905000" y="3314700"/>
            <a:ext cx="3810000" cy="0"/>
          </a:xfrm>
          <a:prstGeom prst="line">
            <a:avLst/>
          </a:prstGeom>
          <a:noFill/>
          <a:ln w="12700">
            <a:solidFill>
              <a:srgbClr val="253044"/>
            </a:solidFill>
            <a:prstDash val="solid"/>
            <a:tailEnd type="none"/>
          </a:ln>
        </p:spPr>
      </p:sp>
      <p:sp>
        <p:nvSpPr>
          <p:cNvPr id="13" name="Shape 11"/>
          <p:cNvSpPr/>
          <p:nvPr/>
        </p:nvSpPr>
        <p:spPr>
          <a:xfrm>
            <a:off x="4191000" y="1790700"/>
            <a:ext cx="0" cy="3810000"/>
          </a:xfrm>
          <a:prstGeom prst="line">
            <a:avLst/>
          </a:prstGeom>
          <a:noFill/>
          <a:ln w="12700">
            <a:solidFill>
              <a:srgbClr val="253044"/>
            </a:solidFill>
            <a:prstDash val="solid"/>
            <a:tailEnd type="none"/>
          </a:ln>
        </p:spPr>
      </p:sp>
      <p:sp>
        <p:nvSpPr>
          <p:cNvPr id="14" name="Shape 12"/>
          <p:cNvSpPr/>
          <p:nvPr/>
        </p:nvSpPr>
        <p:spPr>
          <a:xfrm>
            <a:off x="1905000" y="4076700"/>
            <a:ext cx="3810000" cy="0"/>
          </a:xfrm>
          <a:prstGeom prst="line">
            <a:avLst/>
          </a:prstGeom>
          <a:noFill/>
          <a:ln w="12700">
            <a:solidFill>
              <a:srgbClr val="253044"/>
            </a:solidFill>
            <a:prstDash val="solid"/>
            <a:tailEnd type="none"/>
          </a:ln>
        </p:spPr>
      </p:sp>
      <p:sp>
        <p:nvSpPr>
          <p:cNvPr id="15" name="Shape 13"/>
          <p:cNvSpPr/>
          <p:nvPr/>
        </p:nvSpPr>
        <p:spPr>
          <a:xfrm>
            <a:off x="4953000" y="1790700"/>
            <a:ext cx="0" cy="3810000"/>
          </a:xfrm>
          <a:prstGeom prst="line">
            <a:avLst/>
          </a:prstGeom>
          <a:noFill/>
          <a:ln w="12700">
            <a:solidFill>
              <a:srgbClr val="253044"/>
            </a:solidFill>
            <a:prstDash val="solid"/>
            <a:tailEnd type="none"/>
          </a:ln>
        </p:spPr>
      </p:sp>
      <p:sp>
        <p:nvSpPr>
          <p:cNvPr id="16" name="Shape 14"/>
          <p:cNvSpPr/>
          <p:nvPr/>
        </p:nvSpPr>
        <p:spPr>
          <a:xfrm>
            <a:off x="1905000" y="4838700"/>
            <a:ext cx="3810000" cy="0"/>
          </a:xfrm>
          <a:prstGeom prst="line">
            <a:avLst/>
          </a:prstGeom>
          <a:noFill/>
          <a:ln w="12700">
            <a:solidFill>
              <a:srgbClr val="253044"/>
            </a:solidFill>
            <a:prstDash val="solid"/>
            <a:tailEnd type="none"/>
          </a:ln>
        </p:spPr>
      </p:sp>
      <p:sp>
        <p:nvSpPr>
          <p:cNvPr id="17" name="Shape 15"/>
          <p:cNvSpPr/>
          <p:nvPr/>
        </p:nvSpPr>
        <p:spPr>
          <a:xfrm>
            <a:off x="4191000" y="1790700"/>
            <a:ext cx="762000" cy="762000"/>
          </a:xfrm>
          <a:prstGeom prst="rect">
            <a:avLst/>
          </a:prstGeom>
          <a:solidFill>
            <a:srgbClr val="FF7A70">
              <a:alpha val="15000"/>
            </a:srgbClr>
          </a:solidFill>
          <a:ln w="6350">
            <a:solidFill>
              <a:srgbClr val="FF7A70">
                <a:alpha val="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953000" y="1790700"/>
            <a:ext cx="762000" cy="762000"/>
          </a:xfrm>
          <a:prstGeom prst="rect">
            <a:avLst/>
          </a:prstGeom>
          <a:solidFill>
            <a:srgbClr val="FF7A70">
              <a:alpha val="15000"/>
            </a:srgbClr>
          </a:solidFill>
          <a:ln w="6350">
            <a:solidFill>
              <a:srgbClr val="FF7A70">
                <a:alpha val="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953000" y="2552700"/>
            <a:ext cx="762000" cy="762000"/>
          </a:xfrm>
          <a:prstGeom prst="rect">
            <a:avLst/>
          </a:prstGeom>
          <a:solidFill>
            <a:srgbClr val="FF7A70">
              <a:alpha val="15000"/>
            </a:srgbClr>
          </a:solidFill>
          <a:ln w="6350">
            <a:solidFill>
              <a:srgbClr val="FF7A70">
                <a:alpha val="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200400" y="5890260"/>
            <a:ext cx="1981200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960" b="1" dirty="0">
                <a:solidFill>
                  <a:srgbClr val="A4B1C1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LIKELIHOOD →</a:t>
            </a:r>
            <a:endParaRPr lang="en-US" sz="960" dirty="0"/>
          </a:p>
        </p:txBody>
      </p:sp>
      <p:sp>
        <p:nvSpPr>
          <p:cNvPr id="21" name="Text 19"/>
          <p:cNvSpPr/>
          <p:nvPr/>
        </p:nvSpPr>
        <p:spPr>
          <a:xfrm>
            <a:off x="762000" y="3352800"/>
            <a:ext cx="9144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960" b="1" dirty="0">
                <a:solidFill>
                  <a:srgbClr val="A4B1C1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IMPACT ↑</a:t>
            </a:r>
            <a:endParaRPr lang="en-US" sz="960" dirty="0"/>
          </a:p>
        </p:txBody>
      </p:sp>
      <p:sp>
        <p:nvSpPr>
          <p:cNvPr id="22" name="Shape 20"/>
          <p:cNvSpPr/>
          <p:nvPr/>
        </p:nvSpPr>
        <p:spPr>
          <a:xfrm>
            <a:off x="4404360" y="2004060"/>
            <a:ext cx="335280" cy="335280"/>
          </a:xfrm>
          <a:prstGeom prst="ellipse">
            <a:avLst/>
          </a:prstGeom>
          <a:solidFill>
            <a:srgbClr val="FF7A70"/>
          </a:solidFill>
          <a:ln w="25400">
            <a:solidFill>
              <a:srgbClr val="101723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815840" y="2057400"/>
            <a:ext cx="2057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60" b="1" dirty="0">
                <a:solidFill>
                  <a:srgbClr val="F7F2E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Pipeline coverage</a:t>
            </a:r>
            <a:endParaRPr lang="en-US" sz="960" dirty="0"/>
          </a:p>
        </p:txBody>
      </p:sp>
      <p:sp>
        <p:nvSpPr>
          <p:cNvPr id="24" name="Shape 22"/>
          <p:cNvSpPr/>
          <p:nvPr/>
        </p:nvSpPr>
        <p:spPr>
          <a:xfrm>
            <a:off x="3642360" y="2766060"/>
            <a:ext cx="335280" cy="335280"/>
          </a:xfrm>
          <a:prstGeom prst="ellipse">
            <a:avLst/>
          </a:prstGeom>
          <a:solidFill>
            <a:srgbClr val="B6E36B"/>
          </a:solidFill>
          <a:ln w="25400">
            <a:solidFill>
              <a:srgbClr val="101723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053840" y="2819400"/>
            <a:ext cx="2057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60" b="1" dirty="0">
                <a:solidFill>
                  <a:srgbClr val="F7F2E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Implementation capacity</a:t>
            </a:r>
            <a:endParaRPr lang="en-US" sz="960" dirty="0"/>
          </a:p>
        </p:txBody>
      </p:sp>
      <p:sp>
        <p:nvSpPr>
          <p:cNvPr id="26" name="Shape 24"/>
          <p:cNvSpPr/>
          <p:nvPr/>
        </p:nvSpPr>
        <p:spPr>
          <a:xfrm>
            <a:off x="2880360" y="2004060"/>
            <a:ext cx="335280" cy="335280"/>
          </a:xfrm>
          <a:prstGeom prst="ellipse">
            <a:avLst/>
          </a:prstGeom>
          <a:solidFill>
            <a:srgbClr val="A98BFF"/>
          </a:solidFill>
          <a:ln w="25400">
            <a:solidFill>
              <a:srgbClr val="101723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291840" y="2057400"/>
            <a:ext cx="2057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60" b="1" dirty="0">
                <a:solidFill>
                  <a:srgbClr val="F7F2E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Retention concentration</a:t>
            </a:r>
            <a:endParaRPr lang="en-US" sz="960" dirty="0"/>
          </a:p>
        </p:txBody>
      </p:sp>
      <p:sp>
        <p:nvSpPr>
          <p:cNvPr id="28" name="Text 26"/>
          <p:cNvSpPr/>
          <p:nvPr/>
        </p:nvSpPr>
        <p:spPr>
          <a:xfrm>
            <a:off x="6858000" y="2209800"/>
            <a:ext cx="41148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984" b="1" dirty="0">
                <a:solidFill>
                  <a:srgbClr val="F7F2E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Pipeline coverage is the highest-priority operating risk.</a:t>
            </a:r>
            <a:endParaRPr lang="en-US" sz="1984" dirty="0"/>
          </a:p>
        </p:txBody>
      </p:sp>
      <p:sp>
        <p:nvSpPr>
          <p:cNvPr id="29" name="Text 27"/>
          <p:cNvSpPr/>
          <p:nvPr/>
        </p:nvSpPr>
        <p:spPr>
          <a:xfrm>
            <a:off x="6858000" y="3048000"/>
            <a:ext cx="3886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408" dirty="0">
                <a:solidFill>
                  <a:srgbClr val="A4B1C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It combines the highest likelihood observed in the register with maximum impact.</a:t>
            </a:r>
            <a:endParaRPr lang="en-US" sz="1408" dirty="0"/>
          </a:p>
        </p:txBody>
      </p:sp>
      <p:sp>
        <p:nvSpPr>
          <p:cNvPr id="30" name="Shape 28"/>
          <p:cNvSpPr/>
          <p:nvPr/>
        </p:nvSpPr>
        <p:spPr>
          <a:xfrm>
            <a:off x="6858000" y="4343400"/>
            <a:ext cx="3581400" cy="640080"/>
          </a:xfrm>
          <a:prstGeom prst="roundRect">
            <a:avLst>
              <a:gd name="adj" fmla="val 11429"/>
            </a:avLst>
          </a:prstGeom>
          <a:solidFill>
            <a:srgbClr val="253044"/>
          </a:solidFill>
          <a:ln w="6350">
            <a:solidFill>
              <a:srgbClr val="B6E36B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086600" y="4511040"/>
            <a:ext cx="3124200" cy="289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80" b="1" dirty="0">
                <a:solidFill>
                  <a:srgbClr val="F7F2E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Decision: intervene before Q3 planning</a:t>
            </a:r>
            <a:endParaRPr lang="en-US" sz="1280" dirty="0"/>
          </a:p>
        </p:txBody>
      </p:sp>
      <p:sp>
        <p:nvSpPr>
          <p:cNvPr id="32" name="Text 30"/>
          <p:cNvSpPr/>
          <p:nvPr/>
        </p:nvSpPr>
        <p:spPr>
          <a:xfrm>
            <a:off x="548640" y="5699760"/>
            <a:ext cx="11033760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A4B1C1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VERIFIED EVIDENCE · pipeline coverage is highest priority · implementation capacity is 3 by 4 · retention concentration is 2 by 5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8458200" y="5257800"/>
            <a:ext cx="3124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800" dirty="0">
                <a:solidFill>
                  <a:srgbClr val="F7F2E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Markers placed on 1–5 likelihood and impact scales from the Q2 risk register.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NodeSlide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Q2 Operating Risk Matrix</dc:title>
  <dc:subject>risk-matrix benchmark candidate</dc:subject>
  <dc:creator>NodeSlide Artifact Arena</dc:creator>
  <cp:lastModifiedBy>NodeSlide Artifact Arena</cp:lastModifiedBy>
  <cp:revision>1</cp:revision>
  <dcterms:created xsi:type="dcterms:W3CDTF">2026-07-22T03:40:56Z</dcterms:created>
  <dcterms:modified xsi:type="dcterms:W3CDTF">2026-07-22T03:40:56Z</dcterms:modified>
</cp:coreProperties>
</file>