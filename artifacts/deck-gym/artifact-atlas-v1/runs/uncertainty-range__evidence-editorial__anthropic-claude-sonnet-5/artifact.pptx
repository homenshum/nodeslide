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5F0E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5F0E7"/>
          </a:solidFill>
          <a:ln w="6350">
            <a:solidFill>
              <a:srgbClr val="F5F0E7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411480"/>
            <a:ext cx="7924800" cy="3352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152" b="1" dirty="0">
                <a:solidFill>
                  <a:srgbClr val="C4553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UNCERTAINTY RANGE</a:t>
            </a:r>
            <a:endParaRPr lang="en-US" sz="1152" dirty="0"/>
          </a:p>
        </p:txBody>
      </p:sp>
      <p:sp>
        <p:nvSpPr>
          <p:cNvPr id="4" name="Text 2"/>
          <p:cNvSpPr/>
          <p:nvPr/>
        </p:nvSpPr>
        <p:spPr>
          <a:xfrm>
            <a:off x="548640" y="746760"/>
            <a:ext cx="9753600" cy="853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2816" b="1" dirty="0">
                <a:solidFill>
                  <a:srgbClr val="17241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Forecast vs. Actual: Widening Uncertainty Ahead</a:t>
            </a:r>
            <a:endParaRPr lang="en-US" sz="2816" dirty="0"/>
          </a:p>
        </p:txBody>
      </p:sp>
      <p:sp>
        <p:nvSpPr>
          <p:cNvPr id="5" name="Text 3"/>
          <p:cNvSpPr/>
          <p:nvPr/>
        </p:nvSpPr>
        <p:spPr>
          <a:xfrm>
            <a:off x="548640" y="6019800"/>
            <a:ext cx="8001000" cy="2590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152" dirty="0">
                <a:solidFill>
                  <a:srgbClr val="6771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Base forecast reaches 11.4 by Q5, but the modeled range widens to 9.0–13.8, so no single value should be treated as certain.</a:t>
            </a:r>
            <a:endParaRPr lang="en-US" sz="1152" dirty="0"/>
          </a:p>
        </p:txBody>
      </p:sp>
      <p:sp>
        <p:nvSpPr>
          <p:cNvPr id="6" name="Text 4"/>
          <p:cNvSpPr/>
          <p:nvPr/>
        </p:nvSpPr>
        <p:spPr>
          <a:xfrm>
            <a:off x="548640" y="6416040"/>
            <a:ext cx="838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800" dirty="0">
                <a:solidFill>
                  <a:srgbClr val="677169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SOURCE · forecast-range-data · Claude Sonnet 5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10896600" y="6416040"/>
            <a:ext cx="685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677169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ATLAS 01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1143000" y="4528125"/>
            <a:ext cx="288608" cy="0"/>
          </a:xfrm>
          <a:prstGeom prst="rect">
            <a:avLst/>
          </a:prstGeom>
          <a:solidFill>
            <a:srgbClr val="E2DDD3">
              <a:alpha val="72000"/>
            </a:srgbClr>
          </a:solidFill>
          <a:ln w="6350">
            <a:solidFill>
              <a:srgbClr val="E2DDD3">
                <a:alpha val="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423988" y="4495621"/>
            <a:ext cx="288608" cy="0"/>
          </a:xfrm>
          <a:prstGeom prst="rect">
            <a:avLst/>
          </a:prstGeom>
          <a:solidFill>
            <a:srgbClr val="E2DDD3">
              <a:alpha val="72000"/>
            </a:srgbClr>
          </a:solidFill>
          <a:ln w="6350">
            <a:solidFill>
              <a:srgbClr val="E2DDD3">
                <a:alpha val="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704975" y="4463117"/>
            <a:ext cx="288608" cy="0"/>
          </a:xfrm>
          <a:prstGeom prst="rect">
            <a:avLst/>
          </a:prstGeom>
          <a:solidFill>
            <a:srgbClr val="E2DDD3">
              <a:alpha val="72000"/>
            </a:srgbClr>
          </a:solidFill>
          <a:ln w="6350">
            <a:solidFill>
              <a:srgbClr val="E2DDD3">
                <a:alpha val="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1985963" y="4430613"/>
            <a:ext cx="288608" cy="0"/>
          </a:xfrm>
          <a:prstGeom prst="rect">
            <a:avLst/>
          </a:prstGeom>
          <a:solidFill>
            <a:srgbClr val="E2DDD3">
              <a:alpha val="72000"/>
            </a:srgbClr>
          </a:solidFill>
          <a:ln w="6350">
            <a:solidFill>
              <a:srgbClr val="E2DDD3">
                <a:alpha val="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2266950" y="4398109"/>
            <a:ext cx="288608" cy="0"/>
          </a:xfrm>
          <a:prstGeom prst="rect">
            <a:avLst/>
          </a:prstGeom>
          <a:solidFill>
            <a:srgbClr val="E2DDD3">
              <a:alpha val="72000"/>
            </a:srgbClr>
          </a:solidFill>
          <a:ln w="6350">
            <a:solidFill>
              <a:srgbClr val="E2DDD3">
                <a:alpha val="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2547938" y="4365605"/>
            <a:ext cx="288608" cy="0"/>
          </a:xfrm>
          <a:prstGeom prst="rect">
            <a:avLst/>
          </a:prstGeom>
          <a:solidFill>
            <a:srgbClr val="E2DDD3">
              <a:alpha val="72000"/>
            </a:srgbClr>
          </a:solidFill>
          <a:ln w="6350">
            <a:solidFill>
              <a:srgbClr val="E2DDD3">
                <a:alpha val="0"/>
              </a:srgbClr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2828925" y="4333101"/>
            <a:ext cx="288608" cy="0"/>
          </a:xfrm>
          <a:prstGeom prst="rect">
            <a:avLst/>
          </a:prstGeom>
          <a:solidFill>
            <a:srgbClr val="E2DDD3">
              <a:alpha val="72000"/>
            </a:srgbClr>
          </a:solidFill>
          <a:ln w="6350">
            <a:solidFill>
              <a:srgbClr val="E2DDD3">
                <a:alpha val="0"/>
              </a:srgbClr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3109913" y="4300597"/>
            <a:ext cx="288608" cy="0"/>
          </a:xfrm>
          <a:prstGeom prst="rect">
            <a:avLst/>
          </a:prstGeom>
          <a:solidFill>
            <a:srgbClr val="E2DDD3">
              <a:alpha val="72000"/>
            </a:srgbClr>
          </a:solidFill>
          <a:ln w="6350">
            <a:solidFill>
              <a:srgbClr val="E2DDD3">
                <a:alpha val="0"/>
              </a:srgbClr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3390900" y="4242554"/>
            <a:ext cx="288608" cy="39469"/>
          </a:xfrm>
          <a:prstGeom prst="rect">
            <a:avLst/>
          </a:prstGeom>
          <a:solidFill>
            <a:srgbClr val="E2DDD3">
              <a:alpha val="72000"/>
            </a:srgbClr>
          </a:solidFill>
          <a:ln w="6350">
            <a:solidFill>
              <a:srgbClr val="E2DDD3">
                <a:alpha val="0"/>
              </a:srgbClr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3671888" y="4158972"/>
            <a:ext cx="288608" cy="118408"/>
          </a:xfrm>
          <a:prstGeom prst="rect">
            <a:avLst/>
          </a:prstGeom>
          <a:solidFill>
            <a:srgbClr val="E2DDD3">
              <a:alpha val="72000"/>
            </a:srgbClr>
          </a:solidFill>
          <a:ln w="6350">
            <a:solidFill>
              <a:srgbClr val="E2DDD3">
                <a:alpha val="0"/>
              </a:srgbClr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3952875" y="4075390"/>
            <a:ext cx="288608" cy="197346"/>
          </a:xfrm>
          <a:prstGeom prst="rect">
            <a:avLst/>
          </a:prstGeom>
          <a:solidFill>
            <a:srgbClr val="E2DDD3">
              <a:alpha val="72000"/>
            </a:srgbClr>
          </a:solidFill>
          <a:ln w="6350">
            <a:solidFill>
              <a:srgbClr val="E2DDD3">
                <a:alpha val="0"/>
              </a:srgbClr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4233863" y="3991808"/>
            <a:ext cx="288608" cy="276285"/>
          </a:xfrm>
          <a:prstGeom prst="rect">
            <a:avLst/>
          </a:prstGeom>
          <a:solidFill>
            <a:srgbClr val="E2DDD3">
              <a:alpha val="72000"/>
            </a:srgbClr>
          </a:solidFill>
          <a:ln w="6350">
            <a:solidFill>
              <a:srgbClr val="E2DDD3">
                <a:alpha val="0"/>
              </a:srgbClr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4514850" y="3908227"/>
            <a:ext cx="288608" cy="355223"/>
          </a:xfrm>
          <a:prstGeom prst="rect">
            <a:avLst/>
          </a:prstGeom>
          <a:solidFill>
            <a:srgbClr val="E2DDD3">
              <a:alpha val="72000"/>
            </a:srgbClr>
          </a:solidFill>
          <a:ln w="6350">
            <a:solidFill>
              <a:srgbClr val="E2DDD3">
                <a:alpha val="0"/>
              </a:srgbClr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4795838" y="3824645"/>
            <a:ext cx="288608" cy="434161"/>
          </a:xfrm>
          <a:prstGeom prst="rect">
            <a:avLst/>
          </a:prstGeom>
          <a:solidFill>
            <a:srgbClr val="E2DDD3">
              <a:alpha val="72000"/>
            </a:srgbClr>
          </a:solidFill>
          <a:ln w="6350">
            <a:solidFill>
              <a:srgbClr val="E2DDD3">
                <a:alpha val="0"/>
              </a:srgbClr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5076825" y="3741063"/>
            <a:ext cx="288608" cy="513100"/>
          </a:xfrm>
          <a:prstGeom prst="rect">
            <a:avLst/>
          </a:prstGeom>
          <a:solidFill>
            <a:srgbClr val="E2DDD3">
              <a:alpha val="72000"/>
            </a:srgbClr>
          </a:solidFill>
          <a:ln w="6350">
            <a:solidFill>
              <a:srgbClr val="E2DDD3">
                <a:alpha val="0"/>
              </a:srgbClr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5357813" y="3657481"/>
            <a:ext cx="288608" cy="592038"/>
          </a:xfrm>
          <a:prstGeom prst="rect">
            <a:avLst/>
          </a:prstGeom>
          <a:solidFill>
            <a:srgbClr val="E2DDD3">
              <a:alpha val="72000"/>
            </a:srgbClr>
          </a:solidFill>
          <a:ln w="6350">
            <a:solidFill>
              <a:srgbClr val="E2DDD3">
                <a:alpha val="0"/>
              </a:srgbClr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5638800" y="3583186"/>
            <a:ext cx="288608" cy="659368"/>
          </a:xfrm>
          <a:prstGeom prst="rect">
            <a:avLst/>
          </a:prstGeom>
          <a:solidFill>
            <a:srgbClr val="E2DDD3">
              <a:alpha val="72000"/>
            </a:srgbClr>
          </a:solidFill>
          <a:ln w="6350">
            <a:solidFill>
              <a:srgbClr val="E2DDD3">
                <a:alpha val="0"/>
              </a:srgbClr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5919788" y="3518178"/>
            <a:ext cx="288608" cy="715089"/>
          </a:xfrm>
          <a:prstGeom prst="rect">
            <a:avLst/>
          </a:prstGeom>
          <a:solidFill>
            <a:srgbClr val="E2DDD3">
              <a:alpha val="72000"/>
            </a:srgbClr>
          </a:solidFill>
          <a:ln w="6350">
            <a:solidFill>
              <a:srgbClr val="E2DDD3">
                <a:alpha val="0"/>
              </a:srgbClr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6200775" y="3453170"/>
            <a:ext cx="288608" cy="770811"/>
          </a:xfrm>
          <a:prstGeom prst="rect">
            <a:avLst/>
          </a:prstGeom>
          <a:solidFill>
            <a:srgbClr val="E2DDD3">
              <a:alpha val="72000"/>
            </a:srgbClr>
          </a:solidFill>
          <a:ln w="6350">
            <a:solidFill>
              <a:srgbClr val="E2DDD3">
                <a:alpha val="0"/>
              </a:srgbClr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6481763" y="3388162"/>
            <a:ext cx="288608" cy="826532"/>
          </a:xfrm>
          <a:prstGeom prst="rect">
            <a:avLst/>
          </a:prstGeom>
          <a:solidFill>
            <a:srgbClr val="E2DDD3">
              <a:alpha val="72000"/>
            </a:srgbClr>
          </a:solidFill>
          <a:ln w="6350">
            <a:solidFill>
              <a:srgbClr val="E2DDD3">
                <a:alpha val="0"/>
              </a:srgbClr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6762750" y="3323153"/>
            <a:ext cx="288608" cy="882253"/>
          </a:xfrm>
          <a:prstGeom prst="rect">
            <a:avLst/>
          </a:prstGeom>
          <a:solidFill>
            <a:srgbClr val="E2DDD3">
              <a:alpha val="72000"/>
            </a:srgbClr>
          </a:solidFill>
          <a:ln w="6350">
            <a:solidFill>
              <a:srgbClr val="E2DDD3">
                <a:alpha val="0"/>
              </a:srgbClr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7043738" y="3258145"/>
            <a:ext cx="288608" cy="937974"/>
          </a:xfrm>
          <a:prstGeom prst="rect">
            <a:avLst/>
          </a:prstGeom>
          <a:solidFill>
            <a:srgbClr val="E2DDD3">
              <a:alpha val="72000"/>
            </a:srgbClr>
          </a:solidFill>
          <a:ln w="6350">
            <a:solidFill>
              <a:srgbClr val="E2DDD3">
                <a:alpha val="0"/>
              </a:srgbClr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7324725" y="3193137"/>
            <a:ext cx="288608" cy="993696"/>
          </a:xfrm>
          <a:prstGeom prst="rect">
            <a:avLst/>
          </a:prstGeom>
          <a:solidFill>
            <a:srgbClr val="E2DDD3">
              <a:alpha val="72000"/>
            </a:srgbClr>
          </a:solidFill>
          <a:ln w="6350">
            <a:solidFill>
              <a:srgbClr val="E2DDD3">
                <a:alpha val="0"/>
              </a:srgbClr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7605713" y="3128129"/>
            <a:ext cx="288608" cy="1049417"/>
          </a:xfrm>
          <a:prstGeom prst="rect">
            <a:avLst/>
          </a:prstGeom>
          <a:solidFill>
            <a:srgbClr val="E2DDD3">
              <a:alpha val="72000"/>
            </a:srgbClr>
          </a:solidFill>
          <a:ln w="6350">
            <a:solidFill>
              <a:srgbClr val="E2DDD3">
                <a:alpha val="0"/>
              </a:srgbClr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7886700" y="3053834"/>
            <a:ext cx="288608" cy="1121390"/>
          </a:xfrm>
          <a:prstGeom prst="rect">
            <a:avLst/>
          </a:prstGeom>
          <a:solidFill>
            <a:srgbClr val="E2DDD3">
              <a:alpha val="72000"/>
            </a:srgbClr>
          </a:solidFill>
          <a:ln w="6350">
            <a:solidFill>
              <a:srgbClr val="E2DDD3">
                <a:alpha val="0"/>
              </a:srgbClr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8167687" y="2970252"/>
            <a:ext cx="288608" cy="1209615"/>
          </a:xfrm>
          <a:prstGeom prst="rect">
            <a:avLst/>
          </a:prstGeom>
          <a:solidFill>
            <a:srgbClr val="E2DDD3">
              <a:alpha val="72000"/>
            </a:srgbClr>
          </a:solidFill>
          <a:ln w="6350">
            <a:solidFill>
              <a:srgbClr val="E2DDD3">
                <a:alpha val="0"/>
              </a:srgbClr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8448675" y="2886670"/>
            <a:ext cx="288608" cy="1297841"/>
          </a:xfrm>
          <a:prstGeom prst="rect">
            <a:avLst/>
          </a:prstGeom>
          <a:solidFill>
            <a:srgbClr val="E2DDD3">
              <a:alpha val="72000"/>
            </a:srgbClr>
          </a:solidFill>
          <a:ln w="6350">
            <a:solidFill>
              <a:srgbClr val="E2DDD3">
                <a:alpha val="0"/>
              </a:srgbClr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8729663" y="2803088"/>
            <a:ext cx="288608" cy="1386066"/>
          </a:xfrm>
          <a:prstGeom prst="rect">
            <a:avLst/>
          </a:prstGeom>
          <a:solidFill>
            <a:srgbClr val="E2DDD3">
              <a:alpha val="72000"/>
            </a:srgbClr>
          </a:solidFill>
          <a:ln w="6350">
            <a:solidFill>
              <a:srgbClr val="E2DDD3">
                <a:alpha val="0"/>
              </a:srgbClr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9010650" y="2719507"/>
            <a:ext cx="288608" cy="1474291"/>
          </a:xfrm>
          <a:prstGeom prst="rect">
            <a:avLst/>
          </a:prstGeom>
          <a:solidFill>
            <a:srgbClr val="E2DDD3">
              <a:alpha val="72000"/>
            </a:srgbClr>
          </a:solidFill>
          <a:ln w="6350">
            <a:solidFill>
              <a:srgbClr val="E2DDD3">
                <a:alpha val="0"/>
              </a:srgbClr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9291638" y="2635925"/>
            <a:ext cx="288608" cy="1562517"/>
          </a:xfrm>
          <a:prstGeom prst="rect">
            <a:avLst/>
          </a:prstGeom>
          <a:solidFill>
            <a:srgbClr val="E2DDD3">
              <a:alpha val="72000"/>
            </a:srgbClr>
          </a:solidFill>
          <a:ln w="6350">
            <a:solidFill>
              <a:srgbClr val="E2DDD3">
                <a:alpha val="0"/>
              </a:srgbClr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9572625" y="2552343"/>
            <a:ext cx="288608" cy="1650742"/>
          </a:xfrm>
          <a:prstGeom prst="rect">
            <a:avLst/>
          </a:prstGeom>
          <a:solidFill>
            <a:srgbClr val="E2DDD3">
              <a:alpha val="72000"/>
            </a:srgbClr>
          </a:solidFill>
          <a:ln w="6350">
            <a:solidFill>
              <a:srgbClr val="E2DDD3">
                <a:alpha val="0"/>
              </a:srgbClr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9853613" y="2468761"/>
            <a:ext cx="288608" cy="1738967"/>
          </a:xfrm>
          <a:prstGeom prst="rect">
            <a:avLst/>
          </a:prstGeom>
          <a:solidFill>
            <a:srgbClr val="E2DDD3">
              <a:alpha val="72000"/>
            </a:srgbClr>
          </a:solidFill>
          <a:ln w="6350">
            <a:solidFill>
              <a:srgbClr val="E2DDD3">
                <a:alpha val="0"/>
              </a:srgbClr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1143000" y="4544378"/>
            <a:ext cx="2247900" cy="-260032"/>
          </a:xfrm>
          <a:prstGeom prst="line">
            <a:avLst/>
          </a:prstGeom>
          <a:noFill/>
          <a:ln w="31750">
            <a:solidFill>
              <a:srgbClr val="C45538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3390900" y="4284345"/>
            <a:ext cx="2247900" cy="-334327"/>
          </a:xfrm>
          <a:prstGeom prst="line">
            <a:avLst/>
          </a:prstGeom>
          <a:noFill/>
          <a:ln w="31750">
            <a:solidFill>
              <a:srgbClr val="C45538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5638800" y="3950017"/>
            <a:ext cx="2247900" cy="-297180"/>
          </a:xfrm>
          <a:prstGeom prst="line">
            <a:avLst/>
          </a:prstGeom>
          <a:noFill/>
          <a:ln w="31750">
            <a:solidFill>
              <a:srgbClr val="C45538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7886700" y="3652838"/>
            <a:ext cx="2247900" cy="-334327"/>
          </a:xfrm>
          <a:prstGeom prst="line">
            <a:avLst/>
          </a:prstGeom>
          <a:noFill/>
          <a:ln w="31750">
            <a:solidFill>
              <a:srgbClr val="C45538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1143000" y="4507230"/>
            <a:ext cx="2247900" cy="-297180"/>
          </a:xfrm>
          <a:prstGeom prst="line">
            <a:avLst/>
          </a:prstGeom>
          <a:noFill/>
          <a:ln w="44450">
            <a:solidFill>
              <a:srgbClr val="17241E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3390900" y="1905000"/>
            <a:ext cx="0" cy="3139440"/>
          </a:xfrm>
          <a:prstGeom prst="line">
            <a:avLst/>
          </a:prstGeom>
          <a:noFill/>
          <a:ln w="12700">
            <a:solidFill>
              <a:srgbClr val="677169"/>
            </a:solidFill>
            <a:prstDash val="solid"/>
            <a:tailEnd type="none"/>
          </a:ln>
        </p:spPr>
      </p:sp>
      <p:sp>
        <p:nvSpPr>
          <p:cNvPr id="46" name="Text 44"/>
          <p:cNvSpPr/>
          <p:nvPr/>
        </p:nvSpPr>
        <p:spPr>
          <a:xfrm>
            <a:off x="3543300" y="1950720"/>
            <a:ext cx="1981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960" b="1" dirty="0">
                <a:solidFill>
                  <a:srgbClr val="6771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Forecast begins</a:t>
            </a:r>
            <a:endParaRPr lang="en-US" sz="960" dirty="0"/>
          </a:p>
        </p:txBody>
      </p:sp>
      <p:sp>
        <p:nvSpPr>
          <p:cNvPr id="47" name="Text 45"/>
          <p:cNvSpPr/>
          <p:nvPr/>
        </p:nvSpPr>
        <p:spPr>
          <a:xfrm>
            <a:off x="7924800" y="2438400"/>
            <a:ext cx="2286000" cy="3352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024" b="1" dirty="0">
                <a:solidFill>
                  <a:srgbClr val="6771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Q5 range</a:t>
            </a:r>
            <a:endParaRPr lang="en-US" sz="1024" dirty="0"/>
          </a:p>
        </p:txBody>
      </p:sp>
      <p:sp>
        <p:nvSpPr>
          <p:cNvPr id="48" name="Text 46"/>
          <p:cNvSpPr/>
          <p:nvPr/>
        </p:nvSpPr>
        <p:spPr>
          <a:xfrm>
            <a:off x="7924800" y="2758440"/>
            <a:ext cx="2514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2560" b="1" dirty="0">
                <a:solidFill>
                  <a:srgbClr val="17241E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9.0—13.8</a:t>
            </a:r>
            <a:endParaRPr lang="en-US" sz="2560" dirty="0"/>
          </a:p>
        </p:txBody>
      </p:sp>
      <p:sp>
        <p:nvSpPr>
          <p:cNvPr id="49" name="Text 47"/>
          <p:cNvSpPr/>
          <p:nvPr/>
        </p:nvSpPr>
        <p:spPr>
          <a:xfrm>
            <a:off x="944880" y="5135880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32" dirty="0">
                <a:solidFill>
                  <a:srgbClr val="6771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Q1</a:t>
            </a:r>
            <a:endParaRPr lang="en-US" sz="832" dirty="0"/>
          </a:p>
        </p:txBody>
      </p:sp>
      <p:sp>
        <p:nvSpPr>
          <p:cNvPr id="50" name="Text 48"/>
          <p:cNvSpPr/>
          <p:nvPr/>
        </p:nvSpPr>
        <p:spPr>
          <a:xfrm>
            <a:off x="3192780" y="5135880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32" dirty="0">
                <a:solidFill>
                  <a:srgbClr val="6771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Q2</a:t>
            </a:r>
            <a:endParaRPr lang="en-US" sz="832" dirty="0"/>
          </a:p>
        </p:txBody>
      </p:sp>
      <p:sp>
        <p:nvSpPr>
          <p:cNvPr id="51" name="Text 49"/>
          <p:cNvSpPr/>
          <p:nvPr/>
        </p:nvSpPr>
        <p:spPr>
          <a:xfrm>
            <a:off x="5440680" y="5135880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32" dirty="0">
                <a:solidFill>
                  <a:srgbClr val="6771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Q3</a:t>
            </a:r>
            <a:endParaRPr lang="en-US" sz="832" dirty="0"/>
          </a:p>
        </p:txBody>
      </p:sp>
      <p:sp>
        <p:nvSpPr>
          <p:cNvPr id="52" name="Text 50"/>
          <p:cNvSpPr/>
          <p:nvPr/>
        </p:nvSpPr>
        <p:spPr>
          <a:xfrm>
            <a:off x="7688580" y="5135880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32" dirty="0">
                <a:solidFill>
                  <a:srgbClr val="6771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Q4</a:t>
            </a:r>
            <a:endParaRPr lang="en-US" sz="832" dirty="0"/>
          </a:p>
        </p:txBody>
      </p:sp>
      <p:sp>
        <p:nvSpPr>
          <p:cNvPr id="53" name="Text 51"/>
          <p:cNvSpPr/>
          <p:nvPr/>
        </p:nvSpPr>
        <p:spPr>
          <a:xfrm>
            <a:off x="9936480" y="5135880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32" dirty="0">
                <a:solidFill>
                  <a:srgbClr val="6771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Q5</a:t>
            </a:r>
            <a:endParaRPr lang="en-US" sz="832" dirty="0"/>
          </a:p>
        </p:txBody>
      </p:sp>
      <p:sp>
        <p:nvSpPr>
          <p:cNvPr id="54" name="Text 52"/>
          <p:cNvSpPr/>
          <p:nvPr/>
        </p:nvSpPr>
        <p:spPr>
          <a:xfrm>
            <a:off x="548640" y="5699760"/>
            <a:ext cx="11033760" cy="2133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800" dirty="0">
                <a:solidFill>
                  <a:srgbClr val="677169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VERIFIED EVIDENCE · base forecast reaches 11.4 · Q5 range is 9.0 to 13.8 · uncertainty widens</a:t>
            </a:r>
            <a:endParaRPr lang="en-US" sz="800" dirty="0"/>
          </a:p>
        </p:txBody>
      </p:sp>
      <p:sp>
        <p:nvSpPr>
          <p:cNvPr id="55" name="Text 53"/>
          <p:cNvSpPr/>
          <p:nvPr/>
        </p:nvSpPr>
        <p:spPr>
          <a:xfrm>
            <a:off x="8458200" y="5257800"/>
            <a:ext cx="3124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buNone/>
            </a:pPr>
            <a:r>
              <a:rPr lang="en-US" sz="800" dirty="0">
                <a:solidFill>
                  <a:srgbClr val="17241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Q1–Q2 are observed actuals; Q3–Q5 are modeled forecasts with low-to-high ranges. Uncertainty widens materially as the horizon extends.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NodeSlide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Forecast vs. Actual: Widening Uncertainty Ahead</dc:title>
  <dc:subject>uncertainty-range benchmark candidate</dc:subject>
  <dc:creator>NodeSlide Artifact Arena</dc:creator>
  <cp:lastModifiedBy>NodeSlide Artifact Arena</cp:lastModifiedBy>
  <cp:revision>1</cp:revision>
  <dcterms:created xsi:type="dcterms:W3CDTF">2026-07-22T03:33:48Z</dcterms:created>
  <dcterms:modified xsi:type="dcterms:W3CDTF">2026-07-22T03:33:48Z</dcterms:modified>
</cp:coreProperties>
</file>