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no_retrieval</c:v>
                  </c:pt>
                  <c:pt idx="1">
                    <c:v>always_retrieve</c:v>
                  </c:pt>
                  <c:pt idx="2">
                    <c:v>adaptive</c:v>
                  </c:pt>
                </c:lvl>
              </c:multiLvlStrCache>
            </c:multiLvlStrRef>
          </c:cat>
          <c:val>
            <c:numRef>
              <c:f>Sheet1!$B$2:$B$4</c:f>
              <c:numCache>
                <c:formatCode>General</c:formatCode>
                <c:ptCount val="3"/>
                <c:pt idx="0">
                  <c:v>0.61</c:v>
                </c:pt>
                <c:pt idx="1">
                  <c:v>0.78</c:v>
                </c:pt>
                <c:pt idx="2">
                  <c:v>0.75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no_retrieval</c:v>
                  </c:pt>
                  <c:pt idx="1">
                    <c:v>always_retrieve</c:v>
                  </c:pt>
                  <c:pt idx="2">
                    <c:v>adaptive</c:v>
                  </c:pt>
                </c:lvl>
              </c:multiLvlStrCache>
            </c:multiLvlStrRef>
          </c:cat>
          <c:val>
            <c:numRef>
              <c:f>Sheet1!$B$2:$B$4</c:f>
              <c:numCache>
                <c:formatCode>General</c:formatCode>
                <c:ptCount val="3"/>
                <c:pt idx="0">
                  <c:v>61</c:v>
                </c:pt>
                <c:pt idx="1">
                  <c:v>8.5</c:v>
                </c:pt>
                <c:pt idx="2">
                  <c:v>19.7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orient. Keep the spoken transition focused on “Retrieval improves quality but increases cost and latency.”
Evidence note: Content is based on the supplied creation brief. Illustrative examples are not independently verified; replace them with measured evidence before external publication.
NodeSlide sources
[source_c88c87e22c3df6b080ad0a475b1d52ad]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[source_30fbb1a99fd405042a5bb33e28404d9a] retrieval-results.csv
Citation: Uploaded file: retrieval-results.csv
policy,quality_score,cost_usd,latency_ms
no_retrieval,0.61,0.010,640
always_retrieve,0.78,0.092,1810
adaptive,0.75,0.038,1040
Disclaimer: User supplied
[source_43a699075247869cc48dea811a32b8ba]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build. Keep the spoken transition focused on “Predict retrieval need, retrieve at most three passages, answer with citations.”
Evidence note: Content is based on the supplied creation brief. Illustrative examples are not independently verified; replace them with measured evidence before external publication.
NodeSlide sources
[source_c88c87e22c3df6b080ad0a475b1d52ad]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[source_30fbb1a99fd405042a5bb33e28404d9a] retrieval-results.csv
Citation: Uploaded file: retrieval-results.csv
policy,quality_score,cost_usd,latency_ms
no_retrieval,0.61,0.010,640
always_retrieve,0.78,0.092,1810
adaptive,0.75,0.038,1040
Disclaimer: User supplied
[source_43a699075247869cc48dea811a32b8ba]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“Adaptive retrieval achieves 0.75 quality at $0.038 cost and 1040 ms latency.”
Evidence note: Content is based on the supplied creation brief. Illustrative examples are not independently verified; replace them with measured evidence before external publication.
NodeSlide sources
[source_c88c87e22c3df6b080ad0a475b1d52ad]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[source_30fbb1a99fd405042a5bb33e28404d9a] retrieval-results.csv
Citation: Uploaded file: retrieval-results.csv
policy,quality_score,cost_usd,latency_ms
no_retrieval,0.61,0.010,640
always_retrieve,0.78,0.092,1810
adaptive,0.75,0.038,1040
Disclaimer: User supplied
[source_43a699075247869cc48dea811a32b8ba]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“Cost-adjusted quality reveals efficiency: adaptive delivers 19.7 quality units per dollar.”
Evidence note: Content is based on the supplied creation brief. Illustrative examples are not independently verified; replace them with measured evidence before external publication.
NodeSlide sources
[source_c88c87e22c3df6b080ad0a475b1d52ad]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[source_30fbb1a99fd405042a5bb33e28404d9a] retrieval-results.csv
Citation: Uploaded file: retrieval-results.csv
policy,quality_score,cost_usd,latency_ms
no_retrieval,0.61,0.010,640
always_retrieve,0.78,0.092,1810
adaptive,0.75,0.038,1040
Disclaimer: User supplied
[source_43a699075247869cc48dea811a32b8ba]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“Adaptive retrieval balances quality and cost better than always_retrieve.”
Evidence note: Content is based on the supplied creation brief. Illustrative examples are not independently verified; replace them with measured evidence before external publication.
NodeSlide sources
[source_c88c87e22c3df6b080ad0a475b1d52ad]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[source_30fbb1a99fd405042a5bb33e28404d9a] retrieval-results.csv
Citation: Uploaded file: retrieval-results.csv
policy,quality_score,cost_usd,latency_ms
no_retrieval,0.61,0.010,640
always_retrieve,0.78,0.092,1810
adaptive,0.75,0.038,1040
Disclaimer: User supplied
[source_43a699075247869cc48dea811a32b8ba]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“Misclassification and lack of statistical significance are key limitations.”
Evidence note: Content is based on the supplied creation brief. Illustrative examples are not independently verified; replace them with measured evidence before external publication.
NodeSlide sources
[source_c88c87e22c3df6b080ad0a475b1d52ad]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[source_30fbb1a99fd405042a5bb33e28404d9a] retrieval-results.csv
Citation: Uploaded file: retrieval-results.csv
policy,quality_score,cost_usd,latency_ms
no_retrieval,0.61,0.010,640
always_retrieve,0.78,0.092,1810
adaptive,0.75,0.038,1040
Disclaimer: User supplied
[source_43a699075247869cc48dea811a32b8ba]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decide. Keep the spoken transition focused on “Adaptive retrieval is a pragmatic choice when cost constraints bind.”
Evidence note: Content is based on the supplied creation brief. Illustrative examples are not independently verified; replace them with measured evidence before external publication.
NodeSlide sources
[source_c88c87e22c3df6b080ad0a475b1d52ad]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[source_30fbb1a99fd405042a5bb33e28404d9a] retrieval-results.csv
Citation: Uploaded file: retrieval-results.csv
policy,quality_score,cost_usd,latency_ms
no_retrieval,0.61,0.010,640
always_retrieve,0.78,0.092,1810
adaptive,0.75,0.038,1040
Disclaimer: User supplied
[source_43a699075247869cc48dea811a32b8ba]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6122463fcafef14f42a9d1ac26a9c743"/>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df468b91c283d6c3d0ac4506d947ceba"/>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ORIENT</a:t>
            </a:r>
            <a:endParaRPr lang="en-US" sz="1500" dirty="0"/>
          </a:p>
        </p:txBody>
      </p:sp>
      <p:sp>
        <p:nvSpPr>
          <p:cNvPr id="4" name="element_883ae4b13fc578225d182c2ebf2134f3"/>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Retrieval improves quality but increases cost and latency.</a:t>
            </a:r>
            <a:endParaRPr lang="en-US" sz="4800" dirty="0"/>
          </a:p>
        </p:txBody>
      </p:sp>
      <p:sp>
        <p:nvSpPr>
          <p:cNvPr id="5" name="element_54d3785cc9f4e87cc91bde8f25323d3e"/>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Applied ML researchers must balance answer quality against operational cost. This talk evaluates an adaptive retrieval policy under cost constraints, using measured results from a fixed benchmark fixture.</a:t>
            </a:r>
            <a:endParaRPr lang="en-US" sz="1900" dirty="0"/>
          </a:p>
        </p:txBody>
      </p:sp>
      <p:sp>
        <p:nvSpPr>
          <p:cNvPr id="6" name="element_1af0762947307aac983832529d97209a"/>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Retrieval-augmented generation improves factual accuracy.</a:t>
            </a:r>
            <a:endParaRPr lang="en-US" sz="1600" dirty="0"/>
          </a:p>
        </p:txBody>
      </p:sp>
      <p:sp>
        <p:nvSpPr>
          <p:cNvPr id="7" name="element_ceebab57b4ed8e458060d67bbaec2009"/>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Always retrieving is expensive; never retrieving sacrifices quality.</a:t>
            </a:r>
            <a:endParaRPr lang="en-US" sz="1600" dirty="0"/>
          </a:p>
        </p:txBody>
      </p:sp>
      <p:sp>
        <p:nvSpPr>
          <p:cNvPr id="8" name="element_1af6f68a6e33e535d9cec1dcb35165cb"/>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Adaptive retrieval aims to retrieve only when necessary.</a:t>
            </a:r>
            <a:endParaRPr lang="en-US" sz="1600" dirty="0"/>
          </a:p>
        </p:txBody>
      </p:sp>
      <p:sp>
        <p:nvSpPr>
          <p:cNvPr id="9" name="element_df059e20f31310b1c0e7f5ffd72aff10"/>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a26a20d9893f48e3745667f689fb640f"/>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0c05051fb6fad22c4551e9727ff1b3ba"/>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b83c2cd0b5bc34a8780abafb1e8f8d12"/>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BUILD</a:t>
            </a:r>
            <a:endParaRPr lang="en-US" sz="1500" dirty="0"/>
          </a:p>
        </p:txBody>
      </p:sp>
      <p:sp>
        <p:nvSpPr>
          <p:cNvPr id="4" name="element_2a342771e5e834e89653f725ff2fe31f"/>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Predict retrieval need, retrieve at most three passages, answer with citations.</a:t>
            </a:r>
            <a:endParaRPr lang="en-US" sz="3800" dirty="0"/>
          </a:p>
        </p:txBody>
      </p:sp>
      <p:sp>
        <p:nvSpPr>
          <p:cNvPr id="5" name="element_b0cb5348f69975c494c6f7bd76a97e2a"/>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The adaptive policy uses a classifier to decide whether a query requires retrieval. If retrieval is triggered, it fetches up to three passages and generates an answer with claim-linked citations. Reported values are means over the fixed benchmark fixture.</a:t>
            </a:r>
            <a:endParaRPr lang="en-US" sz="1700" dirty="0"/>
          </a:p>
        </p:txBody>
      </p:sp>
      <p:sp>
        <p:nvSpPr>
          <p:cNvPr id="6" name="element_d60354c6477d2500045ca417ebb1e92c"/>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Classifier predicts retrieval necessity.</a:t>
            </a:r>
            <a:endParaRPr lang="en-US" sz="1700" dirty="0"/>
          </a:p>
        </p:txBody>
      </p:sp>
      <p:sp>
        <p:nvSpPr>
          <p:cNvPr id="7" name="element_a7bd22734055dab6aad05f4332881e64"/>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Retrieval capped at three passages.</a:t>
            </a:r>
            <a:endParaRPr lang="en-US" sz="1700" dirty="0"/>
          </a:p>
        </p:txBody>
      </p:sp>
      <p:sp>
        <p:nvSpPr>
          <p:cNvPr id="8" name="element_e1dd1bd3b113f897810f39098afab2c0"/>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Answers include claim-linked citations.</a:t>
            </a:r>
            <a:endParaRPr lang="en-US" sz="1700" dirty="0"/>
          </a:p>
        </p:txBody>
      </p:sp>
      <p:sp>
        <p:nvSpPr>
          <p:cNvPr id="9" name="element_80bfb7b019f61038ad0233ca5d369ab6"/>
          <p:cNvSpPr/>
          <p:nvPr/>
        </p:nvSpPr>
        <p:spPr>
          <a:xfrm>
            <a:off x="7019978" y="3775329"/>
            <a:ext cx="243834" cy="164592"/>
          </a:xfrm>
          <a:prstGeom prst="line">
            <a:avLst/>
          </a:prstGeom>
          <a:noFill/>
          <a:ln w="25400">
            <a:solidFill>
              <a:srgbClr val="7566A8"/>
            </a:solidFill>
            <a:prstDash val="solid"/>
            <a:tailEnd type="triangle"/>
          </a:ln>
        </p:spPr>
      </p:sp>
      <p:sp>
        <p:nvSpPr>
          <p:cNvPr id="10" name="element_ffb1815c07e7117045b8b4a134fef966"/>
          <p:cNvSpPr/>
          <p:nvPr/>
        </p:nvSpPr>
        <p:spPr>
          <a:xfrm>
            <a:off x="9194977" y="3775329"/>
            <a:ext cx="243834" cy="164592"/>
          </a:xfrm>
          <a:prstGeom prst="line">
            <a:avLst/>
          </a:prstGeom>
          <a:noFill/>
          <a:ln w="25400">
            <a:solidFill>
              <a:srgbClr val="7566A8"/>
            </a:solidFill>
            <a:prstDash val="solid"/>
            <a:tailEnd type="triangle"/>
          </a:ln>
        </p:spPr>
      </p:sp>
      <p:sp>
        <p:nvSpPr>
          <p:cNvPr id="11" name="element_206a4a27af41c58acb7ba4dc0e6ff83e"/>
          <p:cNvSpPr/>
          <p:nvPr/>
        </p:nvSpPr>
        <p:spPr>
          <a:xfrm>
            <a:off x="6910253" y="4375404"/>
            <a:ext cx="463284" cy="164592"/>
          </a:xfrm>
          <a:prstGeom prst="line">
            <a:avLst/>
          </a:prstGeom>
          <a:noFill/>
          <a:ln w="25400">
            <a:solidFill>
              <a:srgbClr val="7566A8"/>
            </a:solidFill>
            <a:prstDash val="solid"/>
            <a:tailEnd type="triangle"/>
          </a:ln>
        </p:spPr>
      </p:sp>
      <p:sp>
        <p:nvSpPr>
          <p:cNvPr id="12" name="element_83f335abb288776a8ce48b508f657d12"/>
          <p:cNvSpPr/>
          <p:nvPr/>
        </p:nvSpPr>
        <p:spPr>
          <a:xfrm>
            <a:off x="6922445" y="4375404"/>
            <a:ext cx="2615119" cy="164592"/>
          </a:xfrm>
          <a:prstGeom prst="line">
            <a:avLst/>
          </a:prstGeom>
          <a:noFill/>
          <a:ln w="25400">
            <a:solidFill>
              <a:srgbClr val="7566A8"/>
            </a:solidFill>
            <a:prstDash val="solid"/>
            <a:tailEnd type="triangle"/>
          </a:ln>
        </p:spPr>
      </p:sp>
      <p:sp>
        <p:nvSpPr>
          <p:cNvPr id="13" name="element_c30457e75934f34dd1716955ccc80f27"/>
          <p:cNvSpPr/>
          <p:nvPr/>
        </p:nvSpPr>
        <p:spPr>
          <a:xfrm>
            <a:off x="5045753" y="3339160"/>
            <a:ext cx="2018506" cy="1036930"/>
          </a:xfrm>
          <a:prstGeom prst="roundRect">
            <a:avLst/>
          </a:prstGeom>
          <a:solidFill>
            <a:srgbClr val="F2DED3"/>
          </a:solidFill>
          <a:ln w="12700">
            <a:solidFill>
              <a:srgbClr val="DED7CC"/>
            </a:solidFill>
            <a:prstDash val="solid"/>
          </a:ln>
        </p:spPr>
      </p:sp>
      <p:sp>
        <p:nvSpPr>
          <p:cNvPr id="14" name="element_c30457e75934f34dd1716955ccc80f27:text"/>
          <p:cNvSpPr txBox="1"/>
          <p:nvPr/>
        </p:nvSpPr>
        <p:spPr>
          <a:xfrm>
            <a:off x="5045753" y="3339160"/>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Query</a:t>
            </a:r>
            <a:endParaRPr lang="en-US" sz="1600" dirty="0"/>
          </a:p>
        </p:txBody>
      </p:sp>
      <p:sp>
        <p:nvSpPr>
          <p:cNvPr id="15" name="element_09794ac836825d4c326f51d6a46ba275"/>
          <p:cNvSpPr/>
          <p:nvPr/>
        </p:nvSpPr>
        <p:spPr>
          <a:xfrm>
            <a:off x="7219532" y="3339160"/>
            <a:ext cx="2018506" cy="1036930"/>
          </a:xfrm>
          <a:prstGeom prst="roundRect">
            <a:avLst/>
          </a:prstGeom>
          <a:solidFill>
            <a:srgbClr val="E5E9D6"/>
          </a:solidFill>
          <a:ln w="25400">
            <a:solidFill>
              <a:srgbClr val="B44A2D"/>
            </a:solidFill>
            <a:prstDash val="solid"/>
          </a:ln>
        </p:spPr>
      </p:sp>
      <p:sp>
        <p:nvSpPr>
          <p:cNvPr id="16" name="element_09794ac836825d4c326f51d6a46ba275:text"/>
          <p:cNvSpPr txBox="1"/>
          <p:nvPr/>
        </p:nvSpPr>
        <p:spPr>
          <a:xfrm>
            <a:off x="7219532" y="3339160"/>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Predict Retrieval Need</a:t>
            </a:r>
            <a:endParaRPr lang="en-US" sz="1600" dirty="0"/>
          </a:p>
        </p:txBody>
      </p:sp>
      <p:sp>
        <p:nvSpPr>
          <p:cNvPr id="17" name="element_5199f1d356437cc37b6b31db38d15af7"/>
          <p:cNvSpPr/>
          <p:nvPr/>
        </p:nvSpPr>
        <p:spPr>
          <a:xfrm>
            <a:off x="9394530" y="3339160"/>
            <a:ext cx="2018506" cy="1036930"/>
          </a:xfrm>
          <a:prstGeom prst="roundRect">
            <a:avLst/>
          </a:prstGeom>
          <a:solidFill>
            <a:srgbClr val="F2DED3"/>
          </a:solidFill>
          <a:ln w="12700">
            <a:solidFill>
              <a:srgbClr val="DED7CC"/>
            </a:solidFill>
            <a:prstDash val="solid"/>
          </a:ln>
        </p:spPr>
      </p:sp>
      <p:sp>
        <p:nvSpPr>
          <p:cNvPr id="18" name="element_5199f1d356437cc37b6b31db38d15af7:text"/>
          <p:cNvSpPr txBox="1"/>
          <p:nvPr/>
        </p:nvSpPr>
        <p:spPr>
          <a:xfrm>
            <a:off x="9394530" y="3339160"/>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Retrieve ≤3 Passages</a:t>
            </a:r>
            <a:endParaRPr lang="en-US" sz="1600" dirty="0"/>
          </a:p>
        </p:txBody>
      </p:sp>
      <p:sp>
        <p:nvSpPr>
          <p:cNvPr id="19" name="element_d9555d8de62c1efe6ad9238dc1993fb0"/>
          <p:cNvSpPr/>
          <p:nvPr/>
        </p:nvSpPr>
        <p:spPr>
          <a:xfrm>
            <a:off x="5045753" y="4539310"/>
            <a:ext cx="2018506" cy="1036930"/>
          </a:xfrm>
          <a:prstGeom prst="roundRect">
            <a:avLst/>
          </a:prstGeom>
          <a:solidFill>
            <a:srgbClr val="F2DED3"/>
          </a:solidFill>
          <a:ln w="12700">
            <a:solidFill>
              <a:srgbClr val="DED7CC"/>
            </a:solidFill>
            <a:prstDash val="solid"/>
          </a:ln>
        </p:spPr>
      </p:sp>
      <p:sp>
        <p:nvSpPr>
          <p:cNvPr id="20" name="element_d9555d8de62c1efe6ad9238dc1993fb0:text"/>
          <p:cNvSpPr txBox="1"/>
          <p:nvPr/>
        </p:nvSpPr>
        <p:spPr>
          <a:xfrm>
            <a:off x="5045753" y="4539310"/>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Generate Answer with Citations</a:t>
            </a:r>
            <a:endParaRPr lang="en-US" sz="1600" dirty="0"/>
          </a:p>
        </p:txBody>
      </p:sp>
      <p:sp>
        <p:nvSpPr>
          <p:cNvPr id="21" name="element_8978d2c03f58067480d31ff3e9894c43"/>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22" name="element_4bfdb16cfdbda12e82b00057bdd35b1d"/>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d9ebed81f618c21aa753e0d6f0cb639e"/>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fe202da9f48240a1d2bbc69f08c85cac"/>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cf91ee562802adef6ad0366b697b735d"/>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Adaptive retrieval achieves 0.75 quality at $0.038 cost and 1040 ms latency.</a:t>
            </a:r>
            <a:endParaRPr lang="en-US" sz="3800" dirty="0"/>
          </a:p>
        </p:txBody>
      </p:sp>
      <p:sp>
        <p:nvSpPr>
          <p:cNvPr id="5" name="element_4a0d8fe0b19c26fb281084aee1476bd5"/>
          <p:cNvSpPr txBox="1"/>
          <p:nvPr/>
        </p:nvSpPr>
        <p:spPr>
          <a:xfrm>
            <a:off x="7680768" y="2743200"/>
            <a:ext cx="365750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The supplied experiment table reports quality_score, cost_usd, and latency_ms for three policies. Values are means over the fixed benchmark fixture; no statistical-significance claim is authorized.</a:t>
            </a:r>
            <a:endParaRPr lang="en-US" sz="1900" dirty="0"/>
          </a:p>
        </p:txBody>
      </p:sp>
      <p:sp>
        <p:nvSpPr>
          <p:cNvPr id="6" name="element_35b7d15641a9fffd1114625ff63c83b1"/>
          <p:cNvSpPr txBox="1"/>
          <p:nvPr/>
        </p:nvSpPr>
        <p:spPr>
          <a:xfrm>
            <a:off x="7680768"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no_retrieval: 0.61 quality, $0.010 cost, 640 ms.</a:t>
            </a:r>
            <a:endParaRPr lang="en-US" sz="1700" dirty="0"/>
          </a:p>
        </p:txBody>
      </p:sp>
      <p:sp>
        <p:nvSpPr>
          <p:cNvPr id="7" name="element_968157a466c057b8f3d98c081c756a4d"/>
          <p:cNvSpPr txBox="1"/>
          <p:nvPr/>
        </p:nvSpPr>
        <p:spPr>
          <a:xfrm>
            <a:off x="7680768"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always_retrieve: 0.78 quality, $0.092 cost, 1810 ms.</a:t>
            </a:r>
            <a:endParaRPr lang="en-US" sz="1700" dirty="0"/>
          </a:p>
        </p:txBody>
      </p:sp>
      <p:sp>
        <p:nvSpPr>
          <p:cNvPr id="8" name="element_cb722610d215757fdfc3822211b5977f"/>
          <p:cNvSpPr txBox="1"/>
          <p:nvPr/>
        </p:nvSpPr>
        <p:spPr>
          <a:xfrm>
            <a:off x="7680768"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adaptive: 0.75 quality, $0.038 cost, 1040 ms.</a:t>
            </a:r>
            <a:endParaRPr lang="en-US" sz="1700" dirty="0"/>
          </a:p>
        </p:txBody>
      </p:sp>
      <p:graphicFrame>
        <p:nvGraphicFramePr>
          <p:cNvPr id="9" name="element_454f891e92d5527e02ea30ce035f56f9" descr=""/>
          <p:cNvGraphicFramePr/>
          <p:nvPr/>
        </p:nvGraphicFramePr>
        <p:xfrm>
          <a:off x="975336" y="2880360"/>
          <a:ext cx="6095848" cy="3154680"/>
        </p:xfrm>
        <a:graphic xmlns:a="http://schemas.openxmlformats.org/drawingml/2006/main">
          <a:graphicData uri="http://schemas.openxmlformats.org/drawingml/2006/chart">
            <c:chart xmlns:c="http://schemas.openxmlformats.org/drawingml/2006/chart" r:id="rId1"/>
          </a:graphicData>
        </a:graphic>
      </p:graphicFrame>
      <p:sp>
        <p:nvSpPr>
          <p:cNvPr id="10" name="element_7ed87d52a11f09496c584b05d1c6eaaf"/>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ea8f735e320f076b47ea8b6aadf8adfb"/>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2069e226868755ddc498e1cad1c1a664"/>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0a562d3b350954f38e679a6f028feec6"/>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b38e83ba3c95b522372f16aa2fcce406"/>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Cost-adjusted quality reveals efficiency: adaptive delivers 19.7 quality units per dollar.</a:t>
            </a:r>
            <a:endParaRPr lang="en-US" sz="3800" dirty="0"/>
          </a:p>
        </p:txBody>
      </p:sp>
      <p:sp>
        <p:nvSpPr>
          <p:cNvPr id="5" name="element_c572efdd611a93c47cab939e8891606c"/>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To compare policies under cost constraints, we compute cost-adjusted quality as Q divided by cost. This metric highlights the trade-off between answer quality and operational expense.</a:t>
            </a:r>
            <a:endParaRPr lang="en-US" sz="1900" dirty="0"/>
          </a:p>
        </p:txBody>
      </p:sp>
      <p:sp>
        <p:nvSpPr>
          <p:cNvPr id="6" name="element_bea73b9875a24a47796e7a7650c1870a"/>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no_retrieval: 61.0 quality units per dollar.</a:t>
            </a:r>
            <a:endParaRPr lang="en-US" sz="1700" dirty="0"/>
          </a:p>
        </p:txBody>
      </p:sp>
      <p:sp>
        <p:nvSpPr>
          <p:cNvPr id="7" name="element_b52e14544f4ef5920f7862bb775ef64d"/>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always_retrieve: 8.5 quality units per dollar.</a:t>
            </a:r>
            <a:endParaRPr lang="en-US" sz="1700" dirty="0"/>
          </a:p>
        </p:txBody>
      </p:sp>
      <p:sp>
        <p:nvSpPr>
          <p:cNvPr id="8" name="element_8bdbdfe9aa119f26a8b0285933600797"/>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adaptive: 19.7 quality units per dollar.</a:t>
            </a:r>
            <a:endParaRPr lang="en-US" sz="1700" dirty="0"/>
          </a:p>
        </p:txBody>
      </p:sp>
      <p:sp>
        <p:nvSpPr>
          <p:cNvPr id="9" name="element_ca217488bd1237ac42b225b465538a5e"/>
          <p:cNvSpPr txBox="1"/>
          <p:nvPr/>
        </p:nvSpPr>
        <p:spPr>
          <a:xfrm>
            <a:off x="6461598"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Cost-Adjusted Quality = Q / cost</a:t>
            </a:r>
            <a:endParaRPr lang="en-US" sz="3000" dirty="0"/>
          </a:p>
        </p:txBody>
      </p:sp>
      <p:sp>
        <p:nvSpPr>
          <p:cNvPr id="10" name="element_dc7c73a3cb0c79d3466865d4ab54734f"/>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99af97417b0071e51a8ba156c66b59cf"/>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e81cc8ffcaaa955269772f0fa2a5e086"/>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5d2f95b367d56e7900d36370d0349447"/>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680d53068333b0ef80c02166ca3916ab"/>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Adaptive retrieval balances quality and cost better than always_retrieve.</a:t>
            </a:r>
            <a:endParaRPr lang="en-US" sz="3800" dirty="0"/>
          </a:p>
        </p:txBody>
      </p:sp>
      <p:sp>
        <p:nvSpPr>
          <p:cNvPr id="5" name="element_97595b700987fe52137307579eaa64f8"/>
          <p:cNvSpPr txBox="1"/>
          <p:nvPr/>
        </p:nvSpPr>
        <p:spPr>
          <a:xfrm>
            <a:off x="853419" y="2743200"/>
            <a:ext cx="365750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Plotting cost-adjusted quality for each policy shows that adaptive retrieval offers a pragmatic middle ground. no_retrieval is cheapest but lowest quality; always_retrieve is highest quality but most expensive.</a:t>
            </a:r>
            <a:endParaRPr lang="en-US" sz="1900" dirty="0"/>
          </a:p>
        </p:txBody>
      </p:sp>
      <p:sp>
        <p:nvSpPr>
          <p:cNvPr id="6" name="element_02b75429a5cfce20484fb11da7e40a8d"/>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no_retrieval: highest efficiency but lowest quality.</a:t>
            </a:r>
            <a:endParaRPr lang="en-US" sz="1700" dirty="0"/>
          </a:p>
        </p:txBody>
      </p:sp>
      <p:sp>
        <p:nvSpPr>
          <p:cNvPr id="7" name="element_743096c8a88e6f1891527e419b6ab410"/>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always_retrieve: highest quality but lowest efficiency.</a:t>
            </a:r>
            <a:endParaRPr lang="en-US" sz="1700" dirty="0"/>
          </a:p>
        </p:txBody>
      </p:sp>
      <p:sp>
        <p:nvSpPr>
          <p:cNvPr id="8" name="element_04739c8de4edefd085a9f62e59429847"/>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adaptive: balanced efficiency and quality.</a:t>
            </a:r>
            <a:endParaRPr lang="en-US" sz="1700" dirty="0"/>
          </a:p>
        </p:txBody>
      </p:sp>
      <p:graphicFrame>
        <p:nvGraphicFramePr>
          <p:cNvPr id="9" name="element_3fb75bbebe374415e2c9e9764e65c452" descr=""/>
          <p:cNvGraphicFramePr/>
          <p:nvPr/>
        </p:nvGraphicFramePr>
        <p:xfrm>
          <a:off x="4876678" y="2754173"/>
          <a:ext cx="6583515" cy="3407054"/>
        </p:xfrm>
        <a:graphic xmlns:a="http://schemas.openxmlformats.org/drawingml/2006/main">
          <a:graphicData uri="http://schemas.openxmlformats.org/drawingml/2006/chart">
            <c:chart xmlns:c="http://schemas.openxmlformats.org/drawingml/2006/chart" r:id="rId1"/>
          </a:graphicData>
        </a:graphic>
      </p:graphicFrame>
      <p:sp>
        <p:nvSpPr>
          <p:cNvPr id="10" name="element_c85cbcc5766bae8a8f53ea24dbe6439f"/>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6952b391d5e5db659eaa205be8a5bdd0"/>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1e598155b99a8b2f3929c5d01e1a00e7"/>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1523f132ad479a2280487e817e580184"/>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2865d4aa7e22de18ede39bdd22d41933"/>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Misclassification and lack of statistical significance are key limitations.</a:t>
            </a:r>
            <a:endParaRPr lang="en-US" sz="3800" dirty="0"/>
          </a:p>
        </p:txBody>
      </p:sp>
      <p:sp>
        <p:nvSpPr>
          <p:cNvPr id="5" name="element_026096a51109e16fc5b4d04ab160d419"/>
          <p:cNvSpPr txBox="1"/>
          <p:nvPr/>
        </p:nvSpPr>
        <p:spPr>
          <a:xfrm>
            <a:off x="1706837"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Measured results are means over a fixed benchmark fixture; no statistical-significance claim is authorized. The adaptive policy may misclassify retrieval need, leading to either unnecessary cost or degraded quality.</a:t>
            </a:r>
            <a:endParaRPr lang="en-US" sz="1900" dirty="0"/>
          </a:p>
        </p:txBody>
      </p:sp>
      <p:sp>
        <p:nvSpPr>
          <p:cNvPr id="6" name="element_fa10e0acf0e94f45f16fadf25a83575a"/>
          <p:cNvSpPr txBox="1"/>
          <p:nvPr/>
        </p:nvSpPr>
        <p:spPr>
          <a:xfrm>
            <a:off x="8168436"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False positives: retrieve when unnecessary, increasing cost.</a:t>
            </a:r>
            <a:endParaRPr lang="en-US" sz="1700" dirty="0"/>
          </a:p>
        </p:txBody>
      </p:sp>
      <p:sp>
        <p:nvSpPr>
          <p:cNvPr id="7" name="element_7f832199b800c98693a8afa5ad2be836"/>
          <p:cNvSpPr txBox="1"/>
          <p:nvPr/>
        </p:nvSpPr>
        <p:spPr>
          <a:xfrm>
            <a:off x="4632844"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False negatives: fail to retrieve when needed, reducing quality.</a:t>
            </a:r>
            <a:endParaRPr lang="en-US" sz="1700" dirty="0"/>
          </a:p>
        </p:txBody>
      </p:sp>
      <p:sp>
        <p:nvSpPr>
          <p:cNvPr id="8" name="element_1b5ab773ffcb0aa84a1c03125f124913"/>
          <p:cNvSpPr txBox="1"/>
          <p:nvPr/>
        </p:nvSpPr>
        <p:spPr>
          <a:xfrm>
            <a:off x="1097253"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Results are fixture-specific; generalization requires further validation.</a:t>
            </a:r>
            <a:endParaRPr lang="en-US" sz="1700" dirty="0"/>
          </a:p>
        </p:txBody>
      </p:sp>
      <p:sp>
        <p:nvSpPr>
          <p:cNvPr id="9" name="element_bc4de90054b95f881eea595dd596020a"/>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a998e70713fdbcc6ec37830b882a9f8d"/>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cfc7eaa5d76e8a5ed5593e5b4e6ca052"/>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9290ee322a47b5262a053332bb8134c1"/>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DECIDE</a:t>
            </a:r>
            <a:endParaRPr lang="en-US" sz="1500" dirty="0"/>
          </a:p>
        </p:txBody>
      </p:sp>
      <p:sp>
        <p:nvSpPr>
          <p:cNvPr id="4" name="element_8237d55b4e20b81264c7cc13b342484f"/>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Adaptive retrieval is a pragmatic choice when cost constraints bind.</a:t>
            </a:r>
            <a:endParaRPr lang="en-US" sz="3800" dirty="0"/>
          </a:p>
        </p:txBody>
      </p:sp>
      <p:sp>
        <p:nvSpPr>
          <p:cNvPr id="5" name="element_2bc5ee626a6f138db4a6e5d653718cf3"/>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For decision-makers, adaptive retrieval offers a balanced trade-off between quality and cost. Next steps include validating the policy on diverse benchmarks and refining the retrieval classifier.</a:t>
            </a:r>
            <a:endParaRPr lang="en-US" sz="1900" dirty="0"/>
          </a:p>
        </p:txBody>
      </p:sp>
      <p:sp>
        <p:nvSpPr>
          <p:cNvPr id="6" name="element_63c2a741aee7ce4b6bee500e2f2970ad"/>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Adopt adaptive retrieval for cost-sensitive applications.</a:t>
            </a:r>
            <a:endParaRPr lang="en-US" sz="1700" dirty="0"/>
          </a:p>
        </p:txBody>
      </p:sp>
      <p:sp>
        <p:nvSpPr>
          <p:cNvPr id="7" name="element_4b7958501ae69f5489262e04bc4d19f4"/>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Validate on additional benchmarks to assess generalization.</a:t>
            </a:r>
            <a:endParaRPr lang="en-US" sz="1700" dirty="0"/>
          </a:p>
        </p:txBody>
      </p:sp>
      <p:sp>
        <p:nvSpPr>
          <p:cNvPr id="8" name="element_b107a8f2a7bb1d9cbf57d6fad1352440"/>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Iterate on classifier to reduce misclassification errors.</a:t>
            </a:r>
            <a:endParaRPr lang="en-US" sz="1700" dirty="0"/>
          </a:p>
        </p:txBody>
      </p:sp>
      <p:sp>
        <p:nvSpPr>
          <p:cNvPr id="9" name="element_f7a760da02bb91c288b179862ea7972d:fallback-shape"/>
          <p:cNvSpPr/>
          <p:nvPr/>
        </p:nvSpPr>
        <p:spPr>
          <a:xfrm>
            <a:off x="6461598" y="2674620"/>
            <a:ext cx="4754761" cy="2606040"/>
          </a:xfrm>
          <a:prstGeom prst="roundRect">
            <a:avLst/>
          </a:prstGeom>
          <a:solidFill>
            <a:srgbClr val="F2DED3"/>
          </a:solidFill>
          <a:ln w="19050">
            <a:solidFill>
              <a:srgbClr val="DED7CC"/>
            </a:solidFill>
            <a:prstDash val="dash"/>
          </a:ln>
        </p:spPr>
      </p:sp>
      <p:sp>
        <p:nvSpPr>
          <p:cNvPr id="10" name="element_f7a760da02bb91c288b179862ea7972d:fallback-label"/>
          <p:cNvSpPr/>
          <p:nvPr/>
        </p:nvSpPr>
        <p:spPr>
          <a:xfrm>
            <a:off x="6461598"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Illustrative placeholder for a decision framework diagram.</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Placeholder image; no licensed asset supplied.</a:t>
            </a:r>
            <a:endParaRPr lang="en-US" sz="1400" dirty="0"/>
          </a:p>
        </p:txBody>
      </p:sp>
      <p:sp>
        <p:nvSpPr>
          <p:cNvPr id="11" name="element_5786e24a8205cadfabd02ea47ad06dca"/>
          <p:cNvSpPr txBox="1"/>
          <p:nvPr/>
        </p:nvSpPr>
        <p:spPr>
          <a:xfrm>
            <a:off x="6705432"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Replace image before external use · Placeholder image; no licensed asset supplied.</a:t>
            </a:r>
            <a:endParaRPr lang="en-US" sz="1400" dirty="0"/>
          </a:p>
        </p:txBody>
      </p:sp>
      <p:sp>
        <p:nvSpPr>
          <p:cNvPr id="12" name="element_f335c4f8d53bcd29be1650773bd8c516"/>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fa03f30b8ac56201158ebe96752eab19"/>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seven-slide research talk for applied machine-learning resea…</dc:title>
  <dc:subject>Create an editable, reviewable presentation from this idea</dc:subject>
  <dc:creator>NodeSlide</dc:creator>
  <cp:lastModifiedBy>NodeSlide</cp:lastModifiedBy>
  <cp:revision>1</cp:revision>
  <dcterms:created xsi:type="dcterms:W3CDTF">2026-07-21T23:41:56Z</dcterms:created>
  <dcterms:modified xsi:type="dcterms:W3CDTF">2026-07-21T23:41:56Z</dcterms:modified>
</cp:coreProperties>
</file>