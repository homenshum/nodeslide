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no_retrieval</c:v>
                  </c:pt>
                  <c:pt idx="1">
                    <c:v>always_retrieve</c:v>
                  </c:pt>
                  <c:pt idx="2">
                    <c:v>adaptive</c:v>
                  </c:pt>
                </c:lvl>
              </c:multiLvlStrCache>
            </c:multiLvlStrRef>
          </c:cat>
          <c:val>
            <c:numRef>
              <c:f>Sheet1!$B$2:$B$4</c:f>
              <c:numCache>
                <c:formatCode>General</c:formatCode>
                <c:ptCount val="3"/>
                <c:pt idx="0">
                  <c:v>0.61</c:v>
                </c:pt>
                <c:pt idx="1">
                  <c:v>0.78</c:v>
                </c:pt>
                <c:pt idx="2">
                  <c:v>0.75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Orient. Keep the spoken transition focused on “Is adaptive retrieval worth its cost?”
Evidence note: Content is based on the supplied creation brief. Illustrative examples are not independently verified; replace them with measured evidence before external publication.
NodeSlide sources
[source_fc034f527a9734a6a9e197552f742b66]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[source_5f43031aec921f7a052985ef874d8356] retrieval-results.csv
Citation: Uploaded file: retrieval-results.csv
policy,quality_score,cost_usd,latency_ms
no_retrieval,0.61,0.010,640
always_retrieve,0.78,0.092,1810
adaptive,0.75,0.038,1040
Disclaimer: User supplied
[source_bd9317eefab755f895e9416e663796c2]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Build. Keep the spoken transition focused on “Predict, retrieve sparingly, cite claims”
Evidence note: Content is based on the supplied creation brief. Illustrative examples are not independently verified; replace them with measured evidence before external publication.
NodeSlide sources
[source_fc034f527a9734a6a9e197552f742b66]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[source_5f43031aec921f7a052985ef874d8356] retrieval-results.csv
Citation: Uploaded file: retrieval-results.csv
policy,quality_score,cost_usd,latency_ms
no_retrieval,0.61,0.010,640
always_retrieve,0.78,0.092,1810
adaptive,0.75,0.038,1040
Disclaimer: User supplied
[source_bd9317eefab755f895e9416e663796c2]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Build. Keep the spoken transition focused on “Same fixture, three policies, three metrics”
Evidence note: Content is based on the supplied creation brief. Illustrative examples are not independently verified; replace them with measured evidence before external publication.
NodeSlide sources
[source_fc034f527a9734a6a9e197552f742b66]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[source_5f43031aec921f7a052985ef874d8356] retrieval-results.csv
Citation: Uploaded file: retrieval-results.csv
policy,quality_score,cost_usd,latency_ms
no_retrieval,0.61,0.010,640
always_retrieve,0.78,0.092,1810
adaptive,0.75,0.038,1040
Disclaimer: User supplied
[source_bd9317eefab755f895e9416e663796c2]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“Adaptive recovers most of the quality gain”
Evidence note: Content is based on the supplied creation brief. Illustrative examples are not independently verified; replace them with measured evidence before external publication.
NodeSlide sources
[source_fc034f527a9734a6a9e197552f742b66]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[source_5f43031aec921f7a052985ef874d8356] retrieval-results.csv
Citation: Uploaded file: retrieval-results.csv
policy,quality_score,cost_usd,latency_ms
no_retrieval,0.61,0.010,640
always_retrieve,0.78,0.092,1810
adaptive,0.75,0.038,1040
Disclaimer: User supplied
[source_bd9317eefab755f895e9416e663796c2]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“Quality per dollar favors adaptive by a wide margin”
Evidence note: Content is based on the supplied creation brief. Illustrative examples are not independently verified; replace them with measured evidence before external publication.
NodeSlide sources
[source_fc034f527a9734a6a9e197552f742b66]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[source_5f43031aec921f7a052985ef874d8356] retrieval-results.csv
Citation: Uploaded file: retrieval-results.csv
policy,quality_score,cost_usd,latency_ms
no_retrieval,0.61,0.010,640
always_retrieve,0.78,0.092,1810
adaptive,0.75,0.038,1040
Disclaimer: User supplied
[source_bd9317eefab755f895e9416e663796c2]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“Where the adaptive policy still loses ground”
Evidence note: Content is based on the supplied creation brief. Illustrative examples are not independently verified; replace them with measured evidence before external publication.
NodeSlide sources
[source_fc034f527a9734a6a9e197552f742b66]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[source_5f43031aec921f7a052985ef874d8356] retrieval-results.csv
Citation: Uploaded file: retrieval-results.csv
policy,quality_score,cost_usd,latency_ms
no_retrieval,0.61,0.010,640
always_retrieve,0.78,0.092,1810
adaptive,0.75,0.038,1040
Disclaimer: User supplied
[source_bd9317eefab755f895e9416e663796c2]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Decide. Keep the spoken transition focused on “Recommend adaptive retrieval for cost-sensitive deployment”
Evidence note: Content is based on the supplied creation brief. Illustrative examples are not independently verified; replace them with measured evidence before external publication.
NodeSlide sources
[source_fc034f527a9734a6a9e197552f742b66]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an evidence-led editorial direction: restrained surface treatment, decisive hierarchy, visible provenance, and an inspectable visual argument on every proof slide. Avoid card grids and decorative dashboards.
Disclaimer: Internal working material
[source_5f43031aec921f7a052985ef874d8356] retrieval-results.csv
Citation: Uploaded file: retrieval-results.csv
policy,quality_score,cost_usd,latency_ms
no_retrieval,0.61,0.010,640
always_retrieve,0.78,0.092,1810
adaptive,0.75,0.038,1040
Disclaimer: User supplied
[source_bd9317eefab755f895e9416e663796c2]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2d2c9a4231343a4e1ce92f395b19f600"/>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785eb53bc5b6abdbef2a2963700e300e"/>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ORIENT</a:t>
            </a:r>
            <a:endParaRPr lang="en-US" sz="1500" dirty="0"/>
          </a:p>
        </p:txBody>
      </p:sp>
      <p:sp>
        <p:nvSpPr>
          <p:cNvPr id="4" name="element_751efc6a011e8bc679cc6e44ee01c84c"/>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Is adaptive retrieval worth its cost?</a:t>
            </a:r>
            <a:endParaRPr lang="en-US" sz="4800" dirty="0"/>
          </a:p>
        </p:txBody>
      </p:sp>
      <p:sp>
        <p:nvSpPr>
          <p:cNvPr id="5" name="element_ff5d5d87cb2532d3832fd030c3ebb148"/>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Retrieval-augmented answering improves quality but adds latency and dollar cost per query. The open question for deployment is whether an adaptive policy — retrieving only when needed — captures most of the quality gain at a fraction of the cost of always retrieving.</a:t>
            </a:r>
            <a:endParaRPr lang="en-US" sz="1900" dirty="0"/>
          </a:p>
        </p:txBody>
      </p:sp>
      <p:sp>
        <p:nvSpPr>
          <p:cNvPr id="6" name="element_07ecc21fc4f0c3362a3ae7c4c4172817"/>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Three policies compared: no retrieval, always retrieve, adaptive retrieve</a:t>
            </a:r>
            <a:endParaRPr lang="en-US" sz="1600" dirty="0"/>
          </a:p>
        </p:txBody>
      </p:sp>
      <p:sp>
        <p:nvSpPr>
          <p:cNvPr id="7" name="element_1e1a01a6ab5911327a9e33361de85a15"/>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Fixed benchmark fixture; means only, no significance claim authorized</a:t>
            </a:r>
            <a:endParaRPr lang="en-US" sz="1600" dirty="0"/>
          </a:p>
        </p:txBody>
      </p:sp>
      <p:sp>
        <p:nvSpPr>
          <p:cNvPr id="8" name="element_73a7e81b3bab94e12248f79033aff3c2"/>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Decision hinges on quality per dollar, not quality alone</a:t>
            </a:r>
            <a:endParaRPr lang="en-US" sz="1600" dirty="0"/>
          </a:p>
        </p:txBody>
      </p:sp>
      <p:sp>
        <p:nvSpPr>
          <p:cNvPr id="9" name="element_95ddeca948dd5b4634c7023c9414f4dc"/>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f424992ef8ee75572dfec4a4de0ccbab"/>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b4aa906f25abe595c7c3e66caff20fe4"/>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761a527b9c65aa246a8fc394fd231a0d"/>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BUILD</a:t>
            </a:r>
            <a:endParaRPr lang="en-US" sz="1500" dirty="0"/>
          </a:p>
        </p:txBody>
      </p:sp>
      <p:sp>
        <p:nvSpPr>
          <p:cNvPr id="4" name="element_b7fcb9e711a71a6818f4fdc6e095c77e"/>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Predict, retrieve sparingly, cite claims</a:t>
            </a:r>
            <a:endParaRPr lang="en-US" sz="3800" dirty="0"/>
          </a:p>
        </p:txBody>
      </p:sp>
      <p:sp>
        <p:nvSpPr>
          <p:cNvPr id="5" name="element_d9714249cf01ad2dce6ef4db16668b9f"/>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Per method.md, the adaptive policy first predicts whether a query needs retrieval, then pulls at most three passages, and finally answers with claim-linked citations. This bounds worst-case cost while preserving a retrieval path for queries that need it.</a:t>
            </a:r>
            <a:endParaRPr lang="en-US" sz="1700" dirty="0"/>
          </a:p>
        </p:txBody>
      </p:sp>
      <p:sp>
        <p:nvSpPr>
          <p:cNvPr id="6" name="element_5024d4b502814a2af2f0d151911ac074"/>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Retrieval capped at 3 passages per query</a:t>
            </a:r>
            <a:endParaRPr lang="en-US" sz="1700" dirty="0"/>
          </a:p>
        </p:txBody>
      </p:sp>
      <p:sp>
        <p:nvSpPr>
          <p:cNvPr id="7" name="element_a4d571f9f48c6c79232668996649396d"/>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Citations are claim-linked, not post-hoc</a:t>
            </a:r>
            <a:endParaRPr lang="en-US" sz="1700" dirty="0"/>
          </a:p>
        </p:txBody>
      </p:sp>
      <p:sp>
        <p:nvSpPr>
          <p:cNvPr id="8" name="element_560f96957d6c230af0433fb444edb1da"/>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Source: method.md (attached)</a:t>
            </a:r>
            <a:endParaRPr lang="en-US" sz="1700" dirty="0"/>
          </a:p>
        </p:txBody>
      </p:sp>
      <p:sp>
        <p:nvSpPr>
          <p:cNvPr id="9" name="element_6a4c04fcf9aab41861a47618c72299f1"/>
          <p:cNvSpPr/>
          <p:nvPr/>
        </p:nvSpPr>
        <p:spPr>
          <a:xfrm>
            <a:off x="7019978" y="3775329"/>
            <a:ext cx="243834" cy="164592"/>
          </a:xfrm>
          <a:prstGeom prst="line">
            <a:avLst/>
          </a:prstGeom>
          <a:noFill/>
          <a:ln w="25400">
            <a:solidFill>
              <a:srgbClr val="7566A8"/>
            </a:solidFill>
            <a:prstDash val="solid"/>
            <a:tailEnd type="triangle"/>
          </a:ln>
        </p:spPr>
      </p:sp>
      <p:sp>
        <p:nvSpPr>
          <p:cNvPr id="10" name="element_0aa75a5c4d2d0e5c84a57663da7267cc"/>
          <p:cNvSpPr/>
          <p:nvPr/>
        </p:nvSpPr>
        <p:spPr>
          <a:xfrm>
            <a:off x="9194977" y="3775329"/>
            <a:ext cx="243834" cy="164592"/>
          </a:xfrm>
          <a:prstGeom prst="line">
            <a:avLst/>
          </a:prstGeom>
          <a:noFill/>
          <a:ln w="25400">
            <a:solidFill>
              <a:srgbClr val="7566A8"/>
            </a:solidFill>
            <a:prstDash val="solid"/>
            <a:tailEnd type="triangle"/>
          </a:ln>
        </p:spPr>
      </p:sp>
      <p:sp>
        <p:nvSpPr>
          <p:cNvPr id="11" name="element_5cf12381fd00a1aa04adbf999317c212"/>
          <p:cNvSpPr/>
          <p:nvPr/>
        </p:nvSpPr>
        <p:spPr>
          <a:xfrm>
            <a:off x="6910253" y="4375404"/>
            <a:ext cx="463284" cy="164592"/>
          </a:xfrm>
          <a:prstGeom prst="line">
            <a:avLst/>
          </a:prstGeom>
          <a:noFill/>
          <a:ln w="25400">
            <a:solidFill>
              <a:srgbClr val="7566A8"/>
            </a:solidFill>
            <a:prstDash val="solid"/>
            <a:tailEnd type="triangle"/>
          </a:ln>
        </p:spPr>
      </p:sp>
      <p:sp>
        <p:nvSpPr>
          <p:cNvPr id="12" name="element_45e62b072617bfbc35b56667f8765a39"/>
          <p:cNvSpPr/>
          <p:nvPr/>
        </p:nvSpPr>
        <p:spPr>
          <a:xfrm>
            <a:off x="6922445" y="4375404"/>
            <a:ext cx="2615119" cy="164592"/>
          </a:xfrm>
          <a:prstGeom prst="line">
            <a:avLst/>
          </a:prstGeom>
          <a:noFill/>
          <a:ln w="25400">
            <a:solidFill>
              <a:srgbClr val="7566A8"/>
            </a:solidFill>
            <a:prstDash val="solid"/>
            <a:tailEnd type="triangle"/>
          </a:ln>
        </p:spPr>
      </p:sp>
      <p:sp>
        <p:nvSpPr>
          <p:cNvPr id="13" name="element_519cef1044d908f033fc84679c747dd4"/>
          <p:cNvSpPr/>
          <p:nvPr/>
        </p:nvSpPr>
        <p:spPr>
          <a:xfrm>
            <a:off x="5045753" y="3339160"/>
            <a:ext cx="2018506" cy="1036930"/>
          </a:xfrm>
          <a:prstGeom prst="roundRect">
            <a:avLst/>
          </a:prstGeom>
          <a:solidFill>
            <a:srgbClr val="F2DED3"/>
          </a:solidFill>
          <a:ln w="12700">
            <a:solidFill>
              <a:srgbClr val="DED7CC"/>
            </a:solidFill>
            <a:prstDash val="solid"/>
          </a:ln>
        </p:spPr>
      </p:sp>
      <p:sp>
        <p:nvSpPr>
          <p:cNvPr id="14" name="element_519cef1044d908f033fc84679c747dd4:text"/>
          <p:cNvSpPr txBox="1"/>
          <p:nvPr/>
        </p:nvSpPr>
        <p:spPr>
          <a:xfrm>
            <a:off x="5045753" y="333916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Query</a:t>
            </a:r>
            <a:endParaRPr lang="en-US" sz="1600" dirty="0"/>
          </a:p>
        </p:txBody>
      </p:sp>
      <p:sp>
        <p:nvSpPr>
          <p:cNvPr id="15" name="element_0d5b5de0e386ab34a7584bd2c9835a61"/>
          <p:cNvSpPr/>
          <p:nvPr/>
        </p:nvSpPr>
        <p:spPr>
          <a:xfrm>
            <a:off x="7219532" y="3339160"/>
            <a:ext cx="2018506" cy="1036930"/>
          </a:xfrm>
          <a:prstGeom prst="roundRect">
            <a:avLst/>
          </a:prstGeom>
          <a:solidFill>
            <a:srgbClr val="E5E9D6"/>
          </a:solidFill>
          <a:ln w="25400">
            <a:solidFill>
              <a:srgbClr val="B44A2D"/>
            </a:solidFill>
            <a:prstDash val="solid"/>
          </a:ln>
        </p:spPr>
      </p:sp>
      <p:sp>
        <p:nvSpPr>
          <p:cNvPr id="16" name="element_0d5b5de0e386ab34a7584bd2c9835a61:text"/>
          <p:cNvSpPr txBox="1"/>
          <p:nvPr/>
        </p:nvSpPr>
        <p:spPr>
          <a:xfrm>
            <a:off x="7219532" y="333916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Predict: retrieve needed?</a:t>
            </a:r>
            <a:endParaRPr lang="en-US" sz="1600" dirty="0"/>
          </a:p>
        </p:txBody>
      </p:sp>
      <p:sp>
        <p:nvSpPr>
          <p:cNvPr id="17" name="element_ff7d8e9f57b0f0d7a6954c632c4d635d"/>
          <p:cNvSpPr/>
          <p:nvPr/>
        </p:nvSpPr>
        <p:spPr>
          <a:xfrm>
            <a:off x="9394530" y="3339160"/>
            <a:ext cx="2018506" cy="1036930"/>
          </a:xfrm>
          <a:prstGeom prst="roundRect">
            <a:avLst/>
          </a:prstGeom>
          <a:solidFill>
            <a:srgbClr val="F2DED3"/>
          </a:solidFill>
          <a:ln w="12700">
            <a:solidFill>
              <a:srgbClr val="DED7CC"/>
            </a:solidFill>
            <a:prstDash val="solid"/>
          </a:ln>
        </p:spPr>
      </p:sp>
      <p:sp>
        <p:nvSpPr>
          <p:cNvPr id="18" name="element_ff7d8e9f57b0f0d7a6954c632c4d635d:text"/>
          <p:cNvSpPr txBox="1"/>
          <p:nvPr/>
        </p:nvSpPr>
        <p:spPr>
          <a:xfrm>
            <a:off x="9394530" y="333916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Retrieve ≤3 passages</a:t>
            </a:r>
            <a:endParaRPr lang="en-US" sz="1600" dirty="0"/>
          </a:p>
        </p:txBody>
      </p:sp>
      <p:sp>
        <p:nvSpPr>
          <p:cNvPr id="19" name="element_dac65e813c3a252661b3dd2aab5841dc"/>
          <p:cNvSpPr/>
          <p:nvPr/>
        </p:nvSpPr>
        <p:spPr>
          <a:xfrm>
            <a:off x="5045753" y="4539310"/>
            <a:ext cx="2018506" cy="1036930"/>
          </a:xfrm>
          <a:prstGeom prst="roundRect">
            <a:avLst/>
          </a:prstGeom>
          <a:solidFill>
            <a:srgbClr val="F2DED3"/>
          </a:solidFill>
          <a:ln w="12700">
            <a:solidFill>
              <a:srgbClr val="DED7CC"/>
            </a:solidFill>
            <a:prstDash val="solid"/>
          </a:ln>
        </p:spPr>
      </p:sp>
      <p:sp>
        <p:nvSpPr>
          <p:cNvPr id="20" name="element_dac65e813c3a252661b3dd2aab5841dc:text"/>
          <p:cNvSpPr txBox="1"/>
          <p:nvPr/>
        </p:nvSpPr>
        <p:spPr>
          <a:xfrm>
            <a:off x="5045753" y="453931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Answer with claim-linked citations</a:t>
            </a:r>
            <a:endParaRPr lang="en-US" sz="1600" dirty="0"/>
          </a:p>
        </p:txBody>
      </p:sp>
      <p:sp>
        <p:nvSpPr>
          <p:cNvPr id="21" name="element_b48b1a26756b906ddd3928ec9ffb5b24"/>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22" name="element_17df0ff6afb1d92ddefda96743890f96"/>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4cc5660dd5438aaccb8d2ee88614a6e2"/>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fa614742d2189ec6abdc50819ffad8ad"/>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BUILD</a:t>
            </a:r>
            <a:endParaRPr lang="en-US" sz="1500" dirty="0"/>
          </a:p>
        </p:txBody>
      </p:sp>
      <p:sp>
        <p:nvSpPr>
          <p:cNvPr id="4" name="element_0687b55108241414c44211dd1d0649ad"/>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Same fixture, three policies, three metrics</a:t>
            </a:r>
            <a:endParaRPr lang="en-US" sz="3800" dirty="0"/>
          </a:p>
        </p:txBody>
      </p:sp>
      <p:sp>
        <p:nvSpPr>
          <p:cNvPr id="5" name="element_17f11f61351730d661f75312a865db83"/>
          <p:cNvSpPr txBox="1"/>
          <p:nvPr/>
        </p:nvSpPr>
        <p:spPr>
          <a:xfrm>
            <a:off x="1706837"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Each policy was run over an identical fixed benchmark fixture and scored on quality, cost, and latency. Holding the fixture constant isolates the effect of the retrieval policy itself rather than differences in test data.</a:t>
            </a:r>
            <a:endParaRPr lang="en-US" sz="1900" dirty="0"/>
          </a:p>
        </p:txBody>
      </p:sp>
      <p:sp>
        <p:nvSpPr>
          <p:cNvPr id="6" name="element_74fdc3164d8f1f10918a1e2481c2c747"/>
          <p:cNvSpPr txBox="1"/>
          <p:nvPr/>
        </p:nvSpPr>
        <p:spPr>
          <a:xfrm>
            <a:off x="8168436"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Metrics: quality_score, cost_usd, latency_ms per query (mean)</a:t>
            </a:r>
            <a:endParaRPr lang="en-US" sz="1700" dirty="0"/>
          </a:p>
        </p:txBody>
      </p:sp>
      <p:sp>
        <p:nvSpPr>
          <p:cNvPr id="7" name="element_0dba9725d6a2073d8ef480aedff4850a"/>
          <p:cNvSpPr txBox="1"/>
          <p:nvPr/>
        </p:nvSpPr>
        <p:spPr>
          <a:xfrm>
            <a:off x="4632844"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Policies: no_retrieval, always_retrieve, adaptive</a:t>
            </a:r>
            <a:endParaRPr lang="en-US" sz="1700" dirty="0"/>
          </a:p>
        </p:txBody>
      </p:sp>
      <p:sp>
        <p:nvSpPr>
          <p:cNvPr id="8" name="element_136b50cb0a13a018b7bdb581552cccd8"/>
          <p:cNvSpPr txBox="1"/>
          <p:nvPr/>
        </p:nvSpPr>
        <p:spPr>
          <a:xfrm>
            <a:off x="1097253"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Source: retrieval-results.csv (attached), used as-is</a:t>
            </a:r>
            <a:endParaRPr lang="en-US" sz="1700" dirty="0"/>
          </a:p>
        </p:txBody>
      </p:sp>
      <p:sp>
        <p:nvSpPr>
          <p:cNvPr id="9" name="element_9a0496cd2d80335d85632bb1b9fc07ca"/>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f75a636df04ba2661fbc52a8a1529045"/>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1da268a1a4e9e548b3ee1ca388ba247a"/>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c4de9d967435e368f5b66aa8a0231194"/>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52dc292d8a0db290f92c149bc96c5b0a"/>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Adaptive recovers most of the quality gain</a:t>
            </a:r>
            <a:endParaRPr lang="en-US" sz="3800" dirty="0"/>
          </a:p>
        </p:txBody>
      </p:sp>
      <p:sp>
        <p:nvSpPr>
          <p:cNvPr id="5" name="element_6af35f8707a7f53057f1a31ea4323ccd"/>
          <p:cNvSpPr txBox="1"/>
          <p:nvPr/>
        </p:nvSpPr>
        <p:spPr>
          <a:xfrm>
            <a:off x="853419" y="2743200"/>
            <a:ext cx="365750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Measured result: adaptive scores 0.75 versus 0.78 for always_retrieve and 0.61 for no_retrieval. This is the raw quality series from retrieval-results.csv, presented without cost weighting.</a:t>
            </a:r>
            <a:endParaRPr lang="en-US" sz="1900" dirty="0"/>
          </a:p>
        </p:txBody>
      </p:sp>
      <p:sp>
        <p:nvSpPr>
          <p:cNvPr id="6" name="element_2d8c1daced2c79bede2ca140c7885361"/>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Adaptive closes 82% of the quality gap over no_retrieval</a:t>
            </a:r>
            <a:endParaRPr lang="en-US" sz="1700" dirty="0"/>
          </a:p>
        </p:txBody>
      </p:sp>
      <p:sp>
        <p:nvSpPr>
          <p:cNvPr id="7" name="element_9a6e0ec237fca7bd5c7a259111785678"/>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Values are means over the fixed fixture, per attachment</a:t>
            </a:r>
            <a:endParaRPr lang="en-US" sz="1700" dirty="0"/>
          </a:p>
        </p:txBody>
      </p:sp>
      <p:sp>
        <p:nvSpPr>
          <p:cNvPr id="8" name="element_9f441ee02f622ff015f014d1eefbdc10"/>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Cost and latency are examined separately, next</a:t>
            </a:r>
            <a:endParaRPr lang="en-US" sz="1700" dirty="0"/>
          </a:p>
        </p:txBody>
      </p:sp>
      <p:graphicFrame>
        <p:nvGraphicFramePr>
          <p:cNvPr id="9" name="element_bbf1b77256e284f4313f63ed2e4a9588" descr=""/>
          <p:cNvGraphicFramePr/>
          <p:nvPr/>
        </p:nvGraphicFramePr>
        <p:xfrm>
          <a:off x="5120512" y="2880360"/>
          <a:ext cx="6095848" cy="3154680"/>
        </p:xfrm>
        <a:graphic xmlns:a="http://schemas.openxmlformats.org/drawingml/2006/main">
          <a:graphicData uri="http://schemas.openxmlformats.org/drawingml/2006/chart">
            <c:chart xmlns:c="http://schemas.openxmlformats.org/drawingml/2006/chart" r:id="rId1"/>
          </a:graphicData>
        </a:graphic>
      </p:graphicFrame>
      <p:sp>
        <p:nvSpPr>
          <p:cNvPr id="10" name="element_2acf31ea6333c20de46599ad94ffb89e"/>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3dcd7289ca0292e1e9196663424d0b63"/>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2865898cae736d2381141448bb5a8898"/>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dfba026eb7bbbf12ec39843182230ea5"/>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3ddbb577a272edfa44dc9acf03e426fa"/>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Quality per dollar favors adaptive by a wide margin</a:t>
            </a:r>
            <a:endParaRPr lang="en-US" sz="3800" dirty="0"/>
          </a:p>
        </p:txBody>
      </p:sp>
      <p:sp>
        <p:nvSpPr>
          <p:cNvPr id="5" name="element_53538b2de998104cf39d0238d2dd5c0f"/>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Dividing measured quality by measured cost reframes the comparison: no_retrieval scores highest only because it does almost nothing; among policies that actually retrieve, adaptive delivers far more quality per dollar than always_retrieve.</a:t>
            </a:r>
            <a:endParaRPr lang="en-US" sz="1900" dirty="0"/>
          </a:p>
        </p:txBody>
      </p:sp>
      <p:sp>
        <p:nvSpPr>
          <p:cNvPr id="6" name="element_9233e633ad365a54bc235396eb5d2a18"/>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Adaptive: 0.75 / $0.038 ≈ 19.7 quality-per-dollar</a:t>
            </a:r>
            <a:endParaRPr lang="en-US" sz="1700" dirty="0"/>
          </a:p>
        </p:txBody>
      </p:sp>
      <p:sp>
        <p:nvSpPr>
          <p:cNvPr id="7" name="element_7bb6961e133c3c88e379d96b3b028a9e"/>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Always_retrieve: 0.78 / $0.092 ≈ 8.5 quality-per-dollar</a:t>
            </a:r>
            <a:endParaRPr lang="en-US" sz="1700" dirty="0"/>
          </a:p>
        </p:txBody>
      </p:sp>
      <p:sp>
        <p:nvSpPr>
          <p:cNvPr id="8" name="element_c7c8d308379f93ca0500ed8bfc77b910"/>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No_retrieval's high ratio reflects near-zero cost, not strong performance</a:t>
            </a:r>
            <a:endParaRPr lang="en-US" sz="1700" dirty="0"/>
          </a:p>
        </p:txBody>
      </p:sp>
      <p:sp>
        <p:nvSpPr>
          <p:cNvPr id="9" name="element_f080a43862f032c85d9ee89b50041331"/>
          <p:cNvSpPr txBox="1"/>
          <p:nvPr/>
        </p:nvSpPr>
        <p:spPr>
          <a:xfrm>
            <a:off x="6271408" y="2814523"/>
            <a:ext cx="5135142" cy="1777594"/>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Q / C</a:t>
            </a:r>
            <a:endParaRPr lang="en-US" sz="3000" dirty="0"/>
          </a:p>
        </p:txBody>
      </p:sp>
      <p:sp>
        <p:nvSpPr>
          <p:cNvPr id="10" name="element_ce5d1ef1cc3a88c9aba9775d402ee21e"/>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4fdc2f1b4a5ee8c248d1b4a6d598d2a1"/>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153cfec8a6686f50760fa00f6ffe51b0"/>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4fc7b53db30a7c33a84a12f60855c3c3"/>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4d3dff82ca1e776753658cec3ba4507d"/>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Where the adaptive policy still loses ground</a:t>
            </a:r>
            <a:endParaRPr lang="en-US" sz="3800" dirty="0"/>
          </a:p>
        </p:txBody>
      </p:sp>
      <p:sp>
        <p:nvSpPr>
          <p:cNvPr id="5" name="element_0f267b5413f97bc5b2a590500a33a813"/>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Measured: adaptive trails always_retrieve by 0.03 quality points and shows 1040ms latency, above no_retrieval's 640ms. Interpretation: the prediction step likely under-triggers retrieval on some queries that would have benefited, and per-call latency for the retrieval path is not amortized away by the cap.</a:t>
            </a:r>
            <a:endParaRPr lang="en-US" sz="1900" dirty="0"/>
          </a:p>
        </p:txBody>
      </p:sp>
      <p:sp>
        <p:nvSpPr>
          <p:cNvPr id="6" name="element_935c57d8b3420f1b2e8169b392dcacd1"/>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Measured: adaptive quality 0.75 vs always_retrieve 0.78 (gap = 0.03)</a:t>
            </a:r>
            <a:endParaRPr lang="en-US" sz="1700" dirty="0"/>
          </a:p>
        </p:txBody>
      </p:sp>
      <p:sp>
        <p:nvSpPr>
          <p:cNvPr id="7" name="element_24c633a6f34c587657641edb05422329"/>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Measured: adaptive latency 1040ms vs no_retrieval 640ms</a:t>
            </a:r>
            <a:endParaRPr lang="en-US" sz="1700" dirty="0"/>
          </a:p>
        </p:txBody>
      </p:sp>
      <p:sp>
        <p:nvSpPr>
          <p:cNvPr id="8" name="element_7b8c2df29c2ea45a1e806ec12f8fa566"/>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Interpretation (not measured): under-triggering on borderline queries is the likely driver</a:t>
            </a:r>
            <a:endParaRPr lang="en-US" sz="1700" dirty="0"/>
          </a:p>
        </p:txBody>
      </p:sp>
      <p:sp>
        <p:nvSpPr>
          <p:cNvPr id="9" name="element_d47c18a456f577fb7bc49ef53cb5266c: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d47c18a456f577fb7bc49ef53cb5266c: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Placeholder for a captured example of an adaptive-policy under-triggering failure case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Placeholder — no licensed image supplied; replace with a real example screenshot</a:t>
            </a:r>
            <a:endParaRPr lang="en-US" sz="1400" dirty="0"/>
          </a:p>
        </p:txBody>
      </p:sp>
      <p:sp>
        <p:nvSpPr>
          <p:cNvPr id="11" name="element_6d60da5138d48e16b9edb0a92780ccc6"/>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Replace image before external use · Placeholder — no licensed image supplied; replace with a real example screenshot</a:t>
            </a:r>
            <a:endParaRPr lang="en-US" sz="1400" dirty="0"/>
          </a:p>
        </p:txBody>
      </p:sp>
      <p:sp>
        <p:nvSpPr>
          <p:cNvPr id="12" name="element_6c900cbe8ae504f87d646394176bb204"/>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4509fae5f42c5438e69b605206ba5c6a"/>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a2048f6f95756e6a8fce31ef81d1fd1d"/>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9751197e4cc61de56cb0ce073de86f39"/>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DECIDE</a:t>
            </a:r>
            <a:endParaRPr lang="en-US" sz="1500" dirty="0"/>
          </a:p>
        </p:txBody>
      </p:sp>
      <p:sp>
        <p:nvSpPr>
          <p:cNvPr id="4" name="element_f2991a6ffd7266c631be6d6ab08e31b1"/>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Recommend adaptive retrieval for cost-sensitive deployment</a:t>
            </a:r>
            <a:endParaRPr lang="en-US" sz="3800" dirty="0"/>
          </a:p>
        </p:txBody>
      </p:sp>
      <p:sp>
        <p:nvSpPr>
          <p:cNvPr id="5" name="element_fe202ce2c6f794a4a8aa68291f98046f"/>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Given a 19.7 quality-per-dollar ratio versus 8.5 for always_retrieve, and a modest 0.03 quality gap, adaptive retrieval is the recommended default for cost-sensitive deployments. Next checkpoint: re-run the fixture after tuning the retrieval-trigger threshold to close the residual quality gap.</a:t>
            </a:r>
            <a:endParaRPr lang="en-US" sz="1900" dirty="0"/>
          </a:p>
        </p:txBody>
      </p:sp>
      <p:sp>
        <p:nvSpPr>
          <p:cNvPr id="6" name="element_d8f6e3533657c79c186f556045a817ca"/>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Decision: ship adaptive retrieval as default policy</a:t>
            </a:r>
            <a:endParaRPr lang="en-US" sz="1700" dirty="0"/>
          </a:p>
        </p:txBody>
      </p:sp>
      <p:sp>
        <p:nvSpPr>
          <p:cNvPr id="7" name="element_f3850c6cbc677589e81c57ee12b74439"/>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Owner: applied ML research lead to tune trigger threshold</a:t>
            </a:r>
            <a:endParaRPr lang="en-US" sz="1700" dirty="0"/>
          </a:p>
        </p:txBody>
      </p:sp>
      <p:sp>
        <p:nvSpPr>
          <p:cNvPr id="8" name="element_035aa9f2dd77ffa9f94153b87f720f4f"/>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Next checkpoint: re-evaluate on fixture after threshold tuning</a:t>
            </a:r>
            <a:endParaRPr lang="en-US" sz="1700" dirty="0"/>
          </a:p>
        </p:txBody>
      </p:sp>
      <p:sp>
        <p:nvSpPr>
          <p:cNvPr id="9" name="element_f93268552520121bce02320020026778"/>
          <p:cNvSpPr txBox="1"/>
          <p:nvPr/>
        </p:nvSpPr>
        <p:spPr>
          <a:xfrm>
            <a:off x="6827349" y="2811780"/>
            <a:ext cx="4145176" cy="1371600"/>
          </a:xfrm>
          <a:prstGeom prst="rect">
            <a:avLst/>
          </a:prstGeom>
          <a:noFill/>
          <a:ln/>
        </p:spPr>
        <p:txBody>
          <a:bodyPr wrap="square" lIns="254000" tIns="254000" rIns="254000" bIns="254000" rtlCol="0" anchor="t">
            <a:normAutofit/>
          </a:bodyPr>
          <a:lstStyle/>
          <a:p>
            <a:pPr algn="l" indent="0" marL="0">
              <a:lnSpc>
                <a:spcPct val="100000"/>
              </a:lnSpc>
              <a:buNone/>
            </a:pPr>
            <a:r>
              <a:rPr lang="en-US" sz="5600" b="1" dirty="0">
                <a:solidFill>
                  <a:srgbClr val="34452C"/>
                </a:solidFill>
                <a:latin typeface="JetBrains Mono Variable" pitchFamily="34" charset="0"/>
                <a:ea typeface="JetBrains Mono Variable" pitchFamily="34" charset="-122"/>
                <a:cs typeface="JetBrains Mono Variable" pitchFamily="34" charset="-120"/>
              </a:rPr>
              <a:t>19.7x</a:t>
            </a:r>
            <a:endParaRPr lang="en-US" sz="5600" dirty="0"/>
          </a:p>
        </p:txBody>
      </p:sp>
      <p:sp>
        <p:nvSpPr>
          <p:cNvPr id="10" name="element_f1d51566c3284e96f900d4f730c56c47"/>
          <p:cNvSpPr txBox="1"/>
          <p:nvPr/>
        </p:nvSpPr>
        <p:spPr>
          <a:xfrm>
            <a:off x="7193100" y="43205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Adaptive quality-per-dollar vs 8.5x for always_retrieve</a:t>
            </a:r>
            <a:endParaRPr lang="en-US" sz="1500" dirty="0"/>
          </a:p>
        </p:txBody>
      </p:sp>
      <p:sp>
        <p:nvSpPr>
          <p:cNvPr id="11" name="element_efff24c86ce1911dfdeaf1e2f37317ed"/>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59d2119daca07921edfcf4d22abf5550"/>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research talk for applied machine-learning resea…</dc:title>
  <dc:subject>Create an editable, reviewable presentation from this idea</dc:subject>
  <dc:creator>NodeSlide</dc:creator>
  <cp:lastModifiedBy>NodeSlide</cp:lastModifiedBy>
  <cp:revision>1</cp:revision>
  <dcterms:created xsi:type="dcterms:W3CDTF">2026-07-21T23:41:51Z</dcterms:created>
  <dcterms:modified xsi:type="dcterms:W3CDTF">2026-07-21T23:41:51Z</dcterms:modified>
</cp:coreProperties>
</file>