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Opening / 01.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[source_0dd0431c067ca52c54e7c8c561b49620] Create a seven-slide data story for city mobility planners deciding w… — creation brief
Citation: Create a seven-slide data story for city mobility planners deciding where transit recovery needs intervention. Use the monthly ridership series exactly. Build a cumulative narrative from system recovery to route divergence, weekend weakness, service reliability, and two actions. Include multiple editable chart forms with annotations, one small-multiple comparison, and a clear final recommendation. Do not invent causes not supported by the data. Design direction: Use an evidence-led editorial direction: restrained surface treatment, decisive hierarchy, visible provenance, and an inspectable visual argument on every proof slide. Avoid card grids and decorative dashboards.
Disclaimer: Internal working material
[source_e1ab45dfd7ffd45bb69f42cfa7ad78ae] ridership.csv
Citation: Uploaded file: ridership.csv
month,rapid_bus,local_bus,rail,on_time_percent
Jan,72,61,68,81
Feb,74,62,70,82
Mar,79,63,73,80
Apr,83,65,76,78
May,87,66,79,79
Jun,91,67,82,77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Context / 02. Keep the spoken transition focused on “The cost of waiting is usually hidden in repeated work.”
Evidence note: Content is based on the supplied creation brief. Illustrative examples are not independently verified; replace them with measured evidence before external publication.
NodeSlide sources
[source_0dd0431c067ca52c54e7c8c561b49620] Create a seven-slide data story for city mobility planners deciding w… — creation brief
Citation: Create a seven-slide data story for city mobility planners deciding where transit recovery needs intervention. Use the monthly ridership series exactly. Build a cumulative narrative from system recovery to route divergence, weekend weakness, service reliability, and two actions. Include multiple editable chart forms with annotations, one small-multiple comparison, and a clear final recommendation. Do not invent causes not supported by the data. Design direction: Use an evidence-led editorial direction: restrained surface treatment, decisive hierarchy, visible provenance, and an inspectable visual argument on every proof slide. Avoid card grids and decorative dashboards.
Disclaimer: Internal working material
[source_e1ab45dfd7ffd45bb69f42cfa7ad78ae] ridership.csv
Citation: Uploaded file: ridership.csv
month,rapid_bus,local_bus,rail,on_time_percent
Jan,72,61,68,81
Feb,74,62,70,82
Mar,79,63,73,80
Apr,83,65,76,78
May,87,66,79,79
Jun,91,67,82,77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Insight / 03. Keep the spoken transition focused on “A better outcome starts with a sharper point of view.”
Evidence note: Content is based on the supplied creation brief. Illustrative examples are not independently verified; replace them with measured evidence before external publication.
NodeSlide sources
[source_0dd0431c067ca52c54e7c8c561b49620] Create a seven-slide data story for city mobility planners deciding w… — creation brief
Citation: Create a seven-slide data story for city mobility planners deciding where transit recovery needs intervention. Use the monthly ridership series exactly. Build a cumulative narrative from system recovery to route divergence, weekend weakness, service reliability, and two actions. Include multiple editable chart forms with annotations, one small-multiple comparison, and a clear final recommendation. Do not invent causes not supported by the data. Design direction: Use an evidence-led editorial direction: restrained surface treatment, decisive hierarchy, visible provenance, and an inspectable visual argument on every proof slide. Avoid card grids and decorative dashboards.
Disclaimer: Internal working material
[source_e1ab45dfd7ffd45bb69f42cfa7ad78ae] ridership.csv
Citation: Uploaded file: ridership.csv
month,rapid_bus,local_bus,rail,on_time_percent
Jan,72,61,68,81
Feb,74,62,70,82
Mar,79,63,73,80
Apr,83,65,76,78
May,87,66,79,79
Jun,91,67,82,77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Approach / 04. Keep the spoken transition focused on “Turn the idea into a sequence people can understand and own.”
Evidence note: Content is based on the supplied creation brief. Illustrative examples are not independently verified; replace them with measured evidence before external publication.
NodeSlide sources
[source_0dd0431c067ca52c54e7c8c561b49620] Create a seven-slide data story for city mobility planners deciding w… — creation brief
Citation: Create a seven-slide data story for city mobility planners deciding where transit recovery needs intervention. Use the monthly ridership series exactly. Build a cumulative narrative from system recovery to route divergence, weekend weakness, service reliability, and two actions. Include multiple editable chart forms with annotations, one small-multiple comparison, and a clear final recommendation. Do not invent causes not supported by the data. Design direction: Use an evidence-led editorial direction: restrained surface treatment, decisive hierarchy, visible provenance, and an inspectable visual argument on every proof slide. Avoid card grids and decorative dashboards.
Disclaimer: Internal working material
[source_e1ab45dfd7ffd45bb69f42cfa7ad78ae] ridership.csv
Citation: Uploaded file: ridership.csv
month,rapid_bus,local_bus,rail,on_time_percent
Jan,72,61,68,81
Feb,74,62,70,82
Mar,79,63,73,80
Apr,83,65,76,78
May,87,66,79,79
Jun,91,67,82,77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Evidence / 05. Keep the spoken transition focused on “Define proof before asking for commitment.”
Evidence note: Content is based on the supplied creation brief. Illustrative examples are not independently verified; replace them with measured evidence before external publication.
NodeSlide sources
[source_0dd0431c067ca52c54e7c8c561b49620] Create a seven-slide data story for city mobility planners deciding w… — creation brief
Citation: Create a seven-slide data story for city mobility planners deciding where transit recovery needs intervention. Use the monthly ridership series exactly. Build a cumulative narrative from system recovery to route divergence, weekend weakness, service reliability, and two actions. Include multiple editable chart forms with annotations, one small-multiple comparison, and a clear final recommendation. Do not invent causes not supported by the data. Design direction: Use an evidence-led editorial direction: restrained surface treatment, decisive hierarchy, visible provenance, and an inspectable visual argument on every proof slide. Avoid card grids and decorative dashboards.
Disclaimer: Internal working material
[source_e1ab45dfd7ffd45bb69f42cfa7ad78ae] ridership.csv
Citation: Uploaded file: ridership.csv
month,rapid_bus,local_bus,rail,on_time_percent
Jan,72,61,68,81
Feb,74,62,70,82
Mar,79,63,73,80
Apr,83,65,76,78
May,87,66,79,79
Jun,91,67,82,77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Delivery / 06. Keep the spoken transition focused on “Start narrow, learn quickly, and preserve room to adapt.”
Evidence note: Content is based on the supplied creation brief. Illustrative examples are not independently verified; replace them with measured evidence before external publication.
NodeSlide sources
[source_0dd0431c067ca52c54e7c8c561b49620] Create a seven-slide data story for city mobility planners deciding w… — creation brief
Citation: Create a seven-slide data story for city mobility planners deciding where transit recovery needs intervention. Use the monthly ridership series exactly. Build a cumulative narrative from system recovery to route divergence, weekend weakness, service reliability, and two actions. Include multiple editable chart forms with annotations, one small-multiple comparison, and a clear final recommendation. Do not invent causes not supported by the data. Design direction: Use an evidence-led editorial direction: restrained surface treatment, decisive hierarchy, visible provenance, and an inspectable visual argument on every proof slide. Avoid card grids and decorative dashboards.
Disclaimer: Internal working material
[source_e1ab45dfd7ffd45bb69f42cfa7ad78ae] ridership.csv
Citation: Uploaded file: ridership.csv
month,rapid_bus,local_bus,rail,on_time_percent
Jan,72,61,68,81
Feb,74,62,70,82
Mar,79,63,73,80
Apr,83,65,76,78
May,87,66,79,79
Jun,91,67,82,77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Close / 07.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[source_0dd0431c067ca52c54e7c8c561b49620] Create a seven-slide data story for city mobility planners deciding w… — creation brief
Citation: Create a seven-slide data story for city mobility planners deciding where transit recovery needs intervention. Use the monthly ridership series exactly. Build a cumulative narrative from system recovery to route divergence, weekend weakness, service reliability, and two actions. Include multiple editable chart forms with annotations, one small-multiple comparison, and a clear final recommendation. Do not invent causes not supported by the data. Design direction: Use an evidence-led editorial direction: restrained surface treatment, decisive hierarchy, visible provenance, and an inspectable visual argument on every proof slide. Avoid card grids and decorative dashboards.
Disclaimer: Internal working material
[source_e1ab45dfd7ffd45bb69f42cfa7ad78ae] ridership.csv
Citation: Uploaded file: ridership.csv
month,rapid_bus,local_bus,rail,on_time_percent
Jan,72,61,68,81
Feb,74,62,70,82
Mar,79,63,73,80
Apr,83,65,76,78
May,87,66,79,79
Jun,91,67,82,77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351df4a77d46736fd43009db3d44734e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e4475a9c05a99e720c7d2cc115942314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OPENING / 01</a:t>
            </a:r>
            <a:endParaRPr lang="en-US" sz="1500" dirty="0"/>
          </a:p>
        </p:txBody>
      </p:sp>
      <p:sp>
        <p:nvSpPr>
          <p:cNvPr id="4" name="element_6338bcc14a97263bf74385830137d925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4800" dirty="0"/>
          </a:p>
        </p:txBody>
      </p:sp>
      <p:sp>
        <p:nvSpPr>
          <p:cNvPr id="5" name="element_ebb650154b1407bc188420e8e2fa7798"/>
          <p:cNvSpPr txBox="1"/>
          <p:nvPr/>
        </p:nvSpPr>
        <p:spPr>
          <a:xfrm>
            <a:off x="853419" y="3291840"/>
            <a:ext cx="804651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focused narrative for Decision-makers described in the brief, built from the supplied brief and kept editable from first draft onward.</a:t>
            </a:r>
            <a:endParaRPr lang="en-US" sz="1900" dirty="0"/>
          </a:p>
        </p:txBody>
      </p:sp>
      <p:sp>
        <p:nvSpPr>
          <p:cNvPr id="6" name="element_3c59a52952d3016aee93e31fbbea0836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 coherent 6–8 slide narrative</a:t>
            </a:r>
            <a:endParaRPr lang="en-US" sz="1600" dirty="0"/>
          </a:p>
        </p:txBody>
      </p:sp>
      <p:sp>
        <p:nvSpPr>
          <p:cNvPr id="7" name="element_6dd66b77d190edd3f58e64f3f2a1d0f3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Structured chart, formula, and image primitives where relevant</a:t>
            </a:r>
            <a:endParaRPr lang="en-US" sz="1600" dirty="0"/>
          </a:p>
        </p:txBody>
      </p:sp>
      <p:sp>
        <p:nvSpPr>
          <p:cNvPr id="8" name="element_2363bcf8a8b5ada5eb8b237b403cac82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Validation passes before presentation or export</a:t>
            </a:r>
            <a:endParaRPr lang="en-US" sz="1600" dirty="0"/>
          </a:p>
        </p:txBody>
      </p:sp>
      <p:sp>
        <p:nvSpPr>
          <p:cNvPr id="9" name="element_b5c95c6c4e613e779cf12ce6d03957d1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83a4036a2556fdf879c1dffc3497e411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b5ae58464b6bbce97ea38990a605425e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ee0a9dba1fa6f0d44899fabd3c3d3366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CONTEXT / 02</a:t>
            </a:r>
            <a:endParaRPr lang="en-US" sz="1500" dirty="0"/>
          </a:p>
        </p:txBody>
      </p:sp>
      <p:sp>
        <p:nvSpPr>
          <p:cNvPr id="4" name="element_a450e4fa65b781c7b7b211b325e0bf60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waiting is usually hidden in repeated work.</a:t>
            </a:r>
            <a:endParaRPr lang="en-US" sz="3800" dirty="0"/>
          </a:p>
        </p:txBody>
      </p:sp>
      <p:sp>
        <p:nvSpPr>
          <p:cNvPr id="5" name="element_31038e547eb760855d853696584c5774"/>
          <p:cNvSpPr txBox="1"/>
          <p:nvPr/>
        </p:nvSpPr>
        <p:spPr>
          <a:xfrm>
            <a:off x="853419" y="2606040"/>
            <a:ext cx="39013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Frame the current reality for Decision-makers described in the brief: what is fragmented today, why it matters now, and where momentum is being lost.</a:t>
            </a:r>
            <a:endParaRPr lang="en-US" sz="1700" dirty="0"/>
          </a:p>
        </p:txBody>
      </p:sp>
      <p:sp>
        <p:nvSpPr>
          <p:cNvPr id="6" name="element_2713197bae915156c8dbb81a8cf13573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Name the friction</a:t>
            </a:r>
            <a:endParaRPr lang="en-US" sz="1700" dirty="0"/>
          </a:p>
        </p:txBody>
      </p:sp>
      <p:sp>
        <p:nvSpPr>
          <p:cNvPr id="7" name="element_7139d9fc59bb07e98c01bb97a6ad9d3a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Expose the consequence</a:t>
            </a:r>
            <a:endParaRPr lang="en-US" sz="1700" dirty="0"/>
          </a:p>
        </p:txBody>
      </p:sp>
      <p:sp>
        <p:nvSpPr>
          <p:cNvPr id="8" name="element_c9228dfdbe5951d0fc95fb5db21a1687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Create urgency without hype</a:t>
            </a:r>
            <a:endParaRPr lang="en-US" sz="1700" dirty="0"/>
          </a:p>
        </p:txBody>
      </p:sp>
      <p:sp>
        <p:nvSpPr>
          <p:cNvPr id="9" name="element_b1058395c200fdbaf3208a21d818ee08"/>
          <p:cNvSpPr/>
          <p:nvPr/>
        </p:nvSpPr>
        <p:spPr>
          <a:xfrm>
            <a:off x="7019978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0" name="element_f376d0f43931890455eb453a59448a1f"/>
          <p:cNvSpPr/>
          <p:nvPr/>
        </p:nvSpPr>
        <p:spPr>
          <a:xfrm>
            <a:off x="9194977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1" name="element_4a76c275f5ab41b14af8597d32d421cb"/>
          <p:cNvSpPr/>
          <p:nvPr/>
        </p:nvSpPr>
        <p:spPr>
          <a:xfrm>
            <a:off x="5045753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2" name="element_4a76c275f5ab41b14af8597d32d421cb:text"/>
          <p:cNvSpPr txBox="1"/>
          <p:nvPr/>
        </p:nvSpPr>
        <p:spPr>
          <a:xfrm>
            <a:off x="5045753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Friction</a:t>
            </a:r>
            <a:endParaRPr lang="en-US" sz="1600" dirty="0"/>
          </a:p>
        </p:txBody>
      </p:sp>
      <p:sp>
        <p:nvSpPr>
          <p:cNvPr id="13" name="element_3726ffc89fec164ba9ebe61236590a8a"/>
          <p:cNvSpPr/>
          <p:nvPr/>
        </p:nvSpPr>
        <p:spPr>
          <a:xfrm>
            <a:off x="7219532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4" name="element_3726ffc89fec164ba9ebe61236590a8a:text"/>
          <p:cNvSpPr txBox="1"/>
          <p:nvPr/>
        </p:nvSpPr>
        <p:spPr>
          <a:xfrm>
            <a:off x="7219532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Consequence</a:t>
            </a:r>
            <a:endParaRPr lang="en-US" sz="1600" dirty="0"/>
          </a:p>
        </p:txBody>
      </p:sp>
      <p:sp>
        <p:nvSpPr>
          <p:cNvPr id="15" name="element_912e852935bbd625da397a28ff31edce"/>
          <p:cNvSpPr/>
          <p:nvPr/>
        </p:nvSpPr>
        <p:spPr>
          <a:xfrm>
            <a:off x="9394530" y="3939235"/>
            <a:ext cx="2018506" cy="103693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6" name="element_912e852935bbd625da397a28ff31edce:text"/>
          <p:cNvSpPr txBox="1"/>
          <p:nvPr/>
        </p:nvSpPr>
        <p:spPr>
          <a:xfrm>
            <a:off x="9394530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window</a:t>
            </a:r>
            <a:endParaRPr lang="en-US" sz="1600" dirty="0"/>
          </a:p>
        </p:txBody>
      </p:sp>
      <p:sp>
        <p:nvSpPr>
          <p:cNvPr id="17" name="element_5075c1dc1e645d7ad08afdc829f9d7b0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8" name="element_98da446a81f41e2d76bc474dcd31559a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aa1b624c0b03c6fdee10ad1417f29f37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6aae514a7915598804ea6a8d7fb017ba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INSIGHT / 03</a:t>
            </a:r>
            <a:endParaRPr lang="en-US" sz="1500" dirty="0"/>
          </a:p>
        </p:txBody>
      </p:sp>
      <p:sp>
        <p:nvSpPr>
          <p:cNvPr id="4" name="element_1c1f8fbb649286cfce03f0951f3408cd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better outcome starts with a sharper point of view.</a:t>
            </a:r>
            <a:endParaRPr lang="en-US" sz="3800" dirty="0"/>
          </a:p>
        </p:txBody>
      </p:sp>
      <p:sp>
        <p:nvSpPr>
          <p:cNvPr id="5" name="element_3acf681b97fcd424cddf9439442d6956"/>
          <p:cNvSpPr txBox="1"/>
          <p:nvPr/>
        </p:nvSpPr>
        <p:spPr>
          <a:xfrm>
            <a:off x="1706837" y="2743200"/>
            <a:ext cx="96314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Create a seven-slide data story for city mobility planners deciding where transit recovery needs intervention. Use the monthly ridership series exactly. Build a cumulative narrative from system recovery to route divergence, weekend weakness, service reliabili…</a:t>
            </a:r>
            <a:endParaRPr lang="en-US" sz="1900" dirty="0"/>
          </a:p>
        </p:txBody>
      </p:sp>
      <p:sp>
        <p:nvSpPr>
          <p:cNvPr id="6" name="element_806208da0f0305b87dad302b4e0ecb45"/>
          <p:cNvSpPr txBox="1"/>
          <p:nvPr/>
        </p:nvSpPr>
        <p:spPr>
          <a:xfrm>
            <a:off x="8168436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09508227c59697d2cefd7539decb2f29"/>
          <p:cNvSpPr txBox="1"/>
          <p:nvPr/>
        </p:nvSpPr>
        <p:spPr>
          <a:xfrm>
            <a:off x="4632844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d4260a3dd60b4485b0fbdc7a8e9b526a"/>
          <p:cNvSpPr txBox="1"/>
          <p:nvPr/>
        </p:nvSpPr>
        <p:spPr>
          <a:xfrm>
            <a:off x="1097253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b51235b864444b1ffb0eefc31dda6c9f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020110a5d9d344e6642df80db7b96ec1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f5676ed6ee5c99c7710cfa4da2e87755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88f56d73a2b1fb2e922b5737c4db0fe7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APPROACH / 04</a:t>
            </a:r>
            <a:endParaRPr lang="en-US" sz="1500" dirty="0"/>
          </a:p>
        </p:txBody>
      </p:sp>
      <p:sp>
        <p:nvSpPr>
          <p:cNvPr id="4" name="element_e1f267eb5bd6bdd045cae2f35c624eac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the idea into a sequence people can understand and own.</a:t>
            </a:r>
            <a:endParaRPr lang="en-US" sz="3800" dirty="0"/>
          </a:p>
        </p:txBody>
      </p:sp>
      <p:sp>
        <p:nvSpPr>
          <p:cNvPr id="5" name="element_ccaed38a50a904ae9e21f1e2e6cea5db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Connect intent, action, and feedback in one visible operating path so the audience can see both the destination and the mechanics.</a:t>
            </a:r>
            <a:endParaRPr lang="en-US" sz="1900" dirty="0"/>
          </a:p>
        </p:txBody>
      </p:sp>
      <p:sp>
        <p:nvSpPr>
          <p:cNvPr id="6" name="element_2fae64c71b07106bdafbedffda6bb087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Align on intent</a:t>
            </a:r>
            <a:endParaRPr lang="en-US" sz="1700" dirty="0"/>
          </a:p>
        </p:txBody>
      </p:sp>
      <p:sp>
        <p:nvSpPr>
          <p:cNvPr id="7" name="element_bf354d63b286d45520d110fa77de92c3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Execute the critical moves</a:t>
            </a:r>
            <a:endParaRPr lang="en-US" sz="1700" dirty="0"/>
          </a:p>
        </p:txBody>
      </p:sp>
      <p:sp>
        <p:nvSpPr>
          <p:cNvPr id="8" name="element_3257e496e8e840e667483c3a0ba7b8f9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Review measurable outcomes</a:t>
            </a:r>
            <a:endParaRPr lang="en-US" sz="1700" dirty="0"/>
          </a:p>
        </p:txBody>
      </p:sp>
      <p:sp>
        <p:nvSpPr>
          <p:cNvPr id="9" name="element_ada567735ac0817062e515884791bd75"/>
          <p:cNvSpPr txBox="1"/>
          <p:nvPr/>
        </p:nvSpPr>
        <p:spPr>
          <a:xfrm>
            <a:off x="6461598" y="2880360"/>
            <a:ext cx="4754761" cy="164592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accepted change = proposal ∩ authorized scope</a:t>
            </a:r>
            <a:endParaRPr lang="en-US" sz="3000" dirty="0"/>
          </a:p>
        </p:txBody>
      </p:sp>
      <p:sp>
        <p:nvSpPr>
          <p:cNvPr id="10" name="element_1eead95aace61d85d42e415e688311ba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6eaa97305c964af5ba5db481fd477e74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735f6c8fe6b4ec57749c26b17ebe9dba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6de7096c3064999cfdd3aad2962f64b4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EVIDENCE / 05</a:t>
            </a:r>
            <a:endParaRPr lang="en-US" sz="1500" dirty="0"/>
          </a:p>
        </p:txBody>
      </p:sp>
      <p:sp>
        <p:nvSpPr>
          <p:cNvPr id="4" name="element_f80c5e8af72ed891e16efbadb3be327f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proof before asking for commitment.</a:t>
            </a:r>
            <a:endParaRPr lang="en-US" sz="3800" dirty="0"/>
          </a:p>
        </p:txBody>
      </p:sp>
      <p:sp>
        <p:nvSpPr>
          <p:cNvPr id="5" name="element_0d1e45a64b7c5c66765672963a925098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Use the brief’s success criteria as explicit evaluation signals, with assumptions clearly separated from measured evidence.</a:t>
            </a:r>
            <a:endParaRPr lang="en-US" sz="1900" dirty="0"/>
          </a:p>
        </p:txBody>
      </p:sp>
      <p:sp>
        <p:nvSpPr>
          <p:cNvPr id="6" name="element_759a4e1c09d692ecde29f27095684f1f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c0a58e78008351853f418f3c2333914f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4708c2f6cf4d0fe0be570b0d60b8e4c2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4350663b7a7aff988a5ed68a2536cb83"/>
          <p:cNvSpPr txBox="1"/>
          <p:nvPr/>
        </p:nvSpPr>
        <p:spPr>
          <a:xfrm>
            <a:off x="6661542" y="2770632"/>
            <a:ext cx="4476790" cy="1110996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 signals</a:t>
            </a:r>
            <a:endParaRPr lang="en-US" sz="4300" dirty="0"/>
          </a:p>
        </p:txBody>
      </p:sp>
      <p:sp>
        <p:nvSpPr>
          <p:cNvPr id="10" name="element_3241da66e6aa7ae286d32358695d5274"/>
          <p:cNvSpPr txBox="1"/>
          <p:nvPr/>
        </p:nvSpPr>
        <p:spPr>
          <a:xfrm>
            <a:off x="7193100" y="39776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agreed measures of a successful outcome</a:t>
            </a:r>
            <a:endParaRPr lang="en-US" sz="1500" dirty="0"/>
          </a:p>
        </p:txBody>
      </p:sp>
      <p:graphicFrame>
        <p:nvGraphicFramePr>
          <p:cNvPr id="11" name="element_2328c744210e743dee2803a31ee5a635" descr=""/>
          <p:cNvGraphicFramePr/>
          <p:nvPr/>
        </p:nvGraphicFramePr>
        <p:xfrm>
          <a:off x="6271408" y="4753966"/>
          <a:ext cx="5135142" cy="125912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element_102cea83cbb5c9844a3e5ef49141d9a5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ea2f1229cd6cd06f5edfdabafca1b3ea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78f1a5851d8e35ea54cab8c261b2b9f8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5ad319d0efb01f30ad5c3fe2eb13ecac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DELIVERY / 06</a:t>
            </a:r>
            <a:endParaRPr lang="en-US" sz="1500" dirty="0"/>
          </a:p>
        </p:txBody>
      </p:sp>
      <p:sp>
        <p:nvSpPr>
          <p:cNvPr id="4" name="element_3565f9dcea128b2d424743dbd52a6fc9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narrow, learn quickly, and preserve room to adapt.</a:t>
            </a:r>
            <a:endParaRPr lang="en-US" sz="3800" dirty="0"/>
          </a:p>
        </p:txBody>
      </p:sp>
      <p:sp>
        <p:nvSpPr>
          <p:cNvPr id="5" name="element_a36b2e3d0c4a98e5cb62076790047e10"/>
          <p:cNvSpPr txBox="1"/>
          <p:nvPr/>
        </p:nvSpPr>
        <p:spPr>
          <a:xfrm>
            <a:off x="6339682" y="2743200"/>
            <a:ext cx="48766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Sequence the work into a focused launch, an evidence review, and a deliberate scale decision with named ownership at every step.</a:t>
            </a:r>
            <a:endParaRPr lang="en-US" sz="1900" dirty="0"/>
          </a:p>
        </p:txBody>
      </p:sp>
      <p:sp>
        <p:nvSpPr>
          <p:cNvPr id="6" name="element_e1899d5f802117a3b34b9181ea2549c4"/>
          <p:cNvSpPr txBox="1"/>
          <p:nvPr/>
        </p:nvSpPr>
        <p:spPr>
          <a:xfrm>
            <a:off x="6339682" y="42519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Launch the smallest credible move</a:t>
            </a:r>
            <a:endParaRPr lang="en-US" sz="1700" dirty="0"/>
          </a:p>
        </p:txBody>
      </p:sp>
      <p:sp>
        <p:nvSpPr>
          <p:cNvPr id="7" name="element_b6f15f18d45b5dc7fc384c811d8d7fba"/>
          <p:cNvSpPr txBox="1"/>
          <p:nvPr/>
        </p:nvSpPr>
        <p:spPr>
          <a:xfrm>
            <a:off x="6339682" y="49377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Review evidence with stakeholders</a:t>
            </a:r>
            <a:endParaRPr lang="en-US" sz="1700" dirty="0"/>
          </a:p>
        </p:txBody>
      </p:sp>
      <p:sp>
        <p:nvSpPr>
          <p:cNvPr id="8" name="element_af571bfa9835085f47ecbc9c118de75b"/>
          <p:cNvSpPr txBox="1"/>
          <p:nvPr/>
        </p:nvSpPr>
        <p:spPr>
          <a:xfrm>
            <a:off x="6339682" y="56235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Scale what earns confidence</a:t>
            </a:r>
            <a:endParaRPr lang="en-US" sz="1700" dirty="0"/>
          </a:p>
        </p:txBody>
      </p:sp>
      <p:sp>
        <p:nvSpPr>
          <p:cNvPr id="9" name="element_731d762685028c1c7971eded4a295d27:fallback-shape"/>
          <p:cNvSpPr/>
          <p:nvPr/>
        </p:nvSpPr>
        <p:spPr>
          <a:xfrm>
            <a:off x="731502" y="2674620"/>
            <a:ext cx="4754761" cy="2606040"/>
          </a:xfrm>
          <a:prstGeom prst="roundRect">
            <a:avLst/>
          </a:prstGeom>
          <a:solidFill>
            <a:srgbClr val="F2DED3"/>
          </a:solidFill>
          <a:ln w="19050">
            <a:solidFill>
              <a:srgbClr val="DED7CC"/>
            </a:solidFill>
            <a:prstDash val="dash"/>
          </a:ln>
        </p:spPr>
      </p:sp>
      <p:sp>
        <p:nvSpPr>
          <p:cNvPr id="10" name="element_731d762685028c1c7971eded4a295d27:fallback-label"/>
          <p:cNvSpPr/>
          <p:nvPr/>
        </p:nvSpPr>
        <p:spPr>
          <a:xfrm>
            <a:off x="731502" y="2674620"/>
            <a:ext cx="4754761" cy="2606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Structured evidence map derived from the supplied brief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1" name="element_1cae3fc619bd7091706db44ebb2b57c8"/>
          <p:cNvSpPr txBox="1"/>
          <p:nvPr/>
        </p:nvSpPr>
        <p:spPr>
          <a:xfrm>
            <a:off x="975336" y="5417820"/>
            <a:ext cx="426709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2" name="element_1d851a22a913c17bbb4eb46883e62ef6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51cc47d49c4f5cf285b650834902e1fb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78372ff3d7122326189d04a64bf633a6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96f74229dc5e85a41c989fe8ba2f836d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CLOSE / 07</a:t>
            </a:r>
            <a:endParaRPr lang="en-US" sz="1500" dirty="0"/>
          </a:p>
        </p:txBody>
      </p:sp>
      <p:sp>
        <p:nvSpPr>
          <p:cNvPr id="4" name="element_0c2064ad4fb3446450e298020882963d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3800" dirty="0"/>
          </a:p>
        </p:txBody>
      </p:sp>
      <p:sp>
        <p:nvSpPr>
          <p:cNvPr id="5" name="element_94733de782ab88569d0072da6c938bb4"/>
          <p:cNvSpPr txBox="1"/>
          <p:nvPr/>
        </p:nvSpPr>
        <p:spPr>
          <a:xfrm>
            <a:off x="853419" y="2743200"/>
            <a:ext cx="80465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Invite Decision-makers described in the brief to align on the outcome, the first action, and the evidence that will guide the next decision.</a:t>
            </a:r>
            <a:endParaRPr lang="en-US" sz="1900" dirty="0"/>
          </a:p>
        </p:txBody>
      </p:sp>
      <p:sp>
        <p:nvSpPr>
          <p:cNvPr id="6" name="element_32c68af7baec73c676f24267c630c3c9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Agree the outcome</a:t>
            </a:r>
            <a:endParaRPr lang="en-US" sz="1600" dirty="0"/>
          </a:p>
        </p:txBody>
      </p:sp>
      <p:sp>
        <p:nvSpPr>
          <p:cNvPr id="7" name="element_2b90f4afbf27a75e60bc1e9819474bd7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Name the owner</a:t>
            </a:r>
            <a:endParaRPr lang="en-US" sz="1600" dirty="0"/>
          </a:p>
        </p:txBody>
      </p:sp>
      <p:sp>
        <p:nvSpPr>
          <p:cNvPr id="8" name="element_394046c1985e2e1a1c6953a99a080136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Set the next checkpoint</a:t>
            </a:r>
            <a:endParaRPr lang="en-US" sz="1600" dirty="0"/>
          </a:p>
        </p:txBody>
      </p:sp>
      <p:sp>
        <p:nvSpPr>
          <p:cNvPr id="9" name="element_dc4ad295a69edbbbfc004a26fac494f0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adbd59140a6f477827f9345d1010650e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seven-slide data story for city mobility planners deciding w…</dc:title>
  <dc:subject>Create an editable, reviewable presentation from this idea</dc:subject>
  <dc:creator>NodeSlide</dc:creator>
  <cp:lastModifiedBy>NodeSlide</cp:lastModifiedBy>
  <cp:revision>1</cp:revision>
  <dcterms:created xsi:type="dcterms:W3CDTF">2026-07-21T23:56:22Z</dcterms:created>
  <dcterms:modified xsi:type="dcterms:W3CDTF">2026-07-21T23:56:22Z</dcterms:modified>
</cp:coreProperties>
</file>