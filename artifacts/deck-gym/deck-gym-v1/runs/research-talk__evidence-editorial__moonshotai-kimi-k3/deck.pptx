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no_retrieval</c:v>
                  </c:pt>
                  <c:pt idx="1">
                    <c:v>always_retrieve</c:v>
                  </c:pt>
                  <c:pt idx="2">
                    <c:v>adaptive</c:v>
                  </c:pt>
                </c:lvl>
              </c:multiLvlStrCache>
            </c:multiLvlStrRef>
          </c:cat>
          <c:val>
            <c:numRef>
              <c:f>Sheet1!$B$2:$B$4</c:f>
              <c:numCache>
                <c:formatCode>General</c:formatCode>
                <c:ptCount val="3"/>
                <c:pt idx="0">
                  <c:v>0.61</c:v>
                </c:pt>
                <c:pt idx="1">
                  <c:v>0.78</c:v>
                </c:pt>
                <c:pt idx="2">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“Quality gains from retrieval come at measurable cost”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“Which policy delivers the best quality per dollar?”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“Predict, retrieve, answer—with citations”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captures 96% of quality at 41% of cost”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“Q/cost quantifies efficiency per dollar”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“Measured results are means; interpretation is separate”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“Adopt adaptive retrieval for cost-sensitive workloads”
Evidence note: Content is based on the supplied creation brief. Illustrative examples are not independently verified; replace them with measured evidence before external publication.
NodeSlide sources
[source_190965112cada2358a9baffac6067762]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[source_00fef5c0f4689f08b80be93639c2ef52] retrieval-results.csv
Citation: Uploaded file: retrieval-results.csv
policy,quality_score,cost_usd,latency_ms
no_retrieval,0.61,0.010,640
always_retrieve,0.78,0.092,1810
adaptive,0.75,0.038,1040
Disclaimer: User supplied
[source_8603d60eec494004c6a9451668e69e29]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234d392228ee70eaf710e7604356b45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b77d13621c8cb9396b6e0b426c5b79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7c41bb6d701aa15cd3dbeabeaf8c146e"/>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Quality gains from retrieval come at measurable cost</a:t>
            </a:r>
            <a:endParaRPr lang="en-US" sz="4800" dirty="0"/>
          </a:p>
        </p:txBody>
      </p:sp>
      <p:sp>
        <p:nvSpPr>
          <p:cNvPr id="5" name="element_4c8bf14dd5c7626287adf06aee0eff6b"/>
          <p:cNvSpPr txBox="1"/>
          <p:nvPr/>
        </p:nvSpPr>
        <p:spPr>
          <a:xfrm>
            <a:off x="853419" y="3291840"/>
            <a:ext cx="4754761"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Applied ML teams deploying retrieval-augmented generation must balance answer quality against per-query dollar cost and latency. This talk evaluates three retrieval policies on a fixed benchmark to quantify that tradeoff.</a:t>
            </a:r>
            <a:endParaRPr lang="en-US" sz="1900" dirty="0"/>
          </a:p>
        </p:txBody>
      </p:sp>
      <p:sp>
        <p:nvSpPr>
          <p:cNvPr id="6" name="element_bff4578ef08159f61059b164f9cd5277"/>
          <p:cNvSpPr txBox="1"/>
          <p:nvPr/>
        </p:nvSpPr>
        <p:spPr>
          <a:xfrm>
            <a:off x="853419" y="4594860"/>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Always retrieving maximizes quality but inflates cost and latency</a:t>
            </a:r>
            <a:endParaRPr lang="en-US" sz="1700" dirty="0"/>
          </a:p>
        </p:txBody>
      </p:sp>
      <p:sp>
        <p:nvSpPr>
          <p:cNvPr id="7" name="element_8a264e1bccf776c92429062052b4d128"/>
          <p:cNvSpPr txBox="1"/>
          <p:nvPr/>
        </p:nvSpPr>
        <p:spPr>
          <a:xfrm>
            <a:off x="853419" y="5258029"/>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Never retrieving minimizes cost but sacrifices answer quality</a:t>
            </a:r>
            <a:endParaRPr lang="en-US" sz="1700" dirty="0"/>
          </a:p>
        </p:txBody>
      </p:sp>
      <p:sp>
        <p:nvSpPr>
          <p:cNvPr id="8" name="element_41e44453a9ba0365960afe09d6851f23"/>
          <p:cNvSpPr txBox="1"/>
          <p:nvPr/>
        </p:nvSpPr>
        <p:spPr>
          <a:xfrm>
            <a:off x="853419" y="5920511"/>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retrieval promises a middle path: retrieve only when needed</a:t>
            </a:r>
            <a:endParaRPr lang="en-US" sz="1700" dirty="0"/>
          </a:p>
        </p:txBody>
      </p:sp>
      <p:sp>
        <p:nvSpPr>
          <p:cNvPr id="9" name="element_92b959ceaabffdeb28e3f46afa7f3ac4"/>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3</a:t>
            </a:r>
            <a:endParaRPr lang="en-US" sz="5600" dirty="0"/>
          </a:p>
        </p:txBody>
      </p:sp>
      <p:sp>
        <p:nvSpPr>
          <p:cNvPr id="10" name="element_86e7da5d468bb2a50cf60b8f8978b3ab"/>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policies evaluated</a:t>
            </a:r>
            <a:endParaRPr lang="en-US" sz="1500" dirty="0"/>
          </a:p>
        </p:txBody>
      </p:sp>
      <p:sp>
        <p:nvSpPr>
          <p:cNvPr id="11" name="element_53fabfe59b38f34a75375724d5ca383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3bc14b0bb42668463beaf7f90ebe7e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5c2cf2e42aa94f79b8726a975b241a6c"/>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290116d4a64b88630c3b0ed25b79417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f63ee005abbb6376c3b512317a3bab6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Which policy delivers the best quality per dollar?</a:t>
            </a:r>
            <a:endParaRPr lang="en-US" sz="3800" dirty="0"/>
          </a:p>
        </p:txBody>
      </p:sp>
      <p:sp>
        <p:nvSpPr>
          <p:cNvPr id="5" name="element_1687d09d246aee35a277c8b2e59b3834"/>
          <p:cNvSpPr txBox="1"/>
          <p:nvPr/>
        </p:nvSpPr>
        <p:spPr>
          <a:xfrm>
            <a:off x="853419"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We compare three retrieval policies on a fixed benchmark fixture. All reported values are means over the fixture; no statistical-significance claim is authorized (source: method.md).</a:t>
            </a:r>
            <a:endParaRPr lang="en-US" sz="1900" dirty="0"/>
          </a:p>
        </p:txBody>
      </p:sp>
      <p:sp>
        <p:nvSpPr>
          <p:cNvPr id="6" name="element_d3b78c80760548e7d8c9405e6582d8c7"/>
          <p:cNvSpPr txBox="1"/>
          <p:nvPr/>
        </p:nvSpPr>
        <p:spPr>
          <a:xfrm>
            <a:off x="853419"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answer directly without fetching passages</a:t>
            </a:r>
            <a:endParaRPr lang="en-US" sz="1700" dirty="0"/>
          </a:p>
        </p:txBody>
      </p:sp>
      <p:sp>
        <p:nvSpPr>
          <p:cNvPr id="7" name="element_d554c2c4a5e4ca29a7272434957f17b7"/>
          <p:cNvSpPr txBox="1"/>
          <p:nvPr/>
        </p:nvSpPr>
        <p:spPr>
          <a:xfrm>
            <a:off x="4389010"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fetch passages for every query</a:t>
            </a:r>
            <a:endParaRPr lang="en-US" sz="1700" dirty="0"/>
          </a:p>
        </p:txBody>
      </p:sp>
      <p:sp>
        <p:nvSpPr>
          <p:cNvPr id="8" name="element_5272731bbc59d301ab0e6069b4191b6c"/>
          <p:cNvSpPr txBox="1"/>
          <p:nvPr/>
        </p:nvSpPr>
        <p:spPr>
          <a:xfrm>
            <a:off x="7924602"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predict retrieval need, fetch at most three passages, answer with claim-linked citations</a:t>
            </a:r>
            <a:endParaRPr lang="en-US" sz="1700" dirty="0"/>
          </a:p>
        </p:txBody>
      </p:sp>
      <p:sp>
        <p:nvSpPr>
          <p:cNvPr id="9" name="element_2a06eaa5483bbd26bc39552c5f17a6a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47823ba7832e525f71f2caf2560395e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9e1b03bb62b543bb26928d064d63af1c"/>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ca7030145e4d3f856c6cb98d536b8489"/>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7a6976143a266bfa67045d505772c271"/>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Predict, retrieve, answer—with citations</a:t>
            </a:r>
            <a:endParaRPr lang="en-US" sz="3800" dirty="0"/>
          </a:p>
        </p:txBody>
      </p:sp>
      <p:sp>
        <p:nvSpPr>
          <p:cNvPr id="5" name="element_7972521063999adf4dac196d087ce307"/>
          <p:cNvSpPr txBox="1"/>
          <p:nvPr/>
        </p:nvSpPr>
        <p:spPr>
          <a:xfrm>
            <a:off x="7436934"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adaptive policy uses a classifier to decide whether a query requires retrieval. If retrieval is triggered, at most three passages are fetched; the answer is generated with claim-linked citations (source: method.md).</a:t>
            </a:r>
            <a:endParaRPr lang="en-US" sz="1700" dirty="0"/>
          </a:p>
        </p:txBody>
      </p:sp>
      <p:sp>
        <p:nvSpPr>
          <p:cNvPr id="6" name="element_efa6ee963ad2261afefe9f32ff204525"/>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Retrieval decision is query-conditioned and learned</a:t>
            </a:r>
            <a:endParaRPr lang="en-US" sz="1700" dirty="0"/>
          </a:p>
        </p:txBody>
      </p:sp>
      <p:sp>
        <p:nvSpPr>
          <p:cNvPr id="7" name="element_604f73daf427facd17afe0878a6d77c9"/>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Passage budget caps cost at three fetches per query</a:t>
            </a:r>
            <a:endParaRPr lang="en-US" sz="1700" dirty="0"/>
          </a:p>
        </p:txBody>
      </p:sp>
      <p:sp>
        <p:nvSpPr>
          <p:cNvPr id="8" name="element_138df7db81d9ddff86caa12a3bf7a051"/>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Citations link each claim to its source passage</a:t>
            </a:r>
            <a:endParaRPr lang="en-US" sz="1700" dirty="0"/>
          </a:p>
        </p:txBody>
      </p:sp>
      <p:sp>
        <p:nvSpPr>
          <p:cNvPr id="9" name="element_14ab114a2b31b6342a9422af812d2be9"/>
          <p:cNvSpPr/>
          <p:nvPr/>
        </p:nvSpPr>
        <p:spPr>
          <a:xfrm>
            <a:off x="5470414" y="3775329"/>
            <a:ext cx="243834" cy="164592"/>
          </a:xfrm>
          <a:prstGeom prst="line">
            <a:avLst/>
          </a:prstGeom>
          <a:noFill/>
          <a:ln w="25400">
            <a:solidFill>
              <a:srgbClr val="7566A8"/>
            </a:solidFill>
            <a:prstDash val="solid"/>
            <a:tailEnd type="triangle"/>
          </a:ln>
        </p:spPr>
      </p:sp>
      <p:sp>
        <p:nvSpPr>
          <p:cNvPr id="10" name="element_bfa2e35937a66df6c74a88efc4cde41d"/>
          <p:cNvSpPr/>
          <p:nvPr/>
        </p:nvSpPr>
        <p:spPr>
          <a:xfrm>
            <a:off x="3840384" y="3775329"/>
            <a:ext cx="243834" cy="164592"/>
          </a:xfrm>
          <a:prstGeom prst="line">
            <a:avLst/>
          </a:prstGeom>
          <a:noFill/>
          <a:ln w="25400">
            <a:solidFill>
              <a:srgbClr val="7566A8"/>
            </a:solidFill>
            <a:prstDash val="solid"/>
            <a:tailEnd type="triangle"/>
          </a:ln>
        </p:spPr>
      </p:sp>
      <p:sp>
        <p:nvSpPr>
          <p:cNvPr id="11" name="element_ecc4884c22ba8c0fc2bc2fc91d918b3a"/>
          <p:cNvSpPr/>
          <p:nvPr/>
        </p:nvSpPr>
        <p:spPr>
          <a:xfrm>
            <a:off x="2251806" y="3775329"/>
            <a:ext cx="1789741" cy="164592"/>
          </a:xfrm>
          <a:prstGeom prst="line">
            <a:avLst/>
          </a:prstGeom>
          <a:noFill/>
          <a:ln w="25400">
            <a:solidFill>
              <a:srgbClr val="7566A8"/>
            </a:solidFill>
            <a:prstDash val="solid"/>
            <a:tailEnd type="triangle"/>
          </a:ln>
        </p:spPr>
      </p:sp>
      <p:sp>
        <p:nvSpPr>
          <p:cNvPr id="12" name="element_925517e381a62c99770ab5aa91aa6da2"/>
          <p:cNvSpPr/>
          <p:nvPr/>
        </p:nvSpPr>
        <p:spPr>
          <a:xfrm>
            <a:off x="2209135" y="3775329"/>
            <a:ext cx="243834" cy="164592"/>
          </a:xfrm>
          <a:prstGeom prst="line">
            <a:avLst/>
          </a:prstGeom>
          <a:noFill/>
          <a:ln w="25400">
            <a:solidFill>
              <a:srgbClr val="7566A8"/>
            </a:solidFill>
            <a:prstDash val="solid"/>
            <a:tailEnd type="triangle"/>
          </a:ln>
        </p:spPr>
      </p:sp>
      <p:sp>
        <p:nvSpPr>
          <p:cNvPr id="13" name="element_45f409907cbfe2f2ae8b0841f4ba9ac5"/>
          <p:cNvSpPr/>
          <p:nvPr/>
        </p:nvSpPr>
        <p:spPr>
          <a:xfrm>
            <a:off x="2090876" y="4375404"/>
            <a:ext cx="3744070" cy="164592"/>
          </a:xfrm>
          <a:prstGeom prst="line">
            <a:avLst/>
          </a:prstGeom>
          <a:noFill/>
          <a:ln w="25400">
            <a:solidFill>
              <a:srgbClr val="7566A8"/>
            </a:solidFill>
            <a:prstDash val="solid"/>
            <a:tailEnd type="triangle"/>
          </a:ln>
        </p:spPr>
      </p:sp>
      <p:sp>
        <p:nvSpPr>
          <p:cNvPr id="14" name="element_a358d28c4cd44e6ae371792a16f547f3"/>
          <p:cNvSpPr/>
          <p:nvPr/>
        </p:nvSpPr>
        <p:spPr>
          <a:xfrm>
            <a:off x="5744727" y="3377565"/>
            <a:ext cx="1326456" cy="960120"/>
          </a:xfrm>
          <a:prstGeom prst="roundRect">
            <a:avLst/>
          </a:prstGeom>
          <a:solidFill>
            <a:srgbClr val="F2DED3"/>
          </a:solidFill>
          <a:ln w="12700">
            <a:solidFill>
              <a:srgbClr val="DED7CC"/>
            </a:solidFill>
            <a:prstDash val="solid"/>
          </a:ln>
        </p:spPr>
      </p:sp>
      <p:sp>
        <p:nvSpPr>
          <p:cNvPr id="15" name="element_a358d28c4cd44e6ae371792a16f547f3:text"/>
          <p:cNvSpPr txBox="1"/>
          <p:nvPr/>
        </p:nvSpPr>
        <p:spPr>
          <a:xfrm>
            <a:off x="5744727"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Query</a:t>
            </a:r>
            <a:endParaRPr lang="en-US" sz="1600" dirty="0"/>
          </a:p>
        </p:txBody>
      </p:sp>
      <p:sp>
        <p:nvSpPr>
          <p:cNvPr id="16" name="element_071a5e16ead76b414d7b90dbb4317e3a"/>
          <p:cNvSpPr/>
          <p:nvPr/>
        </p:nvSpPr>
        <p:spPr>
          <a:xfrm>
            <a:off x="4113478" y="3377565"/>
            <a:ext cx="1326456" cy="960120"/>
          </a:xfrm>
          <a:prstGeom prst="roundRect">
            <a:avLst/>
          </a:prstGeom>
          <a:solidFill>
            <a:srgbClr val="E5E9D6"/>
          </a:solidFill>
          <a:ln w="25400">
            <a:solidFill>
              <a:srgbClr val="B44A2D"/>
            </a:solidFill>
            <a:prstDash val="solid"/>
          </a:ln>
        </p:spPr>
      </p:sp>
      <p:sp>
        <p:nvSpPr>
          <p:cNvPr id="17" name="element_071a5e16ead76b414d7b90dbb4317e3a:text"/>
          <p:cNvSpPr txBox="1"/>
          <p:nvPr/>
        </p:nvSpPr>
        <p:spPr>
          <a:xfrm>
            <a:off x="4113478"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Needs retrieval?</a:t>
            </a:r>
            <a:endParaRPr lang="en-US" sz="1600" dirty="0"/>
          </a:p>
        </p:txBody>
      </p:sp>
      <p:sp>
        <p:nvSpPr>
          <p:cNvPr id="18" name="element_85fe0a66da0aaec6741a724511b23766"/>
          <p:cNvSpPr/>
          <p:nvPr/>
        </p:nvSpPr>
        <p:spPr>
          <a:xfrm>
            <a:off x="2483448" y="3377565"/>
            <a:ext cx="1326456" cy="960120"/>
          </a:xfrm>
          <a:prstGeom prst="roundRect">
            <a:avLst/>
          </a:prstGeom>
          <a:solidFill>
            <a:srgbClr val="F2DED3"/>
          </a:solidFill>
          <a:ln w="12700">
            <a:solidFill>
              <a:srgbClr val="DED7CC"/>
            </a:solidFill>
            <a:prstDash val="solid"/>
          </a:ln>
        </p:spPr>
      </p:sp>
      <p:sp>
        <p:nvSpPr>
          <p:cNvPr id="19" name="element_85fe0a66da0aaec6741a724511b23766:text"/>
          <p:cNvSpPr txBox="1"/>
          <p:nvPr/>
        </p:nvSpPr>
        <p:spPr>
          <a:xfrm>
            <a:off x="2483448"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Fetch ≤3 passages</a:t>
            </a:r>
            <a:endParaRPr lang="en-US" sz="1600" dirty="0"/>
          </a:p>
        </p:txBody>
      </p:sp>
      <p:sp>
        <p:nvSpPr>
          <p:cNvPr id="20" name="element_792b066080d0444925d37a80aa365a1f"/>
          <p:cNvSpPr/>
          <p:nvPr/>
        </p:nvSpPr>
        <p:spPr>
          <a:xfrm>
            <a:off x="852199" y="3377565"/>
            <a:ext cx="1326456" cy="960120"/>
          </a:xfrm>
          <a:prstGeom prst="roundRect">
            <a:avLst/>
          </a:prstGeom>
          <a:solidFill>
            <a:srgbClr val="F2DED3"/>
          </a:solidFill>
          <a:ln w="12700">
            <a:solidFill>
              <a:srgbClr val="DED7CC"/>
            </a:solidFill>
            <a:prstDash val="solid"/>
          </a:ln>
        </p:spPr>
      </p:sp>
      <p:sp>
        <p:nvSpPr>
          <p:cNvPr id="21" name="element_792b066080d0444925d37a80aa365a1f:text"/>
          <p:cNvSpPr txBox="1"/>
          <p:nvPr/>
        </p:nvSpPr>
        <p:spPr>
          <a:xfrm>
            <a:off x="852199"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Generate answer</a:t>
            </a:r>
            <a:endParaRPr lang="en-US" sz="1600" dirty="0"/>
          </a:p>
        </p:txBody>
      </p:sp>
      <p:sp>
        <p:nvSpPr>
          <p:cNvPr id="22" name="element_eb49c9c4e1e482cf5c4ef63bb2e10bb3"/>
          <p:cNvSpPr/>
          <p:nvPr/>
        </p:nvSpPr>
        <p:spPr>
          <a:xfrm>
            <a:off x="5744727" y="4577715"/>
            <a:ext cx="1326456" cy="960120"/>
          </a:xfrm>
          <a:prstGeom prst="roundRect">
            <a:avLst/>
          </a:prstGeom>
          <a:solidFill>
            <a:srgbClr val="F2DED3"/>
          </a:solidFill>
          <a:ln w="12700">
            <a:solidFill>
              <a:srgbClr val="DED7CC"/>
            </a:solidFill>
            <a:prstDash val="solid"/>
          </a:ln>
        </p:spPr>
      </p:sp>
      <p:sp>
        <p:nvSpPr>
          <p:cNvPr id="23" name="element_eb49c9c4e1e482cf5c4ef63bb2e10bb3:text"/>
          <p:cNvSpPr txBox="1"/>
          <p:nvPr/>
        </p:nvSpPr>
        <p:spPr>
          <a:xfrm>
            <a:off x="5744727" y="457771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Link citations</a:t>
            </a:r>
            <a:endParaRPr lang="en-US" sz="1600" dirty="0"/>
          </a:p>
        </p:txBody>
      </p:sp>
      <p:sp>
        <p:nvSpPr>
          <p:cNvPr id="24" name="element_9c03efacc00e2bcc5110cc08d72d0caf"/>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5" name="element_b1089f66b81b1fa2fddf6daa29e1675a"/>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a1e0596a78ebf8280026bf60358cc5e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04dc566103840f1c48db534f3a9a32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c0140a6004c983c79601cbdc6270a49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captures 96% of quality at 41% of cost</a:t>
            </a:r>
            <a:endParaRPr lang="en-US" sz="3800" dirty="0"/>
          </a:p>
        </p:txBody>
      </p:sp>
      <p:sp>
        <p:nvSpPr>
          <p:cNvPr id="5" name="element_82865bb5ea131810f3ba5e08fd6c8bd1"/>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quality scores and per-query costs from retrieval-results.csv. Adaptive retrieval achieves quality 0.75 versus 0.78 for always-retrieve, at $0.038 versus $0.092 per query.</a:t>
            </a:r>
            <a:endParaRPr lang="en-US" sz="1900" dirty="0"/>
          </a:p>
        </p:txBody>
      </p:sp>
      <p:sp>
        <p:nvSpPr>
          <p:cNvPr id="6" name="element_9ac7486021c0420ba6202e5d1fd14971"/>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Quality: no_retrieval 0.61, always 0.78, adaptive 0.75</a:t>
            </a:r>
            <a:endParaRPr lang="en-US" sz="1700" dirty="0"/>
          </a:p>
        </p:txBody>
      </p:sp>
      <p:sp>
        <p:nvSpPr>
          <p:cNvPr id="7" name="element_b3e3bd24274af9dbc4c4674282cdb6ac"/>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Cost per query: $0.010 / $0.092 / $0.038</a:t>
            </a:r>
            <a:endParaRPr lang="en-US" sz="1700" dirty="0"/>
          </a:p>
        </p:txBody>
      </p:sp>
      <p:sp>
        <p:nvSpPr>
          <p:cNvPr id="8" name="element_6d25bb1c56e9065900fd1492198a138a"/>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Latency: 640 ms / 1810 ms / 1040 ms</a:t>
            </a:r>
            <a:endParaRPr lang="en-US" sz="1700" dirty="0"/>
          </a:p>
        </p:txBody>
      </p:sp>
      <p:graphicFrame>
        <p:nvGraphicFramePr>
          <p:cNvPr id="9" name="element_185121a61feb9f6550cbe1cc94ae7ec9"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4583214115278639a04d61e5738ca57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8d293c06b26a9077e0c7d9ce94d4add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66588660294156c17fa9b7f5e495c18e"/>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763edeacfe2c30ca45e59937787cb32f"/>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dc2c875d972d61b562a306e9f0058ef0"/>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Q/cost quantifies efficiency per dollar</a:t>
            </a:r>
            <a:endParaRPr lang="en-US" sz="3800" dirty="0"/>
          </a:p>
        </p:txBody>
      </p:sp>
      <p:sp>
        <p:nvSpPr>
          <p:cNvPr id="5" name="element_92ab7457e367e83b5c0a1e981f54765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Cost-adjusted quality divides measured quality score by per-query dollar cost. Higher values indicate more quality per dollar spent.</a:t>
            </a:r>
            <a:endParaRPr lang="en-US" sz="1900" dirty="0"/>
          </a:p>
        </p:txBody>
      </p:sp>
      <p:sp>
        <p:nvSpPr>
          <p:cNvPr id="6" name="element_8c7725d6b311603cd62c584b2e855dc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0.61 / $0.010 = 61.0 quality per $</a:t>
            </a:r>
            <a:endParaRPr lang="en-US" sz="1700" dirty="0"/>
          </a:p>
        </p:txBody>
      </p:sp>
      <p:sp>
        <p:nvSpPr>
          <p:cNvPr id="7" name="element_dfd8cd6675fcdeeec748c9e98548c97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0.78 / $0.092 = 8.5 quality per $</a:t>
            </a:r>
            <a:endParaRPr lang="en-US" sz="1700" dirty="0"/>
          </a:p>
        </p:txBody>
      </p:sp>
      <p:sp>
        <p:nvSpPr>
          <p:cNvPr id="8" name="element_84090a09f5bff836a6d108b34847d3ca"/>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0.75 / $0.038 = 19.7 quality per $</a:t>
            </a:r>
            <a:endParaRPr lang="en-US" sz="1700" dirty="0"/>
          </a:p>
        </p:txBody>
      </p:sp>
      <p:sp>
        <p:nvSpPr>
          <p:cNvPr id="9" name="element_88839be6f41788cc3002ac08ae293552"/>
          <p:cNvSpPr txBox="1"/>
          <p:nvPr/>
        </p:nvSpPr>
        <p:spPr>
          <a:xfrm>
            <a:off x="6271408" y="2814523"/>
            <a:ext cx="5135142" cy="1777594"/>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Q/cost = quality_score ÷ cost_usd</a:t>
            </a:r>
            <a:endParaRPr lang="en-US" sz="3000" dirty="0"/>
          </a:p>
        </p:txBody>
      </p:sp>
      <p:sp>
        <p:nvSpPr>
          <p:cNvPr id="10" name="element_ce02a6de49460f3014a231e3237ae7d2"/>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a43973b327766f7decc482f5dbdcc47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d0f698cc9e1a2da61a0fbed50d1f149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e69ac000a5a82e8487c04a8f4444ff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69ed1d83e9b74524bb9f2656bc18b33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Measured results are means; interpretation is separate</a:t>
            </a:r>
            <a:endParaRPr lang="en-US" sz="3800" dirty="0"/>
          </a:p>
        </p:txBody>
      </p:sp>
      <p:sp>
        <p:nvSpPr>
          <p:cNvPr id="5" name="element_9142ef478ca3177e70e1a5f5a6560f46"/>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adaptive quality 0.75, cost $0.038, latency 1040 ms (source: retrieval-results.csv). Interpretation: adaptive may misclassify retrieval need; citation coverage depends on passage relevance. No significance test was run.</a:t>
            </a:r>
            <a:endParaRPr lang="en-US" sz="1900" dirty="0"/>
          </a:p>
        </p:txBody>
      </p:sp>
      <p:sp>
        <p:nvSpPr>
          <p:cNvPr id="6" name="element_0d799b8f02ac04dae16cf93d6af80eae"/>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Failure mode: classifier misses retrieval need → quality drops toward 0.61</a:t>
            </a:r>
            <a:endParaRPr lang="en-US" sz="1700" dirty="0"/>
          </a:p>
        </p:txBody>
      </p:sp>
      <p:sp>
        <p:nvSpPr>
          <p:cNvPr id="7" name="element_73def1e904ef4228eada62056f5a5b3f"/>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Failure mode: retrieved passages lack claim support → citation gaps</a:t>
            </a:r>
            <a:endParaRPr lang="en-US" sz="1700" dirty="0"/>
          </a:p>
        </p:txBody>
      </p:sp>
      <p:sp>
        <p:nvSpPr>
          <p:cNvPr id="8" name="element_f053331052a16b882b5f0941424051bf"/>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Interpretation is hypothesis; only means are measured</a:t>
            </a:r>
            <a:endParaRPr lang="en-US" sz="1700" dirty="0"/>
          </a:p>
        </p:txBody>
      </p:sp>
      <p:sp>
        <p:nvSpPr>
          <p:cNvPr id="9" name="element_8b773b264887e3ae6e8b8cf3369cc47b: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8b773b264887e3ae6e8b8cf3369cc47b: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scatter of per-query quality versus cost for adaptive policy, showing variance around the mean</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Placeholder—no captured image supplied; replace with licensed or generated figure</a:t>
            </a:r>
            <a:endParaRPr lang="en-US" sz="1400" dirty="0"/>
          </a:p>
        </p:txBody>
      </p:sp>
      <p:sp>
        <p:nvSpPr>
          <p:cNvPr id="11" name="element_ea12d64a7515353ec0dd53aaf2e0dd5c"/>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Placeholder—no captured image supplied; replace with licensed or generated figure</a:t>
            </a:r>
            <a:endParaRPr lang="en-US" sz="1400" dirty="0"/>
          </a:p>
        </p:txBody>
      </p:sp>
      <p:sp>
        <p:nvSpPr>
          <p:cNvPr id="12" name="element_61412f9fbd4f8f9fea4df2c95c3bb54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eae3a177babe5c56a5cb5fced7f86dc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9c1fdb4b9566e2758e3d121c4108835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82e2e131f54fd0e1e9f3bc2683e218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2b144d939808135300758831fcdf706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Adopt adaptive retrieval for cost-sensitive workloads</a:t>
            </a:r>
            <a:endParaRPr lang="en-US" sz="3800" dirty="0"/>
          </a:p>
        </p:txBody>
      </p:sp>
      <p:sp>
        <p:nvSpPr>
          <p:cNvPr id="5" name="element_7f0721c87c0e3baa7021fd48dd29f181"/>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Decision: deploy adaptive retrieval where per-query cost matters. Owner: applied ML research team. Next checkpoint: monitor retrieval-classification drift and citation coverage in production for two weeks.</a:t>
            </a:r>
            <a:endParaRPr lang="en-US" sz="1900" dirty="0"/>
          </a:p>
        </p:txBody>
      </p:sp>
      <p:sp>
        <p:nvSpPr>
          <p:cNvPr id="6" name="element_d3918eeb847b7aacb0ac8e6f7c980a80"/>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Adaptive delivers 96% of always-retrieve quality at 41% of its cost</a:t>
            </a:r>
            <a:endParaRPr lang="en-US" sz="1700" dirty="0"/>
          </a:p>
        </p:txBody>
      </p:sp>
      <p:sp>
        <p:nvSpPr>
          <p:cNvPr id="7" name="element_c4ce6e7826776304c7c16ddf0e18967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Q/cost of 19.7 versus 8.5 favors adaptive under budget constraints</a:t>
            </a:r>
            <a:endParaRPr lang="en-US" sz="1700" dirty="0"/>
          </a:p>
        </p:txBody>
      </p:sp>
      <p:sp>
        <p:nvSpPr>
          <p:cNvPr id="8" name="element_6542590bbfcdc769292eefe1ce42f31d"/>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Revisit if classification drift exceeds agreed threshold</a:t>
            </a:r>
            <a:endParaRPr lang="en-US" sz="1700" dirty="0"/>
          </a:p>
        </p:txBody>
      </p:sp>
      <p:sp>
        <p:nvSpPr>
          <p:cNvPr id="9" name="element_59648e0d3cba800da6835062e531ca84"/>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19.7</a:t>
            </a:r>
            <a:endParaRPr lang="en-US" sz="5600" dirty="0"/>
          </a:p>
        </p:txBody>
      </p:sp>
      <p:sp>
        <p:nvSpPr>
          <p:cNvPr id="10" name="element_c576d065d6e165d0c78ae5ca90cc75c4"/>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Q per $ (adaptive)</a:t>
            </a:r>
            <a:endParaRPr lang="en-US" sz="1500" dirty="0"/>
          </a:p>
        </p:txBody>
      </p:sp>
      <p:sp>
        <p:nvSpPr>
          <p:cNvPr id="11" name="element_283baf3de1e9c55d8dc64de1732e988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ea572037bf268293ce465c9ebec213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2026-07-21T23:51:28Z</dcterms:created>
  <dcterms:modified xsi:type="dcterms:W3CDTF">2026-07-21T23:51:28Z</dcterms:modified>
</cp:coreProperties>
</file>