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Cool roofs</c:v>
                  </c:pt>
                  <c:pt idx="1">
                    <c:v>Tree canopy</c:v>
                  </c:pt>
                  <c:pt idx="2">
                    <c:v>Resilience centers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6.2</c:v>
                </c:pt>
                <c:pt idx="1">
                  <c:v>4.8</c:v>
                </c:pt>
                <c:pt idx="2">
                  <c:v>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Orient. Keep the spoken transition focused on “Choose a phased heat-resilience package, not a single bet”
Evidence note: Content is based on the supplied creation brief. Illustrative examples are not independently verified; replace them with measured evidence before external publication.
NodeSlide sources
[source_0ce56e16f8a4093ed963b26408c25387]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[source_2bd1c20f8f3e839f34a5740a7d5787ab]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“Three options, three different cost-and-speed profiles”
Evidence note: Content is based on the supplied creation brief. Illustrative examples are not independently verified; replace them with measured evidence before external publication.
NodeSlide sources
[source_0ce56e16f8a4093ed963b26408c25387]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[source_2bd1c20f8f3e839f34a5740a7d5787ab]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“Who is affected, and who must act”
Evidence note: Content is based on the supplied creation brief. Illustrative examples are not independently verified; replace them with measured evidence before external publication.
NodeSlide sources
[source_0ce56e16f8a4093ed963b26408c25387]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[source_2bd1c20f8f3e839f34a5740a7d5787ab]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“Stagger starts so fast capacity lands first”
Evidence note: Content is based on the supplied creation brief. Illustrative examples are not independently verified; replace them with measured evidence before external publication.
NodeSlide sources
[source_0ce56e16f8a4093ed963b26408c25387]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[source_2bd1c20f8f3e839f34a5740a7d5787ab]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“Cost per coverage point favors cool roofs on the supplied facts”
Evidence note: Content is based on the supplied creation brief. Illustrative examples are not independently verified; replace them with measured evidence before external publication.
NodeSlide sources
[source_0ce56e16f8a4093ed963b26408c25387]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[source_2bd1c20f8f3e839f34a5740a7d5787ab]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“Fund fast capacity first, then scale coverage”
Evidence note: Content is based on the supplied creation brief. Illustrative examples are not independently verified; replace them with measured evidence before external publication.
NodeSlide sources
[source_0ce56e16f8a4093ed963b26408c25387]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[source_2bd1c20f8f3e839f34a5740a7d5787ab]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Decide. Keep the spoken transition focused on “Adopt the phased package; owner and checkpoint named”
Evidence note: Content is based on the supplied creation brief. Illustrative examples are not independently verified; replace them with measured evidence before external publication.
NodeSlide sources
[source_0ce56e16f8a4093ed963b26408c25387]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[source_2bd1c20f8f3e839f34a5740a7d5787ab]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3ee7efffa0f795025caf77a135b3d14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dc0a84180373376e20fceacdac5c8a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ORIENT</a:t>
            </a:r>
            <a:endParaRPr lang="en-US" sz="1500" dirty="0"/>
          </a:p>
        </p:txBody>
      </p:sp>
      <p:sp>
        <p:nvSpPr>
          <p:cNvPr id="4" name="element_95fd46138fa5288f8b70d9c6ead2b88d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a phased heat-resilience package, not a single bet</a:t>
            </a:r>
            <a:endParaRPr lang="en-US" sz="4800" dirty="0"/>
          </a:p>
        </p:txBody>
      </p:sp>
      <p:sp>
        <p:nvSpPr>
          <p:cNvPr id="5" name="element_93f8a9e54e2c8b063608a330cb317f7e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Council is being asked to sequence three supplied interventions by cost, speed, and reach. This briefing uses only the supplied program facts and does not claim measured health outcomes.</a:t>
            </a:r>
            <a:endParaRPr lang="en-US" sz="1900" dirty="0"/>
          </a:p>
        </p:txBody>
      </p:sp>
      <p:sp>
        <p:nvSpPr>
          <p:cNvPr id="6" name="element_231103adcb417b62f12af7cb71ce1205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Decision: adopt a phased package across cool roofs, tree canopy, and resilience centers.</a:t>
            </a:r>
            <a:endParaRPr lang="en-US" sz="1600" dirty="0"/>
          </a:p>
        </p:txBody>
      </p:sp>
      <p:sp>
        <p:nvSpPr>
          <p:cNvPr id="7" name="element_5ed6cbcf4e799a7cfcd1e5b22066789f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Evidence rule: all numbers come from the supplied heat-options.json attachment.</a:t>
            </a:r>
            <a:endParaRPr lang="en-US" sz="1600" dirty="0"/>
          </a:p>
        </p:txBody>
      </p:sp>
      <p:sp>
        <p:nvSpPr>
          <p:cNvPr id="8" name="element_29d11e54aecae69dcda51f5c4f4e7fba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Honesty rule: no health-outcome claims; only cost, duration, and coverage or sites.</a:t>
            </a:r>
            <a:endParaRPr lang="en-US" sz="1600" dirty="0"/>
          </a:p>
        </p:txBody>
      </p:sp>
      <p:sp>
        <p:nvSpPr>
          <p:cNvPr id="9" name="element_70ba1d5735c4fc27d65eb37dcb7b783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e32a92a071733288f8bd45bf0115236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4e1b1f8e2f29980e0a1b317eec8338e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865a17d2c19002662a8f89f8318726d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8e1ed40500d53b7240371b60171d2ba9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options, three different cost-and-speed profiles</a:t>
            </a:r>
            <a:endParaRPr lang="en-US" sz="3800" dirty="0"/>
          </a:p>
        </p:txBody>
      </p:sp>
      <p:sp>
        <p:nvSpPr>
          <p:cNvPr id="5" name="element_7690f189edc66d5d0a12c37f0aef41ef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supplied dataset shows annual cost, implementation years, and coverage or site count for each option. Cool roofs carry the highest annual cost and the highest stated coverage; resilience centers are the fastest to implement.</a:t>
            </a:r>
            <a:endParaRPr lang="en-US" sz="1900" dirty="0"/>
          </a:p>
        </p:txBody>
      </p:sp>
      <p:sp>
        <p:nvSpPr>
          <p:cNvPr id="6" name="element_deb4fbce1350141d4b665f9fcd4b1d3a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Cool roofs: 6.2 MUSD per year, 3 years, 18% coverage.</a:t>
            </a:r>
            <a:endParaRPr lang="en-US" sz="1700" dirty="0"/>
          </a:p>
        </p:txBody>
      </p:sp>
      <p:sp>
        <p:nvSpPr>
          <p:cNvPr id="7" name="element_5084b13826400768dc8570df41a1a97a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Tree canopy: 4.8 MUSD per year, 8 years, 11% coverage.</a:t>
            </a:r>
            <a:endParaRPr lang="en-US" sz="1700" dirty="0"/>
          </a:p>
        </p:txBody>
      </p:sp>
      <p:sp>
        <p:nvSpPr>
          <p:cNvPr id="8" name="element_5d6ed31f897fd77183ed87fcedc6d5b6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Resilience centers: 3.1 MUSD per year, 2 years, 14 sites.</a:t>
            </a:r>
            <a:endParaRPr lang="en-US" sz="1700" dirty="0"/>
          </a:p>
        </p:txBody>
      </p:sp>
      <p:graphicFrame>
        <p:nvGraphicFramePr>
          <p:cNvPr id="9" name="element_9f51b2c520be4cbaf2284180c0bf8679" descr=""/>
          <p:cNvGraphicFramePr/>
          <p:nvPr/>
        </p:nvGraphicFramePr>
        <p:xfrm>
          <a:off x="4876678" y="2754173"/>
          <a:ext cx="6583515" cy="34070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e06018d72b2716664a7ed9a6aff6f447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415dfb391b90bc8dc72d129d7c0571e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3ab9eb70115dcdd4ce9a72554e132f4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3ce745e49c305198d688507065e43c6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ada42a0750aa9f1453afe3becd3f72e1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affected, and who must act</a:t>
            </a:r>
            <a:endParaRPr lang="en-US" sz="3800" dirty="0"/>
          </a:p>
        </p:txBody>
      </p:sp>
      <p:sp>
        <p:nvSpPr>
          <p:cNvPr id="5" name="element_940880ffd432c2d2aa1afb15657ddb4a"/>
          <p:cNvSpPr txBox="1"/>
          <p:nvPr/>
        </p:nvSpPr>
        <p:spPr>
          <a:xfrm>
            <a:off x="7436934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package touches residents exposed to heat, building owners, and the city departments that deliver each intervention. This editable map keeps relationships explicit and reviewable.</a:t>
            </a:r>
            <a:endParaRPr lang="en-US" sz="1700" dirty="0"/>
          </a:p>
        </p:txBody>
      </p:sp>
      <p:sp>
        <p:nvSpPr>
          <p:cNvPr id="6" name="element_8c4bcacac76d3d8948c9b55d4bb3fba0"/>
          <p:cNvSpPr txBox="1"/>
          <p:nvPr/>
        </p:nvSpPr>
        <p:spPr>
          <a:xfrm>
            <a:off x="7680768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Residents and heat-exposed workers are the primary affected group.</a:t>
            </a:r>
            <a:endParaRPr lang="en-US" sz="1700" dirty="0"/>
          </a:p>
        </p:txBody>
      </p:sp>
      <p:sp>
        <p:nvSpPr>
          <p:cNvPr id="7" name="element_bb0273fa3cab1fc76880476b5e478b5b"/>
          <p:cNvSpPr txBox="1"/>
          <p:nvPr/>
        </p:nvSpPr>
        <p:spPr>
          <a:xfrm>
            <a:off x="7680768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Building owners and landlords enable cool-roof deployment.</a:t>
            </a:r>
            <a:endParaRPr lang="en-US" sz="1700" dirty="0"/>
          </a:p>
        </p:txBody>
      </p:sp>
      <p:sp>
        <p:nvSpPr>
          <p:cNvPr id="8" name="element_801b9d506bd67f7e3336b9caa1709b65"/>
          <p:cNvSpPr txBox="1"/>
          <p:nvPr/>
        </p:nvSpPr>
        <p:spPr>
          <a:xfrm>
            <a:off x="7680768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City departments deliver centers, trees, and roof programs.</a:t>
            </a:r>
            <a:endParaRPr lang="en-US" sz="1700" dirty="0"/>
          </a:p>
        </p:txBody>
      </p:sp>
      <p:sp>
        <p:nvSpPr>
          <p:cNvPr id="9" name="element_97285d35d70cd4b8b1bc6748c96f89c7"/>
          <p:cNvSpPr/>
          <p:nvPr/>
        </p:nvSpPr>
        <p:spPr>
          <a:xfrm>
            <a:off x="2209135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4e9592173c48d29d09ffaf2ae0e757fd"/>
          <p:cNvSpPr/>
          <p:nvPr/>
        </p:nvSpPr>
        <p:spPr>
          <a:xfrm>
            <a:off x="3694084" y="4375404"/>
            <a:ext cx="216646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f7954330f4a45d5fcb0ffd65fa0b79a8"/>
          <p:cNvSpPr/>
          <p:nvPr/>
        </p:nvSpPr>
        <p:spPr>
          <a:xfrm>
            <a:off x="3766015" y="4375404"/>
            <a:ext cx="391353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2" name="element_5f086167e836d86e770239cdd67dc040"/>
          <p:cNvSpPr/>
          <p:nvPr/>
        </p:nvSpPr>
        <p:spPr>
          <a:xfrm>
            <a:off x="2251806" y="3775329"/>
            <a:ext cx="1789741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3" name="element_401392e78b2919e86d9ffd8669594554"/>
          <p:cNvSpPr/>
          <p:nvPr/>
        </p:nvSpPr>
        <p:spPr>
          <a:xfrm>
            <a:off x="2251806" y="3775329"/>
            <a:ext cx="3419771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4" name="element_c2f95f68dfe6b3f79bbb6280fb49d141"/>
          <p:cNvSpPr/>
          <p:nvPr/>
        </p:nvSpPr>
        <p:spPr>
          <a:xfrm>
            <a:off x="6267751" y="4375404"/>
            <a:ext cx="280409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5" name="element_5cfdb0aed5ae45b9f39bfa202de6da29"/>
          <p:cNvSpPr/>
          <p:nvPr/>
        </p:nvSpPr>
        <p:spPr>
          <a:xfrm>
            <a:off x="5397263" y="4375404"/>
            <a:ext cx="391353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6" name="element_c1825920360a8d3b0d6092c8f393a49e"/>
          <p:cNvSpPr/>
          <p:nvPr/>
        </p:nvSpPr>
        <p:spPr>
          <a:xfrm>
            <a:off x="5744727" y="337756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7" name="element_c1825920360a8d3b0d6092c8f393a49e:text"/>
          <p:cNvSpPr txBox="1"/>
          <p:nvPr/>
        </p:nvSpPr>
        <p:spPr>
          <a:xfrm>
            <a:off x="5744727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Heat-exposed residents</a:t>
            </a:r>
            <a:endParaRPr lang="en-US" sz="1600" dirty="0"/>
          </a:p>
        </p:txBody>
      </p:sp>
      <p:sp>
        <p:nvSpPr>
          <p:cNvPr id="18" name="element_2e192b1c9729a2eff34e8452be6ee6c7"/>
          <p:cNvSpPr/>
          <p:nvPr/>
        </p:nvSpPr>
        <p:spPr>
          <a:xfrm>
            <a:off x="4113478" y="337756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9" name="element_2e192b1c9729a2eff34e8452be6ee6c7:text"/>
          <p:cNvSpPr txBox="1"/>
          <p:nvPr/>
        </p:nvSpPr>
        <p:spPr>
          <a:xfrm>
            <a:off x="4113478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Building owners</a:t>
            </a:r>
            <a:endParaRPr lang="en-US" sz="1600" dirty="0"/>
          </a:p>
        </p:txBody>
      </p:sp>
      <p:sp>
        <p:nvSpPr>
          <p:cNvPr id="20" name="element_8081e58f8a16225aeabd00ee1d3ad04c"/>
          <p:cNvSpPr/>
          <p:nvPr/>
        </p:nvSpPr>
        <p:spPr>
          <a:xfrm>
            <a:off x="2483448" y="337756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1" name="element_8081e58f8a16225aeabd00ee1d3ad04c:text"/>
          <p:cNvSpPr txBox="1"/>
          <p:nvPr/>
        </p:nvSpPr>
        <p:spPr>
          <a:xfrm>
            <a:off x="2483448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City departments</a:t>
            </a:r>
            <a:endParaRPr lang="en-US" sz="1600" dirty="0"/>
          </a:p>
        </p:txBody>
      </p:sp>
      <p:sp>
        <p:nvSpPr>
          <p:cNvPr id="22" name="element_e623545590b2cb2065b1b916b64666fd"/>
          <p:cNvSpPr/>
          <p:nvPr/>
        </p:nvSpPr>
        <p:spPr>
          <a:xfrm>
            <a:off x="852199" y="337756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3" name="element_e623545590b2cb2065b1b916b64666fd:text"/>
          <p:cNvSpPr txBox="1"/>
          <p:nvPr/>
        </p:nvSpPr>
        <p:spPr>
          <a:xfrm>
            <a:off x="852199" y="337756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Cool roofs program</a:t>
            </a:r>
            <a:endParaRPr lang="en-US" sz="1600" dirty="0"/>
          </a:p>
        </p:txBody>
      </p:sp>
      <p:sp>
        <p:nvSpPr>
          <p:cNvPr id="24" name="element_248413a88aa031df04569e0cc25b3259"/>
          <p:cNvSpPr/>
          <p:nvPr/>
        </p:nvSpPr>
        <p:spPr>
          <a:xfrm>
            <a:off x="5744727" y="457771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5" name="element_248413a88aa031df04569e0cc25b3259:text"/>
          <p:cNvSpPr txBox="1"/>
          <p:nvPr/>
        </p:nvSpPr>
        <p:spPr>
          <a:xfrm>
            <a:off x="5744727" y="457771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Tree canopy program</a:t>
            </a:r>
            <a:endParaRPr lang="en-US" sz="1600" dirty="0"/>
          </a:p>
        </p:txBody>
      </p:sp>
      <p:sp>
        <p:nvSpPr>
          <p:cNvPr id="26" name="element_357c4ad688b9d256d419cb544210da34"/>
          <p:cNvSpPr/>
          <p:nvPr/>
        </p:nvSpPr>
        <p:spPr>
          <a:xfrm>
            <a:off x="4113478" y="4577715"/>
            <a:ext cx="1326456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7" name="element_357c4ad688b9d256d419cb544210da34:text"/>
          <p:cNvSpPr txBox="1"/>
          <p:nvPr/>
        </p:nvSpPr>
        <p:spPr>
          <a:xfrm>
            <a:off x="4113478" y="4577715"/>
            <a:ext cx="1326456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Resilience centers</a:t>
            </a:r>
            <a:endParaRPr lang="en-US" sz="1600" dirty="0"/>
          </a:p>
        </p:txBody>
      </p:sp>
      <p:sp>
        <p:nvSpPr>
          <p:cNvPr id="28" name="element_c959d0c83289057786a089d8ae47ada4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9" name="element_3e500558ff3b6f6bcf9cabedf79a749f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9bb4caaa6b13e216e35c9075552815c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ad6e1865ad56180306a23009f29174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50a56064ff929f585cdfbb26464e1890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Stagger starts so fast capacity lands first</a:t>
            </a:r>
            <a:endParaRPr lang="en-US" sz="3800" dirty="0"/>
          </a:p>
        </p:txBody>
      </p:sp>
      <p:sp>
        <p:nvSpPr>
          <p:cNvPr id="5" name="element_96821c895739743f61b6a90b11fd288b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Using the supplied implementation durations, resilience centers finish in 2 years, cool roofs in 3, and tree canopy in 8. A phased start lets quick capacity open while longer-horizon canopy matures.</a:t>
            </a:r>
            <a:endParaRPr lang="en-US" sz="1700" dirty="0"/>
          </a:p>
        </p:txBody>
      </p:sp>
      <p:sp>
        <p:nvSpPr>
          <p:cNvPr id="6" name="element_7c21444fd267f97c01cd1da6f73db393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Years 0–2: stand up resilience centers (14 sites).</a:t>
            </a:r>
            <a:endParaRPr lang="en-US" sz="1700" dirty="0"/>
          </a:p>
        </p:txBody>
      </p:sp>
      <p:sp>
        <p:nvSpPr>
          <p:cNvPr id="7" name="element_73562238e35295240d3b2880dcc68ffa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Years 0–3: deliver cool roofs (18% coverage).</a:t>
            </a:r>
            <a:endParaRPr lang="en-US" sz="1700" dirty="0"/>
          </a:p>
        </p:txBody>
      </p:sp>
      <p:sp>
        <p:nvSpPr>
          <p:cNvPr id="8" name="element_ec6ca80b18b03a240e83ce22023b3207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Years 0–8: grow tree canopy (11% coverage).</a:t>
            </a:r>
            <a:endParaRPr lang="en-US" sz="1700" dirty="0"/>
          </a:p>
        </p:txBody>
      </p:sp>
      <p:sp>
        <p:nvSpPr>
          <p:cNvPr id="9" name="element_fd793c0918beeb820fdc0b1ad8a9cd86"/>
          <p:cNvSpPr/>
          <p:nvPr/>
        </p:nvSpPr>
        <p:spPr>
          <a:xfrm>
            <a:off x="7019978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3ee6af50c77099aee43087d03166b161"/>
          <p:cNvSpPr/>
          <p:nvPr/>
        </p:nvSpPr>
        <p:spPr>
          <a:xfrm>
            <a:off x="7062649" y="3775329"/>
            <a:ext cx="2332271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2d438c52dd1b609cf828ed0bead8db10"/>
          <p:cNvSpPr/>
          <p:nvPr/>
        </p:nvSpPr>
        <p:spPr>
          <a:xfrm>
            <a:off x="5915411" y="4375404"/>
            <a:ext cx="280409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2" name="element_fde26301d8e54571f779932083db01c7"/>
          <p:cNvSpPr/>
          <p:nvPr/>
        </p:nvSpPr>
        <p:spPr>
          <a:xfrm>
            <a:off x="5120512" y="3377565"/>
            <a:ext cx="1868987" cy="96012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3" name="element_fde26301d8e54571f779932083db01c7:text"/>
          <p:cNvSpPr txBox="1"/>
          <p:nvPr/>
        </p:nvSpPr>
        <p:spPr>
          <a:xfrm>
            <a:off x="5120512" y="337756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Program start</a:t>
            </a:r>
            <a:endParaRPr lang="en-US" sz="1600" dirty="0"/>
          </a:p>
        </p:txBody>
      </p:sp>
      <p:sp>
        <p:nvSpPr>
          <p:cNvPr id="14" name="element_d65b8e0f1dd170aad3928d04a865978a"/>
          <p:cNvSpPr/>
          <p:nvPr/>
        </p:nvSpPr>
        <p:spPr>
          <a:xfrm>
            <a:off x="7294291" y="3377565"/>
            <a:ext cx="1868987" cy="96012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5" name="element_d65b8e0f1dd170aad3928d04a865978a:text"/>
          <p:cNvSpPr txBox="1"/>
          <p:nvPr/>
        </p:nvSpPr>
        <p:spPr>
          <a:xfrm>
            <a:off x="7294291" y="337756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Centers complete (yr 2)</a:t>
            </a:r>
            <a:endParaRPr lang="en-US" sz="1600" dirty="0"/>
          </a:p>
        </p:txBody>
      </p:sp>
      <p:sp>
        <p:nvSpPr>
          <p:cNvPr id="16" name="element_485fff3417f573d93bbe859eb867801b"/>
          <p:cNvSpPr/>
          <p:nvPr/>
        </p:nvSpPr>
        <p:spPr>
          <a:xfrm>
            <a:off x="9469290" y="3377565"/>
            <a:ext cx="1868987" cy="96012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7" name="element_485fff3417f573d93bbe859eb867801b:text"/>
          <p:cNvSpPr txBox="1"/>
          <p:nvPr/>
        </p:nvSpPr>
        <p:spPr>
          <a:xfrm>
            <a:off x="9469290" y="337756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Cool roofs complete (yr 3)</a:t>
            </a:r>
            <a:endParaRPr lang="en-US" sz="1600" dirty="0"/>
          </a:p>
        </p:txBody>
      </p:sp>
      <p:sp>
        <p:nvSpPr>
          <p:cNvPr id="18" name="element_33c0764e3f13bc1e5afadd4e74c51bb1"/>
          <p:cNvSpPr/>
          <p:nvPr/>
        </p:nvSpPr>
        <p:spPr>
          <a:xfrm>
            <a:off x="5120512" y="4577715"/>
            <a:ext cx="1868987" cy="96012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9" name="element_33c0764e3f13bc1e5afadd4e74c51bb1:text"/>
          <p:cNvSpPr txBox="1"/>
          <p:nvPr/>
        </p:nvSpPr>
        <p:spPr>
          <a:xfrm>
            <a:off x="5120512" y="457771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Canopy mature (yr 8)</a:t>
            </a:r>
            <a:endParaRPr lang="en-US" sz="1600" dirty="0"/>
          </a:p>
        </p:txBody>
      </p:sp>
      <p:sp>
        <p:nvSpPr>
          <p:cNvPr id="20" name="element_7bc01b6dc2f2fcc5dd8e251ba5e5fe3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501160d9ef5b2f73fc42b4d3aeb888f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463b00b9a90794587b4cc9240eb4f8b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b0b0e615f4501bc0a2ff09694c637b5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5972242e4ab9a21c321252f4faa88d66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per coverage point favors cool roofs on the supplied facts</a:t>
            </a:r>
            <a:endParaRPr lang="en-US" sz="3800" dirty="0"/>
          </a:p>
        </p:txBody>
      </p:sp>
      <p:sp>
        <p:nvSpPr>
          <p:cNvPr id="5" name="element_5086ee279259b6363f09d3f297486cdc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Annual cost per percentage point of coverage is computable for the two coverage-based options. Resilience centers are reported in sites, not coverage, so they are compared on speed and site count instead.</a:t>
            </a:r>
            <a:endParaRPr lang="en-US" sz="1900" dirty="0"/>
          </a:p>
        </p:txBody>
      </p:sp>
      <p:sp>
        <p:nvSpPr>
          <p:cNvPr id="6" name="element_43e389bb7c7523cadfa39fb8c59f6f33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Cool roofs: 6.2 MUSD / 18% ≈ 0.34 MUSD per coverage point.</a:t>
            </a:r>
            <a:endParaRPr lang="en-US" sz="1700" dirty="0"/>
          </a:p>
        </p:txBody>
      </p:sp>
      <p:sp>
        <p:nvSpPr>
          <p:cNvPr id="7" name="element_ec66655065a554be75a72e3a064492a9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Tree canopy: 4.8 MUSD / 11% ≈ 0.44 MUSD per coverage point.</a:t>
            </a:r>
            <a:endParaRPr lang="en-US" sz="1700" dirty="0"/>
          </a:p>
        </p:txBody>
      </p:sp>
      <p:sp>
        <p:nvSpPr>
          <p:cNvPr id="8" name="element_4c958cf9f39ade4e8ef1076e8a4ed15a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Resilience centers: fastest (2 years) and 14 sites; no coverage metric supplied.</a:t>
            </a:r>
            <a:endParaRPr lang="en-US" sz="1700" dirty="0"/>
          </a:p>
        </p:txBody>
      </p:sp>
      <p:sp>
        <p:nvSpPr>
          <p:cNvPr id="9" name="element_028f9f2701c8268eaceeaaf34ac46509"/>
          <p:cNvSpPr txBox="1"/>
          <p:nvPr/>
        </p:nvSpPr>
        <p:spPr>
          <a:xfrm>
            <a:off x="6271408" y="2814523"/>
            <a:ext cx="5135142" cy="1777594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Cost per coverage point = annual cost (MUSD) ÷ coverage (%)</a:t>
            </a:r>
            <a:endParaRPr lang="en-US" sz="3000" dirty="0"/>
          </a:p>
        </p:txBody>
      </p:sp>
      <p:sp>
        <p:nvSpPr>
          <p:cNvPr id="10" name="element_795d8740c93852dc21df0897e795ce5f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35b195eab53a6fb5132b0053c9a4632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127af0ddf5c67cf1f742cbfaa4ea2fd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5ac9473b02b342604abced8fea6331b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640ac3ded31a04cf20c73cd57da7f936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 fast capacity first, then scale coverage</a:t>
            </a:r>
            <a:endParaRPr lang="en-US" sz="3800" dirty="0"/>
          </a:p>
        </p:txBody>
      </p:sp>
      <p:sp>
        <p:nvSpPr>
          <p:cNvPr id="5" name="element_8223f7947c41e14b8ed9e21940ec476f"/>
          <p:cNvSpPr txBox="1"/>
          <p:nvPr/>
        </p:nvSpPr>
        <p:spPr>
          <a:xfrm>
            <a:off x="6583515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defensible sequence funds the lowest-cost, fastest option first, then the highest-coverage option, while starting the long-horizon canopy early so it matures. Total supplied annual cost across all three is 14.1 MUSD.</a:t>
            </a:r>
            <a:endParaRPr lang="en-US" sz="1900" dirty="0"/>
          </a:p>
        </p:txBody>
      </p:sp>
      <p:sp>
        <p:nvSpPr>
          <p:cNvPr id="6" name="element_de18ddbd7c43d4d2d8549f71fa820432"/>
          <p:cNvSpPr txBox="1"/>
          <p:nvPr/>
        </p:nvSpPr>
        <p:spPr>
          <a:xfrm>
            <a:off x="6583515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Phase 1: resilience centers — 3.1 MUSD/yr, done in 2 years.</a:t>
            </a:r>
            <a:endParaRPr lang="en-US" sz="1700" dirty="0"/>
          </a:p>
        </p:txBody>
      </p:sp>
      <p:sp>
        <p:nvSpPr>
          <p:cNvPr id="7" name="element_edc282f14232f882ff59d50b18844a09"/>
          <p:cNvSpPr txBox="1"/>
          <p:nvPr/>
        </p:nvSpPr>
        <p:spPr>
          <a:xfrm>
            <a:off x="6583515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Phase 2: cool roofs — 6.2 MUSD/yr, 18% coverage in 3 years.</a:t>
            </a:r>
            <a:endParaRPr lang="en-US" sz="1700" dirty="0"/>
          </a:p>
        </p:txBody>
      </p:sp>
      <p:sp>
        <p:nvSpPr>
          <p:cNvPr id="8" name="element_b15c34965d8bc4a5e83dff19c95cda20"/>
          <p:cNvSpPr txBox="1"/>
          <p:nvPr/>
        </p:nvSpPr>
        <p:spPr>
          <a:xfrm>
            <a:off x="6583515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Phase 3: tree canopy — 4.8 MUSD/yr, start now, matures in 8 years.</a:t>
            </a:r>
            <a:endParaRPr lang="en-US" sz="1700" dirty="0"/>
          </a:p>
        </p:txBody>
      </p:sp>
      <p:sp>
        <p:nvSpPr>
          <p:cNvPr id="9" name="element_9743e9a7cdd8a58a4c13b6f50f38eb12"/>
          <p:cNvSpPr txBox="1"/>
          <p:nvPr/>
        </p:nvSpPr>
        <p:spPr>
          <a:xfrm>
            <a:off x="1219170" y="2811780"/>
            <a:ext cx="4145176" cy="13716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14.1</a:t>
            </a:r>
            <a:endParaRPr lang="en-US" sz="5600" dirty="0"/>
          </a:p>
        </p:txBody>
      </p:sp>
      <p:sp>
        <p:nvSpPr>
          <p:cNvPr id="10" name="element_86569fe324fdb3da733afdcdb926b0bb"/>
          <p:cNvSpPr txBox="1"/>
          <p:nvPr/>
        </p:nvSpPr>
        <p:spPr>
          <a:xfrm>
            <a:off x="1463003" y="43205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MUSD per year, all three options combined (supplied)</a:t>
            </a:r>
            <a:endParaRPr lang="en-US" sz="1500" dirty="0"/>
          </a:p>
        </p:txBody>
      </p:sp>
      <p:sp>
        <p:nvSpPr>
          <p:cNvPr id="11" name="element_794d27081e66c8cd5654bd811821ffb1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f26d2caf672f81c658e7dd4d1e57b02b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3d31724e16ece191235b38b9a3cdd9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1365ab5e5cb02c3830b1144d2cc666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DECIDE</a:t>
            </a:r>
            <a:endParaRPr lang="en-US" sz="1500" dirty="0"/>
          </a:p>
        </p:txBody>
      </p:sp>
      <p:sp>
        <p:nvSpPr>
          <p:cNvPr id="4" name="element_01ba7813e01c4fd440c2eb45626e9701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 the phased package; owner and checkpoint named</a:t>
            </a:r>
            <a:endParaRPr lang="en-US" sz="3800" dirty="0"/>
          </a:p>
        </p:txBody>
      </p:sp>
      <p:sp>
        <p:nvSpPr>
          <p:cNvPr id="5" name="element_99917f36c97419fd9477a2fd6e150c90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Recommend approving the phased sequence: centers first for speed, cool roofs for coverage, canopy started early for the long term. Assign the city heat officer as owner and set a 12-month checkpoint to review delivery against the supplied cost and duration facts.</a:t>
            </a:r>
            <a:endParaRPr lang="en-US" sz="1900" dirty="0"/>
          </a:p>
        </p:txBody>
      </p:sp>
      <p:sp>
        <p:nvSpPr>
          <p:cNvPr id="6" name="element_ef27e3ae933a39afe4ede95be00ef24f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Approve phased funding: centers → cool roofs → canopy (canopy starts immediately).</a:t>
            </a:r>
            <a:endParaRPr lang="en-US" sz="1700" dirty="0"/>
          </a:p>
        </p:txBody>
      </p:sp>
      <p:sp>
        <p:nvSpPr>
          <p:cNvPr id="7" name="element_be0351ef57430029e1c0f714a13dc8dc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Owner: city heat officer; checkpoint: 12-month delivery review.</a:t>
            </a:r>
            <a:endParaRPr lang="en-US" sz="1700" dirty="0"/>
          </a:p>
        </p:txBody>
      </p:sp>
      <p:sp>
        <p:nvSpPr>
          <p:cNvPr id="8" name="element_176da24b0c66083dd102832087e9cf4a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Replace the image slot below with a licensed city heat photo before export.</a:t>
            </a:r>
            <a:endParaRPr lang="en-US" sz="1700" dirty="0"/>
          </a:p>
        </p:txBody>
      </p:sp>
      <p:sp>
        <p:nvSpPr>
          <p:cNvPr id="9" name="element_0442c9e107e5f36fddb2261ff8b46a2d:fallback-shape"/>
          <p:cNvSpPr/>
          <p:nvPr/>
        </p:nvSpPr>
        <p:spPr>
          <a:xfrm>
            <a:off x="6461598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0442c9e107e5f36fddb2261ff8b46a2d:fallback-label"/>
          <p:cNvSpPr/>
          <p:nvPr/>
        </p:nvSpPr>
        <p:spPr>
          <a:xfrm>
            <a:off x="6461598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Placeholder: licensed photo of a city street during extreme heat, to be supplied by the communications team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Image placeholder — no licensed asset supplied; replace before export</a:t>
            </a:r>
            <a:endParaRPr lang="en-US" sz="1400" dirty="0"/>
          </a:p>
        </p:txBody>
      </p:sp>
      <p:sp>
        <p:nvSpPr>
          <p:cNvPr id="11" name="element_d55c890999da3367efe8881cdab32e6e"/>
          <p:cNvSpPr txBox="1"/>
          <p:nvPr/>
        </p:nvSpPr>
        <p:spPr>
          <a:xfrm>
            <a:off x="6705432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Reserved visual slot (illustrative only; not captured evidence)</a:t>
            </a:r>
            <a:endParaRPr lang="en-US" sz="1400" dirty="0"/>
          </a:p>
        </p:txBody>
      </p:sp>
      <p:sp>
        <p:nvSpPr>
          <p:cNvPr id="12" name="element_8ee2c14896f9beb6cf8cc464e8ba3a0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3718bc71f3317819a578ee17e81ccf1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policy briefing for city council members choosin…</dc:title>
  <dc:subject>Create an editable, reviewable presentation from this idea</dc:subject>
  <dc:creator>NodeSlide</dc:creator>
  <cp:lastModifiedBy>NodeSlide</cp:lastModifiedBy>
  <cp:revision>1</cp:revision>
  <dcterms:created xsi:type="dcterms:W3CDTF">2026-07-22T00:00:03Z</dcterms:created>
  <dcterms:modified xsi:type="dcterms:W3CDTF">2026-07-22T00:00:03Z</dcterms:modified>
</cp:coreProperties>
</file>