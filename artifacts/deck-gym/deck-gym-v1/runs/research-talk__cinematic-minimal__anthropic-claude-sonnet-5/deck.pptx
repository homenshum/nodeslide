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no_retrieval</c:v>
                  </c:pt>
                  <c:pt idx="1">
                    <c:v>always_retrieve</c:v>
                  </c:pt>
                  <c:pt idx="2">
                    <c:v>adaptive</c:v>
                  </c:pt>
                </c:lvl>
              </c:multiLvlStrCache>
            </c:multiLvlStrRef>
          </c:cat>
          <c:val>
            <c:numRef>
              <c:f>Sheet1!$B$2:$B$4</c:f>
              <c:numCache>
                <c:formatCode>General</c:formatCode>
                <c:ptCount val="3"/>
                <c:pt idx="0">
                  <c:v>0.61</c:v>
                </c:pt>
                <c:pt idx="1">
                  <c:v>0.78</c:v>
                </c:pt>
                <c:pt idx="2">
                  <c:v>0.75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orient. Keep the spoken transition focused on “Retrieval helps. It also costs.”
Evidence note: Content is based on the supplied creation brief. Illustrative examples are not independently verified; replace them with measured evidence before external publication.
NodeSlide sources
[source_ee322259319fb8031024f59f9bed0d04]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[source_c6f5362d07eaf89cc964d30d616a09c9] retrieval-results.csv
Citation: Uploaded file: retrieval-results.csv
policy,quality_score,cost_usd,latency_ms
no_retrieval,0.61,0.010,640
always_retrieve,0.78,0.092,1810
adaptive,0.75,0.038,1040
Disclaimer: User supplied
[source_76e6b1b99ac4e9f77a802d25f608d397]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“Decide first, retrieve sparingly, cite explicitly”
Evidence note: Content is based on the supplied creation brief. Illustrative examples are not independently verified; replace them with measured evidence before external publication.
NodeSlide sources
[source_ee322259319fb8031024f59f9bed0d04]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[source_c6f5362d07eaf89cc964d30d616a09c9] retrieval-results.csv
Citation: Uploaded file: retrieval-results.csv
policy,quality_score,cost_usd,latency_ms
no_retrieval,0.61,0.010,640
always_retrieve,0.78,0.092,1810
adaptive,0.75,0.038,1040
Disclaimer: User supplied
[source_76e6b1b99ac4e9f77a802d25f608d397]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“One fixture, three policies, no significance claim”
Evidence note: Content is based on the supplied creation brief. Illustrative examples are not independently verified; replace them with measured evidence before external publication.
NodeSlide sources
[source_ee322259319fb8031024f59f9bed0d04]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[source_c6f5362d07eaf89cc964d30d616a09c9] retrieval-results.csv
Citation: Uploaded file: retrieval-results.csv
policy,quality_score,cost_usd,latency_ms
no_retrieval,0.61,0.010,640
always_retrieve,0.78,0.092,1810
adaptive,0.75,0.038,1040
Disclaimer: User supplied
[source_76e6b1b99ac4e9f77a802d25f608d397]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“Adaptive recovers most of the quality at a fraction of the cost”
Evidence note: Content is based on the supplied creation brief. Illustrative examples are not independently verified; replace them with measured evidence before external publication.
NodeSlide sources
[source_ee322259319fb8031024f59f9bed0d04]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[source_c6f5362d07eaf89cc964d30d616a09c9] retrieval-results.csv
Citation: Uploaded file: retrieval-results.csv
policy,quality_score,cost_usd,latency_ms
no_retrieval,0.61,0.010,640
always_retrieve,0.78,0.092,1810
adaptive,0.75,0.038,1040
Disclaimer: User supplied
[source_76e6b1b99ac4e9f77a802d25f608d397]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“Quality per dollar reframes the comparison”
Evidence note: Content is based on the supplied creation brief. Illustrative examples are not independently verified; replace them with measured evidence before external publication.
NodeSlide sources
[source_ee322259319fb8031024f59f9bed0d04]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[source_c6f5362d07eaf89cc964d30d616a09c9] retrieval-results.csv
Citation: Uploaded file: retrieval-results.csv
policy,quality_score,cost_usd,latency_ms
no_retrieval,0.61,0.010,640
always_retrieve,0.78,0.092,1810
adaptive,0.75,0.038,1040
Disclaimer: User supplied
[source_76e6b1b99ac4e9f77a802d25f608d397]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“Where adaptive retrieval can misfire”
Evidence note: Content is based on the supplied creation brief. Illustrative examples are not independently verified; replace them with measured evidence before external publication.
NodeSlide sources
[source_ee322259319fb8031024f59f9bed0d04]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[source_c6f5362d07eaf89cc964d30d616a09c9] retrieval-results.csv
Citation: Uploaded file: retrieval-results.csv
policy,quality_score,cost_usd,latency_ms
no_retrieval,0.61,0.010,640
always_retrieve,0.78,0.092,1810
adaptive,0.75,0.038,1040
Disclaimer: User supplied
[source_76e6b1b99ac4e9f77a802d25f608d397]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decide. Keep the spoken transition focused on “Adopt adaptive as the default, monitor the miss rate”
Evidence note: Content is based on the supplied creation brief. Illustrative examples are not independently verified; replace them with measured evidence before external publication.
NodeSlide sources
[source_ee322259319fb8031024f59f9bed0d04]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[source_c6f5362d07eaf89cc964d30d616a09c9] retrieval-results.csv
Citation: Uploaded file: retrieval-results.csv
policy,quality_score,cost_usd,latency_ms
no_retrieval,0.61,0.010,640
always_retrieve,0.78,0.092,1810
adaptive,0.75,0.038,1040
Disclaimer: User supplied
[source_76e6b1b99ac4e9f77a802d25f608d397]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9afb3258da0bae1af03aaaab02d60e43"/>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0df4f048700b01642711165dd97dcbb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ORIENT</a:t>
            </a:r>
            <a:endParaRPr lang="en-US" sz="1500" dirty="0"/>
          </a:p>
        </p:txBody>
      </p:sp>
      <p:sp>
        <p:nvSpPr>
          <p:cNvPr id="4" name="element_8af90518415f44b29a11e91e764e4cd6"/>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Retrieval helps. It also costs.</a:t>
            </a:r>
            <a:endParaRPr lang="en-US" sz="4800" dirty="0"/>
          </a:p>
        </p:txBody>
      </p:sp>
      <p:sp>
        <p:nvSpPr>
          <p:cNvPr id="5" name="element_5973dd604def060a98358c2826339c9a"/>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Always retrieving lifts quality but multiplies cost and latency. The question is whether an adaptive policy can capture most of the gain at a fraction of the price.</a:t>
            </a:r>
            <a:endParaRPr lang="en-US" sz="1900" dirty="0"/>
          </a:p>
        </p:txBody>
      </p:sp>
      <p:sp>
        <p:nvSpPr>
          <p:cNvPr id="6" name="element_714e5d58bdc7142f2736c416980942dc"/>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Quality vs. cost is the core tradeoff under evaluation</a:t>
            </a:r>
            <a:endParaRPr lang="en-US" sz="1600" dirty="0"/>
          </a:p>
        </p:txBody>
      </p:sp>
      <p:sp>
        <p:nvSpPr>
          <p:cNvPr id="7" name="element_59447b3f7474b11a01f4fe8655584b46"/>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Three policies compared: none, always, adaptive</a:t>
            </a:r>
            <a:endParaRPr lang="en-US" sz="1600" dirty="0"/>
          </a:p>
        </p:txBody>
      </p:sp>
      <p:sp>
        <p:nvSpPr>
          <p:cNvPr id="8" name="element_8b2f0dc0da530cc032260f1fa37d83ab"/>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All figures are means over a fixed benchmark fixture</a:t>
            </a:r>
            <a:endParaRPr lang="en-US" sz="1600" dirty="0"/>
          </a:p>
        </p:txBody>
      </p:sp>
      <p:sp>
        <p:nvSpPr>
          <p:cNvPr id="9" name="element_96052f52520e46ce40216b462832ec4e"/>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75800e611b954e04985b8dcf54f2b0b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05e594cab05129bc17b1842aa0f6caea"/>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fbf7ac7fffe3e842ff9dd05e742cd351"/>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43c7cbe63105aab0a6ef5f2b4cdd716b"/>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Decide first, retrieve sparingly, cite explicitly</a:t>
            </a:r>
            <a:endParaRPr lang="en-US" sz="3800" dirty="0"/>
          </a:p>
        </p:txBody>
      </p:sp>
      <p:sp>
        <p:nvSpPr>
          <p:cNvPr id="5" name="element_ce001ef741d3ccff58447fd26554c5cc"/>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The adaptive policy predicts whether a query needs retrieval, pulls at most three passages when it does, and answers with claim-linked citations, per the supplied method description.</a:t>
            </a:r>
            <a:endParaRPr lang="en-US" sz="1700" dirty="0"/>
          </a:p>
        </p:txBody>
      </p:sp>
      <p:sp>
        <p:nvSpPr>
          <p:cNvPr id="6" name="element_5b69d0e7ae135c8b30d82cbd641fb1ef"/>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Retrieval is gated by a per-query prediction, not applied uniformly</a:t>
            </a:r>
            <a:endParaRPr lang="en-US" sz="1700" dirty="0"/>
          </a:p>
        </p:txBody>
      </p:sp>
      <p:sp>
        <p:nvSpPr>
          <p:cNvPr id="7" name="element_f381217505ffb417187343f689bf7746"/>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At most three passages retrieved when triggered</a:t>
            </a:r>
            <a:endParaRPr lang="en-US" sz="1700" dirty="0"/>
          </a:p>
        </p:txBody>
      </p:sp>
      <p:sp>
        <p:nvSpPr>
          <p:cNvPr id="8" name="element_92aeb395ea3280d86172db242fb7b888"/>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Answers carry claim-linked citations for traceability</a:t>
            </a:r>
            <a:endParaRPr lang="en-US" sz="1700" dirty="0"/>
          </a:p>
        </p:txBody>
      </p:sp>
      <p:sp>
        <p:nvSpPr>
          <p:cNvPr id="9" name="element_92e1295be1afd2c16234ddaedee9db48"/>
          <p:cNvSpPr/>
          <p:nvPr/>
        </p:nvSpPr>
        <p:spPr>
          <a:xfrm>
            <a:off x="7019978" y="3775329"/>
            <a:ext cx="243834" cy="164592"/>
          </a:xfrm>
          <a:prstGeom prst="line">
            <a:avLst/>
          </a:prstGeom>
          <a:noFill/>
          <a:ln w="25400">
            <a:solidFill>
              <a:srgbClr val="7566A8"/>
            </a:solidFill>
            <a:prstDash val="solid"/>
            <a:tailEnd type="triangle"/>
          </a:ln>
        </p:spPr>
      </p:sp>
      <p:sp>
        <p:nvSpPr>
          <p:cNvPr id="10" name="element_265c60d8df9f927be2ba8cf06d10a245"/>
          <p:cNvSpPr/>
          <p:nvPr/>
        </p:nvSpPr>
        <p:spPr>
          <a:xfrm>
            <a:off x="9194977" y="3775329"/>
            <a:ext cx="243834" cy="164592"/>
          </a:xfrm>
          <a:prstGeom prst="line">
            <a:avLst/>
          </a:prstGeom>
          <a:noFill/>
          <a:ln w="25400">
            <a:solidFill>
              <a:srgbClr val="7566A8"/>
            </a:solidFill>
            <a:prstDash val="solid"/>
            <a:tailEnd type="triangle"/>
          </a:ln>
        </p:spPr>
      </p:sp>
      <p:sp>
        <p:nvSpPr>
          <p:cNvPr id="11" name="element_f691def8d486597e58f2ff22457a939d"/>
          <p:cNvSpPr/>
          <p:nvPr/>
        </p:nvSpPr>
        <p:spPr>
          <a:xfrm>
            <a:off x="6910253" y="4375404"/>
            <a:ext cx="463284" cy="164592"/>
          </a:xfrm>
          <a:prstGeom prst="line">
            <a:avLst/>
          </a:prstGeom>
          <a:noFill/>
          <a:ln w="25400">
            <a:solidFill>
              <a:srgbClr val="7566A8"/>
            </a:solidFill>
            <a:prstDash val="solid"/>
            <a:tailEnd type="triangle"/>
          </a:ln>
        </p:spPr>
      </p:sp>
      <p:sp>
        <p:nvSpPr>
          <p:cNvPr id="12" name="element_99679dd1b9b421715ea2a417256b25c4"/>
          <p:cNvSpPr/>
          <p:nvPr/>
        </p:nvSpPr>
        <p:spPr>
          <a:xfrm>
            <a:off x="6922445" y="4375404"/>
            <a:ext cx="2615119" cy="164592"/>
          </a:xfrm>
          <a:prstGeom prst="line">
            <a:avLst/>
          </a:prstGeom>
          <a:noFill/>
          <a:ln w="25400">
            <a:solidFill>
              <a:srgbClr val="7566A8"/>
            </a:solidFill>
            <a:prstDash val="solid"/>
            <a:tailEnd type="triangle"/>
          </a:ln>
        </p:spPr>
      </p:sp>
      <p:sp>
        <p:nvSpPr>
          <p:cNvPr id="13" name="element_0c383a01e76ec08f1a58afea45907fcf"/>
          <p:cNvSpPr/>
          <p:nvPr/>
        </p:nvSpPr>
        <p:spPr>
          <a:xfrm>
            <a:off x="5045753" y="3339160"/>
            <a:ext cx="2018506" cy="1036930"/>
          </a:xfrm>
          <a:prstGeom prst="roundRect">
            <a:avLst/>
          </a:prstGeom>
          <a:solidFill>
            <a:srgbClr val="F2DED3"/>
          </a:solidFill>
          <a:ln w="12700">
            <a:solidFill>
              <a:srgbClr val="DED7CC"/>
            </a:solidFill>
            <a:prstDash val="solid"/>
          </a:ln>
        </p:spPr>
      </p:sp>
      <p:sp>
        <p:nvSpPr>
          <p:cNvPr id="14" name="element_0c383a01e76ec08f1a58afea45907fcf:text"/>
          <p:cNvSpPr txBox="1"/>
          <p:nvPr/>
        </p:nvSpPr>
        <p:spPr>
          <a:xfrm>
            <a:off x="5045753"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Incoming Query</a:t>
            </a:r>
            <a:endParaRPr lang="en-US" sz="1600" dirty="0"/>
          </a:p>
        </p:txBody>
      </p:sp>
      <p:sp>
        <p:nvSpPr>
          <p:cNvPr id="15" name="element_9b6c4c33b23a57789010eceb428b0297"/>
          <p:cNvSpPr/>
          <p:nvPr/>
        </p:nvSpPr>
        <p:spPr>
          <a:xfrm>
            <a:off x="7219532" y="3339160"/>
            <a:ext cx="2018506" cy="1036930"/>
          </a:xfrm>
          <a:prstGeom prst="roundRect">
            <a:avLst/>
          </a:prstGeom>
          <a:solidFill>
            <a:srgbClr val="E5E9D6"/>
          </a:solidFill>
          <a:ln w="25400">
            <a:solidFill>
              <a:srgbClr val="B44A2D"/>
            </a:solidFill>
            <a:prstDash val="solid"/>
          </a:ln>
        </p:spPr>
      </p:sp>
      <p:sp>
        <p:nvSpPr>
          <p:cNvPr id="16" name="element_9b6c4c33b23a57789010eceb428b0297:text"/>
          <p:cNvSpPr txBox="1"/>
          <p:nvPr/>
        </p:nvSpPr>
        <p:spPr>
          <a:xfrm>
            <a:off x="7219532"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Predict Retrieval Need</a:t>
            </a:r>
            <a:endParaRPr lang="en-US" sz="1600" dirty="0"/>
          </a:p>
        </p:txBody>
      </p:sp>
      <p:sp>
        <p:nvSpPr>
          <p:cNvPr id="17" name="element_61fe930f2e038897f2404b3c2bb25a69"/>
          <p:cNvSpPr/>
          <p:nvPr/>
        </p:nvSpPr>
        <p:spPr>
          <a:xfrm>
            <a:off x="9394530" y="3339160"/>
            <a:ext cx="2018506" cy="1036930"/>
          </a:xfrm>
          <a:prstGeom prst="roundRect">
            <a:avLst/>
          </a:prstGeom>
          <a:solidFill>
            <a:srgbClr val="F2DED3"/>
          </a:solidFill>
          <a:ln w="12700">
            <a:solidFill>
              <a:srgbClr val="DED7CC"/>
            </a:solidFill>
            <a:prstDash val="solid"/>
          </a:ln>
        </p:spPr>
      </p:sp>
      <p:sp>
        <p:nvSpPr>
          <p:cNvPr id="18" name="element_61fe930f2e038897f2404b3c2bb25a69:text"/>
          <p:cNvSpPr txBox="1"/>
          <p:nvPr/>
        </p:nvSpPr>
        <p:spPr>
          <a:xfrm>
            <a:off x="9394530"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Retrieve up to 3 Passages</a:t>
            </a:r>
            <a:endParaRPr lang="en-US" sz="1600" dirty="0"/>
          </a:p>
        </p:txBody>
      </p:sp>
      <p:sp>
        <p:nvSpPr>
          <p:cNvPr id="19" name="element_0a2e3545cdbb8a9418b5b16509a56401"/>
          <p:cNvSpPr/>
          <p:nvPr/>
        </p:nvSpPr>
        <p:spPr>
          <a:xfrm>
            <a:off x="5045753" y="4539310"/>
            <a:ext cx="2018506" cy="1036930"/>
          </a:xfrm>
          <a:prstGeom prst="roundRect">
            <a:avLst/>
          </a:prstGeom>
          <a:solidFill>
            <a:srgbClr val="E5E9D6"/>
          </a:solidFill>
          <a:ln w="12700">
            <a:solidFill>
              <a:srgbClr val="DED7CC"/>
            </a:solidFill>
            <a:prstDash val="solid"/>
          </a:ln>
        </p:spPr>
      </p:sp>
      <p:sp>
        <p:nvSpPr>
          <p:cNvPr id="20" name="element_0a2e3545cdbb8a9418b5b16509a56401:text"/>
          <p:cNvSpPr txBox="1"/>
          <p:nvPr/>
        </p:nvSpPr>
        <p:spPr>
          <a:xfrm>
            <a:off x="5045753" y="453931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Answer with Claim-Linked Citations</a:t>
            </a:r>
            <a:endParaRPr lang="en-US" sz="1600" dirty="0"/>
          </a:p>
        </p:txBody>
      </p:sp>
      <p:sp>
        <p:nvSpPr>
          <p:cNvPr id="21" name="element_183b9f85ae2305043bbaea971d2cd0fe"/>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2" name="element_7d6ae34cb170432d5f21d31b6075b33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d64394ddeab6607235de90bd7978b29a"/>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499a841e296140b9d05689778bbd98d4"/>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042b78a7bee6f18853ea654e18300950"/>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One fixture, three policies, no significance claim</a:t>
            </a:r>
            <a:endParaRPr lang="en-US" sz="3800" dirty="0"/>
          </a:p>
        </p:txBody>
      </p:sp>
      <p:sp>
        <p:nvSpPr>
          <p:cNvPr id="5" name="element_72997dd4c0ecacb0ee339968c6135d3e"/>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All three policies were run against the same fixed benchmark fixture. The source material explicitly authorizes no statistical-significance claim, so differences below are reported as observed means, not proven effects.</a:t>
            </a:r>
            <a:endParaRPr lang="en-US" sz="1900" dirty="0"/>
          </a:p>
        </p:txBody>
      </p:sp>
      <p:sp>
        <p:nvSpPr>
          <p:cNvPr id="6" name="element_f26ce8d61c7f8d3342c0c6c91e772b06"/>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Policies compared: no_retrieval, always_retrieve, adaptive</a:t>
            </a:r>
            <a:endParaRPr lang="en-US" sz="1700" dirty="0"/>
          </a:p>
        </p:txBody>
      </p:sp>
      <p:sp>
        <p:nvSpPr>
          <p:cNvPr id="7" name="element_3b3b7f223de3cf2f62fca8242253022e"/>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Metrics captured: quality score, cost in USD, latency in ms</a:t>
            </a:r>
            <a:endParaRPr lang="en-US" sz="1700" dirty="0"/>
          </a:p>
        </p:txBody>
      </p:sp>
      <p:sp>
        <p:nvSpPr>
          <p:cNvPr id="8" name="element_623b5295c922d689cd8ffc4ffefb0508"/>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Source: retrieval-results.csv and method.md, both user-supplied</a:t>
            </a:r>
            <a:endParaRPr lang="en-US" sz="1700" dirty="0"/>
          </a:p>
        </p:txBody>
      </p:sp>
      <p:sp>
        <p:nvSpPr>
          <p:cNvPr id="9" name="element_41f3fd9b779d3bcb83de69d52cb9bf30"/>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f1f59a2dd03acb1c4d79139fc199df0c"/>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ee9301c98579b45f20b0a643a1c24975"/>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56435a3e65a1f3c4eaac5179f9174db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add35df5ad6f9e1f1750ff2c940f1acd"/>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Adaptive recovers most of the quality at a fraction of the cost</a:t>
            </a:r>
            <a:endParaRPr lang="en-US" sz="3800" dirty="0"/>
          </a:p>
        </p:txBody>
      </p:sp>
      <p:sp>
        <p:nvSpPr>
          <p:cNvPr id="5" name="element_633206a85fd3de0cb3e06a5e0ded5174"/>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Measured quality scores from the supplied experiment table, shown as-reported. This is the observed data, not an interpretation.</a:t>
            </a:r>
            <a:endParaRPr lang="en-US" sz="1900" dirty="0"/>
          </a:p>
        </p:txBody>
      </p:sp>
      <p:sp>
        <p:nvSpPr>
          <p:cNvPr id="6" name="element_4c530e9c63cef16d5be92826b8956f4b"/>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no_retrieval: 0.61 quality at $0.010, 640ms</a:t>
            </a:r>
            <a:endParaRPr lang="en-US" sz="1700" dirty="0"/>
          </a:p>
        </p:txBody>
      </p:sp>
      <p:sp>
        <p:nvSpPr>
          <p:cNvPr id="7" name="element_5dd4aaec84491571161fb3ddf1acf507"/>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always_retrieve: 0.78 quality at $0.092, 1810ms</a:t>
            </a:r>
            <a:endParaRPr lang="en-US" sz="1700" dirty="0"/>
          </a:p>
        </p:txBody>
      </p:sp>
      <p:sp>
        <p:nvSpPr>
          <p:cNvPr id="8" name="element_2ba4249a6e533081d383e16c0a141c3b"/>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adaptive: 0.75 quality at $0.038, 1040ms</a:t>
            </a:r>
            <a:endParaRPr lang="en-US" sz="1700" dirty="0"/>
          </a:p>
        </p:txBody>
      </p:sp>
      <p:graphicFrame>
        <p:nvGraphicFramePr>
          <p:cNvPr id="9" name="element_f5c63f800277500ac2ef7699af114446" descr=""/>
          <p:cNvGraphicFramePr/>
          <p:nvPr/>
        </p:nvGraphicFramePr>
        <p:xfrm>
          <a:off x="5120512"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368ce36160a76f75919031aee42dbb3c"/>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909a120b8e32d81d1f9c95538b557bd0"/>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f9f7d5057fc7d2eb811fc6cd900dc4c8"/>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a9f958f69ae19f4e63b4836a6ea73230"/>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9b1333e865ed04a9768fb2fbe77d559a"/>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Quality per dollar reframes the comparison</a:t>
            </a:r>
            <a:endParaRPr lang="en-US" sz="3800" dirty="0"/>
          </a:p>
        </p:txBody>
      </p:sp>
      <p:sp>
        <p:nvSpPr>
          <p:cNvPr id="5" name="element_b2ac91b4a2db77eb83589e298f32fa40"/>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Dividing quality by cost surfaces which policy delivers the most quality per dollar spent, using the same measured values from the experiment table.</a:t>
            </a:r>
            <a:endParaRPr lang="en-US" sz="1900" dirty="0"/>
          </a:p>
        </p:txBody>
      </p:sp>
      <p:sp>
        <p:nvSpPr>
          <p:cNvPr id="6" name="element_a477d083aa2573a0b711fe4c980657bc"/>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Adaptive: 0.75 / 0.038 ≈ 19.7 quality-per-dollar</a:t>
            </a:r>
            <a:endParaRPr lang="en-US" sz="1700" dirty="0"/>
          </a:p>
        </p:txBody>
      </p:sp>
      <p:sp>
        <p:nvSpPr>
          <p:cNvPr id="7" name="element_a5afbf5edf3a3821aa27d17cb19dcb7c"/>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Always-retrieve: 0.78 / 0.092 ≈ 8.5 quality-per-dollar</a:t>
            </a:r>
            <a:endParaRPr lang="en-US" sz="1700" dirty="0"/>
          </a:p>
        </p:txBody>
      </p:sp>
      <p:sp>
        <p:nvSpPr>
          <p:cNvPr id="8" name="element_9de9e6a60180b53c87b179bc8d98164e"/>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No-retrieval: 0.61 / 0.010 = 61.0 quality-per-dollar, lowest absolute quality</a:t>
            </a:r>
            <a:endParaRPr lang="en-US" sz="1700" dirty="0"/>
          </a:p>
        </p:txBody>
      </p:sp>
      <p:sp>
        <p:nvSpPr>
          <p:cNvPr id="9" name="element_c0f3e0be3036342eb46a9be87c40dad7"/>
          <p:cNvSpPr txBox="1"/>
          <p:nvPr/>
        </p:nvSpPr>
        <p:spPr>
          <a:xfrm>
            <a:off x="6271408" y="2814523"/>
            <a:ext cx="5135142" cy="1777594"/>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Q / C</a:t>
            </a:r>
            <a:endParaRPr lang="en-US" sz="3000" dirty="0"/>
          </a:p>
        </p:txBody>
      </p:sp>
      <p:sp>
        <p:nvSpPr>
          <p:cNvPr id="10" name="element_b0a009a700c43fa081dc47a75c2dd635"/>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c67d7bb88cb026312b365850a849808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2e3f07f533830f41ab7477b2e8f70d8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4e42ddb0c02625806e90c45753b12515"/>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f9f517ab84d89dd6e4644b04e20f5a51"/>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Where adaptive retrieval can misfire</a:t>
            </a:r>
            <a:endParaRPr lang="en-US" sz="3800" dirty="0"/>
          </a:p>
        </p:txBody>
      </p:sp>
      <p:sp>
        <p:nvSpPr>
          <p:cNvPr id="5" name="element_9073d5c04413720f016812dc04bd99c3"/>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Interpretation, not measurement: the gap between adaptive (0.75) and always_retrieve (0.78) quality suggests the retrieval-need predictor sometimes under-triggers on queries that would have benefited from retrieval. No image evidence of specific failure cases was supplied, so this slot remains an explicit placeholder rather than captured evidence.</a:t>
            </a:r>
            <a:endParaRPr lang="en-US" sz="1900" dirty="0"/>
          </a:p>
        </p:txBody>
      </p:sp>
      <p:sp>
        <p:nvSpPr>
          <p:cNvPr id="6" name="element_287711653b76ca27f4ee51307e50f4e3"/>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Quality gap vs. always_retrieve implies some missed retrieval triggers</a:t>
            </a:r>
            <a:endParaRPr lang="en-US" sz="1700" dirty="0"/>
          </a:p>
        </p:txBody>
      </p:sp>
      <p:sp>
        <p:nvSpPr>
          <p:cNvPr id="7" name="element_581b6c8048fcdf31fde71a11d5c3babb"/>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No statistical-significance claim is authorized by the source data</a:t>
            </a:r>
            <a:endParaRPr lang="en-US" sz="1700" dirty="0"/>
          </a:p>
        </p:txBody>
      </p:sp>
      <p:sp>
        <p:nvSpPr>
          <p:cNvPr id="8" name="element_1892d97d78d2a447d3756c63f7059744"/>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Interpretation is separated here from the measured results on the prior slides</a:t>
            </a:r>
            <a:endParaRPr lang="en-US" sz="1700" dirty="0"/>
          </a:p>
        </p:txBody>
      </p:sp>
      <p:sp>
        <p:nvSpPr>
          <p:cNvPr id="9" name="element_83dd9841121d461bc2815f18a18d7390: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83dd9841121d461bc2815f18a18d7390: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Placeholder for illustrative example of an adaptive-policy retrieval miss</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Placeholder - no captured image supplied</a:t>
            </a:r>
            <a:endParaRPr lang="en-US" sz="1400" dirty="0"/>
          </a:p>
        </p:txBody>
      </p:sp>
      <p:sp>
        <p:nvSpPr>
          <p:cNvPr id="11" name="element_76c6e8f1a9b06816cf19ce21dbce6f87"/>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Replace image before external use · Placeholder - no captured image supplied</a:t>
            </a:r>
            <a:endParaRPr lang="en-US" sz="1400" dirty="0"/>
          </a:p>
        </p:txBody>
      </p:sp>
      <p:sp>
        <p:nvSpPr>
          <p:cNvPr id="12" name="element_1e2b12c08b53fae480992b7199d66f67"/>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bcfa64644d6a2a83797734b48c303fc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b5a619a02844a22b8f55980e29f4ba8d"/>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8a5a416d03b5f5d18a469f98ab0aa29a"/>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DECIDE</a:t>
            </a:r>
            <a:endParaRPr lang="en-US" sz="1500" dirty="0"/>
          </a:p>
        </p:txBody>
      </p:sp>
      <p:sp>
        <p:nvSpPr>
          <p:cNvPr id="4" name="element_8ddaefbae7ed9df5d52d8ad66a46a28a"/>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Adopt adaptive as the default, monitor the miss rate</a:t>
            </a:r>
            <a:endParaRPr lang="en-US" sz="3800" dirty="0"/>
          </a:p>
        </p:txBody>
      </p:sp>
      <p:sp>
        <p:nvSpPr>
          <p:cNvPr id="5" name="element_04330eaf773dc3ca758e355fbacb295d"/>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Adaptive delivers roughly 96% of always-retrieve's quality at about 41% of its cost. The recommended next checkpoint is a review of predictor miss cases before wider rollout.</a:t>
            </a:r>
            <a:endParaRPr lang="en-US" sz="1900" dirty="0"/>
          </a:p>
        </p:txBody>
      </p:sp>
      <p:sp>
        <p:nvSpPr>
          <p:cNvPr id="6" name="element_57d79cabb0187945f4d324db756e62dd"/>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Decision: default to adaptive retrieval pending predictor review</a:t>
            </a:r>
            <a:endParaRPr lang="en-US" sz="1700" dirty="0"/>
          </a:p>
        </p:txBody>
      </p:sp>
      <p:sp>
        <p:nvSpPr>
          <p:cNvPr id="7" name="element_7cd2a1e16695d6e9c8cfb4233bacccad"/>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Owner: applied ML research lead</a:t>
            </a:r>
            <a:endParaRPr lang="en-US" sz="1700" dirty="0"/>
          </a:p>
        </p:txBody>
      </p:sp>
      <p:sp>
        <p:nvSpPr>
          <p:cNvPr id="8" name="element_1492dbd21df9469db4b9bdde884a931d"/>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Next checkpoint: audit under-triggered queries from this fixture</a:t>
            </a:r>
            <a:endParaRPr lang="en-US" sz="1700" dirty="0"/>
          </a:p>
        </p:txBody>
      </p:sp>
      <p:sp>
        <p:nvSpPr>
          <p:cNvPr id="9" name="element_42713662ca94bbe007170cc896acbe76"/>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19.7x</a:t>
            </a:r>
            <a:endParaRPr lang="en-US" sz="5600" dirty="0"/>
          </a:p>
        </p:txBody>
      </p:sp>
      <p:sp>
        <p:nvSpPr>
          <p:cNvPr id="10" name="element_d1bbdc5689a735ed6bc6dbb3c3c449ef"/>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Quality-per-dollar, adaptive policy</a:t>
            </a:r>
            <a:endParaRPr lang="en-US" sz="1500" dirty="0"/>
          </a:p>
        </p:txBody>
      </p:sp>
      <p:sp>
        <p:nvSpPr>
          <p:cNvPr id="11" name="element_74ee360ce2738549b7ac9b68d4b2ffd5"/>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93fca6aec6b7a010d27c72363779e3d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research talk for applied machine-learning resea…</dc:title>
  <dc:subject>Create an editable, reviewable presentation from this idea</dc:subject>
  <dc:creator>NodeSlide</dc:creator>
  <cp:lastModifiedBy>NodeSlide</cp:lastModifiedBy>
  <cp:revision>1</cp:revision>
  <dcterms:created xsi:type="dcterms:W3CDTF">2026-07-21T23:51:59Z</dcterms:created>
  <dcterms:modified xsi:type="dcterms:W3CDTF">2026-07-21T23:51:59Z</dcterms:modified>
</cp:coreProperties>
</file>