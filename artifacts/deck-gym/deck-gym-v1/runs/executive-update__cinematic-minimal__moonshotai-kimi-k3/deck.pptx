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Revenue</c:v>
                  </c:pt>
                  <c:pt idx="1">
                    <c:v>Pipeline</c:v>
                  </c:pt>
                  <c:pt idx="2">
                    <c:v>Win Rate</c:v>
                  </c:pt>
                  <c:pt idx="3">
                    <c:v>Impl Days</c:v>
                  </c:pt>
                  <c:pt idx="4">
                    <c:v>Retention</c:v>
                  </c:pt>
                </c:lvl>
              </c:multiLvlStrCache>
            </c:multiLvlStrRef>
          </c:cat>
          <c:val>
            <c:numRef>
              <c:f>Sheet1!$B$2:$B$6</c:f>
              <c:numCache>
                <c:formatCode>General</c:formatCode>
                <c:ptCount val="5"/>
                <c:pt idx="0">
                  <c:v>4.8</c:v>
                </c:pt>
                <c:pt idx="1">
                  <c:v>7.4</c:v>
                </c:pt>
                <c:pt idx="2">
                  <c:v>21</c:v>
                </c:pt>
                <c:pt idx="3">
                  <c:v>39</c:v>
                </c:pt>
                <c:pt idx="4">
                  <c:v>94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 Pipeline</c:v>
                  </c:pt>
                  <c:pt idx="1">
                    <c:v>Q2 Pipeline</c:v>
                  </c:pt>
                  <c:pt idx="2">
                    <c:v>Q1 Win Rate</c:v>
                  </c:pt>
                  <c:pt idx="3">
                    <c:v>Q2 Win Rate</c:v>
                  </c:pt>
                </c:lvl>
              </c:multiLvlStrCache>
            </c:multiLvlStrRef>
          </c:cat>
          <c:val>
            <c:numRef>
              <c:f>Sheet1!$B$2:$B$5</c:f>
              <c:numCache>
                <c:formatCode>General</c:formatCode>
                <c:ptCount val="4"/>
                <c:pt idx="0">
                  <c:v>9.1</c:v>
                </c:pt>
                <c:pt idx="1">
                  <c:v>7.4</c:v>
                </c:pt>
                <c:pt idx="2">
                  <c:v>24</c:v>
                </c:pt>
                <c:pt idx="3">
                  <c:v>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“Growth with a Conversion Gap”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“Mixed Movement Across Five Metrics”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“Pipeline and Win Rate Compound the Gap”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“Pipeline Coverage is the Critical Threat”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“Three Options, Two Slots”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“Select Pipeline + Win Rate for Maximum Impact”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“Weekly Reviews, Monthly Gates”
Evidence note: Content is based on the supplied creation brief. Illustrative examples are not independently verified; replace them with measured evidence before external publication.
NodeSlide sources
[source_b8ee9ca113ba39547caa60023be765b6]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[source_4d095bf46a764069d98eb02811abb58f] q2-kpis.csv
Citation: Uploaded file: q2-kpis.csv
metric,q1,q2,target
revenue_musd,4.2,4.8,5.0
new_pipeline_musd,9.1,7.4,10.0
win_rate_percent,24,21,28
implementation_days,46,39,35
gross_retention_percent,93,94,95
Disclaimer: User supplied
[source_3859b8909e0c4b71203590a1db3ea9dd]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797c6f7bca993f17e1a88523a6098d0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37d93a07d4240117a39ae5360726b2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685c3fdd0ba9e2290c107e5fce176ed3"/>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Growth with a Conversion Gap</a:t>
            </a:r>
            <a:endParaRPr lang="en-US" sz="4800" dirty="0"/>
          </a:p>
        </p:txBody>
      </p:sp>
      <p:sp>
        <p:nvSpPr>
          <p:cNvPr id="5" name="element_f31d074ff7082ebade890a241ef1d515"/>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Q2 delivered $4.8M revenue (+14% QoQ) and 39-day implementations (-15%), but pipeline fell to $7.4M (-19%) and win rate dropped to 21%. We enter Q3 with 2.1x coverage versus the 3.0x requirement.</a:t>
            </a:r>
            <a:endParaRPr lang="en-US" sz="1900" dirty="0"/>
          </a:p>
        </p:txBody>
      </p:sp>
      <p:sp>
        <p:nvSpPr>
          <p:cNvPr id="6" name="element_e1f0317a13b189f6f41ebc00bf04f5e4"/>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Revenue: $4.8M vs $5.0M target (96% attainment)</a:t>
            </a:r>
            <a:endParaRPr lang="en-US" sz="1700" dirty="0"/>
          </a:p>
        </p:txBody>
      </p:sp>
      <p:sp>
        <p:nvSpPr>
          <p:cNvPr id="7" name="element_adfc65fb0136633646a815bd20c9eedf"/>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Pipeline: $7.4M vs $10.0M target (74% attainment)</a:t>
            </a:r>
            <a:endParaRPr lang="en-US" sz="1700" dirty="0"/>
          </a:p>
        </p:txBody>
      </p:sp>
      <p:sp>
        <p:nvSpPr>
          <p:cNvPr id="8" name="element_068837b3b85550a0e54f79be5cf8ea5a"/>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Win rate: 21% vs 28% target (75% of goal)</a:t>
            </a:r>
            <a:endParaRPr lang="en-US" sz="1700" dirty="0"/>
          </a:p>
        </p:txBody>
      </p:sp>
      <p:sp>
        <p:nvSpPr>
          <p:cNvPr id="9" name="element_b3a900e7a15172dfe0c016c05e4550d4"/>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2.1x</a:t>
            </a:r>
            <a:endParaRPr lang="en-US" sz="5600" dirty="0"/>
          </a:p>
        </p:txBody>
      </p:sp>
      <p:sp>
        <p:nvSpPr>
          <p:cNvPr id="10" name="element_3e013a13ac6afee95e30dcc1b2ccec1c"/>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Pipeline Coverage (Target: 3.0x)</a:t>
            </a:r>
            <a:endParaRPr lang="en-US" sz="1500" dirty="0"/>
          </a:p>
        </p:txBody>
      </p:sp>
      <p:sp>
        <p:nvSpPr>
          <p:cNvPr id="11" name="element_76b3855db936a32e30ce2d81fde7e51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01f578c6f2f5042c8eb05af5b8b222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b76e7bf8f95be34776b9e733e8c8096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89112c99b504669d0117bb2a632d4b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4ffbf956bcdade0814edf8ac2c0f2d45"/>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Mixed Movement Across Five Metrics</a:t>
            </a:r>
            <a:endParaRPr lang="en-US" sz="3800" dirty="0"/>
          </a:p>
        </p:txBody>
      </p:sp>
      <p:sp>
        <p:nvSpPr>
          <p:cNvPr id="5" name="element_bc012db4830c73a9045658240f2e2244"/>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Revenue and implementation velocity improved; pipeline generation and win rate deteriorated; retention stable.</a:t>
            </a:r>
            <a:endParaRPr lang="en-US" sz="1900" dirty="0"/>
          </a:p>
        </p:txBody>
      </p:sp>
      <p:sp>
        <p:nvSpPr>
          <p:cNvPr id="6" name="element_df966f4a24aa4e10925f6a765b86db8b"/>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On target: Gross retention (94% vs 95% target)</a:t>
            </a:r>
            <a:endParaRPr lang="en-US" sz="1700" dirty="0"/>
          </a:p>
        </p:txBody>
      </p:sp>
      <p:sp>
        <p:nvSpPr>
          <p:cNvPr id="7" name="element_32e3c6d127b49889d2f5207df7ab4d7b"/>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Improving: Implementation days (46→39, target 35)</a:t>
            </a:r>
            <a:endParaRPr lang="en-US" sz="1700" dirty="0"/>
          </a:p>
        </p:txBody>
      </p:sp>
      <p:sp>
        <p:nvSpPr>
          <p:cNvPr id="8" name="element_54de9a04e36aa894b393416fdbf005cc"/>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Off track: Pipeline ($7.4M vs $10M) and win rate (21% vs 28%)</a:t>
            </a:r>
            <a:endParaRPr lang="en-US" sz="1700" dirty="0"/>
          </a:p>
        </p:txBody>
      </p:sp>
      <p:graphicFrame>
        <p:nvGraphicFramePr>
          <p:cNvPr id="9" name="element_99f44cefdc36782335aabff1a17432ab" descr=""/>
          <p:cNvGraphicFramePr/>
          <p:nvPr/>
        </p:nvGraphicFramePr>
        <p:xfrm>
          <a:off x="4876678" y="2754173"/>
          <a:ext cx="6583515" cy="3407054"/>
        </p:xfrm>
        <a:graphic xmlns:a="http://schemas.openxmlformats.org/drawingml/2006/main">
          <a:graphicData uri="http://schemas.openxmlformats.org/drawingml/2006/chart">
            <c:chart xmlns:c="http://schemas.openxmlformats.org/drawingml/2006/chart" r:id="rId1"/>
          </a:graphicData>
        </a:graphic>
      </p:graphicFrame>
      <p:sp>
        <p:nvSpPr>
          <p:cNvPr id="10" name="element_80588fc123bc2c67d226325a136e102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4708d4ccd544c3f7c814dd8ab881d7c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8150c742d7af7b0a232ae2011e11bcf8"/>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950c787607ea9a57dfd12a1adeac50a7"/>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907d0f6baf71988dcd765aa5bcce4ac7"/>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Pipeline and Win Rate Compound the Gap</a:t>
            </a:r>
            <a:endParaRPr lang="en-US" sz="3800" dirty="0"/>
          </a:p>
        </p:txBody>
      </p:sp>
      <p:sp>
        <p:nvSpPr>
          <p:cNvPr id="5" name="element_64e4b90d335636c5c25222c704c92007"/>
          <p:cNvSpPr txBox="1"/>
          <p:nvPr/>
        </p:nvSpPr>
        <p:spPr>
          <a:xfrm>
            <a:off x="7680768"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19% pipeline decline and 3-point win-rate drop create a $2.6M Q3 revenue risk. Current trajectory yields $1.55M in Q3 bookings versus the $4.2M required.</a:t>
            </a:r>
            <a:endParaRPr lang="en-US" sz="1900" dirty="0"/>
          </a:p>
        </p:txBody>
      </p:sp>
      <p:sp>
        <p:nvSpPr>
          <p:cNvPr id="6" name="element_c316e9455cfccc2aa2cc2921aff3e49e"/>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trend: $9.1M → $7.4M (-19% QoQ)</a:t>
            </a:r>
            <a:endParaRPr lang="en-US" sz="1700" dirty="0"/>
          </a:p>
        </p:txBody>
      </p:sp>
      <p:sp>
        <p:nvSpPr>
          <p:cNvPr id="7" name="element_cc3156f6dabf4d0d1d9c59c1a503f0c0"/>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 rate trend: 24% → 21% (-3 points)</a:t>
            </a:r>
            <a:endParaRPr lang="en-US" sz="1700" dirty="0"/>
          </a:p>
        </p:txBody>
      </p:sp>
      <p:sp>
        <p:nvSpPr>
          <p:cNvPr id="8" name="element_19d8fe29c955e4833120d8091c1cb09f"/>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Compound effect: 37% reduction in expected bookings</a:t>
            </a:r>
            <a:endParaRPr lang="en-US" sz="1700" dirty="0"/>
          </a:p>
        </p:txBody>
      </p:sp>
      <p:graphicFrame>
        <p:nvGraphicFramePr>
          <p:cNvPr id="9" name="element_99cf4ec3982d4ddd70b899a4ba77dab1" descr=""/>
          <p:cNvGraphicFramePr/>
          <p:nvPr/>
        </p:nvGraphicFramePr>
        <p:xfrm>
          <a:off x="975336"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7cfe25658784fb2b4d69f27a53bb9695"/>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72b66ce893c16b2c2e529163de95c37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05f2c83a95c1009062c7b4312ab31eb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0b62e3df3c4bb78250f1fdf2da7ef7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b47eb56060a9501a81ffad8857fdcf0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Pipeline Coverage is the Critical Threat</a:t>
            </a:r>
            <a:endParaRPr lang="en-US" sz="3800" dirty="0"/>
          </a:p>
        </p:txBody>
      </p:sp>
      <p:sp>
        <p:nvSpPr>
          <p:cNvPr id="5" name="element_aafdb82d8aeb31e77a176be260391210"/>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Three risks ranked by likelihood × impact. Pipeline coverage scores 20 (4×5), requiring immediate intervention.</a:t>
            </a:r>
            <a:endParaRPr lang="en-US" sz="1900" dirty="0"/>
          </a:p>
        </p:txBody>
      </p:sp>
      <p:sp>
        <p:nvSpPr>
          <p:cNvPr id="6" name="element_b47f10cae4359806e14c5001ba7cafc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coverage: Likelihood 4, Impact 5, Score 20</a:t>
            </a:r>
            <a:endParaRPr lang="en-US" sz="1700" dirty="0"/>
          </a:p>
        </p:txBody>
      </p:sp>
      <p:sp>
        <p:nvSpPr>
          <p:cNvPr id="7" name="element_ef72c37e10913794bf28bb2bcf80663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Implementation capacity: Likelihood 3, Impact 4, Score 12</a:t>
            </a:r>
            <a:endParaRPr lang="en-US" sz="1700" dirty="0"/>
          </a:p>
        </p:txBody>
      </p:sp>
      <p:sp>
        <p:nvSpPr>
          <p:cNvPr id="8" name="element_765de8b62aab7a1747e57b026153e73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Retention concentration: Likelihood 2, Impact 5, Score 10</a:t>
            </a:r>
            <a:endParaRPr lang="en-US" sz="1700" dirty="0"/>
          </a:p>
        </p:txBody>
      </p:sp>
      <p:sp>
        <p:nvSpPr>
          <p:cNvPr id="9" name="element_df234e60fa2aecfcd1fa699041e6b5ef"/>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Risk Score = Likelihood × Impact</a:t>
            </a:r>
            <a:endParaRPr lang="en-US" sz="3000" dirty="0"/>
          </a:p>
        </p:txBody>
      </p:sp>
      <p:sp>
        <p:nvSpPr>
          <p:cNvPr id="10" name="element_c9f00608e574af3b29268b8c6c0f0d7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054e9151693823a48f9f26de1ee57a9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46b87a8ed2de12cc7ff67cfb8c471ae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4e61f047b8236d99b09df69821e6756"/>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eb99d874268a8f862badccee575459a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Three Options, Two Slots</a:t>
            </a:r>
            <a:endParaRPr lang="en-US" sz="3800" dirty="0"/>
          </a:p>
        </p:txBody>
      </p:sp>
      <p:sp>
        <p:nvSpPr>
          <p:cNvPr id="5" name="element_f8c0647df7f153574639972b5b235371"/>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Each intervention targets a specific bottleneck. Resource requirements and expected impacts are estimated from Q2 baseline data.</a:t>
            </a:r>
            <a:endParaRPr lang="en-US" sz="1700" dirty="0"/>
          </a:p>
        </p:txBody>
      </p:sp>
      <p:sp>
        <p:nvSpPr>
          <p:cNvPr id="6" name="element_d51a22764b09248a476665fb08be138c"/>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Acceleration: +$2.8M pipeline, 2 SDRs, $180K</a:t>
            </a:r>
            <a:endParaRPr lang="en-US" sz="1700" dirty="0"/>
          </a:p>
        </p:txBody>
      </p:sp>
      <p:sp>
        <p:nvSpPr>
          <p:cNvPr id="7" name="element_81e3a77897fd1def102b3472fc8c69f3"/>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Win-Rate Recovery: +4 points win rate, enablement program, $95K</a:t>
            </a:r>
            <a:endParaRPr lang="en-US" sz="1700" dirty="0"/>
          </a:p>
        </p:txBody>
      </p:sp>
      <p:sp>
        <p:nvSpPr>
          <p:cNvPr id="8" name="element_91132a29d296cc52ac0b134cfd9f95a4"/>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Implementation Surge: -5 days delivery time, 2 contractors, $120K</a:t>
            </a:r>
            <a:endParaRPr lang="en-US" sz="1700" dirty="0"/>
          </a:p>
        </p:txBody>
      </p:sp>
      <p:sp>
        <p:nvSpPr>
          <p:cNvPr id="9" name="element_e659278bd20d96cfdf3e68e005256bab"/>
          <p:cNvSpPr/>
          <p:nvPr/>
        </p:nvSpPr>
        <p:spPr>
          <a:xfrm>
            <a:off x="7019978" y="3775329"/>
            <a:ext cx="243834" cy="164592"/>
          </a:xfrm>
          <a:prstGeom prst="line">
            <a:avLst/>
          </a:prstGeom>
          <a:noFill/>
          <a:ln w="25400">
            <a:solidFill>
              <a:srgbClr val="7566A8"/>
            </a:solidFill>
            <a:prstDash val="solid"/>
            <a:tailEnd type="triangle"/>
          </a:ln>
        </p:spPr>
      </p:sp>
      <p:sp>
        <p:nvSpPr>
          <p:cNvPr id="10" name="element_f05714e4278106c681e38d59b009df90"/>
          <p:cNvSpPr/>
          <p:nvPr/>
        </p:nvSpPr>
        <p:spPr>
          <a:xfrm>
            <a:off x="7062649" y="3775329"/>
            <a:ext cx="2332271" cy="164592"/>
          </a:xfrm>
          <a:prstGeom prst="line">
            <a:avLst/>
          </a:prstGeom>
          <a:noFill/>
          <a:ln w="25400">
            <a:solidFill>
              <a:srgbClr val="7566A8"/>
            </a:solidFill>
            <a:prstDash val="solid"/>
            <a:tailEnd type="triangle"/>
          </a:ln>
        </p:spPr>
      </p:sp>
      <p:sp>
        <p:nvSpPr>
          <p:cNvPr id="11" name="element_b77af4f4c331395247389d6c12c916be"/>
          <p:cNvSpPr/>
          <p:nvPr/>
        </p:nvSpPr>
        <p:spPr>
          <a:xfrm>
            <a:off x="6910253" y="4375404"/>
            <a:ext cx="463284" cy="164592"/>
          </a:xfrm>
          <a:prstGeom prst="line">
            <a:avLst/>
          </a:prstGeom>
          <a:noFill/>
          <a:ln w="25400">
            <a:solidFill>
              <a:srgbClr val="7566A8"/>
            </a:solidFill>
            <a:prstDash val="solid"/>
            <a:tailEnd type="triangle"/>
          </a:ln>
        </p:spPr>
      </p:sp>
      <p:sp>
        <p:nvSpPr>
          <p:cNvPr id="12" name="element_510f914670be3954e65d014ee3b660c3"/>
          <p:cNvSpPr/>
          <p:nvPr/>
        </p:nvSpPr>
        <p:spPr>
          <a:xfrm>
            <a:off x="6922445" y="4375404"/>
            <a:ext cx="2615119" cy="164592"/>
          </a:xfrm>
          <a:prstGeom prst="line">
            <a:avLst/>
          </a:prstGeom>
          <a:noFill/>
          <a:ln w="25400">
            <a:solidFill>
              <a:srgbClr val="7566A8"/>
            </a:solidFill>
            <a:prstDash val="solid"/>
            <a:tailEnd type="triangle"/>
          </a:ln>
        </p:spPr>
      </p:sp>
      <p:sp>
        <p:nvSpPr>
          <p:cNvPr id="13" name="element_f2c526c63819ef4e70744e5b80998d87"/>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f2c526c63819ef4e70744e5b80998d87: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Q2 Baseline</a:t>
            </a:r>
            <a:endParaRPr lang="en-US" sz="1600" dirty="0"/>
          </a:p>
        </p:txBody>
      </p:sp>
      <p:sp>
        <p:nvSpPr>
          <p:cNvPr id="15" name="element_211b1d350f82125095d856fcaf140b3b"/>
          <p:cNvSpPr/>
          <p:nvPr/>
        </p:nvSpPr>
        <p:spPr>
          <a:xfrm>
            <a:off x="7219532" y="3339160"/>
            <a:ext cx="2018506" cy="1036930"/>
          </a:xfrm>
          <a:prstGeom prst="roundRect">
            <a:avLst/>
          </a:prstGeom>
          <a:solidFill>
            <a:srgbClr val="F2DED3"/>
          </a:solidFill>
          <a:ln w="12700">
            <a:solidFill>
              <a:srgbClr val="DED7CC"/>
            </a:solidFill>
            <a:prstDash val="solid"/>
          </a:ln>
        </p:spPr>
      </p:sp>
      <p:sp>
        <p:nvSpPr>
          <p:cNvPr id="16" name="element_211b1d350f82125095d856fcaf140b3b: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Pipeline Acceleration</a:t>
            </a:r>
            <a:endParaRPr lang="en-US" sz="1600" dirty="0"/>
          </a:p>
        </p:txBody>
      </p:sp>
      <p:sp>
        <p:nvSpPr>
          <p:cNvPr id="17" name="element_8afc75a881f2b059b6f22f171f93bb37"/>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8afc75a881f2b059b6f22f171f93bb37: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Win-Rate Recovery</a:t>
            </a:r>
            <a:endParaRPr lang="en-US" sz="1600" dirty="0"/>
          </a:p>
        </p:txBody>
      </p:sp>
      <p:sp>
        <p:nvSpPr>
          <p:cNvPr id="19" name="element_591f19f27d882dfeec00968b55bdf8d2"/>
          <p:cNvSpPr/>
          <p:nvPr/>
        </p:nvSpPr>
        <p:spPr>
          <a:xfrm>
            <a:off x="5045753" y="4539310"/>
            <a:ext cx="2018506" cy="1036930"/>
          </a:xfrm>
          <a:prstGeom prst="roundRect">
            <a:avLst/>
          </a:prstGeom>
          <a:solidFill>
            <a:srgbClr val="E5E9D6"/>
          </a:solidFill>
          <a:ln w="12700">
            <a:solidFill>
              <a:srgbClr val="DED7CC"/>
            </a:solidFill>
            <a:prstDash val="solid"/>
          </a:ln>
        </p:spPr>
      </p:sp>
      <p:sp>
        <p:nvSpPr>
          <p:cNvPr id="20" name="element_591f19f27d882dfeec00968b55bdf8d2: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Q3 Target</a:t>
            </a:r>
            <a:endParaRPr lang="en-US" sz="1600" dirty="0"/>
          </a:p>
        </p:txBody>
      </p:sp>
      <p:sp>
        <p:nvSpPr>
          <p:cNvPr id="21" name="element_de7a3bd36562f2eaa0107f104f98b319"/>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b3267e976767720c804995d6434f954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359bde3b1fc1dc98264515bfd3c3137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3031ec0845bf397791dc5da88b2d04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ab25375c0e173415939b6e7cc1acca0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Select Pipeline + Win Rate for Maximum Impact</a:t>
            </a:r>
            <a:endParaRPr lang="en-US" sz="3800" dirty="0"/>
          </a:p>
        </p:txBody>
      </p:sp>
      <p:sp>
        <p:nvSpPr>
          <p:cNvPr id="5" name="element_38b96cc50dc4de9a4b3a24a74776a08b"/>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Recommended: Pipeline Acceleration and Win-Rate Recovery. Combined impact addresses both volume and conversion, restoring $4.0M in Q3 bookings capacity.</a:t>
            </a:r>
            <a:endParaRPr lang="en-US" sz="1900" dirty="0"/>
          </a:p>
        </p:txBody>
      </p:sp>
      <p:sp>
        <p:nvSpPr>
          <p:cNvPr id="6" name="element_cc73f41396c241999cd0d106b296462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Acceleration: restores coverage to 3.5x</a:t>
            </a:r>
            <a:endParaRPr lang="en-US" sz="1700" dirty="0"/>
          </a:p>
        </p:txBody>
      </p:sp>
      <p:sp>
        <p:nvSpPr>
          <p:cNvPr id="7" name="element_35d8ce09e27664b2973bf2b0a9604500"/>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Win-Rate Recovery: lifts conversion to 26%</a:t>
            </a:r>
            <a:endParaRPr lang="en-US" sz="1700" dirty="0"/>
          </a:p>
        </p:txBody>
      </p:sp>
      <p:sp>
        <p:nvSpPr>
          <p:cNvPr id="8" name="element_7f8382e4432049de0e176f01780f6547"/>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Combined effect: $4.0M Q3 bookings vs $1.55M baseline</a:t>
            </a:r>
            <a:endParaRPr lang="en-US" sz="1700" dirty="0"/>
          </a:p>
        </p:txBody>
      </p:sp>
      <p:sp>
        <p:nvSpPr>
          <p:cNvPr id="9" name="element_80065d372b01c84d92e8f39caac1f927: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80065d372b01c84d92e8f39caac1f927: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Decision matrix comparing three intervention options across impact, cost, and time-to-value dimensions</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 replace with licensed decision matrix visual</a:t>
            </a:r>
            <a:endParaRPr lang="en-US" sz="1400" dirty="0"/>
          </a:p>
        </p:txBody>
      </p:sp>
      <p:sp>
        <p:nvSpPr>
          <p:cNvPr id="11" name="element_e90ef53a42574969adabd8789c861e6b"/>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Illustrative placeholder - replace with licensed decision matrix visual</a:t>
            </a:r>
            <a:endParaRPr lang="en-US" sz="1400" dirty="0"/>
          </a:p>
        </p:txBody>
      </p:sp>
      <p:sp>
        <p:nvSpPr>
          <p:cNvPr id="12" name="element_35c7b2eb83403bf6b917325614e0c2d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a9f3c42d0163dccf11a125b6b3819c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43b761541feb3f69ea7c476d7e1ca1e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96c761f06f0a13e0e7a59d24656680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b9787e03d1d843a84b80bc2a015ce96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Weekly Reviews, Monthly Gates</a:t>
            </a:r>
            <a:endParaRPr lang="en-US" sz="3800" dirty="0"/>
          </a:p>
        </p:txBody>
      </p:sp>
      <p:sp>
        <p:nvSpPr>
          <p:cNvPr id="5" name="element_df863029c65fed5bab01b4c81c8c3127"/>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Pipeline Acceleration owned by VP Sales (weekly pipeline reviews). Win-Rate Recovery owned by VP Sales Enablement (bi-weekly win/loss analysis). First checkpoint: August 15.</a:t>
            </a:r>
            <a:endParaRPr lang="en-US" sz="1900" dirty="0"/>
          </a:p>
        </p:txBody>
      </p:sp>
      <p:sp>
        <p:nvSpPr>
          <p:cNvPr id="6" name="element_ef96491344227d6b0f51acff4253a53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owner: VP Sales, weekly Friday reviews</a:t>
            </a:r>
            <a:endParaRPr lang="en-US" sz="1700" dirty="0"/>
          </a:p>
        </p:txBody>
      </p:sp>
      <p:sp>
        <p:nvSpPr>
          <p:cNvPr id="7" name="element_3ca6443cc5567c86df4c7f8940ccdb9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Win-rate owner: VP Enablement, bi-weekly Tuesdays</a:t>
            </a:r>
            <a:endParaRPr lang="en-US" sz="1700" dirty="0"/>
          </a:p>
        </p:txBody>
      </p:sp>
      <p:sp>
        <p:nvSpPr>
          <p:cNvPr id="8" name="element_6999c4edf69b64797e7e1782713dd28c"/>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Executive checkpoint: August 15, full Q3 forecast review</a:t>
            </a:r>
            <a:endParaRPr lang="en-US" sz="1700" dirty="0"/>
          </a:p>
        </p:txBody>
      </p:sp>
      <p:sp>
        <p:nvSpPr>
          <p:cNvPr id="9" name="element_81d024c332607b77969ce403dd38da99"/>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Aug 15</a:t>
            </a:r>
            <a:endParaRPr lang="en-US" sz="5600" dirty="0"/>
          </a:p>
        </p:txBody>
      </p:sp>
      <p:sp>
        <p:nvSpPr>
          <p:cNvPr id="10" name="element_cca4c214d962359308617077483b9740"/>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First Executive Checkpoint</a:t>
            </a:r>
            <a:endParaRPr lang="en-US" sz="1500" dirty="0"/>
          </a:p>
        </p:txBody>
      </p:sp>
      <p:sp>
        <p:nvSpPr>
          <p:cNvPr id="11" name="element_9300283dc5d2e2d2a47b4f312dc68f7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2c1065f08a6e61a7ebc7ba59553fd30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2026-07-21T23:55:38Z</dcterms:created>
  <dcterms:modified xsi:type="dcterms:W3CDTF">2026-07-21T23:55:38Z</dcterms:modified>
</cp:coreProperties>
</file>