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Booking</c:v>
                  </c:pt>
                  <c:pt idx="1">
                    <c:v>Carrier Accept.</c:v>
                  </c:pt>
                  <c:pt idx="2">
                    <c:v>Port Arrival</c:v>
                  </c:pt>
                  <c:pt idx="3">
                    <c:v>Inspection Hold</c:v>
                  </c:pt>
                  <c:pt idx="4">
                    <c:v>Release</c:v>
                  </c:pt>
                  <c:pt idx="5">
                    <c:v>Delivery</c:v>
                  </c:pt>
                </c:lvl>
              </c:multiLvlStrCache>
            </c:multiLvlStrRef>
          </c:cat>
          <c:val>
            <c:numRef>
              <c:f>Sheet1!$B$2:$B$7</c:f>
              <c:numCache>
                <c:formatCode>General</c:formatCode>
                <c:ptCount val="6"/>
                <c:pt idx="0">
                  <c:v>8</c:v>
                </c:pt>
                <c:pt idx="1">
                  <c:v>12</c:v>
                </c:pt>
                <c:pt idx="2">
                  <c:v>18</c:v>
                </c:pt>
                <c:pt idx="3">
                  <c:v>61</c:v>
                </c:pt>
                <c:pt idx="4">
                  <c:v>39</c:v>
                </c:pt>
                <c:pt idx="5">
                  <c:v>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“One Shipment, Six Signals”
Evidence note: Content is based on the supplied creation brief. Illustrative examples are not independently verified; replace them with measured evidence before external publication.
NodeSlide sources
[source_5bb816844bb308a7253ee88ce3778b4c] Create a seven-slide scrollytelling-style deck for supply-chain leade… — creation brief
Citation: Create a seven-slide scrollytelling-style deck for supply-chain leaders following one shipment from booking through delivery. Each slide should advance the same journey, reveal one new risk signal, and preserve a coherent static PowerPoint fallback. Use the supplied event sequence exactly. Include an editable progression timeline, cumulative risk chart, handoff diagram, exception evidence, and final intervention decision. Do not fabricate a live interaction or animation in the PPTX. Design direction: Use an evidence-led editorial direction: restrained surface treatment, decisive hierarchy, visible provenance, and an inspectable visual argument on every proof slide. Avoid card grids and decorative dashboards.
Disclaimer: Internal working material
[source_9197ed8676964a7371bae7d27bad6d83] shipment-events.json
Citation: Uploaded file: shipment-events.json
[{"hour":0,"event":"booking","risk":8},{"hour":7,"event":"carrier_acceptance","risk":12},{"hour":19,"event":"port_arrival","risk":18},{"hour":31,"event":"inspection_hold","risk":61},{"hour":44,"event":"release","risk":39},{"hour":73,"event":"delivery","risk":11}]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“Six Milestones, One Continuous Path”
Evidence note: Content is based on the supplied creation brief. Illustrative examples are not independently verified; replace them with measured evidence before external publication.
NodeSlide sources
[source_5bb816844bb308a7253ee88ce3778b4c] Create a seven-slide scrollytelling-style deck for supply-chain leade… — creation brief
Citation: Create a seven-slide scrollytelling-style deck for supply-chain leaders following one shipment from booking through delivery. Each slide should advance the same journey, reveal one new risk signal, and preserve a coherent static PowerPoint fallback. Use the supplied event sequence exactly. Include an editable progression timeline, cumulative risk chart, handoff diagram, exception evidence, and final intervention decision. Do not fabricate a live interaction or animation in the PPTX. Design direction: Use an evidence-led editorial direction: restrained surface treatment, decisive hierarchy, visible provenance, and an inspectable visual argument on every proof slide. Avoid card grids and decorative dashboards.
Disclaimer: Internal working material
[source_9197ed8676964a7371bae7d27bad6d83] shipment-events.json
Citation: Uploaded file: shipment-events.json
[{"hour":0,"event":"booking","risk":8},{"hour":7,"event":"carrier_acceptance","risk":12},{"hour":19,"event":"port_arrival","risk":18},{"hour":31,"event":"inspection_hold","risk":61},{"hour":44,"event":"release","risk":39},{"hour":73,"event":"delivery","risk":11}]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“Risk Triples at the Inspection Hold”
Evidence note: Content is based on the supplied creation brief. Illustrative examples are not independently verified; replace them with measured evidence before external publication.
NodeSlide sources
[source_5bb816844bb308a7253ee88ce3778b4c] Create a seven-slide scrollytelling-style deck for supply-chain leade… — creation brief
Citation: Create a seven-slide scrollytelling-style deck for supply-chain leaders following one shipment from booking through delivery. Each slide should advance the same journey, reveal one new risk signal, and preserve a coherent static PowerPoint fallback. Use the supplied event sequence exactly. Include an editable progression timeline, cumulative risk chart, handoff diagram, exception evidence, and final intervention decision. Do not fabricate a live interaction or animation in the PPTX. Design direction: Use an evidence-led editorial direction: restrained surface treatment, decisive hierarchy, visible provenance, and an inspectable visual argument on every proof slide. Avoid card grids and decorative dashboards.
Disclaimer: Internal working material
[source_9197ed8676964a7371bae7d27bad6d83] shipment-events.json
Citation: Uploaded file: shipment-events.json
[{"hour":0,"event":"booking","risk":8},{"hour":7,"event":"carrier_acceptance","risk":12},{"hour":19,"event":"port_arrival","risk":18},{"hour":31,"event":"inspection_hold","risk":61},{"hour":44,"event":"release","risk":39},{"hour":73,"event":"delivery","risk":11}]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“Five Parties, Four Handoffs”
Evidence note: Content is based on the supplied creation brief. Illustrative examples are not independently verified; replace them with measured evidence before external publication.
NodeSlide sources
[source_5bb816844bb308a7253ee88ce3778b4c] Create a seven-slide scrollytelling-style deck for supply-chain leade… — creation brief
Citation: Create a seven-slide scrollytelling-style deck for supply-chain leaders following one shipment from booking through delivery. Each slide should advance the same journey, reveal one new risk signal, and preserve a coherent static PowerPoint fallback. Use the supplied event sequence exactly. Include an editable progression timeline, cumulative risk chart, handoff diagram, exception evidence, and final intervention decision. Do not fabricate a live interaction or animation in the PPTX. Design direction: Use an evidence-led editorial direction: restrained surface treatment, decisive hierarchy, visible provenance, and an inspectable visual argument on every proof slide. Avoid card grids and decorative dashboards.
Disclaimer: Internal working material
[source_9197ed8676964a7371bae7d27bad6d83] shipment-events.json
Citation: Uploaded file: shipment-events.json
[{"hour":0,"event":"booking","risk":8},{"hour":7,"event":"carrier_acceptance","risk":12},{"hour":19,"event":"port_arrival","risk":18},{"hour":31,"event":"inspection_hold","risk":61},{"hour":44,"event":"release","risk":39},{"hour":73,"event":"delivery","risk":11}]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“The Inspection Hold, Illustrated”
Evidence note: Content is based on the supplied creation brief. Illustrative examples are not independently verified; replace them with measured evidence before external publication.
NodeSlide sources
[source_5bb816844bb308a7253ee88ce3778b4c] Create a seven-slide scrollytelling-style deck for supply-chain leade… — creation brief
Citation: Create a seven-slide scrollytelling-style deck for supply-chain leaders following one shipment from booking through delivery. Each slide should advance the same journey, reveal one new risk signal, and preserve a coherent static PowerPoint fallback. Use the supplied event sequence exactly. Include an editable progression timeline, cumulative risk chart, handoff diagram, exception evidence, and final intervention decision. Do not fabricate a live interaction or animation in the PPTX. Design direction: Use an evidence-led editorial direction: restrained surface treatment, decisive hierarchy, visible provenance, and an inspectable visual argument on every proof slide. Avoid card grids and decorative dashboards.
Disclaimer: Internal working material
[source_9197ed8676964a7371bae7d27bad6d83] shipment-events.json
Citation: Uploaded file: shipment-events.json
[{"hour":0,"event":"booking","risk":8},{"hour":7,"event":"carrier_acceptance","risk":12},{"hour":19,"event":"port_arrival","risk":18},{"hour":31,"event":"inspection_hold","risk":61},{"hour":44,"event":"release","risk":39},{"hour":73,"event":"delivery","risk":11}]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“Risk Escalated 663% at the Hold”
Evidence note: Content is based on the supplied creation brief. Illustrative examples are not independently verified; replace them with measured evidence before external publication.
NodeSlide sources
[source_5bb816844bb308a7253ee88ce3778b4c] Create a seven-slide scrollytelling-style deck for supply-chain leade… — creation brief
Citation: Create a seven-slide scrollytelling-style deck for supply-chain leaders following one shipment from booking through delivery. Each slide should advance the same journey, reveal one new risk signal, and preserve a coherent static PowerPoint fallback. Use the supplied event sequence exactly. Include an editable progression timeline, cumulative risk chart, handoff diagram, exception evidence, and final intervention decision. Do not fabricate a live interaction or animation in the PPTX. Design direction: Use an evidence-led editorial direction: restrained surface treatment, decisive hierarchy, visible provenance, and an inspectable visual argument on every proof slide. Avoid card grids and decorative dashboards.
Disclaimer: Internal working material
[source_9197ed8676964a7371bae7d27bad6d83] shipment-events.json
Citation: Uploaded file: shipment-events.json
[{"hour":0,"event":"booking","risk":8},{"hour":7,"event":"carrier_acceptance","risk":12},{"hour":19,"event":"port_arrival","risk":18},{"hour":31,"event":"inspection_hold","risk":61},{"hour":44,"event":"release","risk":39},{"hour":73,"event":"delivery","risk":11}]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“Trigger Review at Risk Score 40”
Evidence note: Content is based on the supplied creation brief. Illustrative examples are not independently verified; replace them with measured evidence before external publication.
NodeSlide sources
[source_5bb816844bb308a7253ee88ce3778b4c] Create a seven-slide scrollytelling-style deck for supply-chain leade… — creation brief
Citation: Create a seven-slide scrollytelling-style deck for supply-chain leaders following one shipment from booking through delivery. Each slide should advance the same journey, reveal one new risk signal, and preserve a coherent static PowerPoint fallback. Use the supplied event sequence exactly. Include an editable progression timeline, cumulative risk chart, handoff diagram, exception evidence, and final intervention decision. Do not fabricate a live interaction or animation in the PPTX. Design direction: Use an evidence-led editorial direction: restrained surface treatment, decisive hierarchy, visible provenance, and an inspectable visual argument on every proof slide. Avoid card grids and decorative dashboards.
Disclaimer: Internal working material
[source_9197ed8676964a7371bae7d27bad6d83] shipment-events.json
Citation: Uploaded file: shipment-events.json
[{"hour":0,"event":"booking","risk":8},{"hour":7,"event":"carrier_acceptance","risk":12},{"hour":19,"event":"port_arrival","risk":18},{"hour":31,"event":"inspection_hold","risk":61},{"hour":44,"event":"release","risk":39},{"hour":73,"event":"delivery","risk":11}]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5f8a97daec9351252fb0dc30d5d52571"/>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3c960835f057761c880a64f1629017a"/>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0cfefaddc83dbe015f6dba6d65f084f8"/>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One Shipment, Six Signals</a:t>
            </a:r>
            <a:endParaRPr lang="en-US" sz="4800" dirty="0"/>
          </a:p>
        </p:txBody>
      </p:sp>
      <p:sp>
        <p:nvSpPr>
          <p:cNvPr id="5" name="element_df9f8affa3a3a4451087458b206148e8"/>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Every booking carries a risk trajectory. This deck follows a single shipment through six recorded events — from booking to delivery — surfacing exactly one new risk signal at each stage so leaders can see where intervention would have mattered most.</a:t>
            </a:r>
            <a:endParaRPr lang="en-US" sz="1900" dirty="0"/>
          </a:p>
        </p:txBody>
      </p:sp>
      <p:sp>
        <p:nvSpPr>
          <p:cNvPr id="6" name="element_4440d49b7ae1c3acf954f575de2c613b"/>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Six events, one continuous shipment, no fabricated animation</a:t>
            </a:r>
            <a:endParaRPr lang="en-US" sz="1600" dirty="0"/>
          </a:p>
        </p:txBody>
      </p:sp>
      <p:sp>
        <p:nvSpPr>
          <p:cNvPr id="7" name="element_c703e6402871a038c2fa651a3a4cf9bf"/>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Each slide adds one verified risk signal from the source data</a:t>
            </a:r>
            <a:endParaRPr lang="en-US" sz="1600" dirty="0"/>
          </a:p>
        </p:txBody>
      </p:sp>
      <p:sp>
        <p:nvSpPr>
          <p:cNvPr id="8" name="element_c83f9fa40f8c46a501bf3fecc045d1de"/>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Ends in a concrete intervention decision with an owner</a:t>
            </a:r>
            <a:endParaRPr lang="en-US" sz="1600" dirty="0"/>
          </a:p>
        </p:txBody>
      </p:sp>
      <p:sp>
        <p:nvSpPr>
          <p:cNvPr id="9" name="element_f193a8e595f773ea85beab66fa1ad49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18ffef6cbf85bf0dd458f03ecfc87fb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8665b75413a7436dfdc885623b6ef2b0"/>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d6df848dcfb701c92460f3b6f17b79f7"/>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f23b7010bb7b88af4d39dc640978f54d"/>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Six Milestones, One Continuous Path</a:t>
            </a:r>
            <a:endParaRPr lang="en-US" sz="3800" dirty="0"/>
          </a:p>
        </p:txBody>
      </p:sp>
      <p:sp>
        <p:nvSpPr>
          <p:cNvPr id="5" name="element_3af58813e4fe67b3104f611b37b0ee88"/>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The shipment moves through six recorded milestones over 73 hours. This editable timeline preserves the exact event sequence supplied in the source data, giving reviewers a static but fully inspectable map of the journey.</a:t>
            </a:r>
            <a:endParaRPr lang="en-US" sz="1700" dirty="0"/>
          </a:p>
        </p:txBody>
      </p:sp>
      <p:sp>
        <p:nvSpPr>
          <p:cNvPr id="6" name="element_6945139701276271047d7bee5fad8ba1"/>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Booking at hour 0, delivery at hour 73</a:t>
            </a:r>
            <a:endParaRPr lang="en-US" sz="1700" dirty="0"/>
          </a:p>
        </p:txBody>
      </p:sp>
      <p:sp>
        <p:nvSpPr>
          <p:cNvPr id="7" name="element_331df76be41c258f90262d178a5291f0"/>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Inspection hold sits at hour 31 — the longest dwell before release</a:t>
            </a:r>
            <a:endParaRPr lang="en-US" sz="1700" dirty="0"/>
          </a:p>
        </p:txBody>
      </p:sp>
      <p:sp>
        <p:nvSpPr>
          <p:cNvPr id="8" name="element_37aaee6ef562ea09c36f54c4c335504c"/>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Sequence taken directly from shipment-events.json</a:t>
            </a:r>
            <a:endParaRPr lang="en-US" sz="1700" dirty="0"/>
          </a:p>
        </p:txBody>
      </p:sp>
      <p:sp>
        <p:nvSpPr>
          <p:cNvPr id="9" name="element_eb9417367decec5fef73c00a0e20e653"/>
          <p:cNvSpPr/>
          <p:nvPr/>
        </p:nvSpPr>
        <p:spPr>
          <a:xfrm>
            <a:off x="6477448" y="3775329"/>
            <a:ext cx="243834" cy="164592"/>
          </a:xfrm>
          <a:prstGeom prst="line">
            <a:avLst/>
          </a:prstGeom>
          <a:noFill/>
          <a:ln w="25400">
            <a:solidFill>
              <a:srgbClr val="7566A8"/>
            </a:solidFill>
            <a:prstDash val="solid"/>
            <a:tailEnd type="triangle"/>
          </a:ln>
        </p:spPr>
      </p:sp>
      <p:sp>
        <p:nvSpPr>
          <p:cNvPr id="10" name="element_b18d6d1a2df621b0684fd0b48d1c6a2c"/>
          <p:cNvSpPr/>
          <p:nvPr/>
        </p:nvSpPr>
        <p:spPr>
          <a:xfrm>
            <a:off x="8107477" y="3775329"/>
            <a:ext cx="243834" cy="164592"/>
          </a:xfrm>
          <a:prstGeom prst="line">
            <a:avLst/>
          </a:prstGeom>
          <a:noFill/>
          <a:ln w="25400">
            <a:solidFill>
              <a:srgbClr val="7566A8"/>
            </a:solidFill>
            <a:prstDash val="solid"/>
            <a:tailEnd type="triangle"/>
          </a:ln>
        </p:spPr>
      </p:sp>
      <p:sp>
        <p:nvSpPr>
          <p:cNvPr id="11" name="element_30b98459c10af1bd669ffd49f20a2ec6"/>
          <p:cNvSpPr/>
          <p:nvPr/>
        </p:nvSpPr>
        <p:spPr>
          <a:xfrm>
            <a:off x="9738726" y="3775329"/>
            <a:ext cx="243834" cy="164592"/>
          </a:xfrm>
          <a:prstGeom prst="line">
            <a:avLst/>
          </a:prstGeom>
          <a:noFill/>
          <a:ln w="25400">
            <a:solidFill>
              <a:srgbClr val="7566A8"/>
            </a:solidFill>
            <a:prstDash val="solid"/>
            <a:tailEnd type="triangle"/>
          </a:ln>
        </p:spPr>
      </p:sp>
      <p:sp>
        <p:nvSpPr>
          <p:cNvPr id="12" name="element_25f0847d42062cb98691676429cb1ea7"/>
          <p:cNvSpPr/>
          <p:nvPr/>
        </p:nvSpPr>
        <p:spPr>
          <a:xfrm>
            <a:off x="6356750" y="4375404"/>
            <a:ext cx="3744070" cy="164592"/>
          </a:xfrm>
          <a:prstGeom prst="line">
            <a:avLst/>
          </a:prstGeom>
          <a:noFill/>
          <a:ln w="25400">
            <a:solidFill>
              <a:srgbClr val="7566A8"/>
            </a:solidFill>
            <a:prstDash val="solid"/>
            <a:tailEnd type="triangle"/>
          </a:ln>
        </p:spPr>
      </p:sp>
      <p:sp>
        <p:nvSpPr>
          <p:cNvPr id="13" name="element_58923fea5d4794c662c306aa9a8ea09f"/>
          <p:cNvSpPr/>
          <p:nvPr/>
        </p:nvSpPr>
        <p:spPr>
          <a:xfrm>
            <a:off x="6477448" y="4975479"/>
            <a:ext cx="243834" cy="164592"/>
          </a:xfrm>
          <a:prstGeom prst="line">
            <a:avLst/>
          </a:prstGeom>
          <a:noFill/>
          <a:ln w="25400">
            <a:solidFill>
              <a:srgbClr val="7566A8"/>
            </a:solidFill>
            <a:prstDash val="solid"/>
            <a:tailEnd type="triangle"/>
          </a:ln>
        </p:spPr>
      </p:sp>
      <p:sp>
        <p:nvSpPr>
          <p:cNvPr id="14" name="element_68778d27299a1450bdee01fc7bf82c62"/>
          <p:cNvSpPr/>
          <p:nvPr/>
        </p:nvSpPr>
        <p:spPr>
          <a:xfrm>
            <a:off x="5067454" y="3339160"/>
            <a:ext cx="1432573" cy="1036930"/>
          </a:xfrm>
          <a:prstGeom prst="roundRect">
            <a:avLst/>
          </a:prstGeom>
          <a:solidFill>
            <a:srgbClr val="E5E9D6"/>
          </a:solidFill>
          <a:ln w="12700">
            <a:solidFill>
              <a:srgbClr val="DED7CC"/>
            </a:solidFill>
            <a:prstDash val="solid"/>
          </a:ln>
        </p:spPr>
      </p:sp>
      <p:sp>
        <p:nvSpPr>
          <p:cNvPr id="15" name="element_68778d27299a1450bdee01fc7bf82c62:text"/>
          <p:cNvSpPr txBox="1"/>
          <p:nvPr/>
        </p:nvSpPr>
        <p:spPr>
          <a:xfrm>
            <a:off x="5067454"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Booking (h0)</a:t>
            </a:r>
            <a:endParaRPr lang="en-US" sz="1600" dirty="0"/>
          </a:p>
        </p:txBody>
      </p:sp>
      <p:sp>
        <p:nvSpPr>
          <p:cNvPr id="16" name="element_d00037428cf19cf067a9007ded0a7bde"/>
          <p:cNvSpPr/>
          <p:nvPr/>
        </p:nvSpPr>
        <p:spPr>
          <a:xfrm>
            <a:off x="6698703" y="3339160"/>
            <a:ext cx="1432573" cy="1036930"/>
          </a:xfrm>
          <a:prstGeom prst="roundRect">
            <a:avLst/>
          </a:prstGeom>
          <a:solidFill>
            <a:srgbClr val="E5E9D6"/>
          </a:solidFill>
          <a:ln w="12700">
            <a:solidFill>
              <a:srgbClr val="DED7CC"/>
            </a:solidFill>
            <a:prstDash val="solid"/>
          </a:ln>
        </p:spPr>
      </p:sp>
      <p:sp>
        <p:nvSpPr>
          <p:cNvPr id="17" name="element_d00037428cf19cf067a9007ded0a7bde:text"/>
          <p:cNvSpPr txBox="1"/>
          <p:nvPr/>
        </p:nvSpPr>
        <p:spPr>
          <a:xfrm>
            <a:off x="6698703"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Carrier Acceptance (h7)</a:t>
            </a:r>
            <a:endParaRPr lang="en-US" sz="1600" dirty="0"/>
          </a:p>
        </p:txBody>
      </p:sp>
      <p:sp>
        <p:nvSpPr>
          <p:cNvPr id="18" name="element_32ca82daea672bf50bfa32606fb08908"/>
          <p:cNvSpPr/>
          <p:nvPr/>
        </p:nvSpPr>
        <p:spPr>
          <a:xfrm>
            <a:off x="8328732" y="3339160"/>
            <a:ext cx="1432573" cy="1036930"/>
          </a:xfrm>
          <a:prstGeom prst="roundRect">
            <a:avLst/>
          </a:prstGeom>
          <a:solidFill>
            <a:srgbClr val="E5E9D6"/>
          </a:solidFill>
          <a:ln w="12700">
            <a:solidFill>
              <a:srgbClr val="DED7CC"/>
            </a:solidFill>
            <a:prstDash val="solid"/>
          </a:ln>
        </p:spPr>
      </p:sp>
      <p:sp>
        <p:nvSpPr>
          <p:cNvPr id="19" name="element_32ca82daea672bf50bfa32606fb08908:text"/>
          <p:cNvSpPr txBox="1"/>
          <p:nvPr/>
        </p:nvSpPr>
        <p:spPr>
          <a:xfrm>
            <a:off x="8328732"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Port Arrival (h19)</a:t>
            </a:r>
            <a:endParaRPr lang="en-US" sz="1600" dirty="0"/>
          </a:p>
        </p:txBody>
      </p:sp>
      <p:sp>
        <p:nvSpPr>
          <p:cNvPr id="20" name="element_415f0a6aed94ff1d6dcf073ccac9e51f"/>
          <p:cNvSpPr/>
          <p:nvPr/>
        </p:nvSpPr>
        <p:spPr>
          <a:xfrm>
            <a:off x="9959981" y="3339160"/>
            <a:ext cx="1432573" cy="1036930"/>
          </a:xfrm>
          <a:prstGeom prst="roundRect">
            <a:avLst/>
          </a:prstGeom>
          <a:solidFill>
            <a:srgbClr val="E5E9D6"/>
          </a:solidFill>
          <a:ln w="12700">
            <a:solidFill>
              <a:srgbClr val="DED7CC"/>
            </a:solidFill>
            <a:prstDash val="solid"/>
          </a:ln>
        </p:spPr>
      </p:sp>
      <p:sp>
        <p:nvSpPr>
          <p:cNvPr id="21" name="element_415f0a6aed94ff1d6dcf073ccac9e51f:text"/>
          <p:cNvSpPr txBox="1"/>
          <p:nvPr/>
        </p:nvSpPr>
        <p:spPr>
          <a:xfrm>
            <a:off x="9959981"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Inspection Hold (h31)</a:t>
            </a:r>
            <a:endParaRPr lang="en-US" sz="1600" dirty="0"/>
          </a:p>
        </p:txBody>
      </p:sp>
      <p:sp>
        <p:nvSpPr>
          <p:cNvPr id="22" name="element_6da3e99852221b2ed18c919b2b2aaebd"/>
          <p:cNvSpPr/>
          <p:nvPr/>
        </p:nvSpPr>
        <p:spPr>
          <a:xfrm>
            <a:off x="5067454" y="4539310"/>
            <a:ext cx="1432573" cy="1036930"/>
          </a:xfrm>
          <a:prstGeom prst="roundRect">
            <a:avLst/>
          </a:prstGeom>
          <a:solidFill>
            <a:srgbClr val="E5E9D6"/>
          </a:solidFill>
          <a:ln w="12700">
            <a:solidFill>
              <a:srgbClr val="DED7CC"/>
            </a:solidFill>
            <a:prstDash val="solid"/>
          </a:ln>
        </p:spPr>
      </p:sp>
      <p:sp>
        <p:nvSpPr>
          <p:cNvPr id="23" name="element_6da3e99852221b2ed18c919b2b2aaebd:text"/>
          <p:cNvSpPr txBox="1"/>
          <p:nvPr/>
        </p:nvSpPr>
        <p:spPr>
          <a:xfrm>
            <a:off x="5067454" y="453931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Release (h44)</a:t>
            </a:r>
            <a:endParaRPr lang="en-US" sz="1600" dirty="0"/>
          </a:p>
        </p:txBody>
      </p:sp>
      <p:sp>
        <p:nvSpPr>
          <p:cNvPr id="24" name="element_8e1b42ecb948462ea4ff075117f23bc3"/>
          <p:cNvSpPr/>
          <p:nvPr/>
        </p:nvSpPr>
        <p:spPr>
          <a:xfrm>
            <a:off x="6698703" y="4539310"/>
            <a:ext cx="1432573" cy="1036930"/>
          </a:xfrm>
          <a:prstGeom prst="roundRect">
            <a:avLst/>
          </a:prstGeom>
          <a:solidFill>
            <a:srgbClr val="E5E9D6"/>
          </a:solidFill>
          <a:ln w="12700">
            <a:solidFill>
              <a:srgbClr val="DED7CC"/>
            </a:solidFill>
            <a:prstDash val="solid"/>
          </a:ln>
        </p:spPr>
      </p:sp>
      <p:sp>
        <p:nvSpPr>
          <p:cNvPr id="25" name="element_8e1b42ecb948462ea4ff075117f23bc3:text"/>
          <p:cNvSpPr txBox="1"/>
          <p:nvPr/>
        </p:nvSpPr>
        <p:spPr>
          <a:xfrm>
            <a:off x="6698703" y="453931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Delivery (h73)</a:t>
            </a:r>
            <a:endParaRPr lang="en-US" sz="1600" dirty="0"/>
          </a:p>
        </p:txBody>
      </p:sp>
      <p:sp>
        <p:nvSpPr>
          <p:cNvPr id="26" name="element_d81bc637c739b6085daf809ab9d95595"/>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7" name="element_bff6680bf78951899cf517434b6d5e7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8ef41b1f77625c95d942f713da6b7a58"/>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b43a3a9ccbe3d0330dbe154f2b90ff62"/>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9870e558fc18c55532f1c663c086a99d"/>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Risk Triples at the Inspection Hold</a:t>
            </a:r>
            <a:endParaRPr lang="en-US" sz="3800" dirty="0"/>
          </a:p>
        </p:txBody>
      </p:sp>
      <p:sp>
        <p:nvSpPr>
          <p:cNvPr id="5" name="element_3ba5eb536515d9f4d4d4a0e709badeb0"/>
          <p:cNvSpPr txBox="1"/>
          <p:nvPr/>
        </p:nvSpPr>
        <p:spPr>
          <a:xfrm>
            <a:off x="7680768"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Risk scores climb gradually through transit, then spike sharply at the inspection hold before easing after release. The chart below plots the exact risk values recorded at each of the six events.</a:t>
            </a:r>
            <a:endParaRPr lang="en-US" sz="1900" dirty="0"/>
          </a:p>
        </p:txBody>
      </p:sp>
      <p:sp>
        <p:nvSpPr>
          <p:cNvPr id="6" name="element_ff514134e99046f6b1782dce6b2aa374"/>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Risk score triples between port arrival (18) and inspection hold (61)</a:t>
            </a:r>
            <a:endParaRPr lang="en-US" sz="1700" dirty="0"/>
          </a:p>
        </p:txBody>
      </p:sp>
      <p:sp>
        <p:nvSpPr>
          <p:cNvPr id="7" name="element_0f1a5d5cad386d55724741801cb50d4c"/>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Release drops risk to 39, delivery closes at 11</a:t>
            </a:r>
            <a:endParaRPr lang="en-US" sz="1700" dirty="0"/>
          </a:p>
        </p:txBody>
      </p:sp>
      <p:sp>
        <p:nvSpPr>
          <p:cNvPr id="8" name="element_8da0092cf921fb83994f777c9a6bc649"/>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Peak risk occurs 31 hours into a 73-hour journey</a:t>
            </a:r>
            <a:endParaRPr lang="en-US" sz="1700" dirty="0"/>
          </a:p>
        </p:txBody>
      </p:sp>
      <p:graphicFrame>
        <p:nvGraphicFramePr>
          <p:cNvPr id="9" name="element_bfb5eddfb46b4ea593d495a3f6c55784" descr=""/>
          <p:cNvGraphicFramePr/>
          <p:nvPr/>
        </p:nvGraphicFramePr>
        <p:xfrm>
          <a:off x="975336"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8410fe7331443046f4cb4f4fe8659df9"/>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2818c228eb4e5ee8fdfb71932265b10a"/>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5e5cec634390ad258e868136b40e27a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8e20b3adef2432e2ff79934ec7f7f5e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13442d8c55af4412e70fed9eb57955b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Five Parties, Four Handoffs</a:t>
            </a:r>
            <a:endParaRPr lang="en-US" sz="3800" dirty="0"/>
          </a:p>
        </p:txBody>
      </p:sp>
      <p:sp>
        <p:nvSpPr>
          <p:cNvPr id="5" name="element_5c04241463f8a3b9d001b8d687d3a2e9"/>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Behind each timeline milestone sits a physical handoff between accountable parties. This diagram makes those custody transfers explicit so leaders can see where accountability shifts — and where a hold can stall the whole chain.</a:t>
            </a:r>
            <a:endParaRPr lang="en-US" sz="1700" dirty="0"/>
          </a:p>
        </p:txBody>
      </p:sp>
      <p:sp>
        <p:nvSpPr>
          <p:cNvPr id="6" name="element_55d1de6f52fd2c90ee6c3407ff5951c3"/>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Customs authority is the sole party with hold authority</a:t>
            </a:r>
            <a:endParaRPr lang="en-US" sz="1700" dirty="0"/>
          </a:p>
        </p:txBody>
      </p:sp>
      <p:sp>
        <p:nvSpPr>
          <p:cNvPr id="7" name="element_3ecdb249e3050c6393eecb7889a4a2d2"/>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Carrier retains custody across three of five stages</a:t>
            </a:r>
            <a:endParaRPr lang="en-US" sz="1700" dirty="0"/>
          </a:p>
        </p:txBody>
      </p:sp>
      <p:sp>
        <p:nvSpPr>
          <p:cNvPr id="8" name="element_0591474dc4ee0357f96580bb3130614f"/>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Consignee only takes custody after final release</a:t>
            </a:r>
            <a:endParaRPr lang="en-US" sz="1700" dirty="0"/>
          </a:p>
        </p:txBody>
      </p:sp>
      <p:sp>
        <p:nvSpPr>
          <p:cNvPr id="9" name="element_c7d766a721057062ba9cd439db192426"/>
          <p:cNvSpPr/>
          <p:nvPr/>
        </p:nvSpPr>
        <p:spPr>
          <a:xfrm>
            <a:off x="6477448" y="3775329"/>
            <a:ext cx="243834" cy="164592"/>
          </a:xfrm>
          <a:prstGeom prst="line">
            <a:avLst/>
          </a:prstGeom>
          <a:noFill/>
          <a:ln w="25400">
            <a:solidFill>
              <a:srgbClr val="7566A8"/>
            </a:solidFill>
            <a:prstDash val="solid"/>
            <a:tailEnd type="triangle"/>
          </a:ln>
        </p:spPr>
      </p:sp>
      <p:sp>
        <p:nvSpPr>
          <p:cNvPr id="10" name="element_fd8fb913c3a60122be1716d1bb5bbab6"/>
          <p:cNvSpPr/>
          <p:nvPr/>
        </p:nvSpPr>
        <p:spPr>
          <a:xfrm>
            <a:off x="8107477" y="3775329"/>
            <a:ext cx="243834" cy="164592"/>
          </a:xfrm>
          <a:prstGeom prst="line">
            <a:avLst/>
          </a:prstGeom>
          <a:noFill/>
          <a:ln w="25400">
            <a:solidFill>
              <a:srgbClr val="7566A8"/>
            </a:solidFill>
            <a:prstDash val="solid"/>
            <a:tailEnd type="triangle"/>
          </a:ln>
        </p:spPr>
      </p:sp>
      <p:sp>
        <p:nvSpPr>
          <p:cNvPr id="11" name="element_652560182affa12ec8224b90ba93d921"/>
          <p:cNvSpPr/>
          <p:nvPr/>
        </p:nvSpPr>
        <p:spPr>
          <a:xfrm>
            <a:off x="9738726" y="3775329"/>
            <a:ext cx="243834" cy="164592"/>
          </a:xfrm>
          <a:prstGeom prst="line">
            <a:avLst/>
          </a:prstGeom>
          <a:noFill/>
          <a:ln w="25400">
            <a:solidFill>
              <a:srgbClr val="7566A8"/>
            </a:solidFill>
            <a:prstDash val="solid"/>
            <a:tailEnd type="triangle"/>
          </a:ln>
        </p:spPr>
      </p:sp>
      <p:sp>
        <p:nvSpPr>
          <p:cNvPr id="12" name="element_d1ead3c04944cb47084092674f4e383e"/>
          <p:cNvSpPr/>
          <p:nvPr/>
        </p:nvSpPr>
        <p:spPr>
          <a:xfrm>
            <a:off x="6356750" y="4375404"/>
            <a:ext cx="3744070" cy="164592"/>
          </a:xfrm>
          <a:prstGeom prst="line">
            <a:avLst/>
          </a:prstGeom>
          <a:noFill/>
          <a:ln w="25400">
            <a:solidFill>
              <a:srgbClr val="7566A8"/>
            </a:solidFill>
            <a:prstDash val="solid"/>
            <a:tailEnd type="triangle"/>
          </a:ln>
        </p:spPr>
      </p:sp>
      <p:sp>
        <p:nvSpPr>
          <p:cNvPr id="13" name="element_348564a82f0764e57507c8f8b5adf6c4"/>
          <p:cNvSpPr/>
          <p:nvPr/>
        </p:nvSpPr>
        <p:spPr>
          <a:xfrm>
            <a:off x="5120512" y="3377565"/>
            <a:ext cx="1326456" cy="960120"/>
          </a:xfrm>
          <a:prstGeom prst="roundRect">
            <a:avLst/>
          </a:prstGeom>
          <a:solidFill>
            <a:srgbClr val="F2DED3"/>
          </a:solidFill>
          <a:ln w="12700">
            <a:solidFill>
              <a:srgbClr val="DED7CC"/>
            </a:solidFill>
            <a:prstDash val="solid"/>
          </a:ln>
        </p:spPr>
      </p:sp>
      <p:sp>
        <p:nvSpPr>
          <p:cNvPr id="14" name="element_348564a82f0764e57507c8f8b5adf6c4:text"/>
          <p:cNvSpPr txBox="1"/>
          <p:nvPr/>
        </p:nvSpPr>
        <p:spPr>
          <a:xfrm>
            <a:off x="5120512"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Shipper</a:t>
            </a:r>
            <a:endParaRPr lang="en-US" sz="1600" dirty="0"/>
          </a:p>
        </p:txBody>
      </p:sp>
      <p:sp>
        <p:nvSpPr>
          <p:cNvPr id="15" name="element_505f2b013f2d6f073658d9ae307db8ce"/>
          <p:cNvSpPr/>
          <p:nvPr/>
        </p:nvSpPr>
        <p:spPr>
          <a:xfrm>
            <a:off x="6751761" y="3377565"/>
            <a:ext cx="1326456" cy="960120"/>
          </a:xfrm>
          <a:prstGeom prst="roundRect">
            <a:avLst/>
          </a:prstGeom>
          <a:solidFill>
            <a:srgbClr val="F2DED3"/>
          </a:solidFill>
          <a:ln w="12700">
            <a:solidFill>
              <a:srgbClr val="DED7CC"/>
            </a:solidFill>
            <a:prstDash val="solid"/>
          </a:ln>
        </p:spPr>
      </p:sp>
      <p:sp>
        <p:nvSpPr>
          <p:cNvPr id="16" name="element_505f2b013f2d6f073658d9ae307db8ce:text"/>
          <p:cNvSpPr txBox="1"/>
          <p:nvPr/>
        </p:nvSpPr>
        <p:spPr>
          <a:xfrm>
            <a:off x="6751761"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Carrier</a:t>
            </a:r>
            <a:endParaRPr lang="en-US" sz="1600" dirty="0"/>
          </a:p>
        </p:txBody>
      </p:sp>
      <p:sp>
        <p:nvSpPr>
          <p:cNvPr id="17" name="element_c11bf346c111c4a0a6b7a37fda18fa69"/>
          <p:cNvSpPr/>
          <p:nvPr/>
        </p:nvSpPr>
        <p:spPr>
          <a:xfrm>
            <a:off x="8381790" y="3377565"/>
            <a:ext cx="1326456" cy="960120"/>
          </a:xfrm>
          <a:prstGeom prst="roundRect">
            <a:avLst/>
          </a:prstGeom>
          <a:solidFill>
            <a:srgbClr val="F2DED3"/>
          </a:solidFill>
          <a:ln w="12700">
            <a:solidFill>
              <a:srgbClr val="DED7CC"/>
            </a:solidFill>
            <a:prstDash val="solid"/>
          </a:ln>
        </p:spPr>
      </p:sp>
      <p:sp>
        <p:nvSpPr>
          <p:cNvPr id="18" name="element_c11bf346c111c4a0a6b7a37fda18fa69:text"/>
          <p:cNvSpPr txBox="1"/>
          <p:nvPr/>
        </p:nvSpPr>
        <p:spPr>
          <a:xfrm>
            <a:off x="8381790"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Port Authority</a:t>
            </a:r>
            <a:endParaRPr lang="en-US" sz="1600" dirty="0"/>
          </a:p>
        </p:txBody>
      </p:sp>
      <p:sp>
        <p:nvSpPr>
          <p:cNvPr id="19" name="element_397047649c30f511296d436504ff831f"/>
          <p:cNvSpPr/>
          <p:nvPr/>
        </p:nvSpPr>
        <p:spPr>
          <a:xfrm>
            <a:off x="10013039" y="3377565"/>
            <a:ext cx="1326456" cy="960120"/>
          </a:xfrm>
          <a:prstGeom prst="roundRect">
            <a:avLst/>
          </a:prstGeom>
          <a:solidFill>
            <a:srgbClr val="E5E9D6"/>
          </a:solidFill>
          <a:ln w="25400">
            <a:solidFill>
              <a:srgbClr val="B44A2D"/>
            </a:solidFill>
            <a:prstDash val="solid"/>
          </a:ln>
        </p:spPr>
      </p:sp>
      <p:sp>
        <p:nvSpPr>
          <p:cNvPr id="20" name="element_397047649c30f511296d436504ff831f:text"/>
          <p:cNvSpPr txBox="1"/>
          <p:nvPr/>
        </p:nvSpPr>
        <p:spPr>
          <a:xfrm>
            <a:off x="10013039"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Customs</a:t>
            </a:r>
            <a:endParaRPr lang="en-US" sz="1600" dirty="0"/>
          </a:p>
        </p:txBody>
      </p:sp>
      <p:sp>
        <p:nvSpPr>
          <p:cNvPr id="21" name="element_d7c62beeb644343db37d3e12de5afab7"/>
          <p:cNvSpPr/>
          <p:nvPr/>
        </p:nvSpPr>
        <p:spPr>
          <a:xfrm>
            <a:off x="5120512" y="4577715"/>
            <a:ext cx="1326456" cy="960120"/>
          </a:xfrm>
          <a:prstGeom prst="roundRect">
            <a:avLst/>
          </a:prstGeom>
          <a:solidFill>
            <a:srgbClr val="F2DED3"/>
          </a:solidFill>
          <a:ln w="12700">
            <a:solidFill>
              <a:srgbClr val="DED7CC"/>
            </a:solidFill>
            <a:prstDash val="solid"/>
          </a:ln>
        </p:spPr>
      </p:sp>
      <p:sp>
        <p:nvSpPr>
          <p:cNvPr id="22" name="element_d7c62beeb644343db37d3e12de5afab7:text"/>
          <p:cNvSpPr txBox="1"/>
          <p:nvPr/>
        </p:nvSpPr>
        <p:spPr>
          <a:xfrm>
            <a:off x="5120512" y="457771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Consignee</a:t>
            </a:r>
            <a:endParaRPr lang="en-US" sz="1600" dirty="0"/>
          </a:p>
        </p:txBody>
      </p:sp>
      <p:sp>
        <p:nvSpPr>
          <p:cNvPr id="23" name="element_2e9c8fe461e47a743820369b34e8214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4" name="element_eb26ae14e86c3f953e5ca2131020be6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ff750bf6a8902e3565d263c104b5ea4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9f28d588886e98e5ee913cc76fe665b"/>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8507e3ff4719af880711ea5cd1c384d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Inspection Hold, Illustrated</a:t>
            </a:r>
            <a:endParaRPr lang="en-US" sz="3800" dirty="0"/>
          </a:p>
        </p:txBody>
      </p:sp>
      <p:sp>
        <p:nvSpPr>
          <p:cNvPr id="5" name="element_92e55d68d16563a499f2fd3c5f3b7345"/>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No captured photo or scan of this specific inspection event was supplied. The image slot below is an explicitly labeled placeholder standing in for the kind of exception documentation (hold notice, customs flag) that would normally accompany a risk spike of this magnitude.</a:t>
            </a:r>
            <a:endParaRPr lang="en-US" sz="1900" dirty="0"/>
          </a:p>
        </p:txBody>
      </p:sp>
      <p:sp>
        <p:nvSpPr>
          <p:cNvPr id="6" name="element_05b2a3fd6ee749815863e833ee9d1be6"/>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Placeholder only — no live evidence was captured for this shipment</a:t>
            </a:r>
            <a:endParaRPr lang="en-US" sz="1700" dirty="0"/>
          </a:p>
        </p:txBody>
      </p:sp>
      <p:sp>
        <p:nvSpPr>
          <p:cNvPr id="7" name="element_a2cbcad82752292ab1d3fc97e6978359"/>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Represents the documentation type expected at a 61-point risk spike</a:t>
            </a:r>
            <a:endParaRPr lang="en-US" sz="1700" dirty="0"/>
          </a:p>
        </p:txBody>
      </p:sp>
      <p:sp>
        <p:nvSpPr>
          <p:cNvPr id="8" name="element_c50fe285f36380bb70126e5d3beb5714"/>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Reviewers should replace with the actual hold notice before external use</a:t>
            </a:r>
            <a:endParaRPr lang="en-US" sz="1700" dirty="0"/>
          </a:p>
        </p:txBody>
      </p:sp>
      <p:sp>
        <p:nvSpPr>
          <p:cNvPr id="9" name="element_ce7c258a491e19e2dac29f8488b664b6:fallback-shape"/>
          <p:cNvSpPr/>
          <p:nvPr/>
        </p:nvSpPr>
        <p:spPr>
          <a:xfrm>
            <a:off x="6461598" y="2674620"/>
            <a:ext cx="4754761" cy="2606040"/>
          </a:xfrm>
          <a:prstGeom prst="roundRect">
            <a:avLst/>
          </a:prstGeom>
          <a:solidFill>
            <a:srgbClr val="F2DED3"/>
          </a:solidFill>
          <a:ln w="19050">
            <a:solidFill>
              <a:srgbClr val="DED7CC"/>
            </a:solidFill>
            <a:prstDash val="dash"/>
          </a:ln>
        </p:spPr>
      </p:sp>
      <p:sp>
        <p:nvSpPr>
          <p:cNvPr id="10" name="element_ce7c258a491e19e2dac29f8488b664b6:fallback-label"/>
          <p:cNvSpPr/>
          <p:nvPr/>
        </p:nvSpPr>
        <p:spPr>
          <a:xfrm>
            <a:off x="6461598"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placeholder representing an inspection-hold exception notice; no captured evidence was supplied</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placeholder — not captured evidence</a:t>
            </a:r>
            <a:endParaRPr lang="en-US" sz="1400" dirty="0"/>
          </a:p>
        </p:txBody>
      </p:sp>
      <p:sp>
        <p:nvSpPr>
          <p:cNvPr id="11" name="element_b366c882031b7b488bcb1cddfef9806f"/>
          <p:cNvSpPr txBox="1"/>
          <p:nvPr/>
        </p:nvSpPr>
        <p:spPr>
          <a:xfrm>
            <a:off x="6705432"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Illustrative placeholder — not captured evidence</a:t>
            </a:r>
            <a:endParaRPr lang="en-US" sz="1400" dirty="0"/>
          </a:p>
        </p:txBody>
      </p:sp>
      <p:sp>
        <p:nvSpPr>
          <p:cNvPr id="12" name="element_94faa917f315a7dfadf6be6b1cb6fa2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5a09153888fcdfd0d9bd327c4725679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68bca121a80c2d47b431af8bba06d421"/>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301c72de2ba686022bb4d66544cef46e"/>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329b7964c189d15cb957fd1bf4593e75"/>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Risk Escalated 663% at the Hold</a:t>
            </a:r>
            <a:endParaRPr lang="en-US" sz="3800" dirty="0"/>
          </a:p>
        </p:txBody>
      </p:sp>
      <p:sp>
        <p:nvSpPr>
          <p:cNvPr id="5" name="element_7d09d6029a1aae098757974f0312e7de"/>
          <p:cNvSpPr txBox="1"/>
          <p:nvPr/>
        </p:nvSpPr>
        <p:spPr>
          <a:xfrm>
            <a:off x="6583515"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Comparing the inspection-hold risk score against the shipment's baseline booking risk quantifies just how sharp this spike is. This formula, built from the supplied event data, gives leaders a reusable measure for flagging future shipments.</a:t>
            </a:r>
            <a:endParaRPr lang="en-US" sz="1900" dirty="0"/>
          </a:p>
        </p:txBody>
      </p:sp>
      <p:sp>
        <p:nvSpPr>
          <p:cNvPr id="6" name="element_a115afece230dd071d7da95b0bb6f2a6"/>
          <p:cNvSpPr txBox="1"/>
          <p:nvPr/>
        </p:nvSpPr>
        <p:spPr>
          <a:xfrm>
            <a:off x="6583515"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Baseline risk at booking: 8</a:t>
            </a:r>
            <a:endParaRPr lang="en-US" sz="1700" dirty="0"/>
          </a:p>
        </p:txBody>
      </p:sp>
      <p:sp>
        <p:nvSpPr>
          <p:cNvPr id="7" name="element_e5746ae545bf7ab562182fdc15226469"/>
          <p:cNvSpPr txBox="1"/>
          <p:nvPr/>
        </p:nvSpPr>
        <p:spPr>
          <a:xfrm>
            <a:off x="6583515"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Peak risk at inspection hold: 61</a:t>
            </a:r>
            <a:endParaRPr lang="en-US" sz="1700" dirty="0"/>
          </a:p>
        </p:txBody>
      </p:sp>
      <p:sp>
        <p:nvSpPr>
          <p:cNvPr id="8" name="element_8632b2c8eb93d16ce2746bacf96c9867"/>
          <p:cNvSpPr txBox="1"/>
          <p:nvPr/>
        </p:nvSpPr>
        <p:spPr>
          <a:xfrm>
            <a:off x="6583515"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Escalation ratio flags shipments needing proactive review</a:t>
            </a:r>
            <a:endParaRPr lang="en-US" sz="1700" dirty="0"/>
          </a:p>
        </p:txBody>
      </p:sp>
      <p:sp>
        <p:nvSpPr>
          <p:cNvPr id="9" name="element_6e0e53ef65bf83ba6d12081855542a04"/>
          <p:cNvSpPr txBox="1"/>
          <p:nvPr/>
        </p:nvSpPr>
        <p:spPr>
          <a:xfrm>
            <a:off x="975336"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((Peak Risk − Baseline Risk) / Baseline Risk) × 100</a:t>
            </a:r>
            <a:endParaRPr lang="en-US" sz="3000" dirty="0"/>
          </a:p>
        </p:txBody>
      </p:sp>
      <p:sp>
        <p:nvSpPr>
          <p:cNvPr id="10" name="element_37839803a2271c6b7a9c0f73719cbcb0"/>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e7124ab6f1f24b53a001f9e8600208f8"/>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425f3dfca0dfee4f8b8195e07a08a53e"/>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6f9e623002e5bdc75f6ecf6cd151ff6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27e244b2ba35a1ac9531e21293c5b29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Trigger Review at Risk Score 40</a:t>
            </a:r>
            <a:endParaRPr lang="en-US" sz="3800" dirty="0"/>
          </a:p>
        </p:txBody>
      </p:sp>
      <p:sp>
        <p:nvSpPr>
          <p:cNvPr id="5" name="element_84970ecfe51ddee3a404ee0ebea2164b"/>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This shipment recovered after release, but the 43-point swing at inspection hold shows the current process reacts only after risk peaks. The recommendation: set an automatic review trigger at a risk score of 40, owned by the customs liaison, with the first checkpoint review at the next port-arrival event.</a:t>
            </a:r>
            <a:endParaRPr lang="en-US" sz="1900" dirty="0"/>
          </a:p>
        </p:txBody>
      </p:sp>
      <p:sp>
        <p:nvSpPr>
          <p:cNvPr id="6" name="element_5d7ffc0e0a4e518ec70ac145c8a877dd"/>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Trigger: automatic review when risk score crosses 40</a:t>
            </a:r>
            <a:endParaRPr lang="en-US" sz="1700" dirty="0"/>
          </a:p>
        </p:txBody>
      </p:sp>
      <p:sp>
        <p:nvSpPr>
          <p:cNvPr id="7" name="element_fae085eaf23c37d9848065510b7c7419"/>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Owner: customs liaison, checkpoint at next port arrival</a:t>
            </a:r>
            <a:endParaRPr lang="en-US" sz="1700" dirty="0"/>
          </a:p>
        </p:txBody>
      </p:sp>
      <p:sp>
        <p:nvSpPr>
          <p:cNvPr id="8" name="element_513d96cf85cbe2567b37c1455ced91d1"/>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Goal: intervene before hold, not after release</a:t>
            </a:r>
            <a:endParaRPr lang="en-US" sz="1700" dirty="0"/>
          </a:p>
        </p:txBody>
      </p:sp>
      <p:sp>
        <p:nvSpPr>
          <p:cNvPr id="9" name="element_600074d017e17f20948c9592c6d753cc"/>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40</a:t>
            </a:r>
            <a:endParaRPr lang="en-US" sz="5600" dirty="0"/>
          </a:p>
        </p:txBody>
      </p:sp>
      <p:sp>
        <p:nvSpPr>
          <p:cNvPr id="10" name="element_f22f33ebb728d440d47b5e384fb52c2b"/>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Recommended risk-score review trigger</a:t>
            </a:r>
            <a:endParaRPr lang="en-US" sz="1500" dirty="0"/>
          </a:p>
        </p:txBody>
      </p:sp>
      <p:sp>
        <p:nvSpPr>
          <p:cNvPr id="11" name="element_98a730a438aa68309064f2936ed5328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f17206577120d6726a50887a0213fd9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scrollytelling-style deck for supply-chain leade…</dc:title>
  <dc:subject>Create an editable, reviewable presentation from this idea</dc:subject>
  <dc:creator>NodeSlide</dc:creator>
  <cp:lastModifiedBy>NodeSlide</cp:lastModifiedBy>
  <cp:revision>1</cp:revision>
  <dcterms:created xsi:type="dcterms:W3CDTF">2026-07-22T00:01:57Z</dcterms:created>
  <dcterms:modified xsi:type="dcterms:W3CDTF">2026-07-22T00:01:57Z</dcterms:modified>
</cp:coreProperties>
</file>