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201</c:v>
                </c:pt>
                <c:pt idx="1">
                  <c:v>206</c:v>
                </c:pt>
                <c:pt idx="2">
                  <c:v>215</c:v>
                </c:pt>
                <c:pt idx="3">
                  <c:v>224</c:v>
                </c:pt>
                <c:pt idx="4">
                  <c:v>232</c:v>
                </c:pt>
                <c:pt idx="5">
                  <c:v>240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72</c:v>
                </c:pt>
                <c:pt idx="1">
                  <c:v>74</c:v>
                </c:pt>
                <c:pt idx="2">
                  <c:v>79</c:v>
                </c:pt>
                <c:pt idx="3">
                  <c:v>83</c:v>
                </c:pt>
                <c:pt idx="4">
                  <c:v>87</c:v>
                </c:pt>
                <c:pt idx="5">
                  <c:v>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</c:v>
                </c:pt>
                <c:pt idx="1">
                  <c:v>82</c:v>
                </c:pt>
                <c:pt idx="2">
                  <c:v>80</c:v>
                </c:pt>
                <c:pt idx="3">
                  <c:v>78</c:v>
                </c:pt>
                <c:pt idx="4">
                  <c:v>79</c:v>
                </c:pt>
                <c:pt idx="5">
                  <c:v>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Orient. Keep the spoken transition focused on “Transit is recovering—but not everywhere”
Evidence note: Content is based on the supplied creation brief. Illustrative examples are not independently verified; replace them with measured evidence before external publication.
NodeSlide sources
[source_c546e642baca6084237b05349b29f915]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 cinematic minimal direction: fewer words, larger visual centers, deliberate scale changes, one memorable visual climax, and quiet transition beats. Keep all evidence honest and editable.
Disclaimer: Internal working material
[source_b72f823d3340b144e6952014ae20cdfd]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Build. Keep the spoken transition focused on “Strong overall growth masks underlying divergence”
Evidence note: Content is based on the supplied creation brief. Illustrative examples are not independently verified; replace them with measured evidence before external publication.
NodeSlide sources
[source_c546e642baca6084237b05349b29f915]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 cinematic minimal direction: fewer words, larger visual centers, deliberate scale changes, one memorable visual climax, and quiet transition beats. Keep all evidence honest and editable.
Disclaimer: Internal working material
[source_b72f823d3340b144e6952014ae20cdfd]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Prove. Keep the spoken transition focused on “Rapid bus surges while local bus lags”
Evidence note: Content is based on the supplied creation brief. Illustrative examples are not independently verified; replace them with measured evidence before external publication.
NodeSlide sources
[source_c546e642baca6084237b05349b29f915]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 cinematic minimal direction: fewer words, larger visual centers, deliberate scale changes, one memorable visual climax, and quiet transition beats. Keep all evidence honest and editable.
Disclaimer: Internal working material
[source_b72f823d3340b144e6952014ae20cdfd]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Prove. Keep the spoken transition focused on “Reliability declines as ridership grows”
Evidence note: Content is based on the supplied creation brief. Illustrative examples are not independently verified; replace them with measured evidence before external publication.
NodeSlide sources
[source_c546e642baca6084237b05349b29f915]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 cinematic minimal direction: fewer words, larger visual centers, deliberate scale changes, one memorable visual climax, and quiet transition beats. Keep all evidence honest and editable.
Disclaimer: Internal working material
[source_b72f823d3340b144e6952014ae20cdfd]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Prove. Keep the spoken transition focused on “Service reliability gap quantified”
Evidence note: Content is based on the supplied creation brief. Illustrative examples are not independently verified; replace them with measured evidence before external publication.
NodeSlide sources
[source_c546e642baca6084237b05349b29f915]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 cinematic minimal direction: fewer words, larger visual centers, deliberate scale changes, one memorable visual climax, and quiet transition beats. Keep all evidence honest and editable.
Disclaimer: Internal working material
[source_b72f823d3340b144e6952014ae20cdfd]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Decide. Keep the spoken transition focused on “Focus resources on local bus and weekend reliability”
Evidence note: Content is based on the supplied creation brief. Illustrative examples are not independently verified; replace them with measured evidence before external publication.
NodeSlide sources
[source_c546e642baca6084237b05349b29f915]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 cinematic minimal direction: fewer words, larger visual centers, deliberate scale changes, one memorable visual climax, and quiet transition beats. Keep all evidence honest and editable.
Disclaimer: Internal working material
[source_b72f823d3340b144e6952014ae20cdfd]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Decide. Keep the spoken transition focused on “Approve dual intervention strategy”
Evidence note: Content is based on the supplied creation brief. Illustrative examples are not independently verified; replace them with measured evidence before external publication.
NodeSlide sources
[source_c546e642baca6084237b05349b29f915]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 cinematic minimal direction: fewer words, larger visual centers, deliberate scale changes, one memorable visual climax, and quiet transition beats. Keep all evidence honest and editable.
Disclaimer: Internal working material
[source_b72f823d3340b144e6952014ae20cdfd]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394fc2163c96579e208bbbda218fc180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a328048254b194c08472282588b20cd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ORIENT</a:t>
            </a:r>
            <a:endParaRPr lang="en-US" sz="1500" dirty="0"/>
          </a:p>
        </p:txBody>
      </p:sp>
      <p:sp>
        <p:nvSpPr>
          <p:cNvPr id="4" name="element_b577d848d1493d9a1c658233a8c7ca31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Transit is recovering—but not everywhere</a:t>
            </a:r>
            <a:endParaRPr lang="en-US" sz="4800" dirty="0"/>
          </a:p>
        </p:txBody>
      </p:sp>
      <p:sp>
        <p:nvSpPr>
          <p:cNvPr id="5" name="element_a4ed64b25be0349c6407b54b3a95ad6f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City mobility planners must decide where to intervene. Overall ridership is climbing, but the aggregate hides critical weaknesses in specific modes and service periods.</a:t>
            </a:r>
            <a:endParaRPr lang="en-US" sz="1900" dirty="0"/>
          </a:p>
        </p:txBody>
      </p:sp>
      <p:sp>
        <p:nvSpPr>
          <p:cNvPr id="6" name="element_7e3e87203b2cf8f7aae8c9a07b4b7d1a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System-wide recovery underway since January</a:t>
            </a:r>
            <a:endParaRPr lang="en-US" sz="1600" dirty="0"/>
          </a:p>
        </p:txBody>
      </p:sp>
      <p:sp>
        <p:nvSpPr>
          <p:cNvPr id="7" name="element_d22ac59483e6451e94ce1ebf5f9144b5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Resource allocation requires identifying gaps</a:t>
            </a:r>
            <a:endParaRPr lang="en-US" sz="1600" dirty="0"/>
          </a:p>
        </p:txBody>
      </p:sp>
      <p:sp>
        <p:nvSpPr>
          <p:cNvPr id="8" name="element_4e68e95fce777cdd358f7fecdd3cf86c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Data reveals where intervention is most needed</a:t>
            </a:r>
            <a:endParaRPr lang="en-US" sz="1600" dirty="0"/>
          </a:p>
        </p:txBody>
      </p:sp>
      <p:sp>
        <p:nvSpPr>
          <p:cNvPr id="9" name="element_0175e2074fdb163b1abe4f276c83bbec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0931a032ee89fca50900b22b884ca4e2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cbaac94925bd222e365ee36340678d80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455375ab045535d6f73bab85ef674f6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BUILD</a:t>
            </a:r>
            <a:endParaRPr lang="en-US" sz="1500" dirty="0"/>
          </a:p>
        </p:txBody>
      </p:sp>
      <p:sp>
        <p:nvSpPr>
          <p:cNvPr id="4" name="element_7d213dcea6f2f21f43b87f088ec70086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overall growth masks underlying divergence</a:t>
            </a:r>
            <a:endParaRPr lang="en-US" sz="3800" dirty="0"/>
          </a:p>
        </p:txBody>
      </p:sp>
      <p:sp>
        <p:nvSpPr>
          <p:cNvPr id="5" name="element_0557750a8000536c423651c94cd2d974"/>
          <p:cNvSpPr txBox="1"/>
          <p:nvPr/>
        </p:nvSpPr>
        <p:spPr>
          <a:xfrm>
            <a:off x="853419" y="2743200"/>
            <a:ext cx="36575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Total ridership across all modes increased 18% from January to June, signaling robust recovery. However, this aggregate trend obscures significant variation in how different services are performing.</a:t>
            </a:r>
            <a:endParaRPr lang="en-US" sz="1900" dirty="0"/>
          </a:p>
        </p:txBody>
      </p:sp>
      <p:sp>
        <p:nvSpPr>
          <p:cNvPr id="6" name="element_e5a06c7c341f8f6f2e0ef2697318405f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Combined ridership up 18% over six months</a:t>
            </a:r>
            <a:endParaRPr lang="en-US" sz="1700" dirty="0"/>
          </a:p>
        </p:txBody>
      </p:sp>
      <p:sp>
        <p:nvSpPr>
          <p:cNvPr id="7" name="element_f3b8e705ebac3fbeb725d5687e91d0f8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Recovery consistent month-over-month</a:t>
            </a:r>
            <a:endParaRPr lang="en-US" sz="1700" dirty="0"/>
          </a:p>
        </p:txBody>
      </p:sp>
      <p:sp>
        <p:nvSpPr>
          <p:cNvPr id="8" name="element_c50398696eeaf84c5ed71df0cf394448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Aggregate masks mode-specific challenges</a:t>
            </a:r>
            <a:endParaRPr lang="en-US" sz="1700" dirty="0"/>
          </a:p>
        </p:txBody>
      </p:sp>
      <p:graphicFrame>
        <p:nvGraphicFramePr>
          <p:cNvPr id="9" name="element_d1119a0afd93a921d1547c6dc1803fc0" descr=""/>
          <p:cNvGraphicFramePr/>
          <p:nvPr/>
        </p:nvGraphicFramePr>
        <p:xfrm>
          <a:off x="4876678" y="2754173"/>
          <a:ext cx="6583515" cy="340705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element_0a48570ea657328bfb4eca8848fc32b6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4a4b3e727f87b5953e170fd8fe9bf85c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e0041b372dc2486b928505c7d0c36dff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ffafecbf1301f12b7e9bcbfe96657222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PROVE</a:t>
            </a:r>
            <a:endParaRPr lang="en-US" sz="1500" dirty="0"/>
          </a:p>
        </p:txBody>
      </p:sp>
      <p:sp>
        <p:nvSpPr>
          <p:cNvPr id="4" name="element_58cc24e7cdb81573d307ff3c65f09d9f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Rapid bus surges while local bus lags</a:t>
            </a:r>
            <a:endParaRPr lang="en-US" sz="3800" dirty="0"/>
          </a:p>
        </p:txBody>
      </p:sp>
      <p:sp>
        <p:nvSpPr>
          <p:cNvPr id="5" name="element_504b5dbfe5c593c9fb242568c849836a"/>
          <p:cNvSpPr txBox="1"/>
          <p:nvPr/>
        </p:nvSpPr>
        <p:spPr>
          <a:xfrm>
            <a:off x="7680768" y="2743200"/>
            <a:ext cx="36575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Rapid bus ridership grew 26% from January to June, leading the recovery. Local bus increased only 10% over the same period, revealing a significant performance gap that requires attention.</a:t>
            </a:r>
            <a:endParaRPr lang="en-US" sz="1900" dirty="0"/>
          </a:p>
        </p:txBody>
      </p:sp>
      <p:sp>
        <p:nvSpPr>
          <p:cNvPr id="6" name="element_7b072cc6a07e0476b4b4b1a76da7c9c3"/>
          <p:cNvSpPr txBox="1"/>
          <p:nvPr/>
        </p:nvSpPr>
        <p:spPr>
          <a:xfrm>
            <a:off x="7680768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Rapid bus: 26% growth (72 to 91)</a:t>
            </a:r>
            <a:endParaRPr lang="en-US" sz="1700" dirty="0"/>
          </a:p>
        </p:txBody>
      </p:sp>
      <p:sp>
        <p:nvSpPr>
          <p:cNvPr id="7" name="element_6210d5400051e3169fb2238ab08419b8"/>
          <p:cNvSpPr txBox="1"/>
          <p:nvPr/>
        </p:nvSpPr>
        <p:spPr>
          <a:xfrm>
            <a:off x="7680768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Local bus: 10% growth (61 to 67)</a:t>
            </a:r>
            <a:endParaRPr lang="en-US" sz="1700" dirty="0"/>
          </a:p>
        </p:txBody>
      </p:sp>
      <p:sp>
        <p:nvSpPr>
          <p:cNvPr id="8" name="element_ff299797a0ca91f5b3588c7abb26b87c"/>
          <p:cNvSpPr txBox="1"/>
          <p:nvPr/>
        </p:nvSpPr>
        <p:spPr>
          <a:xfrm>
            <a:off x="7680768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Rail: 21% growth (68 to 82)</a:t>
            </a:r>
            <a:endParaRPr lang="en-US" sz="1700" dirty="0"/>
          </a:p>
        </p:txBody>
      </p:sp>
      <p:graphicFrame>
        <p:nvGraphicFramePr>
          <p:cNvPr id="9" name="element_f8d7ae2eb280f5701e42b2d5f835fef3" descr=""/>
          <p:cNvGraphicFramePr/>
          <p:nvPr/>
        </p:nvGraphicFramePr>
        <p:xfrm>
          <a:off x="975336" y="2880360"/>
          <a:ext cx="6095848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element_3cfe0a0807721ed7a78e8cc7e0fe5d83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8081c4c373a3a8987c71ad0daa76eb51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de9e502d4e2c4ff5953c40cdfbf3a5e1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7502e78cc6a69e96971fd643b382efd5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PROVE</a:t>
            </a:r>
            <a:endParaRPr lang="en-US" sz="1500" dirty="0"/>
          </a:p>
        </p:txBody>
      </p:sp>
      <p:sp>
        <p:nvSpPr>
          <p:cNvPr id="4" name="element_b85ed38a48efbb632f134a74f701e017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 declines as ridership grows</a:t>
            </a:r>
            <a:endParaRPr lang="en-US" sz="3800" dirty="0"/>
          </a:p>
        </p:txBody>
      </p:sp>
      <p:sp>
        <p:nvSpPr>
          <p:cNvPr id="5" name="element_57aa4c455100ecff228716cf04ebb175"/>
          <p:cNvSpPr txBox="1"/>
          <p:nvPr/>
        </p:nvSpPr>
        <p:spPr>
          <a:xfrm>
            <a:off x="853419" y="2743200"/>
            <a:ext cx="36575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On-time performance dropped from 81% in January to 77% in June, even as ridership increased. This inverse relationship suggests service quality is degrading under recovery pressure, particularly affecting weekend riders.</a:t>
            </a:r>
            <a:endParaRPr lang="en-US" sz="1900" dirty="0"/>
          </a:p>
        </p:txBody>
      </p:sp>
      <p:sp>
        <p:nvSpPr>
          <p:cNvPr id="6" name="element_570c2ca026918f4bbf53781108d55ca5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On-time performance fell 4 percentage points</a:t>
            </a:r>
            <a:endParaRPr lang="en-US" sz="1700" dirty="0"/>
          </a:p>
        </p:txBody>
      </p:sp>
      <p:sp>
        <p:nvSpPr>
          <p:cNvPr id="7" name="element_c7941da9cb9106d565960631e0e8ce74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Decline coincides with ridership growth</a:t>
            </a:r>
            <a:endParaRPr lang="en-US" sz="1700" dirty="0"/>
          </a:p>
        </p:txBody>
      </p:sp>
      <p:sp>
        <p:nvSpPr>
          <p:cNvPr id="8" name="element_6adc3015b9fc8167c6d6b082f9761926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Weekend service particularly affected</a:t>
            </a:r>
            <a:endParaRPr lang="en-US" sz="1700" dirty="0"/>
          </a:p>
        </p:txBody>
      </p:sp>
      <p:graphicFrame>
        <p:nvGraphicFramePr>
          <p:cNvPr id="9" name="element_cec29be0c09ce5fd472e43482d55d81e" descr=""/>
          <p:cNvGraphicFramePr/>
          <p:nvPr/>
        </p:nvGraphicFramePr>
        <p:xfrm>
          <a:off x="5120512" y="2880360"/>
          <a:ext cx="6095848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element_9265a322fdd714edd5f0fad8603b715c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801a56867184bfa345aee99498087abb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7c8be3fe04546e24abb3a8d945375894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0881bb1bfa19f8c72f072dcc0df808a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PROVE</a:t>
            </a:r>
            <a:endParaRPr lang="en-US" sz="1500" dirty="0"/>
          </a:p>
        </p:txBody>
      </p:sp>
      <p:sp>
        <p:nvSpPr>
          <p:cNvPr id="4" name="element_987f9f11f78056cf1bf75375afdd59fb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reliability gap quantified</a:t>
            </a:r>
            <a:endParaRPr lang="en-US" sz="3800" dirty="0"/>
          </a:p>
        </p:txBody>
      </p:sp>
      <p:sp>
        <p:nvSpPr>
          <p:cNvPr id="5" name="element_8a26302c483daa5b7ce70c47789499b5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reliability gap measures the difference between target and actual on-time performance. With a 4-point decline and current performance at 77%, the system is operating below acceptable standards for consistent service delivery.</a:t>
            </a:r>
            <a:endParaRPr lang="en-US" sz="1900" dirty="0"/>
          </a:p>
        </p:txBody>
      </p:sp>
      <p:sp>
        <p:nvSpPr>
          <p:cNvPr id="6" name="element_66f3a2ec3e8b53d240d8c16aab272a2d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Target on-time performance: 85%</a:t>
            </a:r>
            <a:endParaRPr lang="en-US" sz="1700" dirty="0"/>
          </a:p>
        </p:txBody>
      </p:sp>
      <p:sp>
        <p:nvSpPr>
          <p:cNvPr id="7" name="element_e796a7358dfaf02604c15886787d8d16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Current performance: 77%</a:t>
            </a:r>
            <a:endParaRPr lang="en-US" sz="1700" dirty="0"/>
          </a:p>
        </p:txBody>
      </p:sp>
      <p:sp>
        <p:nvSpPr>
          <p:cNvPr id="8" name="element_4637991bd911fc81005685f029270dc8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Gap requires immediate intervention</a:t>
            </a:r>
            <a:endParaRPr lang="en-US" sz="1700" dirty="0"/>
          </a:p>
        </p:txBody>
      </p:sp>
      <p:sp>
        <p:nvSpPr>
          <p:cNvPr id="9" name="element_74ec8f17758f489feaf953ba7cfea5b4"/>
          <p:cNvSpPr txBox="1"/>
          <p:nvPr/>
        </p:nvSpPr>
        <p:spPr>
          <a:xfrm>
            <a:off x="6271408" y="2814523"/>
            <a:ext cx="5135142" cy="1777594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Reliability Gap = Target Performance − Actual Performance</a:t>
            </a:r>
            <a:endParaRPr lang="en-US" sz="3000" dirty="0"/>
          </a:p>
        </p:txBody>
      </p:sp>
      <p:sp>
        <p:nvSpPr>
          <p:cNvPr id="10" name="element_6417126f748b8b9f732f319de3bddfae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ccee41ed989c28cfa5cd30bf02743738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bafe9bf2eebe8c9300e04167ee38f139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9170a0975d838be410a6c19f61de783a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DECIDE</a:t>
            </a:r>
            <a:endParaRPr lang="en-US" sz="1500" dirty="0"/>
          </a:p>
        </p:txBody>
      </p:sp>
      <p:sp>
        <p:nvSpPr>
          <p:cNvPr id="4" name="element_a511214197b883156c8d688aaa3cd84d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Focus resources on local bus and weekend reliability</a:t>
            </a:r>
            <a:endParaRPr lang="en-US" sz="3800" dirty="0"/>
          </a:p>
        </p:txBody>
      </p:sp>
      <p:sp>
        <p:nvSpPr>
          <p:cNvPr id="5" name="element_c8c494689f415a8a2f59153863a2e8ce"/>
          <p:cNvSpPr txBox="1"/>
          <p:nvPr/>
        </p:nvSpPr>
        <p:spPr>
          <a:xfrm>
            <a:off x="7436934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Data supports two specific interventions: increase local bus frequency to address the 10% growth gap, and implement weekend service improvements to reverse the reliability decline from 81% to 77%.</a:t>
            </a:r>
            <a:endParaRPr lang="en-US" sz="1700" dirty="0"/>
          </a:p>
        </p:txBody>
      </p:sp>
      <p:sp>
        <p:nvSpPr>
          <p:cNvPr id="6" name="element_36ecbe88aa69627f450ac49c7d0212b4"/>
          <p:cNvSpPr txBox="1"/>
          <p:nvPr/>
        </p:nvSpPr>
        <p:spPr>
          <a:xfrm>
            <a:off x="7680768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Action 1: Boost local bus frequency on high-demand routes</a:t>
            </a:r>
            <a:endParaRPr lang="en-US" sz="1700" dirty="0"/>
          </a:p>
        </p:txBody>
      </p:sp>
      <p:sp>
        <p:nvSpPr>
          <p:cNvPr id="7" name="element_aa393eb2a10101132311b7f554ed17f3"/>
          <p:cNvSpPr txBox="1"/>
          <p:nvPr/>
        </p:nvSpPr>
        <p:spPr>
          <a:xfrm>
            <a:off x="7680768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Action 2: Deploy weekend reliability task force</a:t>
            </a:r>
            <a:endParaRPr lang="en-US" sz="1700" dirty="0"/>
          </a:p>
        </p:txBody>
      </p:sp>
      <p:sp>
        <p:nvSpPr>
          <p:cNvPr id="8" name="element_19aa258576150f1e966ff773e2bf4157"/>
          <p:cNvSpPr txBox="1"/>
          <p:nvPr/>
        </p:nvSpPr>
        <p:spPr>
          <a:xfrm>
            <a:off x="7680768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Both actions address documented performance gaps</a:t>
            </a:r>
            <a:endParaRPr lang="en-US" sz="1700" dirty="0"/>
          </a:p>
        </p:txBody>
      </p:sp>
      <p:sp>
        <p:nvSpPr>
          <p:cNvPr id="9" name="element_8f5ff393654e554f9328af050521276f"/>
          <p:cNvSpPr/>
          <p:nvPr/>
        </p:nvSpPr>
        <p:spPr>
          <a:xfrm>
            <a:off x="4927883" y="3775329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66a26baaec4acd8ba9a582d539ad7fb0"/>
          <p:cNvSpPr/>
          <p:nvPr/>
        </p:nvSpPr>
        <p:spPr>
          <a:xfrm>
            <a:off x="2796775" y="3775329"/>
            <a:ext cx="2332271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1b80a4c5807e601a4397877a91f54333"/>
          <p:cNvSpPr/>
          <p:nvPr/>
        </p:nvSpPr>
        <p:spPr>
          <a:xfrm>
            <a:off x="4818158" y="4375404"/>
            <a:ext cx="46328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2" name="element_b4c1026823a1ab1b7f5729de6c3e0984"/>
          <p:cNvSpPr/>
          <p:nvPr/>
        </p:nvSpPr>
        <p:spPr>
          <a:xfrm>
            <a:off x="2654132" y="4375404"/>
            <a:ext cx="2615119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3" name="element_4f6e1cde46dc5aecff4778d33721b41c"/>
          <p:cNvSpPr/>
          <p:nvPr/>
        </p:nvSpPr>
        <p:spPr>
          <a:xfrm>
            <a:off x="5202196" y="3377565"/>
            <a:ext cx="1868987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4f6e1cde46dc5aecff4778d33721b41c:text"/>
          <p:cNvSpPr txBox="1"/>
          <p:nvPr/>
        </p:nvSpPr>
        <p:spPr>
          <a:xfrm>
            <a:off x="5202196" y="3377565"/>
            <a:ext cx="1868987" cy="960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Identify Gaps</a:t>
            </a:r>
            <a:endParaRPr lang="en-US" sz="1600" dirty="0"/>
          </a:p>
        </p:txBody>
      </p:sp>
      <p:sp>
        <p:nvSpPr>
          <p:cNvPr id="15" name="element_3369996b4b8600fda8d1ab83f84bb883"/>
          <p:cNvSpPr/>
          <p:nvPr/>
        </p:nvSpPr>
        <p:spPr>
          <a:xfrm>
            <a:off x="3028417" y="3377565"/>
            <a:ext cx="1868987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3369996b4b8600fda8d1ab83f84bb883:text"/>
          <p:cNvSpPr txBox="1"/>
          <p:nvPr/>
        </p:nvSpPr>
        <p:spPr>
          <a:xfrm>
            <a:off x="3028417" y="3377565"/>
            <a:ext cx="1868987" cy="960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Local Bus Boost</a:t>
            </a:r>
            <a:endParaRPr lang="en-US" sz="1600" dirty="0"/>
          </a:p>
        </p:txBody>
      </p:sp>
      <p:sp>
        <p:nvSpPr>
          <p:cNvPr id="17" name="element_f05631fd341f4ca2836f2bb63c23176d"/>
          <p:cNvSpPr/>
          <p:nvPr/>
        </p:nvSpPr>
        <p:spPr>
          <a:xfrm>
            <a:off x="853419" y="3377565"/>
            <a:ext cx="1868987" cy="96012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8" name="element_f05631fd341f4ca2836f2bb63c23176d:text"/>
          <p:cNvSpPr txBox="1"/>
          <p:nvPr/>
        </p:nvSpPr>
        <p:spPr>
          <a:xfrm>
            <a:off x="853419" y="3377565"/>
            <a:ext cx="1868987" cy="960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Weekend Reliability</a:t>
            </a:r>
            <a:endParaRPr lang="en-US" sz="1600" dirty="0"/>
          </a:p>
        </p:txBody>
      </p:sp>
      <p:sp>
        <p:nvSpPr>
          <p:cNvPr id="19" name="element_dfc30db744715bfb82f157d1e0d752ce"/>
          <p:cNvSpPr/>
          <p:nvPr/>
        </p:nvSpPr>
        <p:spPr>
          <a:xfrm>
            <a:off x="5202196" y="4577715"/>
            <a:ext cx="1868987" cy="96012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20" name="element_dfc30db744715bfb82f157d1e0d752ce:text"/>
          <p:cNvSpPr txBox="1"/>
          <p:nvPr/>
        </p:nvSpPr>
        <p:spPr>
          <a:xfrm>
            <a:off x="5202196" y="4577715"/>
            <a:ext cx="1868987" cy="9601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Monitor Impact</a:t>
            </a:r>
            <a:endParaRPr lang="en-US" sz="1600" dirty="0"/>
          </a:p>
        </p:txBody>
      </p:sp>
      <p:sp>
        <p:nvSpPr>
          <p:cNvPr id="21" name="element_f45666972900e7d99e02379381928ec3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2" name="element_382502eabe2e4639df313fd34e6a27fa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f3c83da89b1e610b435b2dc4f92b1e84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972966c0505a4a7092e50992c518ff4a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DECIDE</a:t>
            </a:r>
            <a:endParaRPr lang="en-US" sz="1500" dirty="0"/>
          </a:p>
        </p:txBody>
      </p:sp>
      <p:sp>
        <p:nvSpPr>
          <p:cNvPr id="4" name="element_ccde4a73f65c7410b2ea93d83e38f8a1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 dual intervention strategy</a:t>
            </a:r>
            <a:endParaRPr lang="en-US" sz="3800" dirty="0"/>
          </a:p>
        </p:txBody>
      </p:sp>
      <p:sp>
        <p:nvSpPr>
          <p:cNvPr id="5" name="element_acfc1e9e921339f8809e26e7ae0999a8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Recommend immediate approval of local bus frequency increases and weekend reliability improvements. Establish monthly monitoring checkpoint to track progress against the 85% on-time performance target and local bus ridership growth.</a:t>
            </a:r>
            <a:endParaRPr lang="en-US" sz="1900" dirty="0"/>
          </a:p>
        </p:txBody>
      </p:sp>
      <p:sp>
        <p:nvSpPr>
          <p:cNvPr id="6" name="element_dd85aaa9de7ce6eae0f4aa93c59739eb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Approve local bus frequency increase</a:t>
            </a:r>
            <a:endParaRPr lang="en-US" sz="1700" dirty="0"/>
          </a:p>
        </p:txBody>
      </p:sp>
      <p:sp>
        <p:nvSpPr>
          <p:cNvPr id="7" name="element_059f07c6f4c69f20b019f09554ed7c47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Launch weekend reliability initiative</a:t>
            </a:r>
            <a:endParaRPr lang="en-US" sz="1700" dirty="0"/>
          </a:p>
        </p:txBody>
      </p:sp>
      <p:sp>
        <p:nvSpPr>
          <p:cNvPr id="8" name="element_0d6c44d75398972f977aa7cf4c2ffa83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First progress checkpoint: 30 days</a:t>
            </a:r>
            <a:endParaRPr lang="en-US" sz="1700" dirty="0"/>
          </a:p>
        </p:txBody>
      </p:sp>
      <p:sp>
        <p:nvSpPr>
          <p:cNvPr id="9" name="element_01d3800a6b4b763c931ba1bd403546a6:fallback-shape"/>
          <p:cNvSpPr/>
          <p:nvPr/>
        </p:nvSpPr>
        <p:spPr>
          <a:xfrm>
            <a:off x="6461598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01d3800a6b4b763c931ba1bd403546a6:fallback-label"/>
          <p:cNvSpPr/>
          <p:nvPr/>
        </p:nvSpPr>
        <p:spPr>
          <a:xfrm>
            <a:off x="6461598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Illustrative placeholder for city transit system map showing bus and rail routes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Placeholder image - replace with licensed transit map or city photography</a:t>
            </a:r>
            <a:endParaRPr lang="en-US" sz="1400" dirty="0"/>
          </a:p>
        </p:txBody>
      </p:sp>
      <p:sp>
        <p:nvSpPr>
          <p:cNvPr id="11" name="element_a53f4a9052e528121821b9047f85933c"/>
          <p:cNvSpPr txBox="1"/>
          <p:nvPr/>
        </p:nvSpPr>
        <p:spPr>
          <a:xfrm>
            <a:off x="6705432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 before external use · Placeholder image - replace with licensed transit map or city photography</a:t>
            </a:r>
            <a:endParaRPr lang="en-US" sz="1400" dirty="0"/>
          </a:p>
        </p:txBody>
      </p:sp>
      <p:sp>
        <p:nvSpPr>
          <p:cNvPr id="12" name="element_01b1f29ec5e2c811a41a42571048f122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7bc838657f87a9379e61d8bab06c8f41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seven-slide data story for city mobility planners deciding w…</dc:title>
  <dc:subject>Create an editable, reviewable presentation from this idea</dc:subject>
  <dc:creator>NodeSlide</dc:creator>
  <cp:lastModifiedBy>NodeSlide</cp:lastModifiedBy>
  <cp:revision>1</cp:revision>
  <dcterms:created xsi:type="dcterms:W3CDTF">2026-07-21T23:57:34Z</dcterms:created>
  <dcterms:modified xsi:type="dcterms:W3CDTF">2026-07-21T23:57:34Z</dcterms:modified>
</cp:coreProperties>
</file>