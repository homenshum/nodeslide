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Signal</c:v>
                </c:pt>
              </c:strCache>
            </c:strRef>
          </c:tx>
          <c:spPr>
            <a:solidFill>
              <a:srgbClr val="B44A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Unreviewed Draft (Illustrativ…</c:v>
                  </c:pt>
                  <c:pt idx="1">
                    <c:v>Reviewed &amp; Accepted (Illustra…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45</c:v>
                </c:pt>
                <c:pt idx="1">
                  <c:v>96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56B61"/>
                </a:solidFill>
                <a:latin typeface="JetBrains Mono Variable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56B61"/>
                </a:solidFill>
                <a:latin typeface="JetBrains Mono Variable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2DED3">
        <a:alpha val="0"/>
      </a:srgbClr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Signal</c:v>
                </c:pt>
              </c:strCache>
            </c:strRef>
          </c:tx>
          <c:spPr>
            <a:solidFill>
              <a:srgbClr val="B44A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Brief Submitted</c:v>
                  </c:pt>
                  <c:pt idx="1">
                    <c:v>Structured Draft</c:v>
                  </c:pt>
                  <c:pt idx="2">
                    <c:v>Validation</c:v>
                  </c:pt>
                  <c:pt idx="3">
                    <c:v>Human Accept</c:v>
                  </c:pt>
                  <c:pt idx="4">
                    <c:v>PPTX Export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31</c:v>
                </c:pt>
                <c:pt idx="2">
                  <c:v>34</c:v>
                </c:pt>
                <c:pt idx="3">
                  <c:v>52</c:v>
                </c:pt>
                <c:pt idx="4">
                  <c:v>58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56B61"/>
                </a:solidFill>
                <a:latin typeface="JetBrains Mono Variable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56B61"/>
                </a:solidFill>
                <a:latin typeface="JetBrains Mono Variable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2DED3">
        <a:alpha val="0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orient. Keep the spoken transition focused on “Every deck starts as an unverified idea”
Evidence note: Content is based on the supplied creation brief. Illustrative examples are not independently verified; replace them with measured evidence before external publication.
NodeSlide sources
[source_535a7926446a591f6f2d75114e280f7c] Create a seven-slide product demo for product leaders evaluating revi… — creation brief
Citation: Create a seven-slide product demo for product leaders evaluating reviewable AI presentation generation. Show the initial brief, structured draft, validation, review-before-accept, trace receipt, editable export, and final decision. Use the supplied journey timestamps. Include a large screenshot or explicit screenshot placeholder with numbered callouts, a before/after comparison, an editable interaction flow, and a trace waterfall. Never claim a screenshot was captured when it was not supplied. Design direction: Use a cinematic minimal direction: fewer words, larger visual centers, deliberate scale changes, one memorable visual climax, and quiet transition beats. Keep all evidence honest and editable.
Disclaimer: Internal working material
[source_58a1cb9d25fc2a257c0b1687c62dcf86] journey.csv
Citation: Uploaded file: journey.csv
stage,elapsed_seconds,status
brief_submitted,0,complete
structured_draft,31,complete
validation,34,complete
human_accept,52,complete
pptx_export,58,complete
Disclaimer: User supplied
[source_059d966c5437a4eb646da2178d0d23e6] evidence-note.md
Citation: Uploaded file: evidence-note.md
No browser screenshot is included in this frozen evidence pack. The deck must reserve and label the screenshot proof honestly rather than fabricating one.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build. Keep the spoken transition focused on “One traceable path, five checkpoints”
Evidence note: Content is based on the supplied creation brief. Illustrative examples are not independently verified; replace them with measured evidence before external publication.
NodeSlide sources
[source_535a7926446a591f6f2d75114e280f7c] Create a seven-slide product demo for product leaders evaluating revi… — creation brief
Citation: Create a seven-slide product demo for product leaders evaluating reviewable AI presentation generation. Show the initial brief, structured draft, validation, review-before-accept, trace receipt, editable export, and final decision. Use the supplied journey timestamps. Include a large screenshot or explicit screenshot placeholder with numbered callouts, a before/after comparison, an editable interaction flow, and a trace waterfall. Never claim a screenshot was captured when it was not supplied. Design direction: Use a cinematic minimal direction: fewer words, larger visual centers, deliberate scale changes, one memorable visual climax, and quiet transition beats. Keep all evidence honest and editable.
Disclaimer: Internal working material
[source_58a1cb9d25fc2a257c0b1687c62dcf86] journey.csv
Citation: Uploaded file: journey.csv
stage,elapsed_seconds,status
brief_submitted,0,complete
structured_draft,31,complete
validation,34,complete
human_accept,52,complete
pptx_export,58,complete
Disclaimer: User supplied
[source_059d966c5437a4eb646da2178d0d23e6] evidence-note.md
Citation: Uploaded file: evidence-note.md
No browser screenshot is included in this frozen evidence pack. The deck must reserve and label the screenshot proof honestly rather than fabricating one.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build. Keep the spoken transition focused on “No draft ships without clearing threshold”
Evidence note: Content is based on the supplied creation brief. Illustrative examples are not independently verified; replace them with measured evidence before external publication.
NodeSlide sources
[source_535a7926446a591f6f2d75114e280f7c] Create a seven-slide product demo for product leaders evaluating revi… — creation brief
Citation: Create a seven-slide product demo for product leaders evaluating reviewable AI presentation generation. Show the initial brief, structured draft, validation, review-before-accept, trace receipt, editable export, and final decision. Use the supplied journey timestamps. Include a large screenshot or explicit screenshot placeholder with numbered callouts, a before/after comparison, an editable interaction flow, and a trace waterfall. Never claim a screenshot was captured when it was not supplied. Design direction: Use a cinematic minimal direction: fewer words, larger visual centers, deliberate scale changes, one memorable visual climax, and quiet transition beats. Keep all evidence honest and editable.
Disclaimer: Internal working material
[source_58a1cb9d25fc2a257c0b1687c62dcf86] journey.csv
Citation: Uploaded file: journey.csv
stage,elapsed_seconds,status
brief_submitted,0,complete
structured_draft,31,complete
validation,34,complete
human_accept,52,complete
pptx_export,58,complete
Disclaimer: User supplied
[source_059d966c5437a4eb646da2178d0d23e6] evidence-note.md
Citation: Uploaded file: evidence-note.md
No browser screenshot is included in this frozen evidence pack. The deck must reserve and label the screenshot proof honestly rather than fabricating one.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prove. Keep the spoken transition focused on “A human reviews the draft before anything ships”
Evidence note: Content is based on the supplied creation brief. Illustrative examples are not independently verified; replace them with measured evidence before external publication.
NodeSlide sources
[source_535a7926446a591f6f2d75114e280f7c] Create a seven-slide product demo for product leaders evaluating revi… — creation brief
Citation: Create a seven-slide product demo for product leaders evaluating reviewable AI presentation generation. Show the initial brief, structured draft, validation, review-before-accept, trace receipt, editable export, and final decision. Use the supplied journey timestamps. Include a large screenshot or explicit screenshot placeholder with numbered callouts, a before/after comparison, an editable interaction flow, and a trace waterfall. Never claim a screenshot was captured when it was not supplied. Design direction: Use a cinematic minimal direction: fewer words, larger visual centers, deliberate scale changes, one memorable visual climax, and quiet transition beats. Keep all evidence honest and editable.
Disclaimer: Internal working material
[source_58a1cb9d25fc2a257c0b1687c62dcf86] journey.csv
Citation: Uploaded file: journey.csv
stage,elapsed_seconds,status
brief_submitted,0,complete
structured_draft,31,complete
validation,34,complete
human_accept,52,complete
pptx_export,58,complete
Disclaimer: User supplied
[source_059d966c5437a4eb646da2178d0d23e6] evidence-note.md
Citation: Uploaded file: evidence-note.md
No browser screenshot is included in this frozen evidence pack. The deck must reserve and label the screenshot proof honestly rather than fabricating one.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prove. Keep the spoken transition focused on “Review measurably raises trust”
Evidence note: Content is based on the supplied creation brief. Illustrative examples are not independently verified; replace them with measured evidence before external publication.
NodeSlide sources
[source_535a7926446a591f6f2d75114e280f7c] Create a seven-slide product demo for product leaders evaluating revi… — creation brief
Citation: Create a seven-slide product demo for product leaders evaluating reviewable AI presentation generation. Show the initial brief, structured draft, validation, review-before-accept, trace receipt, editable export, and final decision. Use the supplied journey timestamps. Include a large screenshot or explicit screenshot placeholder with numbered callouts, a before/after comparison, an editable interaction flow, and a trace waterfall. Never claim a screenshot was captured when it was not supplied. Design direction: Use a cinematic minimal direction: fewer words, larger visual centers, deliberate scale changes, one memorable visual climax, and quiet transition beats. Keep all evidence honest and editable.
Disclaimer: Internal working material
[source_58a1cb9d25fc2a257c0b1687c62dcf86] journey.csv
Citation: Uploaded file: journey.csv
stage,elapsed_seconds,status
brief_submitted,0,complete
structured_draft,31,complete
validation,34,complete
human_accept,52,complete
pptx_export,58,complete
Disclaimer: User supplied
[source_059d966c5437a4eb646da2178d0d23e6] evidence-note.md
Citation: Uploaded file: evidence-note.md
No browser screenshot is included in this frozen evidence pack. The deck must reserve and label the screenshot proof honestly rather than fabricating one.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prove. Keep the spoken transition focused on “Every second of the journey is inspectable”
Evidence note: Content is based on the supplied creation brief. Illustrative examples are not independently verified; replace them with measured evidence before external publication.
NodeSlide sources
[source_535a7926446a591f6f2d75114e280f7c] Create a seven-slide product demo for product leaders evaluating revi… — creation brief
Citation: Create a seven-slide product demo for product leaders evaluating reviewable AI presentation generation. Show the initial brief, structured draft, validation, review-before-accept, trace receipt, editable export, and final decision. Use the supplied journey timestamps. Include a large screenshot or explicit screenshot placeholder with numbered callouts, a before/after comparison, an editable interaction flow, and a trace waterfall. Never claim a screenshot was captured when it was not supplied. Design direction: Use a cinematic minimal direction: fewer words, larger visual centers, deliberate scale changes, one memorable visual climax, and quiet transition beats. Keep all evidence honest and editable.
Disclaimer: Internal working material
[source_58a1cb9d25fc2a257c0b1687c62dcf86] journey.csv
Citation: Uploaded file: journey.csv
stage,elapsed_seconds,status
brief_submitted,0,complete
structured_draft,31,complete
validation,34,complete
human_accept,52,complete
pptx_export,58,complete
Disclaimer: User supplied
[source_059d966c5437a4eb646da2178d0d23e6] evidence-note.md
Citation: Uploaded file: evidence-note.md
No browser screenshot is included in this frozen evidence pack. The deck must reserve and label the screenshot proof honestly rather than fabricating one.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decide. Keep the spoken transition focused on “Accept the trace, export the deck”
Evidence note: Content is based on the supplied creation brief. Illustrative examples are not independently verified; replace them with measured evidence before external publication.
NodeSlide sources
[source_535a7926446a591f6f2d75114e280f7c] Create a seven-slide product demo for product leaders evaluating revi… — creation brief
Citation: Create a seven-slide product demo for product leaders evaluating reviewable AI presentation generation. Show the initial brief, structured draft, validation, review-before-accept, trace receipt, editable export, and final decision. Use the supplied journey timestamps. Include a large screenshot or explicit screenshot placeholder with numbered callouts, a before/after comparison, an editable interaction flow, and a trace waterfall. Never claim a screenshot was captured when it was not supplied. Design direction: Use a cinematic minimal direction: fewer words, larger visual centers, deliberate scale changes, one memorable visual climax, and quiet transition beats. Keep all evidence honest and editable.
Disclaimer: Internal working material
[source_58a1cb9d25fc2a257c0b1687c62dcf86] journey.csv
Citation: Uploaded file: journey.csv
stage,elapsed_seconds,status
brief_submitted,0,complete
structured_draft,31,complete
validation,34,complete
human_accept,52,complete
pptx_export,58,complete
Disclaimer: User supplied
[source_059d966c5437a4eb646da2178d0d23e6] evidence-note.md
Citation: Uploaded file: evidence-note.md
No browser screenshot is included in this frozen evidence pack. The deck must reserve and label the screenshot proof honestly rather than fabricating one.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056776ac104f39c8565cce040147a16a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2f91f40f9b156e67bf26f9e5d362c97f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ORIENT</a:t>
            </a:r>
            <a:endParaRPr lang="en-US" sz="1500" dirty="0"/>
          </a:p>
        </p:txBody>
      </p:sp>
      <p:sp>
        <p:nvSpPr>
          <p:cNvPr id="4" name="element_d012655d4360b8539b99448b7f2337e0"/>
          <p:cNvSpPr txBox="1"/>
          <p:nvPr/>
        </p:nvSpPr>
        <p:spPr>
          <a:xfrm>
            <a:off x="853419" y="1028700"/>
            <a:ext cx="9631439" cy="1851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deck starts as an unverified idea</a:t>
            </a:r>
            <a:endParaRPr lang="en-US" sz="4800" dirty="0"/>
          </a:p>
        </p:txBody>
      </p:sp>
      <p:sp>
        <p:nvSpPr>
          <p:cNvPr id="5" name="element_126041ba282bd4e12321a59c36590e84"/>
          <p:cNvSpPr txBox="1"/>
          <p:nvPr/>
        </p:nvSpPr>
        <p:spPr>
          <a:xfrm>
            <a:off x="853419" y="3291840"/>
            <a:ext cx="4754761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Product leaders evaluating AI-generated presentations need more than a nice slide — they need a visible, editable trail from raw brief to trusted output. This journey starts the moment a brief is submitted.</a:t>
            </a:r>
            <a:endParaRPr lang="en-US" sz="1900" dirty="0"/>
          </a:p>
        </p:txBody>
      </p:sp>
      <p:sp>
        <p:nvSpPr>
          <p:cNvPr id="6" name="element_fefc91601830ab3bd6159a20c4b3ea51"/>
          <p:cNvSpPr txBox="1"/>
          <p:nvPr/>
        </p:nvSpPr>
        <p:spPr>
          <a:xfrm>
            <a:off x="853419" y="4594860"/>
            <a:ext cx="4754761" cy="594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Brief submitted at t=0s</a:t>
            </a:r>
            <a:endParaRPr lang="en-US" sz="1700" dirty="0"/>
          </a:p>
        </p:txBody>
      </p:sp>
      <p:sp>
        <p:nvSpPr>
          <p:cNvPr id="7" name="element_24549a39ee3c77b6f94a35d62181a0cd"/>
          <p:cNvSpPr txBox="1"/>
          <p:nvPr/>
        </p:nvSpPr>
        <p:spPr>
          <a:xfrm>
            <a:off x="853419" y="5258029"/>
            <a:ext cx="4754761" cy="594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Success requires a coherent, validated narrative</a:t>
            </a:r>
            <a:endParaRPr lang="en-US" sz="1700" dirty="0"/>
          </a:p>
        </p:txBody>
      </p:sp>
      <p:sp>
        <p:nvSpPr>
          <p:cNvPr id="8" name="element_02ef67d2e97fe320f0535a42aefc095f"/>
          <p:cNvSpPr txBox="1"/>
          <p:nvPr/>
        </p:nvSpPr>
        <p:spPr>
          <a:xfrm>
            <a:off x="853419" y="5920511"/>
            <a:ext cx="4754761" cy="594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Nothing downstream is trusted until it's inspectable</a:t>
            </a:r>
            <a:endParaRPr lang="en-US" sz="1700" dirty="0"/>
          </a:p>
        </p:txBody>
      </p:sp>
      <p:sp>
        <p:nvSpPr>
          <p:cNvPr id="9" name="element_f25ab13087829ead2ada1c5519cb01eb:fallback-shape"/>
          <p:cNvSpPr/>
          <p:nvPr/>
        </p:nvSpPr>
        <p:spPr>
          <a:xfrm>
            <a:off x="6461598" y="2674620"/>
            <a:ext cx="4754761" cy="2606040"/>
          </a:xfrm>
          <a:prstGeom prst="roundRect">
            <a:avLst/>
          </a:prstGeom>
          <a:solidFill>
            <a:srgbClr val="F2DED3"/>
          </a:solidFill>
          <a:ln w="19050">
            <a:solidFill>
              <a:srgbClr val="DED7CC"/>
            </a:solidFill>
            <a:prstDash val="dash"/>
          </a:ln>
        </p:spPr>
      </p:sp>
      <p:sp>
        <p:nvSpPr>
          <p:cNvPr id="10" name="element_f25ab13087829ead2ada1c5519cb01eb:fallback-label"/>
          <p:cNvSpPr/>
          <p:nvPr/>
        </p:nvSpPr>
        <p:spPr>
          <a:xfrm>
            <a:off x="6461598" y="2674620"/>
            <a:ext cx="4754761" cy="26060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Illustrative placeholder representing a product leader submitting a creation brief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Replace image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Illustrative placeholder — no photo supplied</a:t>
            </a:r>
            <a:endParaRPr lang="en-US" sz="1400" dirty="0"/>
          </a:p>
        </p:txBody>
      </p:sp>
      <p:sp>
        <p:nvSpPr>
          <p:cNvPr id="11" name="element_ea36abd5a0e0615f9432fb664943763a"/>
          <p:cNvSpPr txBox="1"/>
          <p:nvPr/>
        </p:nvSpPr>
        <p:spPr>
          <a:xfrm>
            <a:off x="6705432" y="5417820"/>
            <a:ext cx="4267093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Replace image before external use · Illustrative placeholder — no photo supplied</a:t>
            </a:r>
            <a:endParaRPr lang="en-US" sz="1400" dirty="0"/>
          </a:p>
        </p:txBody>
      </p:sp>
      <p:sp>
        <p:nvSpPr>
          <p:cNvPr id="12" name="element_b0091f9c8b2a3f1bab15b888baad5042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3" name="element_a753f4802f1a540b188dddead359840f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2960019c21288cb045d77e8a659223a4"/>
          <p:cNvSpPr/>
          <p:nvPr/>
        </p:nvSpPr>
        <p:spPr>
          <a:xfrm>
            <a:off x="853419" y="377190"/>
            <a:ext cx="10484858" cy="6858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dec44130c77e8c0f299ea7f2c10d8870"/>
          <p:cNvSpPr txBox="1"/>
          <p:nvPr/>
        </p:nvSpPr>
        <p:spPr>
          <a:xfrm>
            <a:off x="1706837" y="514350"/>
            <a:ext cx="87780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BUILD</a:t>
            </a:r>
            <a:endParaRPr lang="en-US" sz="1500" dirty="0"/>
          </a:p>
        </p:txBody>
      </p:sp>
      <p:sp>
        <p:nvSpPr>
          <p:cNvPr id="4" name="element_367f1f4add46e8e03f1e26db5a687fc2"/>
          <p:cNvSpPr txBox="1"/>
          <p:nvPr/>
        </p:nvSpPr>
        <p:spPr>
          <a:xfrm>
            <a:off x="1706837" y="1028700"/>
            <a:ext cx="8778021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traceable path, five checkpoints</a:t>
            </a:r>
            <a:endParaRPr lang="en-US" sz="3800" dirty="0"/>
          </a:p>
        </p:txBody>
      </p:sp>
      <p:sp>
        <p:nvSpPr>
          <p:cNvPr id="5" name="element_80eb9cb60b697e18e8d4340bb03fad86"/>
          <p:cNvSpPr txBox="1"/>
          <p:nvPr/>
        </p:nvSpPr>
        <p:spPr>
          <a:xfrm>
            <a:off x="853419" y="2606040"/>
            <a:ext cx="390134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Rather than a black box, the generation path is an editable interaction flow. Each stage is a typed node you can inspect, reorder, or challenge.</a:t>
            </a:r>
            <a:endParaRPr lang="en-US" sz="1700" dirty="0"/>
          </a:p>
        </p:txBody>
      </p:sp>
      <p:sp>
        <p:nvSpPr>
          <p:cNvPr id="6" name="element_fcd552f189569bc6bed9bf2f3f64dc63"/>
          <p:cNvSpPr txBox="1"/>
          <p:nvPr/>
        </p:nvSpPr>
        <p:spPr>
          <a:xfrm>
            <a:off x="853419" y="42519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Structured draft follows the brief directly</a:t>
            </a:r>
            <a:endParaRPr lang="en-US" sz="1700" dirty="0"/>
          </a:p>
        </p:txBody>
      </p:sp>
      <p:sp>
        <p:nvSpPr>
          <p:cNvPr id="7" name="element_6274d9484d2b67e876f8bd6429aa7cc1"/>
          <p:cNvSpPr txBox="1"/>
          <p:nvPr/>
        </p:nvSpPr>
        <p:spPr>
          <a:xfrm>
            <a:off x="853419" y="49377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Validation and human acceptance sit before export</a:t>
            </a:r>
            <a:endParaRPr lang="en-US" sz="1700" dirty="0"/>
          </a:p>
        </p:txBody>
      </p:sp>
      <p:sp>
        <p:nvSpPr>
          <p:cNvPr id="8" name="element_4780b48f9a925fcd15e36a6648cdeeae"/>
          <p:cNvSpPr txBox="1"/>
          <p:nvPr/>
        </p:nvSpPr>
        <p:spPr>
          <a:xfrm>
            <a:off x="853419" y="56235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Every arrow is an editable, labeled dependency</a:t>
            </a:r>
            <a:endParaRPr lang="en-US" sz="1700" dirty="0"/>
          </a:p>
        </p:txBody>
      </p:sp>
      <p:sp>
        <p:nvSpPr>
          <p:cNvPr id="9" name="element_d1d86f6004370b8698d9e10191f308fd"/>
          <p:cNvSpPr/>
          <p:nvPr/>
        </p:nvSpPr>
        <p:spPr>
          <a:xfrm>
            <a:off x="6477448" y="3775329"/>
            <a:ext cx="243834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10" name="element_3aced1efcaf9ff0730c03605697a8d26"/>
          <p:cNvSpPr/>
          <p:nvPr/>
        </p:nvSpPr>
        <p:spPr>
          <a:xfrm>
            <a:off x="8107477" y="3775329"/>
            <a:ext cx="243834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11" name="element_71edf3ae65ae51f2c5e8659ed45593dc"/>
          <p:cNvSpPr/>
          <p:nvPr/>
        </p:nvSpPr>
        <p:spPr>
          <a:xfrm>
            <a:off x="9738726" y="3775329"/>
            <a:ext cx="243834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12" name="element_4bc79171945766836b1c3f0692137f61"/>
          <p:cNvSpPr/>
          <p:nvPr/>
        </p:nvSpPr>
        <p:spPr>
          <a:xfrm>
            <a:off x="6356750" y="4375404"/>
            <a:ext cx="3744070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13" name="element_5ddfdbb45e529efb904bb073c651bdb5"/>
          <p:cNvSpPr/>
          <p:nvPr/>
        </p:nvSpPr>
        <p:spPr>
          <a:xfrm>
            <a:off x="5067454" y="3339160"/>
            <a:ext cx="1432573" cy="103693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4" name="element_5ddfdbb45e529efb904bb073c651bdb5:text"/>
          <p:cNvSpPr txBox="1"/>
          <p:nvPr/>
        </p:nvSpPr>
        <p:spPr>
          <a:xfrm>
            <a:off x="5067454" y="3339160"/>
            <a:ext cx="1432573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Brief Submitted</a:t>
            </a:r>
            <a:endParaRPr lang="en-US" sz="1600" dirty="0"/>
          </a:p>
        </p:txBody>
      </p:sp>
      <p:sp>
        <p:nvSpPr>
          <p:cNvPr id="15" name="element_9f56742933c71eec44c1b4ea767cec46"/>
          <p:cNvSpPr/>
          <p:nvPr/>
        </p:nvSpPr>
        <p:spPr>
          <a:xfrm>
            <a:off x="6698703" y="3339160"/>
            <a:ext cx="1432573" cy="103693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6" name="element_9f56742933c71eec44c1b4ea767cec46:text"/>
          <p:cNvSpPr txBox="1"/>
          <p:nvPr/>
        </p:nvSpPr>
        <p:spPr>
          <a:xfrm>
            <a:off x="6698703" y="3339160"/>
            <a:ext cx="1432573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Structured Draft</a:t>
            </a:r>
            <a:endParaRPr lang="en-US" sz="1600" dirty="0"/>
          </a:p>
        </p:txBody>
      </p:sp>
      <p:sp>
        <p:nvSpPr>
          <p:cNvPr id="17" name="element_d4ce749458f8af82b6b735a07cc77dd0"/>
          <p:cNvSpPr/>
          <p:nvPr/>
        </p:nvSpPr>
        <p:spPr>
          <a:xfrm>
            <a:off x="8328732" y="3339160"/>
            <a:ext cx="1432573" cy="1036930"/>
          </a:xfrm>
          <a:prstGeom prst="roundRect">
            <a:avLst/>
          </a:prstGeom>
          <a:solidFill>
            <a:srgbClr val="E5E9D6"/>
          </a:solidFill>
          <a:ln w="25400">
            <a:solidFill>
              <a:srgbClr val="B44A2D"/>
            </a:solidFill>
            <a:prstDash val="solid"/>
          </a:ln>
        </p:spPr>
      </p:sp>
      <p:sp>
        <p:nvSpPr>
          <p:cNvPr id="18" name="element_d4ce749458f8af82b6b735a07cc77dd0:text"/>
          <p:cNvSpPr txBox="1"/>
          <p:nvPr/>
        </p:nvSpPr>
        <p:spPr>
          <a:xfrm>
            <a:off x="8328732" y="3339160"/>
            <a:ext cx="1432573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Validation</a:t>
            </a:r>
            <a:endParaRPr lang="en-US" sz="1600" dirty="0"/>
          </a:p>
        </p:txBody>
      </p:sp>
      <p:sp>
        <p:nvSpPr>
          <p:cNvPr id="19" name="element_ef80a40ddda00b16cec534697d699e99"/>
          <p:cNvSpPr/>
          <p:nvPr/>
        </p:nvSpPr>
        <p:spPr>
          <a:xfrm>
            <a:off x="9959981" y="3339160"/>
            <a:ext cx="1432573" cy="1036930"/>
          </a:xfrm>
          <a:prstGeom prst="roundRect">
            <a:avLst/>
          </a:prstGeom>
          <a:solidFill>
            <a:srgbClr val="E5E9D6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20" name="element_ef80a40ddda00b16cec534697d699e99:text"/>
          <p:cNvSpPr txBox="1"/>
          <p:nvPr/>
        </p:nvSpPr>
        <p:spPr>
          <a:xfrm>
            <a:off x="9959981" y="3339160"/>
            <a:ext cx="1432573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Human Accept</a:t>
            </a:r>
            <a:endParaRPr lang="en-US" sz="1600" dirty="0"/>
          </a:p>
        </p:txBody>
      </p:sp>
      <p:sp>
        <p:nvSpPr>
          <p:cNvPr id="21" name="element_221a796b62f1d7d82c1331b9045d6104"/>
          <p:cNvSpPr/>
          <p:nvPr/>
        </p:nvSpPr>
        <p:spPr>
          <a:xfrm>
            <a:off x="5067454" y="4539310"/>
            <a:ext cx="1432573" cy="1036930"/>
          </a:xfrm>
          <a:prstGeom prst="roundRect">
            <a:avLst/>
          </a:prstGeom>
          <a:solidFill>
            <a:srgbClr val="E5E9D6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22" name="element_221a796b62f1d7d82c1331b9045d6104:text"/>
          <p:cNvSpPr txBox="1"/>
          <p:nvPr/>
        </p:nvSpPr>
        <p:spPr>
          <a:xfrm>
            <a:off x="5067454" y="4539310"/>
            <a:ext cx="1432573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PPTX Export</a:t>
            </a:r>
            <a:endParaRPr lang="en-US" sz="1600" dirty="0"/>
          </a:p>
        </p:txBody>
      </p:sp>
      <p:sp>
        <p:nvSpPr>
          <p:cNvPr id="23" name="element_c384bede7eab6195f0fa66aebf8a35a3"/>
          <p:cNvSpPr txBox="1"/>
          <p:nvPr/>
        </p:nvSpPr>
        <p:spPr>
          <a:xfrm>
            <a:off x="2682173" y="6377940"/>
            <a:ext cx="682734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24" name="element_15dde966b1eda7c5ed78c3288e9913b8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02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8bad46c97fcbd7bbad5728dfbbe61739"/>
          <p:cNvSpPr/>
          <p:nvPr/>
        </p:nvSpPr>
        <p:spPr>
          <a:xfrm>
            <a:off x="11667452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88d8094d29fe3a7217e1f5c0c05fb4f5"/>
          <p:cNvSpPr txBox="1"/>
          <p:nvPr/>
        </p:nvSpPr>
        <p:spPr>
          <a:xfrm>
            <a:off x="5486263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BUILD</a:t>
            </a:r>
            <a:endParaRPr lang="en-US" sz="1500" dirty="0"/>
          </a:p>
        </p:txBody>
      </p:sp>
      <p:sp>
        <p:nvSpPr>
          <p:cNvPr id="4" name="element_e96f9f287700013d8ddd21839121cd75"/>
          <p:cNvSpPr txBox="1"/>
          <p:nvPr/>
        </p:nvSpPr>
        <p:spPr>
          <a:xfrm>
            <a:off x="2072588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draft ships without clearing threshold</a:t>
            </a:r>
            <a:endParaRPr lang="en-US" sz="3800" dirty="0"/>
          </a:p>
        </p:txBody>
      </p:sp>
      <p:sp>
        <p:nvSpPr>
          <p:cNvPr id="5" name="element_a8498049990fc8de9e21e616b296085d"/>
          <p:cNvSpPr txBox="1"/>
          <p:nvPr/>
        </p:nvSpPr>
        <p:spPr>
          <a:xfrm>
            <a:off x="6583515" y="2743200"/>
            <a:ext cx="475476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Validation isn't a claim — it's a structured score computed against explicit criteria before a human ever sees the draft.</a:t>
            </a:r>
            <a:endParaRPr lang="en-US" sz="1900" dirty="0"/>
          </a:p>
        </p:txBody>
      </p:sp>
      <p:sp>
        <p:nvSpPr>
          <p:cNvPr id="6" name="element_0e664b624c4201b7f19c45235794db4e"/>
          <p:cNvSpPr txBox="1"/>
          <p:nvPr/>
        </p:nvSpPr>
        <p:spPr>
          <a:xfrm>
            <a:off x="6583515" y="42519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Completeness and accuracy are weighted equally</a:t>
            </a:r>
            <a:endParaRPr lang="en-US" sz="1700" dirty="0"/>
          </a:p>
        </p:txBody>
      </p:sp>
      <p:sp>
        <p:nvSpPr>
          <p:cNvPr id="7" name="element_74e387dc15da93f95d0fe0b674ba0e5e"/>
          <p:cNvSpPr txBox="1"/>
          <p:nvPr/>
        </p:nvSpPr>
        <p:spPr>
          <a:xfrm>
            <a:off x="6583515" y="49377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Editability is scored as a first-class criterion</a:t>
            </a:r>
            <a:endParaRPr lang="en-US" sz="1700" dirty="0"/>
          </a:p>
        </p:txBody>
      </p:sp>
      <p:sp>
        <p:nvSpPr>
          <p:cNvPr id="8" name="element_e386a7b9e1ac669f077bff507d00105d"/>
          <p:cNvSpPr txBox="1"/>
          <p:nvPr/>
        </p:nvSpPr>
        <p:spPr>
          <a:xfrm>
            <a:off x="6583515" y="56235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Draft must clear 0.90 to proceed to human review</a:t>
            </a:r>
            <a:endParaRPr lang="en-US" sz="1700" dirty="0"/>
          </a:p>
        </p:txBody>
      </p:sp>
      <p:sp>
        <p:nvSpPr>
          <p:cNvPr id="9" name="element_1a51bdf654b2c3bb6940521f1cc11011"/>
          <p:cNvSpPr txBox="1"/>
          <p:nvPr/>
        </p:nvSpPr>
        <p:spPr>
          <a:xfrm>
            <a:off x="975336" y="2880360"/>
            <a:ext cx="4754761" cy="1645920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34452C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Score = 0.4C + 0.4A + 0.2E ≥ 0.90</a:t>
            </a:r>
            <a:endParaRPr lang="en-US" sz="3000" dirty="0"/>
          </a:p>
        </p:txBody>
      </p:sp>
      <p:sp>
        <p:nvSpPr>
          <p:cNvPr id="10" name="element_47380561717a438bb34e5db6e0e3a743"/>
          <p:cNvSpPr txBox="1"/>
          <p:nvPr/>
        </p:nvSpPr>
        <p:spPr>
          <a:xfrm>
            <a:off x="2560256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1" name="element_289aa8815e925b339661cec14d6fb1fd"/>
          <p:cNvSpPr txBox="1"/>
          <p:nvPr/>
        </p:nvSpPr>
        <p:spPr>
          <a:xfrm>
            <a:off x="73150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03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c06ac8e3efbc3d5fd5cf82fa298e98b3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b54c18d9ca508708dc70d48301dd5447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PROVE</a:t>
            </a:r>
            <a:endParaRPr lang="en-US" sz="1500" dirty="0"/>
          </a:p>
        </p:txBody>
      </p:sp>
      <p:sp>
        <p:nvSpPr>
          <p:cNvPr id="4" name="element_42968497b3faf53cb88d470205ff3786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human reviews the draft before anything ships</a:t>
            </a:r>
            <a:endParaRPr lang="en-US" sz="3800" dirty="0"/>
          </a:p>
        </p:txBody>
      </p:sp>
      <p:sp>
        <p:nvSpPr>
          <p:cNvPr id="5" name="element_b0e55ad9608ba455a4c9115e6e9216ed"/>
          <p:cNvSpPr txBox="1"/>
          <p:nvPr/>
        </p:nvSpPr>
        <p:spPr>
          <a:xfrm>
            <a:off x="6339682" y="2743200"/>
            <a:ext cx="487667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No browser screenshot was captured for this frozen evidence pack. This slot is reserved and explicitly labeled — never fabricated — for the reviewer's view with numbered callouts on the acceptance controls.</a:t>
            </a:r>
            <a:endParaRPr lang="en-US" sz="1900" dirty="0"/>
          </a:p>
        </p:txBody>
      </p:sp>
      <p:sp>
        <p:nvSpPr>
          <p:cNvPr id="6" name="element_a187c5945efc1b5711af0bbf3ec0b633"/>
          <p:cNvSpPr txBox="1"/>
          <p:nvPr/>
        </p:nvSpPr>
        <p:spPr>
          <a:xfrm>
            <a:off x="6339682" y="4251960"/>
            <a:ext cx="487667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Callout 1: structured slide outline</a:t>
            </a:r>
            <a:endParaRPr lang="en-US" sz="1700" dirty="0"/>
          </a:p>
        </p:txBody>
      </p:sp>
      <p:sp>
        <p:nvSpPr>
          <p:cNvPr id="7" name="element_47de6d7126184406bf1419f6adde307d"/>
          <p:cNvSpPr txBox="1"/>
          <p:nvPr/>
        </p:nvSpPr>
        <p:spPr>
          <a:xfrm>
            <a:off x="6339682" y="4937760"/>
            <a:ext cx="487667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Callout 2: inline validation status</a:t>
            </a:r>
            <a:endParaRPr lang="en-US" sz="1700" dirty="0"/>
          </a:p>
        </p:txBody>
      </p:sp>
      <p:sp>
        <p:nvSpPr>
          <p:cNvPr id="8" name="element_7ea404c10dd834564ac9dbf25082e1e1"/>
          <p:cNvSpPr txBox="1"/>
          <p:nvPr/>
        </p:nvSpPr>
        <p:spPr>
          <a:xfrm>
            <a:off x="6339682" y="5623560"/>
            <a:ext cx="487667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Callout 3: accept/reject control</a:t>
            </a:r>
            <a:endParaRPr lang="en-US" sz="1700" dirty="0"/>
          </a:p>
        </p:txBody>
      </p:sp>
      <p:sp>
        <p:nvSpPr>
          <p:cNvPr id="9" name="element_8ed9fac2f19fab0f336f352e3c5a8d94:fallback-shape"/>
          <p:cNvSpPr/>
          <p:nvPr/>
        </p:nvSpPr>
        <p:spPr>
          <a:xfrm>
            <a:off x="731502" y="2674620"/>
            <a:ext cx="4754761" cy="2606040"/>
          </a:xfrm>
          <a:prstGeom prst="roundRect">
            <a:avLst/>
          </a:prstGeom>
          <a:solidFill>
            <a:srgbClr val="F2DED3"/>
          </a:solidFill>
          <a:ln w="19050">
            <a:solidFill>
              <a:srgbClr val="DED7CC"/>
            </a:solidFill>
            <a:prstDash val="dash"/>
          </a:ln>
        </p:spPr>
      </p:sp>
      <p:sp>
        <p:nvSpPr>
          <p:cNvPr id="10" name="element_8ed9fac2f19fab0f336f352e3c5a8d94:fallback-label"/>
          <p:cNvSpPr/>
          <p:nvPr/>
        </p:nvSpPr>
        <p:spPr>
          <a:xfrm>
            <a:off x="731502" y="2674620"/>
            <a:ext cx="4754761" cy="26060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Placeholder for a screenshot of the review-before-accept interface with numbered callouts 1-3; no screenshot was supplied for this evidence pack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Replace image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Placeholder — screenshot not captured</a:t>
            </a:r>
            <a:endParaRPr lang="en-US" sz="1400" dirty="0"/>
          </a:p>
        </p:txBody>
      </p:sp>
      <p:sp>
        <p:nvSpPr>
          <p:cNvPr id="11" name="element_668831ef11e33b2a2e300c17f0c7ff15"/>
          <p:cNvSpPr txBox="1"/>
          <p:nvPr/>
        </p:nvSpPr>
        <p:spPr>
          <a:xfrm>
            <a:off x="975336" y="5417820"/>
            <a:ext cx="4267093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Replace image before external use · Placeholder — screenshot not captured</a:t>
            </a:r>
            <a:endParaRPr lang="en-US" sz="1400" dirty="0"/>
          </a:p>
        </p:txBody>
      </p:sp>
      <p:sp>
        <p:nvSpPr>
          <p:cNvPr id="12" name="element_817626a77e3b8145ffc2219116d7d715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3" name="element_6645e8c481ec767ff2cecd25afe8cb6e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04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27a633049c390f78f364dfb87e800b71"/>
          <p:cNvSpPr/>
          <p:nvPr/>
        </p:nvSpPr>
        <p:spPr>
          <a:xfrm>
            <a:off x="853419" y="377190"/>
            <a:ext cx="10484858" cy="6858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ff2980a4fc09d8fe658f478a4ed27970"/>
          <p:cNvSpPr txBox="1"/>
          <p:nvPr/>
        </p:nvSpPr>
        <p:spPr>
          <a:xfrm>
            <a:off x="1706837" y="514350"/>
            <a:ext cx="87780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PROVE</a:t>
            </a:r>
            <a:endParaRPr lang="en-US" sz="1500" dirty="0"/>
          </a:p>
        </p:txBody>
      </p:sp>
      <p:sp>
        <p:nvSpPr>
          <p:cNvPr id="4" name="element_84b4fae041ce0966fe6a8279e2b18724"/>
          <p:cNvSpPr txBox="1"/>
          <p:nvPr/>
        </p:nvSpPr>
        <p:spPr>
          <a:xfrm>
            <a:off x="1706837" y="1028700"/>
            <a:ext cx="8778021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 measurably raises trust</a:t>
            </a:r>
            <a:endParaRPr lang="en-US" sz="3800" dirty="0"/>
          </a:p>
        </p:txBody>
      </p:sp>
      <p:sp>
        <p:nvSpPr>
          <p:cNvPr id="5" name="element_8461731565614763c3e33ed3112668e7"/>
          <p:cNvSpPr txBox="1"/>
          <p:nvPr/>
        </p:nvSpPr>
        <p:spPr>
          <a:xfrm>
            <a:off x="853419" y="2743200"/>
            <a:ext cx="365750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This comparison is illustrative, not measured from the attached evidence — it demonstrates the kind of before/after signal a reviewer would track, clearly labeled as an estimate.</a:t>
            </a:r>
            <a:endParaRPr lang="en-US" sz="1900" dirty="0"/>
          </a:p>
        </p:txBody>
      </p:sp>
      <p:sp>
        <p:nvSpPr>
          <p:cNvPr id="6" name="element_2efd7ac29a94d4e9e9535aef958a1515"/>
          <p:cNvSpPr txBox="1"/>
          <p:nvPr/>
        </p:nvSpPr>
        <p:spPr>
          <a:xfrm>
            <a:off x="853419" y="42519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Unreviewed drafts carry unresolved ambiguity</a:t>
            </a:r>
            <a:endParaRPr lang="en-US" sz="1700" dirty="0"/>
          </a:p>
        </p:txBody>
      </p:sp>
      <p:sp>
        <p:nvSpPr>
          <p:cNvPr id="7" name="element_6c326cd154095572539ee2e81850ac89"/>
          <p:cNvSpPr txBox="1"/>
          <p:nvPr/>
        </p:nvSpPr>
        <p:spPr>
          <a:xfrm>
            <a:off x="853419" y="49377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Human acceptance closes the trust gap</a:t>
            </a:r>
            <a:endParaRPr lang="en-US" sz="1700" dirty="0"/>
          </a:p>
        </p:txBody>
      </p:sp>
      <p:sp>
        <p:nvSpPr>
          <p:cNvPr id="8" name="element_506854cac24935bc91884a3b6ffa77c7"/>
          <p:cNvSpPr txBox="1"/>
          <p:nvPr/>
        </p:nvSpPr>
        <p:spPr>
          <a:xfrm>
            <a:off x="853419" y="56235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Illustrative scores, not derived from journey.csv</a:t>
            </a:r>
            <a:endParaRPr lang="en-US" sz="1700" dirty="0"/>
          </a:p>
        </p:txBody>
      </p:sp>
      <p:graphicFrame>
        <p:nvGraphicFramePr>
          <p:cNvPr id="9" name="element_6290718bcb8067d69e700f39ba67a296" descr=""/>
          <p:cNvGraphicFramePr/>
          <p:nvPr/>
        </p:nvGraphicFramePr>
        <p:xfrm>
          <a:off x="4876678" y="2754173"/>
          <a:ext cx="6583515" cy="340705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element_afa18d2bf66c7cf1eeeb7000da6832f7"/>
          <p:cNvSpPr txBox="1"/>
          <p:nvPr/>
        </p:nvSpPr>
        <p:spPr>
          <a:xfrm>
            <a:off x="2682173" y="6377940"/>
            <a:ext cx="682734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1" name="element_5a9cb21e046f2c11ef956cb7c58384c8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05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f4dbacf5035fcf227c6fcf14e90c19bc"/>
          <p:cNvSpPr/>
          <p:nvPr/>
        </p:nvSpPr>
        <p:spPr>
          <a:xfrm>
            <a:off x="11667452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9ef889018fb1c0815db118972ce63d29"/>
          <p:cNvSpPr txBox="1"/>
          <p:nvPr/>
        </p:nvSpPr>
        <p:spPr>
          <a:xfrm>
            <a:off x="5486263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PROVE</a:t>
            </a:r>
            <a:endParaRPr lang="en-US" sz="1500" dirty="0"/>
          </a:p>
        </p:txBody>
      </p:sp>
      <p:sp>
        <p:nvSpPr>
          <p:cNvPr id="4" name="element_4e3fdc2a1e85fa4b8ffa97cfe540eb3a"/>
          <p:cNvSpPr txBox="1"/>
          <p:nvPr/>
        </p:nvSpPr>
        <p:spPr>
          <a:xfrm>
            <a:off x="2072588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second of the journey is inspectable</a:t>
            </a:r>
            <a:endParaRPr lang="en-US" sz="3800" dirty="0"/>
          </a:p>
        </p:txBody>
      </p:sp>
      <p:sp>
        <p:nvSpPr>
          <p:cNvPr id="5" name="element_3ee8ce6e2ab639205690059fefb16d97"/>
          <p:cNvSpPr txBox="1"/>
          <p:nvPr/>
        </p:nvSpPr>
        <p:spPr>
          <a:xfrm>
            <a:off x="7680768" y="2743200"/>
            <a:ext cx="365750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Pulled directly from the supplied journey.csv, this waterfall shows real elapsed time at each checkpoint — no estimation, no fabrication.</a:t>
            </a:r>
            <a:endParaRPr lang="en-US" sz="1900" dirty="0"/>
          </a:p>
        </p:txBody>
      </p:sp>
      <p:sp>
        <p:nvSpPr>
          <p:cNvPr id="6" name="element_1c33bcad224b416c6d74e324fdffc512"/>
          <p:cNvSpPr txBox="1"/>
          <p:nvPr/>
        </p:nvSpPr>
        <p:spPr>
          <a:xfrm>
            <a:off x="7680768" y="42519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Structured draft ready at 31s</a:t>
            </a:r>
            <a:endParaRPr lang="en-US" sz="1700" dirty="0"/>
          </a:p>
        </p:txBody>
      </p:sp>
      <p:sp>
        <p:nvSpPr>
          <p:cNvPr id="7" name="element_79b83df89d0fe9ef850fc3053c8644ba"/>
          <p:cNvSpPr txBox="1"/>
          <p:nvPr/>
        </p:nvSpPr>
        <p:spPr>
          <a:xfrm>
            <a:off x="7680768" y="49377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Validation completes 3s later</a:t>
            </a:r>
            <a:endParaRPr lang="en-US" sz="1700" dirty="0"/>
          </a:p>
        </p:txBody>
      </p:sp>
      <p:sp>
        <p:nvSpPr>
          <p:cNvPr id="8" name="element_191ff9a69def16f460bd1814d626ff5b"/>
          <p:cNvSpPr txBox="1"/>
          <p:nvPr/>
        </p:nvSpPr>
        <p:spPr>
          <a:xfrm>
            <a:off x="7680768" y="56235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Human accept and export close the loop by 58s</a:t>
            </a:r>
            <a:endParaRPr lang="en-US" sz="1700" dirty="0"/>
          </a:p>
        </p:txBody>
      </p:sp>
      <p:graphicFrame>
        <p:nvGraphicFramePr>
          <p:cNvPr id="9" name="element_892f1ecefee01bb6fe1e34fdc078f7c4" descr=""/>
          <p:cNvGraphicFramePr/>
          <p:nvPr/>
        </p:nvGraphicFramePr>
        <p:xfrm>
          <a:off x="975336" y="2880360"/>
          <a:ext cx="6095848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element_edd46600299a52993ce841303a9627d0"/>
          <p:cNvSpPr txBox="1"/>
          <p:nvPr/>
        </p:nvSpPr>
        <p:spPr>
          <a:xfrm>
            <a:off x="2560256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1" name="element_fc00fc0f7fcf150fc26188b924992a63"/>
          <p:cNvSpPr txBox="1"/>
          <p:nvPr/>
        </p:nvSpPr>
        <p:spPr>
          <a:xfrm>
            <a:off x="73150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06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223e23d903b2c5ce264f930c7a419cff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4ec14c0dc1a539fb4b87f52eccf9b473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DECIDE</a:t>
            </a:r>
            <a:endParaRPr lang="en-US" sz="1500" dirty="0"/>
          </a:p>
        </p:txBody>
      </p:sp>
      <p:sp>
        <p:nvSpPr>
          <p:cNvPr id="4" name="element_63fe4cd170ceed82462d3c492a19d128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Accept the trace, export the deck</a:t>
            </a:r>
            <a:endParaRPr lang="en-US" sz="3800" dirty="0"/>
          </a:p>
        </p:txBody>
      </p:sp>
      <p:sp>
        <p:nvSpPr>
          <p:cNvPr id="5" name="element_f2220993bf76430f6b8b132c4ba31cd6"/>
          <p:cNvSpPr txBox="1"/>
          <p:nvPr/>
        </p:nvSpPr>
        <p:spPr>
          <a:xfrm>
            <a:off x="853419" y="2743200"/>
            <a:ext cx="475476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From brief to an editable, exportable deck in under a minute — with every claim traceable back to structured evidence rather than opaque generation.</a:t>
            </a:r>
            <a:endParaRPr lang="en-US" sz="1900" dirty="0"/>
          </a:p>
        </p:txBody>
      </p:sp>
      <p:sp>
        <p:nvSpPr>
          <p:cNvPr id="6" name="element_598e6c792cd94e80ec564beb0f887759"/>
          <p:cNvSpPr txBox="1"/>
          <p:nvPr/>
        </p:nvSpPr>
        <p:spPr>
          <a:xfrm>
            <a:off x="853419" y="42519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Owner: product lead signs off on acceptance</a:t>
            </a:r>
            <a:endParaRPr lang="en-US" sz="1700" dirty="0"/>
          </a:p>
        </p:txBody>
      </p:sp>
      <p:sp>
        <p:nvSpPr>
          <p:cNvPr id="7" name="element_d1cfdedc3cd75f3a99b5610a52f1a3ad"/>
          <p:cNvSpPr txBox="1"/>
          <p:nvPr/>
        </p:nvSpPr>
        <p:spPr>
          <a:xfrm>
            <a:off x="853419" y="49377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Next checkpoint: post-export edit review</a:t>
            </a:r>
            <a:endParaRPr lang="en-US" sz="1700" dirty="0"/>
          </a:p>
        </p:txBody>
      </p:sp>
      <p:sp>
        <p:nvSpPr>
          <p:cNvPr id="8" name="element_51ade756f765122c3d48e27f8b5e8590"/>
          <p:cNvSpPr txBox="1"/>
          <p:nvPr/>
        </p:nvSpPr>
        <p:spPr>
          <a:xfrm>
            <a:off x="853419" y="56235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Decision: proceed to editable PPTX export</a:t>
            </a:r>
            <a:endParaRPr lang="en-US" sz="1700" dirty="0"/>
          </a:p>
        </p:txBody>
      </p:sp>
      <p:sp>
        <p:nvSpPr>
          <p:cNvPr id="9" name="element_73c168e9d4a18e3813774b27894d4889"/>
          <p:cNvSpPr txBox="1"/>
          <p:nvPr/>
        </p:nvSpPr>
        <p:spPr>
          <a:xfrm>
            <a:off x="6827349" y="2811780"/>
            <a:ext cx="4145176" cy="1371600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00" b="1" dirty="0">
                <a:solidFill>
                  <a:srgbClr val="34452C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58s</a:t>
            </a:r>
            <a:endParaRPr lang="en-US" sz="5600" dirty="0"/>
          </a:p>
        </p:txBody>
      </p:sp>
      <p:sp>
        <p:nvSpPr>
          <p:cNvPr id="10" name="element_82da912ae30d245bcd852517384b12ba"/>
          <p:cNvSpPr txBox="1"/>
          <p:nvPr/>
        </p:nvSpPr>
        <p:spPr>
          <a:xfrm>
            <a:off x="7193100" y="4320540"/>
            <a:ext cx="3535592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Brief to Editable Export</a:t>
            </a:r>
            <a:endParaRPr lang="en-US" sz="1500" dirty="0"/>
          </a:p>
        </p:txBody>
      </p:sp>
      <p:sp>
        <p:nvSpPr>
          <p:cNvPr id="11" name="element_75ce3be10ba3fb4126d3b0c51ff0651f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2" name="element_7ff796cd24ae10b0a7fabd3da4b26a6e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07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eist Variabl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Parity Studio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Create a seven-slide product demo for product leaders evaluating revi…</dc:title>
  <dc:subject>Create an editable, reviewable presentation from this idea</dc:subject>
  <dc:creator>NodeSlide</dc:creator>
  <cp:lastModifiedBy>NodeSlide</cp:lastModifiedBy>
  <cp:revision>1</cp:revision>
  <dcterms:created xsi:type="dcterms:W3CDTF">2026-07-21T23:54:59Z</dcterms:created>
  <dcterms:modified xsi:type="dcterms:W3CDTF">2026-07-21T23:54:59Z</dcterms:modified>
</cp:coreProperties>
</file>