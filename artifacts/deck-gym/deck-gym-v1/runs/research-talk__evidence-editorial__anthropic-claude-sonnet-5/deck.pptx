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no_retrieval</c:v>
                  </c:pt>
                  <c:pt idx="1">
                    <c:v>always_retrieve</c:v>
                  </c:pt>
                  <c:pt idx="2">
                    <c:v>adaptive</c:v>
                  </c:pt>
                </c:lvl>
              </c:multiLvlStrCache>
            </c:multiLvlStrRef>
          </c:cat>
          <c:val>
            <c:numRef>
              <c:f>Sheet1!$B$2:$B$4</c:f>
              <c:numCache>
                <c:formatCode>General</c:formatCode>
                <c:ptCount val="3"/>
                <c:pt idx="0">
                  <c:v>0.61</c:v>
                </c:pt>
                <c:pt idx="1">
                  <c:v>0.78</c:v>
                </c:pt>
                <c:pt idx="2">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“Retrieval improves quality—but at what cost?”
Evidence note: Content is based on the supplied creation brief. Illustrative examples are not independently verified; replace them with measured evidence before external publication.
NodeSlide sources
[source_f5120e57bd715f75be2f5f9328cb4861]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[source_f1b76ca77a897384217d71dec9fd72a2] retrieval-results.csv
Citation: Uploaded file: retrieval-results.csv
policy,quality_score,cost_usd,latency_ms
no_retrieval,0.61,0.010,640
always_retrieve,0.78,0.092,1810
adaptive,0.75,0.038,1040
Disclaimer: User supplied
[source_af68b6e05b19f18d38ff3071b2fa9dab]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“A lightweight gate decides when retrieval is worth its cost”
Evidence note: Content is based on the supplied creation brief. Illustrative examples are not independently verified; replace them with measured evidence before external publication.
NodeSlide sources
[source_f5120e57bd715f75be2f5f9328cb4861]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[source_f1b76ca77a897384217d71dec9fd72a2] retrieval-results.csv
Citation: Uploaded file: retrieval-results.csv
policy,quality_score,cost_usd,latency_ms
no_retrieval,0.61,0.010,640
always_retrieve,0.78,0.092,1810
adaptive,0.75,0.038,1040
Disclaimer: User supplied
[source_af68b6e05b19f18d38ff3071b2fa9dab]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“Three policies, one fixed benchmark fixture”
Evidence note: Content is based on the supplied creation brief. Illustrative examples are not independently verified; replace them with measured evidence before external publication.
NodeSlide sources
[source_f5120e57bd715f75be2f5f9328cb4861]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[source_f1b76ca77a897384217d71dec9fd72a2] retrieval-results.csv
Citation: Uploaded file: retrieval-results.csv
policy,quality_score,cost_usd,latency_ms
no_retrieval,0.61,0.010,640
always_retrieve,0.78,0.092,1810
adaptive,0.75,0.038,1040
Disclaimer: User supplied
[source_af68b6e05b19f18d38ff3071b2fa9dab]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“Adaptive retrieval trades a small quality gap for a large cost saving”
Evidence note: Content is based on the supplied creation brief. Illustrative examples are not independently verified; replace them with measured evidence before external publication.
NodeSlide sources
[source_f5120e57bd715f75be2f5f9328cb4861]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[source_f1b76ca77a897384217d71dec9fd72a2] retrieval-results.csv
Citation: Uploaded file: retrieval-results.csv
policy,quality_score,cost_usd,latency_ms
no_retrieval,0.61,0.010,640
always_retrieve,0.78,0.092,1810
adaptive,0.75,0.038,1040
Disclaimer: User supplied
[source_af68b6e05b19f18d38ff3071b2fa9dab]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“Quality per dollar reveals the efficiency frontier”
Evidence note: Content is based on the supplied creation brief. Illustrative examples are not independently verified; replace them with measured evidence before external publication.
NodeSlide sources
[source_f5120e57bd715f75be2f5f9328cb4861]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[source_f1b76ca77a897384217d71dec9fd72a2] retrieval-results.csv
Citation: Uploaded file: retrieval-results.csv
policy,quality_score,cost_usd,latency_ms
no_retrieval,0.61,0.010,640
always_retrieve,0.78,0.092,1810
adaptive,0.75,0.038,1040
Disclaimer: User supplied
[source_af68b6e05b19f18d38ff3071b2fa9dab]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“Where the adaptive gate is expected to break down”
Evidence note: Content is based on the supplied creation brief. Illustrative examples are not independently verified; replace them with measured evidence before external publication.
NodeSlide sources
[source_f5120e57bd715f75be2f5f9328cb4861]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[source_f1b76ca77a897384217d71dec9fd72a2] retrieval-results.csv
Citation: Uploaded file: retrieval-results.csv
policy,quality_score,cost_usd,latency_ms
no_retrieval,0.61,0.010,640
always_retrieve,0.78,0.092,1810
adaptive,0.75,0.038,1040
Disclaimer: User supplied
[source_af68b6e05b19f18d38ff3071b2fa9dab]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“Adopt adaptive retrieval as the default cost-quality balance”
Evidence note: Content is based on the supplied creation brief. Illustrative examples are not independently verified; replace them with measured evidence before external publication.
NodeSlide sources
[source_f5120e57bd715f75be2f5f9328cb4861]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[source_f1b76ca77a897384217d71dec9fd72a2] retrieval-results.csv
Citation: Uploaded file: retrieval-results.csv
policy,quality_score,cost_usd,latency_ms
no_retrieval,0.61,0.010,640
always_retrieve,0.78,0.092,1810
adaptive,0.75,0.038,1040
Disclaimer: User supplied
[source_af68b6e05b19f18d38ff3071b2fa9dab]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687d661a7543ed4d79fc9448f4fc92a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5dc94372496178cd3fdbbbbc9dfc7f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32afa6a4c1f55ac2c86208d2a0033431"/>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Retrieval improves quality—but at what cost?</a:t>
            </a:r>
            <a:endParaRPr lang="en-US" sz="4800" dirty="0"/>
          </a:p>
        </p:txBody>
      </p:sp>
      <p:sp>
        <p:nvSpPr>
          <p:cNvPr id="5" name="element_d35a0faafbd93a315f071e55a53f08c0"/>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Always retrieving lifts quality but multiplies cost and latency. The open question for applied ML teams: can an adaptive policy keep most of the quality gain while shedding most of the cost?</a:t>
            </a:r>
            <a:endParaRPr lang="en-US" sz="1900" dirty="0"/>
          </a:p>
        </p:txBody>
      </p:sp>
      <p:sp>
        <p:nvSpPr>
          <p:cNvPr id="6" name="element_a8247c98d186b859076dbcccfda28cca"/>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Always-retrieve raises quality_score from 0.61 to 0.78 in the supplied benchmark.</a:t>
            </a:r>
            <a:endParaRPr lang="en-US" sz="1600" dirty="0"/>
          </a:p>
        </p:txBody>
      </p:sp>
      <p:sp>
        <p:nvSpPr>
          <p:cNvPr id="7" name="element_deb2fc0d6cf170d7dce4cc4c043e09f7"/>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That gain costs 9.2x more per query than no retrieval ($0.092 vs $0.010).</a:t>
            </a:r>
            <a:endParaRPr lang="en-US" sz="1600" dirty="0"/>
          </a:p>
        </p:txBody>
      </p:sp>
      <p:sp>
        <p:nvSpPr>
          <p:cNvPr id="8" name="element_572b2169d644e3b936e006fd3ca8a8ff"/>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Adaptive retrieval is proposed as a middle path — this talk tests whether it delivers.</a:t>
            </a:r>
            <a:endParaRPr lang="en-US" sz="1600" dirty="0"/>
          </a:p>
        </p:txBody>
      </p:sp>
      <p:sp>
        <p:nvSpPr>
          <p:cNvPr id="9" name="element_45eb2b622ba3386708a2fe020f98bd1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a8eecbca8d4941de0aca0f1e082a5a9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45e5d7ff3d3984036916e80d169c7a25"/>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334f7c3c8bc62c022eed895d36689996"/>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51da44cdc656b6f234e2ce5cb822f418"/>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lightweight gate decides when retrieval is worth its cost</a:t>
            </a:r>
            <a:endParaRPr lang="en-US" sz="3800" dirty="0"/>
          </a:p>
        </p:txBody>
      </p:sp>
      <p:sp>
        <p:nvSpPr>
          <p:cNvPr id="5" name="element_4ccdda4fcfdf6aef43591cf38b02dd8c"/>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Per method.md: the adaptive policy predicts whether a query requires retrieval, retrieves at most three passages when it does, then answers with claim-linked citations.</a:t>
            </a:r>
            <a:endParaRPr lang="en-US" sz="1700" dirty="0"/>
          </a:p>
        </p:txBody>
      </p:sp>
      <p:sp>
        <p:nvSpPr>
          <p:cNvPr id="6" name="element_694cf007f509239e1a3cbebd824bdc2c"/>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Retrieval is capped at three passages per query, bounding worst-case cost.</a:t>
            </a:r>
            <a:endParaRPr lang="en-US" sz="1700" dirty="0"/>
          </a:p>
        </p:txBody>
      </p:sp>
      <p:sp>
        <p:nvSpPr>
          <p:cNvPr id="7" name="element_e3fb1bf9e0f46f1dcb05aad5571978fd"/>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Citations are claim-linked, tying each answer segment to its source passage.</a:t>
            </a:r>
            <a:endParaRPr lang="en-US" sz="1700" dirty="0"/>
          </a:p>
        </p:txBody>
      </p:sp>
      <p:sp>
        <p:nvSpPr>
          <p:cNvPr id="8" name="element_fb3e233fb06b106dc2850f91f80e86e1"/>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The gate itself is the only added inference step versus no_retrieval.</a:t>
            </a:r>
            <a:endParaRPr lang="en-US" sz="1700" dirty="0"/>
          </a:p>
        </p:txBody>
      </p:sp>
      <p:sp>
        <p:nvSpPr>
          <p:cNvPr id="9" name="element_1535b3ba46e72c4f72c11fd63b5ba6f8"/>
          <p:cNvSpPr/>
          <p:nvPr/>
        </p:nvSpPr>
        <p:spPr>
          <a:xfrm>
            <a:off x="7019978" y="3775329"/>
            <a:ext cx="243834" cy="164592"/>
          </a:xfrm>
          <a:prstGeom prst="line">
            <a:avLst/>
          </a:prstGeom>
          <a:noFill/>
          <a:ln w="25400">
            <a:solidFill>
              <a:srgbClr val="7566A8"/>
            </a:solidFill>
            <a:prstDash val="solid"/>
            <a:tailEnd type="triangle"/>
          </a:ln>
        </p:spPr>
      </p:sp>
      <p:sp>
        <p:nvSpPr>
          <p:cNvPr id="10" name="element_1e74b93341922173ed6fa340802c727c"/>
          <p:cNvSpPr/>
          <p:nvPr/>
        </p:nvSpPr>
        <p:spPr>
          <a:xfrm>
            <a:off x="9194977" y="3775329"/>
            <a:ext cx="243834" cy="164592"/>
          </a:xfrm>
          <a:prstGeom prst="line">
            <a:avLst/>
          </a:prstGeom>
          <a:noFill/>
          <a:ln w="25400">
            <a:solidFill>
              <a:srgbClr val="7566A8"/>
            </a:solidFill>
            <a:prstDash val="solid"/>
            <a:tailEnd type="triangle"/>
          </a:ln>
        </p:spPr>
      </p:sp>
      <p:sp>
        <p:nvSpPr>
          <p:cNvPr id="11" name="element_e622b88533f623871e6394a55c11c700"/>
          <p:cNvSpPr/>
          <p:nvPr/>
        </p:nvSpPr>
        <p:spPr>
          <a:xfrm>
            <a:off x="6910253" y="4375404"/>
            <a:ext cx="463284" cy="164592"/>
          </a:xfrm>
          <a:prstGeom prst="line">
            <a:avLst/>
          </a:prstGeom>
          <a:noFill/>
          <a:ln w="25400">
            <a:solidFill>
              <a:srgbClr val="7566A8"/>
            </a:solidFill>
            <a:prstDash val="solid"/>
            <a:tailEnd type="triangle"/>
          </a:ln>
        </p:spPr>
      </p:sp>
      <p:sp>
        <p:nvSpPr>
          <p:cNvPr id="12" name="element_d802776a9f62264d9de4ab725b95bcc6"/>
          <p:cNvSpPr/>
          <p:nvPr/>
        </p:nvSpPr>
        <p:spPr>
          <a:xfrm>
            <a:off x="6922445" y="4375404"/>
            <a:ext cx="2615119" cy="164592"/>
          </a:xfrm>
          <a:prstGeom prst="line">
            <a:avLst/>
          </a:prstGeom>
          <a:noFill/>
          <a:ln w="25400">
            <a:solidFill>
              <a:srgbClr val="7566A8"/>
            </a:solidFill>
            <a:prstDash val="solid"/>
            <a:tailEnd type="triangle"/>
          </a:ln>
        </p:spPr>
      </p:sp>
      <p:sp>
        <p:nvSpPr>
          <p:cNvPr id="13" name="element_275b90ea4d5d3ca59ee8dbbf10949a67"/>
          <p:cNvSpPr/>
          <p:nvPr/>
        </p:nvSpPr>
        <p:spPr>
          <a:xfrm>
            <a:off x="5045753" y="3339160"/>
            <a:ext cx="2018506" cy="1036930"/>
          </a:xfrm>
          <a:prstGeom prst="roundRect">
            <a:avLst/>
          </a:prstGeom>
          <a:solidFill>
            <a:srgbClr val="F2DED3"/>
          </a:solidFill>
          <a:ln w="12700">
            <a:solidFill>
              <a:srgbClr val="DED7CC"/>
            </a:solidFill>
            <a:prstDash val="solid"/>
          </a:ln>
        </p:spPr>
      </p:sp>
      <p:sp>
        <p:nvSpPr>
          <p:cNvPr id="14" name="element_275b90ea4d5d3ca59ee8dbbf10949a67:text"/>
          <p:cNvSpPr txBox="1"/>
          <p:nvPr/>
        </p:nvSpPr>
        <p:spPr>
          <a:xfrm>
            <a:off x="5045753"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Incoming query</a:t>
            </a:r>
            <a:endParaRPr lang="en-US" sz="1600" dirty="0"/>
          </a:p>
        </p:txBody>
      </p:sp>
      <p:sp>
        <p:nvSpPr>
          <p:cNvPr id="15" name="element_483447b97db06968edd0450e3b370226"/>
          <p:cNvSpPr/>
          <p:nvPr/>
        </p:nvSpPr>
        <p:spPr>
          <a:xfrm>
            <a:off x="7219532" y="3339160"/>
            <a:ext cx="2018506" cy="1036930"/>
          </a:xfrm>
          <a:prstGeom prst="roundRect">
            <a:avLst/>
          </a:prstGeom>
          <a:solidFill>
            <a:srgbClr val="E5E9D6"/>
          </a:solidFill>
          <a:ln w="25400">
            <a:solidFill>
              <a:srgbClr val="B44A2D"/>
            </a:solidFill>
            <a:prstDash val="solid"/>
          </a:ln>
        </p:spPr>
      </p:sp>
      <p:sp>
        <p:nvSpPr>
          <p:cNvPr id="16" name="element_483447b97db06968edd0450e3b370226:text"/>
          <p:cNvSpPr txBox="1"/>
          <p:nvPr/>
        </p:nvSpPr>
        <p:spPr>
          <a:xfrm>
            <a:off x="7219532"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Predict: retrieval needed?</a:t>
            </a:r>
            <a:endParaRPr lang="en-US" sz="1600" dirty="0"/>
          </a:p>
        </p:txBody>
      </p:sp>
      <p:sp>
        <p:nvSpPr>
          <p:cNvPr id="17" name="element_399ee00d7841328a194f94cb8831eed9"/>
          <p:cNvSpPr/>
          <p:nvPr/>
        </p:nvSpPr>
        <p:spPr>
          <a:xfrm>
            <a:off x="9394530" y="3339160"/>
            <a:ext cx="2018506" cy="1036930"/>
          </a:xfrm>
          <a:prstGeom prst="roundRect">
            <a:avLst/>
          </a:prstGeom>
          <a:solidFill>
            <a:srgbClr val="F2DED3"/>
          </a:solidFill>
          <a:ln w="12700">
            <a:solidFill>
              <a:srgbClr val="DED7CC"/>
            </a:solidFill>
            <a:prstDash val="solid"/>
          </a:ln>
        </p:spPr>
      </p:sp>
      <p:sp>
        <p:nvSpPr>
          <p:cNvPr id="18" name="element_399ee00d7841328a194f94cb8831eed9:text"/>
          <p:cNvSpPr txBox="1"/>
          <p:nvPr/>
        </p:nvSpPr>
        <p:spPr>
          <a:xfrm>
            <a:off x="9394530"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Retrieve ≤3 passages</a:t>
            </a:r>
            <a:endParaRPr lang="en-US" sz="1600" dirty="0"/>
          </a:p>
        </p:txBody>
      </p:sp>
      <p:sp>
        <p:nvSpPr>
          <p:cNvPr id="19" name="element_51201622e92b077cc1a1153e4669f163"/>
          <p:cNvSpPr/>
          <p:nvPr/>
        </p:nvSpPr>
        <p:spPr>
          <a:xfrm>
            <a:off x="5045753" y="4539310"/>
            <a:ext cx="2018506" cy="1036930"/>
          </a:xfrm>
          <a:prstGeom prst="roundRect">
            <a:avLst/>
          </a:prstGeom>
          <a:solidFill>
            <a:srgbClr val="F2DED3"/>
          </a:solidFill>
          <a:ln w="12700">
            <a:solidFill>
              <a:srgbClr val="DED7CC"/>
            </a:solidFill>
            <a:prstDash val="solid"/>
          </a:ln>
        </p:spPr>
      </p:sp>
      <p:sp>
        <p:nvSpPr>
          <p:cNvPr id="20" name="element_51201622e92b077cc1a1153e4669f163:text"/>
          <p:cNvSpPr txBox="1"/>
          <p:nvPr/>
        </p:nvSpPr>
        <p:spPr>
          <a:xfrm>
            <a:off x="5045753" y="453931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Answer with claim-linked citations</a:t>
            </a:r>
            <a:endParaRPr lang="en-US" sz="1600" dirty="0"/>
          </a:p>
        </p:txBody>
      </p:sp>
      <p:sp>
        <p:nvSpPr>
          <p:cNvPr id="21" name="element_85f8d2839d7a37dd4a0ca33877aa2885"/>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2" name="element_754921667af236018f7dfd371d0f23a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cc79dadf6c4624a400929b7700cc9569"/>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e6b06233c6be3e89ba812bce43047751"/>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ed276192c1cc2f2f702af6837f59c6f6"/>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Three policies, one fixed benchmark fixture</a:t>
            </a:r>
            <a:endParaRPr lang="en-US" sz="3800" dirty="0"/>
          </a:p>
        </p:txBody>
      </p:sp>
      <p:sp>
        <p:nvSpPr>
          <p:cNvPr id="5" name="element_7b49b2a2a3b3514fb17e257d098601c4"/>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no_retrieval, always_retrieve, and adaptive were each run over the same fixed benchmark fixture. Reported values are means; method.md explicitly authorizes no statistical-significance claim.</a:t>
            </a:r>
            <a:endParaRPr lang="en-US" sz="1900" dirty="0"/>
          </a:p>
        </p:txBody>
      </p:sp>
      <p:sp>
        <p:nvSpPr>
          <p:cNvPr id="6" name="element_22c7da7fc1bde421444febe21128e6d6"/>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no_retrieval: baseline with zero retrieval calls.</a:t>
            </a:r>
            <a:endParaRPr lang="en-US" sz="1700" dirty="0"/>
          </a:p>
        </p:txBody>
      </p:sp>
      <p:sp>
        <p:nvSpPr>
          <p:cNvPr id="7" name="element_05d15216b6a36738dd577ebd2b69a384"/>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always_retrieve: retrieves for every query, upper bound on quality and cost.</a:t>
            </a:r>
            <a:endParaRPr lang="en-US" sz="1700" dirty="0"/>
          </a:p>
        </p:txBody>
      </p:sp>
      <p:sp>
        <p:nvSpPr>
          <p:cNvPr id="8" name="element_7d2b41c9b1af5aa20f6e18cd0bcb6a02"/>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gated retrieval, the policy under evaluation.</a:t>
            </a:r>
            <a:endParaRPr lang="en-US" sz="1700" dirty="0"/>
          </a:p>
        </p:txBody>
      </p:sp>
      <p:sp>
        <p:nvSpPr>
          <p:cNvPr id="9" name="element_323bc4d225fa8ad741fb8f1237454885"/>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24f9504e5070241faec89b9d0c05f2b9"/>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bd652700938c3a08e3caf9af79d4e03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d7e13051ad8948d1e80dc1d3f515d5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e3baf3c005ecff1e00dbe1561e31636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Adaptive retrieval trades a small quality gap for a large cost saving</a:t>
            </a:r>
            <a:endParaRPr lang="en-US" sz="3800" dirty="0"/>
          </a:p>
        </p:txBody>
      </p:sp>
      <p:sp>
        <p:nvSpPr>
          <p:cNvPr id="5" name="element_918101d2eb054b4eb13a57943fa2a533"/>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means from retrieval-results.csv: quality_score rises from 0.61 (no_retrieval) to 0.75 (adaptive) to 0.78 (always_retrieve), while cost_usd is 0.010, 0.038, and 0.092 respectively. These are measured results, not interpretation.</a:t>
            </a:r>
            <a:endParaRPr lang="en-US" sz="1900" dirty="0"/>
          </a:p>
        </p:txBody>
      </p:sp>
      <p:sp>
        <p:nvSpPr>
          <p:cNvPr id="6" name="element_54a94d66139f25217f8737f7381b0836"/>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Adaptive captures 0.14 of the 0.17 total quality gain over no_retrieval (about 82%).</a:t>
            </a:r>
            <a:endParaRPr lang="en-US" sz="1700" dirty="0"/>
          </a:p>
        </p:txBody>
      </p:sp>
      <p:sp>
        <p:nvSpPr>
          <p:cNvPr id="7" name="element_b20bb728a4e034d5a9f379ae24968a13"/>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Adaptive costs $0.038 vs $0.092 for always_retrieve — a 59% cost reduction.</a:t>
            </a:r>
            <a:endParaRPr lang="en-US" sz="1700" dirty="0"/>
          </a:p>
        </p:txBody>
      </p:sp>
      <p:sp>
        <p:nvSpPr>
          <p:cNvPr id="8" name="element_d9e7b8ab435036a8836a170801734d5f"/>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Latency follows the same pattern: 640ms, 1040ms, 1810ms respectively.</a:t>
            </a:r>
            <a:endParaRPr lang="en-US" sz="1700" dirty="0"/>
          </a:p>
        </p:txBody>
      </p:sp>
      <p:sp>
        <p:nvSpPr>
          <p:cNvPr id="9" name="element_7c8fc1d07765cb8467e968b94573829e"/>
          <p:cNvSpPr txBox="1"/>
          <p:nvPr/>
        </p:nvSpPr>
        <p:spPr>
          <a:xfrm>
            <a:off x="6827349" y="2811780"/>
            <a:ext cx="4145176" cy="1028700"/>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0.75</a:t>
            </a:r>
            <a:endParaRPr lang="en-US" sz="4300" dirty="0"/>
          </a:p>
        </p:txBody>
      </p:sp>
      <p:sp>
        <p:nvSpPr>
          <p:cNvPr id="10" name="element_6f3c27d509b485bbe4a4f67e5589410d"/>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Adaptive quality_score (measured)</a:t>
            </a:r>
            <a:endParaRPr lang="en-US" sz="1500" dirty="0"/>
          </a:p>
        </p:txBody>
      </p:sp>
      <p:graphicFrame>
        <p:nvGraphicFramePr>
          <p:cNvPr id="11" name="element_ce5212f28e73f73338e1e2b402198639" descr=""/>
          <p:cNvGraphicFramePr/>
          <p:nvPr/>
        </p:nvGraphicFramePr>
        <p:xfrm>
          <a:off x="6461598" y="4800600"/>
          <a:ext cx="4754761" cy="1165860"/>
        </p:xfrm>
        <a:graphic xmlns:a="http://schemas.openxmlformats.org/drawingml/2006/main">
          <a:graphicData uri="http://schemas.openxmlformats.org/drawingml/2006/chart">
            <c:chart xmlns:c="http://schemas.openxmlformats.org/drawingml/2006/chart" r:id="rId1"/>
          </a:graphicData>
        </a:graphic>
      </p:graphicFrame>
      <p:sp>
        <p:nvSpPr>
          <p:cNvPr id="12" name="element_abba4f47afe24518d0235267bc1af67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c3236741dc4a07ec3eff7972c353897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7dc895bb8c39744407cc042610256a09"/>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4ff9656de00ea491532771ff2b548eca"/>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9a8a6ff51a6be0b7c0d3ee839fc546d4"/>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Quality per dollar reveals the efficiency frontier</a:t>
            </a:r>
            <a:endParaRPr lang="en-US" sz="3800" dirty="0"/>
          </a:p>
        </p:txBody>
      </p:sp>
      <p:sp>
        <p:nvSpPr>
          <p:cNvPr id="5" name="element_497a54ffe0e5397f89c619132652712b"/>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Dividing quality_score by cost_usd converts raw quality into a cost-adjusted efficiency measure. This is a derived calculation from the measured CSV values, not a separately measured statistic.</a:t>
            </a:r>
            <a:endParaRPr lang="en-US" sz="1900" dirty="0"/>
          </a:p>
        </p:txBody>
      </p:sp>
      <p:sp>
        <p:nvSpPr>
          <p:cNvPr id="6" name="element_0b70dca98b6028b256f3c339f58b51bf"/>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no_retrieval: 0.61 / $0.010 ≈ 61 quality-per-dollar.</a:t>
            </a:r>
            <a:endParaRPr lang="en-US" sz="1700" dirty="0"/>
          </a:p>
        </p:txBody>
      </p:sp>
      <p:sp>
        <p:nvSpPr>
          <p:cNvPr id="7" name="element_c74b03e890e1e6f6d7fa36e14b768647"/>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adaptive: 0.75 / $0.038 ≈ 19.7 quality-per-dollar.</a:t>
            </a:r>
            <a:endParaRPr lang="en-US" sz="1700" dirty="0"/>
          </a:p>
        </p:txBody>
      </p:sp>
      <p:sp>
        <p:nvSpPr>
          <p:cNvPr id="8" name="element_45a5b08fdacb80691e45ced9ea7da32c"/>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always_retrieve: 0.78 / $0.092 ≈ 8.5 quality-per-dollar — the least cost-efficient policy.</a:t>
            </a:r>
            <a:endParaRPr lang="en-US" sz="1700" dirty="0"/>
          </a:p>
        </p:txBody>
      </p:sp>
      <p:sp>
        <p:nvSpPr>
          <p:cNvPr id="9" name="element_edeac0d7573e290485592f50afd9d3c9"/>
          <p:cNvSpPr txBox="1"/>
          <p:nvPr/>
        </p:nvSpPr>
        <p:spPr>
          <a:xfrm>
            <a:off x="6271408" y="2814523"/>
            <a:ext cx="5135142" cy="1777594"/>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Q / C</a:t>
            </a:r>
            <a:endParaRPr lang="en-US" sz="3000" dirty="0"/>
          </a:p>
        </p:txBody>
      </p:sp>
      <p:sp>
        <p:nvSpPr>
          <p:cNvPr id="10" name="element_fba6fd6b4b1b14f8a81d3a3f03602fd7"/>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88b900c4699ac3b22fb6be4c0a91238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e25b77fc299e716770a0971501b93d9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f661bc6566162fe9e50d8a56dfe8fd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c42d74ffd4b35ce5c07eaddb6d54bfd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Where the adaptive gate is expected to break down</a:t>
            </a:r>
            <a:endParaRPr lang="en-US" sz="3800" dirty="0"/>
          </a:p>
        </p:txBody>
      </p:sp>
      <p:sp>
        <p:nvSpPr>
          <p:cNvPr id="5" name="element_ec58eb4c0dddbda7e94cdacfe2c0b9c3"/>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supplied materials report aggregate means only and do not enumerate failure cases. The failure modes below are illustrative interpretation drawn from the method description, not measured findings.</a:t>
            </a:r>
            <a:endParaRPr lang="en-US" sz="1900" dirty="0"/>
          </a:p>
        </p:txBody>
      </p:sp>
      <p:sp>
        <p:nvSpPr>
          <p:cNvPr id="6" name="element_8cd20225fa1fbcaa48406b1d9a50d3cf"/>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Illustrative: false negatives where the gate skips retrieval on a query that actually needed it.</a:t>
            </a:r>
            <a:endParaRPr lang="en-US" sz="1700" dirty="0"/>
          </a:p>
        </p:txBody>
      </p:sp>
      <p:sp>
        <p:nvSpPr>
          <p:cNvPr id="7" name="element_623227f33a8d3038ccf580aff84e59fd"/>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Illustrative: latency spikes when the three-passage cap forces multiple retrieval rounds.</a:t>
            </a:r>
            <a:endParaRPr lang="en-US" sz="1700" dirty="0"/>
          </a:p>
        </p:txBody>
      </p:sp>
      <p:sp>
        <p:nvSpPr>
          <p:cNvPr id="8" name="element_d6b926deee25058914121de20a9b1ecf"/>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Illustrative: citation grounding gaps if retrieved passages weakly support the generated claim.</a:t>
            </a:r>
            <a:endParaRPr lang="en-US" sz="1700" dirty="0"/>
          </a:p>
        </p:txBody>
      </p:sp>
      <p:sp>
        <p:nvSpPr>
          <p:cNvPr id="9" name="element_7f15d93103c12e2821601de7931005e7: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7f15d93103c12e2821601de7931005e7: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 no captured image of adaptive-retrieval failure cases was supplied; this slot awaits a real diagram or screenshot.</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 image evidence not supplied</a:t>
            </a:r>
            <a:endParaRPr lang="en-US" sz="1400" dirty="0"/>
          </a:p>
        </p:txBody>
      </p:sp>
      <p:sp>
        <p:nvSpPr>
          <p:cNvPr id="11" name="element_4d4e055ff26b89b9d0b501aed4f196c6"/>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 — image evidence not supplied</a:t>
            </a:r>
            <a:endParaRPr lang="en-US" sz="1400" dirty="0"/>
          </a:p>
        </p:txBody>
      </p:sp>
      <p:sp>
        <p:nvSpPr>
          <p:cNvPr id="12" name="element_aeaf94b38d004bc980f4193aac4f469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c8e58702b21e97e25a163bb53dcd2f4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7ec03b0592ec3297b764ae95425a742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300bf56194d79ebbbba3790d65f1249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58d040de88b122dacc19293a08ba56e4"/>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Adopt adaptive retrieval as the default cost-quality balance</a:t>
            </a:r>
            <a:endParaRPr lang="en-US" sz="3800" dirty="0"/>
          </a:p>
        </p:txBody>
      </p:sp>
      <p:sp>
        <p:nvSpPr>
          <p:cNvPr id="5" name="element_2c8c32ab5d3ab76dba5d53f318bead2d"/>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results show adaptive retrieval retains most of the quality gain from always-retrieve at a fraction of the cost. Given no significance testing is authorized, this is a directional decision pending further validation.</a:t>
            </a:r>
            <a:endParaRPr lang="en-US" sz="1900" dirty="0"/>
          </a:p>
        </p:txBody>
      </p:sp>
      <p:sp>
        <p:nvSpPr>
          <p:cNvPr id="6" name="element_978a388c27eaa10829f6ea158f75107d"/>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Decision: set adaptive retrieval as the default production policy.</a:t>
            </a:r>
            <a:endParaRPr lang="en-US" sz="1600" dirty="0"/>
          </a:p>
        </p:txBody>
      </p:sp>
      <p:sp>
        <p:nvSpPr>
          <p:cNvPr id="7" name="element_3b5d8eab99bcc42b57fe392f671da218"/>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Owner: applied ML research lead to monitor quality_score and cost_usd drift.</a:t>
            </a:r>
            <a:endParaRPr lang="en-US" sz="1600" dirty="0"/>
          </a:p>
        </p:txBody>
      </p:sp>
      <p:sp>
        <p:nvSpPr>
          <p:cNvPr id="8" name="element_32bde8782be8e4da175406f2812f73b1"/>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Checkpoint: re-run with statistical-significance testing before scaling beyond the current benchmar…</a:t>
            </a:r>
            <a:endParaRPr lang="en-US" sz="1600" dirty="0"/>
          </a:p>
        </p:txBody>
      </p:sp>
      <p:sp>
        <p:nvSpPr>
          <p:cNvPr id="9" name="element_e8e3c0b5009ea15e236cdf15fe9b8a8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053dfb183b728cd190fd1b465d97345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2026-07-21T23:51:42Z</dcterms:created>
  <dcterms:modified xsi:type="dcterms:W3CDTF">2026-07-21T23:51:42Z</dcterms:modified>
</cp:coreProperties>
</file>