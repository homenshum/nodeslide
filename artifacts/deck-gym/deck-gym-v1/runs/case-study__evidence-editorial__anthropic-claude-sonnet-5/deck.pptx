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Cycle Time (days)</c:v>
                  </c:pt>
                  <c:pt idx="1">
                    <c:v>Manual Touches</c:v>
                  </c:pt>
                  <c:pt idx="2">
                    <c:v>Rework Rate (%)</c:v>
                  </c:pt>
                  <c:pt idx="3">
                    <c:v>On-Time Completion (%)</c:v>
                  </c:pt>
                </c:lvl>
              </c:multiLvlStrCache>
            </c:multiLvlStrRef>
          </c:cat>
          <c:val>
            <c:numRef>
              <c:f>Sheet1!$B$2:$B$5</c:f>
              <c:numCache>
                <c:formatCode>General</c:formatCode>
                <c:ptCount val="4"/>
                <c:pt idx="0">
                  <c:v>5.9</c:v>
                </c:pt>
                <c:pt idx="1">
                  <c:v>3.8</c:v>
                </c:pt>
                <c:pt idx="2">
                  <c:v>9.6</c:v>
                </c:pt>
                <c:pt idx="3">
                  <c:v>84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“Before the intervention, claims cycles were slow and touch-heavy”
Evidence note: Content is based on the supplied creation brief. Illustrative examples are not independently verified; replace them with measured evidence before external publication.
NodeSlide sources
[source_7b5b5e38ceac07f97b1325220843d61a] Create a seven-slide case study for operations executives deciding wh… — creation brief
Citation: Create a seven-slide case study for operations executives deciding whether to replicate a claims-processing intervention. Show the initial state, intervention, adoption path, measured before/after outcomes, operator evidence, limitations, and replication decision. Use the supplied data exactly. Include a before/after comparison, editable process diagram, outcome chart, and evidence panel. Do not imply causality beyond the observed before/after association. Design direction: Use an evidence-led editorial direction: restrained surface treatment, decisive hierarchy, visible provenance, and an inspectable visual argument on every proof slide. Avoid card grids and decorative dashboards.
Disclaimer: Internal working material
[source_f65a7732ac145e3175ebb7e8935e3611] claims-before-after.csv
Citation: Uploaded file: claims-before-after.csv
metric,before,after,unit
median_cycle_time,8.4,5.9,days
manual_touches,6.1,3.8,touches
rework_rate,14.2,9.6,percent
on_time_completion,71,84,percent
Disclaimer: User supplied
[source_7df04632b4d34a90853fa1fd1c091bbb] intervention.md
Citation: Uploaded file: intervention.md
The intervention introduced structured intake, one review checkpoint, and exception routing. The benchmark authorizes an observed before/after association only; it does not establish a causal effect.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“Three structural changes replaced ad hoc handling”
Evidence note: Content is based on the supplied creation brief. Illustrative examples are not independently verified; replace them with measured evidence before external publication.
NodeSlide sources
[source_7b5b5e38ceac07f97b1325220843d61a] Create a seven-slide case study for operations executives deciding wh… — creation brief
Citation: Create a seven-slide case study for operations executives deciding whether to replicate a claims-processing intervention. Show the initial state, intervention, adoption path, measured before/after outcomes, operator evidence, limitations, and replication decision. Use the supplied data exactly. Include a before/after comparison, editable process diagram, outcome chart, and evidence panel. Do not imply causality beyond the observed before/after association. Design direction: Use an evidence-led editorial direction: restrained surface treatment, decisive hierarchy, visible provenance, and an inspectable visual argument on every proof slide. Avoid card grids and decorative dashboards.
Disclaimer: Internal working material
[source_f65a7732ac145e3175ebb7e8935e3611] claims-before-after.csv
Citation: Uploaded file: claims-before-after.csv
metric,before,after,unit
median_cycle_time,8.4,5.9,days
manual_touches,6.1,3.8,touches
rework_rate,14.2,9.6,percent
on_time_completion,71,84,percent
Disclaimer: User supplied
[source_7df04632b4d34a90853fa1fd1c091bbb] intervention.md
Citation: Uploaded file: intervention.md
The intervention introduced structured intake, one review checkpoint, and exception routing. The benchmark authorizes an observed before/after association only; it does not establish a causal effect.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“Teams phased in the new workflow before full rollout”
Evidence note: Content is based on the supplied creation brief. Illustrative examples are not independently verified; replace them with measured evidence before external publication.
NodeSlide sources
[source_7b5b5e38ceac07f97b1325220843d61a] Create a seven-slide case study for operations executives deciding wh… — creation brief
Citation: Create a seven-slide case study for operations executives deciding whether to replicate a claims-processing intervention. Show the initial state, intervention, adoption path, measured before/after outcomes, operator evidence, limitations, and replication decision. Use the supplied data exactly. Include a before/after comparison, editable process diagram, outcome chart, and evidence panel. Do not imply causality beyond the observed before/after association. Design direction: Use an evidence-led editorial direction: restrained surface treatment, decisive hierarchy, visible provenance, and an inspectable visual argument on every proof slide. Avoid card grids and decorative dashboards.
Disclaimer: Internal working material
[source_f65a7732ac145e3175ebb7e8935e3611] claims-before-after.csv
Citation: Uploaded file: claims-before-after.csv
metric,before,after,unit
median_cycle_time,8.4,5.9,days
manual_touches,6.1,3.8,touches
rework_rate,14.2,9.6,percent
on_time_completion,71,84,percent
Disclaimer: User supplied
[source_7df04632b4d34a90853fa1fd1c091bbb] intervention.md
Citation: Uploaded file: intervention.md
The intervention introduced structured intake, one review checkpoint, and exception routing. The benchmark authorizes an observed before/after association only; it does not establish a causal effect.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“After-state metrics moved together across all four indicators”
Evidence note: Content is based on the supplied creation brief. Illustrative examples are not independently verified; replace them with measured evidence before external publication.
NodeSlide sources
[source_7b5b5e38ceac07f97b1325220843d61a] Create a seven-slide case study for operations executives deciding wh… — creation brief
Citation: Create a seven-slide case study for operations executives deciding whether to replicate a claims-processing intervention. Show the initial state, intervention, adoption path, measured before/after outcomes, operator evidence, limitations, and replication decision. Use the supplied data exactly. Include a before/after comparison, editable process diagram, outcome chart, and evidence panel. Do not imply causality beyond the observed before/after association. Design direction: Use an evidence-led editorial direction: restrained surface treatment, decisive hierarchy, visible provenance, and an inspectable visual argument on every proof slide. Avoid card grids and decorative dashboards.
Disclaimer: Internal working material
[source_f65a7732ac145e3175ebb7e8935e3611] claims-before-after.csv
Citation: Uploaded file: claims-before-after.csv
metric,before,after,unit
median_cycle_time,8.4,5.9,days
manual_touches,6.1,3.8,touches
rework_rate,14.2,9.6,percent
on_time_completion,71,84,percent
Disclaimer: User supplied
[source_7df04632b4d34a90853fa1fd1c091bbb] intervention.md
Citation: Uploaded file: intervention.md
The intervention introduced structured intake, one review checkpoint, and exception routing. The benchmark authorizes an observed before/after association only; it does not establish a causal effect.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“Process-level evidence is documented; direct operator testimony is not yet captured”
Evidence note: Content is based on the supplied creation brief. Illustrative examples are not independently verified; replace them with measured evidence before external publication.
NodeSlide sources
[source_7b5b5e38ceac07f97b1325220843d61a] Create a seven-slide case study for operations executives deciding wh… — creation brief
Citation: Create a seven-slide case study for operations executives deciding whether to replicate a claims-processing intervention. Show the initial state, intervention, adoption path, measured before/after outcomes, operator evidence, limitations, and replication decision. Use the supplied data exactly. Include a before/after comparison, editable process diagram, outcome chart, and evidence panel. Do not imply causality beyond the observed before/after association. Design direction: Use an evidence-led editorial direction: restrained surface treatment, decisive hierarchy, visible provenance, and an inspectable visual argument on every proof slide. Avoid card grids and decorative dashboards.
Disclaimer: Internal working material
[source_f65a7732ac145e3175ebb7e8935e3611] claims-before-after.csv
Citation: Uploaded file: claims-before-after.csv
metric,before,after,unit
median_cycle_time,8.4,5.9,days
manual_touches,6.1,3.8,touches
rework_rate,14.2,9.6,percent
on_time_completion,71,84,percent
Disclaimer: User supplied
[source_7df04632b4d34a90853fa1fd1c091bbb] intervention.md
Citation: Uploaded file: intervention.md
The intervention introduced structured intake, one review checkpoint, and exception routing. The benchmark authorizes an observed before/after association only; it does not establish a causal effect.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“The result is a before/after association, not a proven causal effect”
Evidence note: Content is based on the supplied creation brief. Illustrative examples are not independently verified; replace them with measured evidence before external publication.
NodeSlide sources
[source_7b5b5e38ceac07f97b1325220843d61a] Create a seven-slide case study for operations executives deciding wh… — creation brief
Citation: Create a seven-slide case study for operations executives deciding whether to replicate a claims-processing intervention. Show the initial state, intervention, adoption path, measured before/after outcomes, operator evidence, limitations, and replication decision. Use the supplied data exactly. Include a before/after comparison, editable process diagram, outcome chart, and evidence panel. Do not imply causality beyond the observed before/after association. Design direction: Use an evidence-led editorial direction: restrained surface treatment, decisive hierarchy, visible provenance, and an inspectable visual argument on every proof slide. Avoid card grids and decorative dashboards.
Disclaimer: Internal working material
[source_f65a7732ac145e3175ebb7e8935e3611] claims-before-after.csv
Citation: Uploaded file: claims-before-after.csv
metric,before,after,unit
median_cycle_time,8.4,5.9,days
manual_touches,6.1,3.8,touches
rework_rate,14.2,9.6,percent
on_time_completion,71,84,percent
Disclaimer: User supplied
[source_7df04632b4d34a90853fa1fd1c091bbb] intervention.md
Citation: Uploaded file: intervention.md
The intervention introduced structured intake, one review checkpoint, and exception routing. The benchmark authorizes an observed before/after association only; it does not establish a causal effect.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“Replicate the intervention in a scoped pilot, with re-measurement before scaling”
Evidence note: Content is based on the supplied creation brief. Illustrative examples are not independently verified; replace them with measured evidence before external publication.
NodeSlide sources
[source_7b5b5e38ceac07f97b1325220843d61a] Create a seven-slide case study for operations executives deciding wh… — creation brief
Citation: Create a seven-slide case study for operations executives deciding whether to replicate a claims-processing intervention. Show the initial state, intervention, adoption path, measured before/after outcomes, operator evidence, limitations, and replication decision. Use the supplied data exactly. Include a before/after comparison, editable process diagram, outcome chart, and evidence panel. Do not imply causality beyond the observed before/after association. Design direction: Use an evidence-led editorial direction: restrained surface treatment, decisive hierarchy, visible provenance, and an inspectable visual argument on every proof slide. Avoid card grids and decorative dashboards.
Disclaimer: Internal working material
[source_f65a7732ac145e3175ebb7e8935e3611] claims-before-after.csv
Citation: Uploaded file: claims-before-after.csv
metric,before,after,unit
median_cycle_time,8.4,5.9,days
manual_touches,6.1,3.8,touches
rework_rate,14.2,9.6,percent
on_time_completion,71,84,percent
Disclaimer: User supplied
[source_7df04632b4d34a90853fa1fd1c091bbb] intervention.md
Citation: Uploaded file: intervention.md
The intervention introduced structured intake, one review checkpoint, and exception routing. The benchmark authorizes an observed before/after association only; it does not establish a causal effect.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4e6d282d1221cbda47ddfa09bf1df9e6"/>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8ea459393635dd0ce993d3864f2b29a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40477d42a202a7e92db4d41a228df569"/>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Before the intervention, claims cycles were slow and touch-heavy</a:t>
            </a:r>
            <a:endParaRPr lang="en-US" sz="4800" dirty="0"/>
          </a:p>
        </p:txBody>
      </p:sp>
      <p:sp>
        <p:nvSpPr>
          <p:cNvPr id="5" name="element_0855c4ff1296131200c07302db34aa00"/>
          <p:cNvSpPr txBox="1"/>
          <p:nvPr/>
        </p:nvSpPr>
        <p:spPr>
          <a:xfrm>
            <a:off x="853419" y="3291840"/>
            <a:ext cx="4754761"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baseline period showed a claims process burdened by manual handling and inconsistent completion. Cycle time averaged 8.4 days with 6.1 manual touches per claim, and only 71% of claims finished on time. Rework consumed 14.2% of volume, signaling recurring exceptions rather than one-off errors.</a:t>
            </a:r>
            <a:endParaRPr lang="en-US" sz="1900" dirty="0"/>
          </a:p>
        </p:txBody>
      </p:sp>
      <p:sp>
        <p:nvSpPr>
          <p:cNvPr id="6" name="element_45c095cf6d16bc00e1e2204205796301"/>
          <p:cNvSpPr txBox="1"/>
          <p:nvPr/>
        </p:nvSpPr>
        <p:spPr>
          <a:xfrm>
            <a:off x="853419" y="4594860"/>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Median cycle time: 8.4 days before intervention</a:t>
            </a:r>
            <a:endParaRPr lang="en-US" sz="1700" dirty="0"/>
          </a:p>
        </p:txBody>
      </p:sp>
      <p:sp>
        <p:nvSpPr>
          <p:cNvPr id="7" name="element_78087c1a611bad0f3d9a07e3b782dd9e"/>
          <p:cNvSpPr txBox="1"/>
          <p:nvPr/>
        </p:nvSpPr>
        <p:spPr>
          <a:xfrm>
            <a:off x="853419" y="5258029"/>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Manual touches per claim: 6.1, indicating handoff-heavy work</a:t>
            </a:r>
            <a:endParaRPr lang="en-US" sz="1700" dirty="0"/>
          </a:p>
        </p:txBody>
      </p:sp>
      <p:sp>
        <p:nvSpPr>
          <p:cNvPr id="8" name="element_a1580040ac32f2cfac6d118103667802"/>
          <p:cNvSpPr txBox="1"/>
          <p:nvPr/>
        </p:nvSpPr>
        <p:spPr>
          <a:xfrm>
            <a:off x="853419" y="5920511"/>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On-time completion: only 71%, with 14.2% rework</a:t>
            </a:r>
            <a:endParaRPr lang="en-US" sz="1700" dirty="0"/>
          </a:p>
        </p:txBody>
      </p:sp>
      <p:sp>
        <p:nvSpPr>
          <p:cNvPr id="9" name="element_f4766ae854e26a43cd4ac85e20c64c18"/>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8.4 days</a:t>
            </a:r>
            <a:endParaRPr lang="en-US" sz="5600" dirty="0"/>
          </a:p>
        </p:txBody>
      </p:sp>
      <p:sp>
        <p:nvSpPr>
          <p:cNvPr id="10" name="element_d59e825dad4237e0026637470c0a3f90"/>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Median cycle time (before)</a:t>
            </a:r>
            <a:endParaRPr lang="en-US" sz="1500" dirty="0"/>
          </a:p>
        </p:txBody>
      </p:sp>
      <p:sp>
        <p:nvSpPr>
          <p:cNvPr id="11" name="element_9ab3cef2cad6f0ae29a956778b6d4e5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86d6afcabe2db6b01acef19d65edae6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50c593b072a771be0a7ab259faeac537"/>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de31b3709a171e323d48da1808c827fc"/>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70cf2109064df5f982c020672a338070"/>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Three structural changes replaced ad hoc handling</a:t>
            </a:r>
            <a:endParaRPr lang="en-US" sz="3800" dirty="0"/>
          </a:p>
        </p:txBody>
      </p:sp>
      <p:sp>
        <p:nvSpPr>
          <p:cNvPr id="5" name="element_1aa2081f5bd7cdd8b54203dea8dceead"/>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The intervention introduced structured intake, a single review checkpoint, and dedicated exception routing. This redesign aimed to standardize entry points and isolate exceptions instead of letting them recirculate through the general queue.</a:t>
            </a:r>
            <a:endParaRPr lang="en-US" sz="1700" dirty="0"/>
          </a:p>
        </p:txBody>
      </p:sp>
      <p:sp>
        <p:nvSpPr>
          <p:cNvPr id="6" name="element_c29c5b8e5f0a1f683ae3391db1661b97"/>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Structured intake standardizes how claims enter the process</a:t>
            </a:r>
            <a:endParaRPr lang="en-US" sz="1700" dirty="0"/>
          </a:p>
        </p:txBody>
      </p:sp>
      <p:sp>
        <p:nvSpPr>
          <p:cNvPr id="7" name="element_384250a8de030b45e93263c6bcd491c0"/>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One review checkpoint replaces multiple informal handoffs</a:t>
            </a:r>
            <a:endParaRPr lang="en-US" sz="1700" dirty="0"/>
          </a:p>
        </p:txBody>
      </p:sp>
      <p:sp>
        <p:nvSpPr>
          <p:cNvPr id="8" name="element_bcbebd98f300ef5dc3c6ab1623a1e582"/>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Exception routing isolates atypical claims from the main flow</a:t>
            </a:r>
            <a:endParaRPr lang="en-US" sz="1700" dirty="0"/>
          </a:p>
        </p:txBody>
      </p:sp>
      <p:sp>
        <p:nvSpPr>
          <p:cNvPr id="9" name="element_721223f2697d5065d460a29280c8ca8c"/>
          <p:cNvSpPr/>
          <p:nvPr/>
        </p:nvSpPr>
        <p:spPr>
          <a:xfrm>
            <a:off x="7019978" y="3775329"/>
            <a:ext cx="243834" cy="164592"/>
          </a:xfrm>
          <a:prstGeom prst="line">
            <a:avLst/>
          </a:prstGeom>
          <a:noFill/>
          <a:ln w="25400">
            <a:solidFill>
              <a:srgbClr val="7566A8"/>
            </a:solidFill>
            <a:prstDash val="solid"/>
            <a:tailEnd type="triangle"/>
          </a:ln>
        </p:spPr>
      </p:sp>
      <p:sp>
        <p:nvSpPr>
          <p:cNvPr id="10" name="element_530a89368257f5d0a30ac70738dc66c0"/>
          <p:cNvSpPr/>
          <p:nvPr/>
        </p:nvSpPr>
        <p:spPr>
          <a:xfrm>
            <a:off x="9194977" y="3775329"/>
            <a:ext cx="243834" cy="164592"/>
          </a:xfrm>
          <a:prstGeom prst="line">
            <a:avLst/>
          </a:prstGeom>
          <a:noFill/>
          <a:ln w="25400">
            <a:solidFill>
              <a:srgbClr val="7566A8"/>
            </a:solidFill>
            <a:prstDash val="solid"/>
            <a:tailEnd type="triangle"/>
          </a:ln>
        </p:spPr>
      </p:sp>
      <p:sp>
        <p:nvSpPr>
          <p:cNvPr id="11" name="element_32f2fe003a6106ca77fb886a894c3a74"/>
          <p:cNvSpPr/>
          <p:nvPr/>
        </p:nvSpPr>
        <p:spPr>
          <a:xfrm>
            <a:off x="6922445" y="4375404"/>
            <a:ext cx="2615119" cy="164592"/>
          </a:xfrm>
          <a:prstGeom prst="line">
            <a:avLst/>
          </a:prstGeom>
          <a:noFill/>
          <a:ln w="25400">
            <a:solidFill>
              <a:srgbClr val="7566A8"/>
            </a:solidFill>
            <a:prstDash val="solid"/>
            <a:tailEnd type="triangle"/>
          </a:ln>
        </p:spPr>
      </p:sp>
      <p:sp>
        <p:nvSpPr>
          <p:cNvPr id="12" name="element_bdc7e2770d25526e1d986c01a860ce2b"/>
          <p:cNvSpPr/>
          <p:nvPr/>
        </p:nvSpPr>
        <p:spPr>
          <a:xfrm>
            <a:off x="6910253" y="4375404"/>
            <a:ext cx="463284" cy="164592"/>
          </a:xfrm>
          <a:prstGeom prst="line">
            <a:avLst/>
          </a:prstGeom>
          <a:noFill/>
          <a:ln w="25400">
            <a:solidFill>
              <a:srgbClr val="7566A8"/>
            </a:solidFill>
            <a:prstDash val="solid"/>
            <a:tailEnd type="triangle"/>
          </a:ln>
        </p:spPr>
      </p:sp>
      <p:sp>
        <p:nvSpPr>
          <p:cNvPr id="13" name="element_21555d75db730ad97ec8a53d8a1d843f"/>
          <p:cNvSpPr/>
          <p:nvPr/>
        </p:nvSpPr>
        <p:spPr>
          <a:xfrm>
            <a:off x="5045753" y="3339160"/>
            <a:ext cx="2018506" cy="1036930"/>
          </a:xfrm>
          <a:prstGeom prst="roundRect">
            <a:avLst/>
          </a:prstGeom>
          <a:solidFill>
            <a:srgbClr val="F2DED3"/>
          </a:solidFill>
          <a:ln w="12700">
            <a:solidFill>
              <a:srgbClr val="DED7CC"/>
            </a:solidFill>
            <a:prstDash val="solid"/>
          </a:ln>
        </p:spPr>
      </p:sp>
      <p:sp>
        <p:nvSpPr>
          <p:cNvPr id="14" name="element_21555d75db730ad97ec8a53d8a1d843f:text"/>
          <p:cNvSpPr txBox="1"/>
          <p:nvPr/>
        </p:nvSpPr>
        <p:spPr>
          <a:xfrm>
            <a:off x="5045753"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Structured Intake</a:t>
            </a:r>
            <a:endParaRPr lang="en-US" sz="1600" dirty="0"/>
          </a:p>
        </p:txBody>
      </p:sp>
      <p:sp>
        <p:nvSpPr>
          <p:cNvPr id="15" name="element_f281965e4e9945c9294776dbade4fa71"/>
          <p:cNvSpPr/>
          <p:nvPr/>
        </p:nvSpPr>
        <p:spPr>
          <a:xfrm>
            <a:off x="7219532" y="3339160"/>
            <a:ext cx="2018506" cy="1036930"/>
          </a:xfrm>
          <a:prstGeom prst="roundRect">
            <a:avLst/>
          </a:prstGeom>
          <a:solidFill>
            <a:srgbClr val="F2DED3"/>
          </a:solidFill>
          <a:ln w="12700">
            <a:solidFill>
              <a:srgbClr val="DED7CC"/>
            </a:solidFill>
            <a:prstDash val="solid"/>
          </a:ln>
        </p:spPr>
      </p:sp>
      <p:sp>
        <p:nvSpPr>
          <p:cNvPr id="16" name="element_f281965e4e9945c9294776dbade4fa71:text"/>
          <p:cNvSpPr txBox="1"/>
          <p:nvPr/>
        </p:nvSpPr>
        <p:spPr>
          <a:xfrm>
            <a:off x="7219532"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Review Checkpoint</a:t>
            </a:r>
            <a:endParaRPr lang="en-US" sz="1600" dirty="0"/>
          </a:p>
        </p:txBody>
      </p:sp>
      <p:sp>
        <p:nvSpPr>
          <p:cNvPr id="17" name="element_b9857d20a4086f2c3b9ff345ffc6f914"/>
          <p:cNvSpPr/>
          <p:nvPr/>
        </p:nvSpPr>
        <p:spPr>
          <a:xfrm>
            <a:off x="9394530" y="3339160"/>
            <a:ext cx="2018506" cy="1036930"/>
          </a:xfrm>
          <a:prstGeom prst="roundRect">
            <a:avLst/>
          </a:prstGeom>
          <a:solidFill>
            <a:srgbClr val="E5E9D6"/>
          </a:solidFill>
          <a:ln w="25400">
            <a:solidFill>
              <a:srgbClr val="B44A2D"/>
            </a:solidFill>
            <a:prstDash val="solid"/>
          </a:ln>
        </p:spPr>
      </p:sp>
      <p:sp>
        <p:nvSpPr>
          <p:cNvPr id="18" name="element_b9857d20a4086f2c3b9ff345ffc6f914:text"/>
          <p:cNvSpPr txBox="1"/>
          <p:nvPr/>
        </p:nvSpPr>
        <p:spPr>
          <a:xfrm>
            <a:off x="9394530"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Exception Routing</a:t>
            </a:r>
            <a:endParaRPr lang="en-US" sz="1600" dirty="0"/>
          </a:p>
        </p:txBody>
      </p:sp>
      <p:sp>
        <p:nvSpPr>
          <p:cNvPr id="19" name="element_3bcb7c57615dc207b8d0c3a0d95e37d4"/>
          <p:cNvSpPr/>
          <p:nvPr/>
        </p:nvSpPr>
        <p:spPr>
          <a:xfrm>
            <a:off x="5045753" y="4539310"/>
            <a:ext cx="2018506" cy="1036930"/>
          </a:xfrm>
          <a:prstGeom prst="roundRect">
            <a:avLst/>
          </a:prstGeom>
          <a:solidFill>
            <a:srgbClr val="E5E9D6"/>
          </a:solidFill>
          <a:ln w="12700">
            <a:solidFill>
              <a:srgbClr val="DED7CC"/>
            </a:solidFill>
            <a:prstDash val="solid"/>
          </a:ln>
        </p:spPr>
      </p:sp>
      <p:sp>
        <p:nvSpPr>
          <p:cNvPr id="20" name="element_3bcb7c57615dc207b8d0c3a0d95e37d4:text"/>
          <p:cNvSpPr txBox="1"/>
          <p:nvPr/>
        </p:nvSpPr>
        <p:spPr>
          <a:xfrm>
            <a:off x="5045753" y="453931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Claim Resolved</a:t>
            </a:r>
            <a:endParaRPr lang="en-US" sz="1600" dirty="0"/>
          </a:p>
        </p:txBody>
      </p:sp>
      <p:sp>
        <p:nvSpPr>
          <p:cNvPr id="21" name="element_d0368c4a549404c98cca2e84ab8af1f1"/>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2" name="element_11873d0de8788245719b37bf9f07a96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840f0955e123da3d34e0c1eeb51ff227"/>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237bc72bac9a7a02956742695dc3dd68"/>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a083676e3d2fa84072a811f512c61191"/>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Teams phased in the new workflow before full rollout</a:t>
            </a:r>
            <a:endParaRPr lang="en-US" sz="3800" dirty="0"/>
          </a:p>
        </p:txBody>
      </p:sp>
      <p:sp>
        <p:nvSpPr>
          <p:cNvPr id="5" name="element_5cf1ebe519a6233c6704b49812e1ca32"/>
          <p:cNvSpPr txBox="1"/>
          <p:nvPr/>
        </p:nvSpPr>
        <p:spPr>
          <a:xfrm>
            <a:off x="7436934"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Operators moved through the redesigned workflow in stages rather than a single cutover, allowing the checkpoint and routing logic to be tuned against real claim volume before the after-period measurement window closed. The timeline below shows the sequence, not a fixed calendar.</a:t>
            </a:r>
            <a:endParaRPr lang="en-US" sz="1700" dirty="0"/>
          </a:p>
        </p:txBody>
      </p:sp>
      <p:sp>
        <p:nvSpPr>
          <p:cNvPr id="6" name="element_d670d6ceb3245cc3b9b5c3461f8399c3"/>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Structured intake adopted first to stabilize claim entry</a:t>
            </a:r>
            <a:endParaRPr lang="en-US" sz="1700" dirty="0"/>
          </a:p>
        </p:txBody>
      </p:sp>
      <p:sp>
        <p:nvSpPr>
          <p:cNvPr id="7" name="element_d65f97f74c93a0f1ac13306f5eeaeb7c"/>
          <p:cNvSpPr txBox="1"/>
          <p:nvPr/>
        </p:nvSpPr>
        <p:spPr>
          <a:xfrm>
            <a:off x="7680768"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checkpoint layered in once intake stabilized</a:t>
            </a:r>
            <a:endParaRPr lang="en-US" sz="1700" dirty="0"/>
          </a:p>
        </p:txBody>
      </p:sp>
      <p:sp>
        <p:nvSpPr>
          <p:cNvPr id="8" name="element_a62d3e1c51c637cecf39d8663a64a605"/>
          <p:cNvSpPr txBox="1"/>
          <p:nvPr/>
        </p:nvSpPr>
        <p:spPr>
          <a:xfrm>
            <a:off x="7680768"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Exception routing activated last, after checkpoint volume was understood</a:t>
            </a:r>
            <a:endParaRPr lang="en-US" sz="1700" dirty="0"/>
          </a:p>
        </p:txBody>
      </p:sp>
      <p:sp>
        <p:nvSpPr>
          <p:cNvPr id="9" name="element_7ab311648c9b7bb10f372dbc0e2a473e"/>
          <p:cNvSpPr/>
          <p:nvPr/>
        </p:nvSpPr>
        <p:spPr>
          <a:xfrm>
            <a:off x="4927883" y="4375404"/>
            <a:ext cx="243834" cy="164592"/>
          </a:xfrm>
          <a:prstGeom prst="line">
            <a:avLst/>
          </a:prstGeom>
          <a:noFill/>
          <a:ln w="25400">
            <a:solidFill>
              <a:srgbClr val="7566A8"/>
            </a:solidFill>
            <a:prstDash val="solid"/>
            <a:tailEnd type="triangle"/>
          </a:ln>
        </p:spPr>
      </p:sp>
      <p:sp>
        <p:nvSpPr>
          <p:cNvPr id="10" name="element_7fba2ddcaf10cc5ef320fdb2db4d8941"/>
          <p:cNvSpPr/>
          <p:nvPr/>
        </p:nvSpPr>
        <p:spPr>
          <a:xfrm>
            <a:off x="2752885" y="4375404"/>
            <a:ext cx="243834" cy="164592"/>
          </a:xfrm>
          <a:prstGeom prst="line">
            <a:avLst/>
          </a:prstGeom>
          <a:noFill/>
          <a:ln w="25400">
            <a:solidFill>
              <a:srgbClr val="7566A8"/>
            </a:solidFill>
            <a:prstDash val="solid"/>
            <a:tailEnd type="triangle"/>
          </a:ln>
        </p:spPr>
      </p:sp>
      <p:sp>
        <p:nvSpPr>
          <p:cNvPr id="11" name="element_a00e47a9fbd7617317beb73fbaf167e9"/>
          <p:cNvSpPr/>
          <p:nvPr/>
        </p:nvSpPr>
        <p:spPr>
          <a:xfrm>
            <a:off x="5202196" y="3977640"/>
            <a:ext cx="1868987" cy="960120"/>
          </a:xfrm>
          <a:prstGeom prst="roundRect">
            <a:avLst/>
          </a:prstGeom>
          <a:solidFill>
            <a:srgbClr val="E5E9D6"/>
          </a:solidFill>
          <a:ln w="12700">
            <a:solidFill>
              <a:srgbClr val="DED7CC"/>
            </a:solidFill>
            <a:prstDash val="solid"/>
          </a:ln>
        </p:spPr>
      </p:sp>
      <p:sp>
        <p:nvSpPr>
          <p:cNvPr id="12" name="element_a00e47a9fbd7617317beb73fbaf167e9:text"/>
          <p:cNvSpPr txBox="1"/>
          <p:nvPr/>
        </p:nvSpPr>
        <p:spPr>
          <a:xfrm>
            <a:off x="5202196" y="3977640"/>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Intake Adopted</a:t>
            </a:r>
            <a:endParaRPr lang="en-US" sz="1600" dirty="0"/>
          </a:p>
        </p:txBody>
      </p:sp>
      <p:sp>
        <p:nvSpPr>
          <p:cNvPr id="13" name="element_e265781dc3f203c1a0a6ec02ee3d5b14"/>
          <p:cNvSpPr/>
          <p:nvPr/>
        </p:nvSpPr>
        <p:spPr>
          <a:xfrm>
            <a:off x="3028417" y="3977640"/>
            <a:ext cx="1868987" cy="960120"/>
          </a:xfrm>
          <a:prstGeom prst="roundRect">
            <a:avLst/>
          </a:prstGeom>
          <a:solidFill>
            <a:srgbClr val="E5E9D6"/>
          </a:solidFill>
          <a:ln w="12700">
            <a:solidFill>
              <a:srgbClr val="DED7CC"/>
            </a:solidFill>
            <a:prstDash val="solid"/>
          </a:ln>
        </p:spPr>
      </p:sp>
      <p:sp>
        <p:nvSpPr>
          <p:cNvPr id="14" name="element_e265781dc3f203c1a0a6ec02ee3d5b14:text"/>
          <p:cNvSpPr txBox="1"/>
          <p:nvPr/>
        </p:nvSpPr>
        <p:spPr>
          <a:xfrm>
            <a:off x="3028417" y="3977640"/>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Checkpoint Layered In</a:t>
            </a:r>
            <a:endParaRPr lang="en-US" sz="1600" dirty="0"/>
          </a:p>
        </p:txBody>
      </p:sp>
      <p:sp>
        <p:nvSpPr>
          <p:cNvPr id="15" name="element_bc0d9cf15e6f27f76611e1d956670a94"/>
          <p:cNvSpPr/>
          <p:nvPr/>
        </p:nvSpPr>
        <p:spPr>
          <a:xfrm>
            <a:off x="853419" y="3977640"/>
            <a:ext cx="1868987" cy="960120"/>
          </a:xfrm>
          <a:prstGeom prst="roundRect">
            <a:avLst/>
          </a:prstGeom>
          <a:solidFill>
            <a:srgbClr val="E5E9D6"/>
          </a:solidFill>
          <a:ln w="12700">
            <a:solidFill>
              <a:srgbClr val="DED7CC"/>
            </a:solidFill>
            <a:prstDash val="solid"/>
          </a:ln>
        </p:spPr>
      </p:sp>
      <p:sp>
        <p:nvSpPr>
          <p:cNvPr id="16" name="element_bc0d9cf15e6f27f76611e1d956670a94:text"/>
          <p:cNvSpPr txBox="1"/>
          <p:nvPr/>
        </p:nvSpPr>
        <p:spPr>
          <a:xfrm>
            <a:off x="853419" y="3977640"/>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Exception Routing Activated</a:t>
            </a:r>
            <a:endParaRPr lang="en-US" sz="1600" dirty="0"/>
          </a:p>
        </p:txBody>
      </p:sp>
      <p:sp>
        <p:nvSpPr>
          <p:cNvPr id="17" name="element_ad736b1e426b20d5c0c482a4bc631bd0"/>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07b30de1764a76850cd92aadd9dd9ddd"/>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5c8d933b6aa7c12cae8172ca90c0819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8204315c25cb7bf627d17f00aece1535"/>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238ba446a057f6c74eb396ed5c32502e"/>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After-state metrics moved together across all four indicators</a:t>
            </a:r>
            <a:endParaRPr lang="en-US" sz="3800" dirty="0"/>
          </a:p>
        </p:txBody>
      </p:sp>
      <p:sp>
        <p:nvSpPr>
          <p:cNvPr id="5" name="element_0eabb17efe36f4046594a6fd4153a4dc"/>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Using the supplied dataset exactly: cycle time fell from 8.4 to 5.9 days, manual touches from 6.1 to 3.8, rework from 14.2% to 9.6%, and on-time completion rose from 71% to 84%. The chart shows the after-state values; all four indicators moved in the same direction across the same measurement window.</a:t>
            </a:r>
            <a:endParaRPr lang="en-US" sz="1900" dirty="0"/>
          </a:p>
        </p:txBody>
      </p:sp>
      <p:sp>
        <p:nvSpPr>
          <p:cNvPr id="6" name="element_85079939a9acda5f0f8a11cf8d5bb845"/>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Cycle time: 8.4 → 5.9 days</a:t>
            </a:r>
            <a:endParaRPr lang="en-US" sz="1700" dirty="0"/>
          </a:p>
        </p:txBody>
      </p:sp>
      <p:sp>
        <p:nvSpPr>
          <p:cNvPr id="7" name="element_15162a766f2f06ec810ee6bb1ff09abc"/>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Rework rate: 14.2% → 9.6%</a:t>
            </a:r>
            <a:endParaRPr lang="en-US" sz="1700" dirty="0"/>
          </a:p>
        </p:txBody>
      </p:sp>
      <p:sp>
        <p:nvSpPr>
          <p:cNvPr id="8" name="element_8774397795cf39dc3f8d3334ccbc249f"/>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On-time completion: 71% → 84%</a:t>
            </a:r>
            <a:endParaRPr lang="en-US" sz="1700" dirty="0"/>
          </a:p>
        </p:txBody>
      </p:sp>
      <p:graphicFrame>
        <p:nvGraphicFramePr>
          <p:cNvPr id="9" name="element_ad82c5f3e02bb5915763344b6d58fe41"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f591a4470d74478730b08395ac8c6de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368bde43d57919acb60d7ea03d439c7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ce79055d5d279a2845a7ee35e2fd7f1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a564e7bc68f16670df5a5f4f9a00b9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d7050c83449a79f11e4144caf1bd4e1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Process-level evidence is documented; direct operator testimony is not yet captured</a:t>
            </a:r>
            <a:endParaRPr lang="en-US" sz="3800" dirty="0"/>
          </a:p>
        </p:txBody>
      </p:sp>
      <p:sp>
        <p:nvSpPr>
          <p:cNvPr id="5" name="element_3dbec857125bef7eba1f22a3cbfabaca"/>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supplied intervention notes describe the structural changes but do not include captured operator interviews, photos, or floor observation. This slide reserves an honest placeholder rather than presenting illustrative material as captured evidence.</a:t>
            </a:r>
            <a:endParaRPr lang="en-US" sz="1900" dirty="0"/>
          </a:p>
        </p:txBody>
      </p:sp>
      <p:sp>
        <p:nvSpPr>
          <p:cNvPr id="6" name="element_de9cb3189d3e0e8617f3b06414dcd87b"/>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Intervention notes confirm intake, checkpoint, and routing were implemented</a:t>
            </a:r>
            <a:endParaRPr lang="en-US" sz="1700" dirty="0"/>
          </a:p>
        </p:txBody>
      </p:sp>
      <p:sp>
        <p:nvSpPr>
          <p:cNvPr id="7" name="element_fbbf35ef3db2f62bb26be7f0074d8cca"/>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No operator interview or floor-observation material was supplied</a:t>
            </a:r>
            <a:endParaRPr lang="en-US" sz="1700" dirty="0"/>
          </a:p>
        </p:txBody>
      </p:sp>
      <p:sp>
        <p:nvSpPr>
          <p:cNvPr id="8" name="element_54faea2802e69d3a3f0f2c323df3c2aa"/>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This gap should be closed before scaling replication decisions</a:t>
            </a:r>
            <a:endParaRPr lang="en-US" sz="1700" dirty="0"/>
          </a:p>
        </p:txBody>
      </p:sp>
      <p:sp>
        <p:nvSpPr>
          <p:cNvPr id="9" name="element_e9bd0e0dbbd23823ac79a6be73c3051c:fallback-shape"/>
          <p:cNvSpPr/>
          <p:nvPr/>
        </p:nvSpPr>
        <p:spPr>
          <a:xfrm>
            <a:off x="6461598" y="2674620"/>
            <a:ext cx="4754761" cy="2606040"/>
          </a:xfrm>
          <a:prstGeom prst="roundRect">
            <a:avLst/>
          </a:prstGeom>
          <a:solidFill>
            <a:srgbClr val="F2DED3"/>
          </a:solidFill>
          <a:ln w="19050">
            <a:solidFill>
              <a:srgbClr val="DED7CC"/>
            </a:solidFill>
            <a:prstDash val="dash"/>
          </a:ln>
        </p:spPr>
      </p:sp>
      <p:sp>
        <p:nvSpPr>
          <p:cNvPr id="10" name="element_e9bd0e0dbbd23823ac79a6be73c3051c:fallback-label"/>
          <p:cNvSpPr/>
          <p:nvPr/>
        </p:nvSpPr>
        <p:spPr>
          <a:xfrm>
            <a:off x="6461598"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for operator floor evidence — no captured image supplied</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No source available; placeholder pending future capture</a:t>
            </a:r>
            <a:endParaRPr lang="en-US" sz="1400" dirty="0"/>
          </a:p>
        </p:txBody>
      </p:sp>
      <p:sp>
        <p:nvSpPr>
          <p:cNvPr id="11" name="element_ac6d0509f2a9f499eef878db3cd7fcd8"/>
          <p:cNvSpPr txBox="1"/>
          <p:nvPr/>
        </p:nvSpPr>
        <p:spPr>
          <a:xfrm>
            <a:off x="6705432"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No source available; placeholder pending future capture</a:t>
            </a:r>
            <a:endParaRPr lang="en-US" sz="1400" dirty="0"/>
          </a:p>
        </p:txBody>
      </p:sp>
      <p:sp>
        <p:nvSpPr>
          <p:cNvPr id="12" name="element_b569187e31c9070d573a4c669c1862d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6f7be49b4867c8cd21efe6c5f80a01b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1bb6878513b75353f5b30a7c70c73426"/>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7743e7a514adb09edc7f36c8e57e2f2b"/>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c98dd7e6e626e2a58d5917f62d9045ef"/>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result is a before/after association, not a proven causal effect</a:t>
            </a:r>
            <a:endParaRPr lang="en-US" sz="3800" dirty="0"/>
          </a:p>
        </p:txBody>
      </p:sp>
      <p:sp>
        <p:nvSpPr>
          <p:cNvPr id="5" name="element_6ca55300d8be9abc9ef2259a13662521"/>
          <p:cNvSpPr txBox="1"/>
          <p:nvPr/>
        </p:nvSpPr>
        <p:spPr>
          <a:xfrm>
            <a:off x="6583515"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Percent improvement is calculated directly from the supplied before/after values. The benchmark authorizes an observed association only — no control group, randomization, or isolation of confounds was part of this measurement, so the causal contribution of the intervention itself remains unproven.</a:t>
            </a:r>
            <a:endParaRPr lang="en-US" sz="1900" dirty="0"/>
          </a:p>
        </p:txBody>
      </p:sp>
      <p:sp>
        <p:nvSpPr>
          <p:cNvPr id="6" name="element_21f076800a6ec0540217c442dc0f3aef"/>
          <p:cNvSpPr txBox="1"/>
          <p:nvPr/>
        </p:nvSpPr>
        <p:spPr>
          <a:xfrm>
            <a:off x="6583515"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Formula shows the improvement calculation using exact supplied values</a:t>
            </a:r>
            <a:endParaRPr lang="en-US" sz="1700" dirty="0"/>
          </a:p>
        </p:txBody>
      </p:sp>
      <p:sp>
        <p:nvSpPr>
          <p:cNvPr id="7" name="element_e043ef6cc16d82931173675c12ec29cf"/>
          <p:cNvSpPr txBox="1"/>
          <p:nvPr/>
        </p:nvSpPr>
        <p:spPr>
          <a:xfrm>
            <a:off x="6583515"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No control group or randomization was part of this measurement</a:t>
            </a:r>
            <a:endParaRPr lang="en-US" sz="1700" dirty="0"/>
          </a:p>
        </p:txBody>
      </p:sp>
      <p:sp>
        <p:nvSpPr>
          <p:cNvPr id="8" name="element_6149b3232431f3c3054f4e4bbe3490d0"/>
          <p:cNvSpPr txBox="1"/>
          <p:nvPr/>
        </p:nvSpPr>
        <p:spPr>
          <a:xfrm>
            <a:off x="6583515"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Concurrent operational changes during the window are not ruled out</a:t>
            </a:r>
            <a:endParaRPr lang="en-US" sz="1700" dirty="0"/>
          </a:p>
        </p:txBody>
      </p:sp>
      <p:sp>
        <p:nvSpPr>
          <p:cNvPr id="9" name="element_75d64a505778ec8a37727f18a7cbb2bd"/>
          <p:cNvSpPr txBox="1"/>
          <p:nvPr/>
        </p:nvSpPr>
        <p:spPr>
          <a:xfrm>
            <a:off x="975336"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 Improvement = (Before − After) / Before × 100</a:t>
            </a:r>
            <a:endParaRPr lang="en-US" sz="3000" dirty="0"/>
          </a:p>
        </p:txBody>
      </p:sp>
      <p:sp>
        <p:nvSpPr>
          <p:cNvPr id="10" name="element_4d3529c8eeb1066d20f9cc3e45d16e12"/>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156c454537d0b7b3d723be5d9cde0c4b"/>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f70188dfe839fc85f9393b107ee9c68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dea92468ec069a1bd272415b6ab6af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386944c1336f3f0e742f092afb8875c6"/>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Replicate the intervention in a scoped pilot, with re-measurement before scaling</a:t>
            </a:r>
            <a:endParaRPr lang="en-US" sz="3800" dirty="0"/>
          </a:p>
        </p:txBody>
      </p:sp>
      <p:sp>
        <p:nvSpPr>
          <p:cNvPr id="5" name="element_6f8e2e81cb346b3e001d04c01a2c1467"/>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Given the consistent directional shift across all four supplied metrics, and given the acknowledged evidence gaps, the recommendation is a scoped replication in one additional site rather than an organization-wide rollout. An owner should be assigned to re-run the before/after measurement and to close the operator-evidence gap before any broader decision.</a:t>
            </a:r>
            <a:endParaRPr lang="en-US" sz="1900" dirty="0"/>
          </a:p>
        </p:txBody>
      </p:sp>
      <p:sp>
        <p:nvSpPr>
          <p:cNvPr id="6" name="element_4027907d1ef00d386bd07820f320da6c"/>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Recommendation: scoped one-site replication, not full rollout</a:t>
            </a:r>
            <a:endParaRPr lang="en-US" sz="1700" dirty="0"/>
          </a:p>
        </p:txBody>
      </p:sp>
      <p:sp>
        <p:nvSpPr>
          <p:cNvPr id="7" name="element_30d7de7dd48e3e5ae98868f556e6be82"/>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Owner: operations lead accountable for the next measurement cycle</a:t>
            </a:r>
            <a:endParaRPr lang="en-US" sz="1700" dirty="0"/>
          </a:p>
        </p:txBody>
      </p:sp>
      <p:sp>
        <p:nvSpPr>
          <p:cNvPr id="8" name="element_cdc07774c1b56fec796db425beeddeb4"/>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Checkpoint: re-measure before/after metrics at the pilot site</a:t>
            </a:r>
            <a:endParaRPr lang="en-US" sz="1700" dirty="0"/>
          </a:p>
        </p:txBody>
      </p:sp>
      <p:sp>
        <p:nvSpPr>
          <p:cNvPr id="9" name="element_90e8d6111b933ec82433892e196db812"/>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1 site</a:t>
            </a:r>
            <a:endParaRPr lang="en-US" sz="5600" dirty="0"/>
          </a:p>
        </p:txBody>
      </p:sp>
      <p:sp>
        <p:nvSpPr>
          <p:cNvPr id="10" name="element_f390fbbcc80d8e2c03573d239b4235b2"/>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Scope of the proposed replication pilot</a:t>
            </a:r>
            <a:endParaRPr lang="en-US" sz="1500" dirty="0"/>
          </a:p>
        </p:txBody>
      </p:sp>
      <p:sp>
        <p:nvSpPr>
          <p:cNvPr id="11" name="element_4411f638557887d1e062a9dcc1bb03f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3aa09d9f3a9e012293263f86d7915ce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case study for operations executives deciding wh…</dc:title>
  <dc:subject>Create an editable, reviewable presentation from this idea</dc:subject>
  <dc:creator>NodeSlide</dc:creator>
  <cp:lastModifiedBy>NodeSlide</cp:lastModifiedBy>
  <cp:revision>1</cp:revision>
  <dcterms:created xsi:type="dcterms:W3CDTF">2026-07-22T00:01:37Z</dcterms:created>
  <dcterms:modified xsi:type="dcterms:W3CDTF">2026-07-22T00:01:37Z</dcterms:modified>
</cp:coreProperties>
</file>