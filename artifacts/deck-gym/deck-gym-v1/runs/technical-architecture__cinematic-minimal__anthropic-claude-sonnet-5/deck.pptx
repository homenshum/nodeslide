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Signal</c:v>
                </c:pt>
              </c:strCache>
            </c:strRef>
          </c:tx>
          <c:spPr>
            <a:solidFill>
              <a:srgbClr val="B44A2D"/>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S1</c:v>
                  </c:pt>
                  <c:pt idx="1">
                    <c:v>S2</c:v>
                  </c:pt>
                  <c:pt idx="2">
                    <c:v>S3</c:v>
                  </c:pt>
                </c:lvl>
              </c:multiLvlStrCache>
            </c:multiLvlStrRef>
          </c:cat>
          <c:val>
            <c:numRef>
              <c:f>Sheet1!$B$2:$B$4</c:f>
              <c:numCache>
                <c:formatCode>General</c:formatCode>
                <c:ptCount val="3"/>
                <c:pt idx="0">
                  <c:v>1</c:v>
                </c:pt>
                <c:pt idx="1">
                  <c:v>1</c:v>
                </c:pt>
                <c:pt idx="2">
                  <c:v>1</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756B61"/>
                </a:solidFill>
                <a:latin typeface="JetBrains Mono Variable"/>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756B61"/>
                </a:solidFill>
                <a:latin typeface="JetBrains Mono Variable"/>
              </a:defRPr>
            </a:pPr>
            <a:endParaRPr lang="en-US"/>
          </a:p>
        </c:txPr>
        <c:crossAx val="2094734554"/>
        <c:crosses val="autoZero"/>
        <c:crossBetween val="between"/>
      </c:valAx>
      <c:spPr>
        <a:noFill/>
        <a:ln>
          <a:noFill/>
        </a:ln>
        <a:effectLst/>
      </c:spPr>
    </c:plotArea>
    <c:plotVisOnly val="1"/>
    <c:dispBlanksAs val="span"/>
  </c:chart>
  <c:spPr>
    <a:solidFill>
      <a:srgbClr val="F2DED3">
        <a:alpha val="0"/>
      </a:srgbClr>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Opening / 01. Keep the spoken transition focused on “Create an editable, reviewable presentation from this idea”
Evidence note: Content is based on the supplied creation brief. Illustrative examples are not independently verified; replace them with measured evidence before external publication.
NodeSlide sources
[source_2d02f7868e29bd4b5f9d5a64e4e228d1] Create a seven-slide technical architecture review for staff engineer… — creation brief
Citation: Create a seven-slide technical architecture review for staff engineers deciding whether to approve a portable caseflow runtime. Show the invariant lifecycle, adapter boundary, request sequence, benchmark evidence, code contract, failure handling, and decision. Include an editable architecture graph, an editable sequence flow, an editable benchmark chart, and a legible code excerpt. Avoid prose arrows and generic card grids. Design direction: Use a cinematic minimal direction: fewer words, larger visual centers, deliberate scale changes, one memorable visual climax, and quiet transition beats. Keep all evidence honest and editable.
Disclaimer: Internal working material
[source_f8346a2e77de3e73099c8fd4624957bd] benchmark.csv
Citation: Uploaded file: benchmark.csv
adapter,p50_ms,p95_ms,receipt_bytes
memory,4,9,820
convex,38,92,1160
postgres,31,77,1080
Disclaimer: User supplied
[source_bfa1136d023b435db7f30b5bd96254d8] caseflow.ts.txt
Citation: Uploaded file: caseflow.ts.txt
export interface CaseflowAdapter { stage(input: StageInput): Promise&lt;Proposal&gt;; commit(input: CommitInput): Promise&lt;Receipt&gt;; restore(versionId: string): Promise&lt;Receipt&gt;; }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Context / 02. Keep the spoken transition focused on “The cost of waiting is usually hidden in repeated work.”
Evidence note: Content is based on the supplied creation brief. Illustrative examples are not independently verified; replace them with measured evidence before external publication.
NodeSlide sources
[source_2d02f7868e29bd4b5f9d5a64e4e228d1] Create a seven-slide technical architecture review for staff engineer… — creation brief
Citation: Create a seven-slide technical architecture review for staff engineers deciding whether to approve a portable caseflow runtime. Show the invariant lifecycle, adapter boundary, request sequence, benchmark evidence, code contract, failure handling, and decision. Include an editable architecture graph, an editable sequence flow, an editable benchmark chart, and a legible code excerpt. Avoid prose arrows and generic card grids. Design direction: Use a cinematic minimal direction: fewer words, larger visual centers, deliberate scale changes, one memorable visual climax, and quiet transition beats. Keep all evidence honest and editable.
Disclaimer: Internal working material
[source_f8346a2e77de3e73099c8fd4624957bd] benchmark.csv
Citation: Uploaded file: benchmark.csv
adapter,p50_ms,p95_ms,receipt_bytes
memory,4,9,820
convex,38,92,1160
postgres,31,77,1080
Disclaimer: User supplied
[source_bfa1136d023b435db7f30b5bd96254d8] caseflow.ts.txt
Citation: Uploaded file: caseflow.ts.txt
export interface CaseflowAdapter { stage(input: StageInput): Promise&lt;Proposal&gt;; commit(input: CommitInput): Promise&lt;Receipt&gt;; restore(versionId: string): Promise&lt;Receipt&gt;; }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Insight / 03. Keep the spoken transition focused on “A better outcome starts with a sharper point of view.”
Evidence note: Content is based on the supplied creation brief. Illustrative examples are not independently verified; replace them with measured evidence before external publication.
NodeSlide sources
[source_2d02f7868e29bd4b5f9d5a64e4e228d1] Create a seven-slide technical architecture review for staff engineer… — creation brief
Citation: Create a seven-slide technical architecture review for staff engineers deciding whether to approve a portable caseflow runtime. Show the invariant lifecycle, adapter boundary, request sequence, benchmark evidence, code contract, failure handling, and decision. Include an editable architecture graph, an editable sequence flow, an editable benchmark chart, and a legible code excerpt. Avoid prose arrows and generic card grids. Design direction: Use a cinematic minimal direction: fewer words, larger visual centers, deliberate scale changes, one memorable visual climax, and quiet transition beats. Keep all evidence honest and editable.
Disclaimer: Internal working material
[source_f8346a2e77de3e73099c8fd4624957bd] benchmark.csv
Citation: Uploaded file: benchmark.csv
adapter,p50_ms,p95_ms,receipt_bytes
memory,4,9,820
convex,38,92,1160
postgres,31,77,1080
Disclaimer: User supplied
[source_bfa1136d023b435db7f30b5bd96254d8] caseflow.ts.txt
Citation: Uploaded file: caseflow.ts.txt
export interface CaseflowAdapter { stage(input: StageInput): Promise&lt;Proposal&gt;; commit(input: CommitInput): Promise&lt;Receipt&gt;; restore(versionId: string): Promise&lt;Receipt&gt;; }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Approach / 04. Keep the spoken transition focused on “Turn the idea into a sequence people can understand and own.”
Evidence note: Content is based on the supplied creation brief. Illustrative examples are not independently verified; replace them with measured evidence before external publication.
NodeSlide sources
[source_2d02f7868e29bd4b5f9d5a64e4e228d1] Create a seven-slide technical architecture review for staff engineer… — creation brief
Citation: Create a seven-slide technical architecture review for staff engineers deciding whether to approve a portable caseflow runtime. Show the invariant lifecycle, adapter boundary, request sequence, benchmark evidence, code contract, failure handling, and decision. Include an editable architecture graph, an editable sequence flow, an editable benchmark chart, and a legible code excerpt. Avoid prose arrows and generic card grids. Design direction: Use a cinematic minimal direction: fewer words, larger visual centers, deliberate scale changes, one memorable visual climax, and quiet transition beats. Keep all evidence honest and editable.
Disclaimer: Internal working material
[source_f8346a2e77de3e73099c8fd4624957bd] benchmark.csv
Citation: Uploaded file: benchmark.csv
adapter,p50_ms,p95_ms,receipt_bytes
memory,4,9,820
convex,38,92,1160
postgres,31,77,1080
Disclaimer: User supplied
[source_bfa1136d023b435db7f30b5bd96254d8] caseflow.ts.txt
Citation: Uploaded file: caseflow.ts.txt
export interface CaseflowAdapter { stage(input: StageInput): Promise&lt;Proposal&gt;; commit(input: CommitInput): Promise&lt;Receipt&gt;; restore(versionId: string): Promise&lt;Receipt&gt;; }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Evidence / 05. Keep the spoken transition focused on “Define proof before asking for commitment.”
Evidence note: Content is based on the supplied creation brief. Illustrative examples are not independently verified; replace them with measured evidence before external publication.
NodeSlide sources
[source_2d02f7868e29bd4b5f9d5a64e4e228d1] Create a seven-slide technical architecture review for staff engineer… — creation brief
Citation: Create a seven-slide technical architecture review for staff engineers deciding whether to approve a portable caseflow runtime. Show the invariant lifecycle, adapter boundary, request sequence, benchmark evidence, code contract, failure handling, and decision. Include an editable architecture graph, an editable sequence flow, an editable benchmark chart, and a legible code excerpt. Avoid prose arrows and generic card grids. Design direction: Use a cinematic minimal direction: fewer words, larger visual centers, deliberate scale changes, one memorable visual climax, and quiet transition beats. Keep all evidence honest and editable.
Disclaimer: Internal working material
[source_f8346a2e77de3e73099c8fd4624957bd] benchmark.csv
Citation: Uploaded file: benchmark.csv
adapter,p50_ms,p95_ms,receipt_bytes
memory,4,9,820
convex,38,92,1160
postgres,31,77,1080
Disclaimer: User supplied
[source_bfa1136d023b435db7f30b5bd96254d8] caseflow.ts.txt
Citation: Uploaded file: caseflow.ts.txt
export interface CaseflowAdapter { stage(input: StageInput): Promise&lt;Proposal&gt;; commit(input: CommitInput): Promise&lt;Receipt&gt;; restore(versionId: string): Promise&lt;Receipt&gt;; }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Delivery / 06. Keep the spoken transition focused on “Start narrow, learn quickly, and preserve room to adapt.”
Evidence note: Content is based on the supplied creation brief. Illustrative examples are not independently verified; replace them with measured evidence before external publication.
NodeSlide sources
[source_2d02f7868e29bd4b5f9d5a64e4e228d1] Create a seven-slide technical architecture review for staff engineer… — creation brief
Citation: Create a seven-slide technical architecture review for staff engineers deciding whether to approve a portable caseflow runtime. Show the invariant lifecycle, adapter boundary, request sequence, benchmark evidence, code contract, failure handling, and decision. Include an editable architecture graph, an editable sequence flow, an editable benchmark chart, and a legible code excerpt. Avoid prose arrows and generic card grids. Design direction: Use a cinematic minimal direction: fewer words, larger visual centers, deliberate scale changes, one memorable visual climax, and quiet transition beats. Keep all evidence honest and editable.
Disclaimer: Internal working material
[source_f8346a2e77de3e73099c8fd4624957bd] benchmark.csv
Citation: Uploaded file: benchmark.csv
adapter,p50_ms,p95_ms,receipt_bytes
memory,4,9,820
convex,38,92,1160
postgres,31,77,1080
Disclaimer: User supplied
[source_bfa1136d023b435db7f30b5bd96254d8] caseflow.ts.txt
Citation: Uploaded file: caseflow.ts.txt
export interface CaseflowAdapter { stage(input: StageInput): Promise&lt;Proposal&gt;; commit(input: CommitInput): Promise&lt;Receipt&gt;; restore(versionId: string): Promise&lt;Receipt&gt;; }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Close / 07. Keep the spoken transition focused on “Create an editable, reviewable presentation from this idea”
Evidence note: Content is based on the supplied creation brief. Illustrative examples are not independently verified; replace them with measured evidence before external publication.
NodeSlide sources
[source_2d02f7868e29bd4b5f9d5a64e4e228d1] Create a seven-slide technical architecture review for staff engineer… — creation brief
Citation: Create a seven-slide technical architecture review for staff engineers deciding whether to approve a portable caseflow runtime. Show the invariant lifecycle, adapter boundary, request sequence, benchmark evidence, code contract, failure handling, and decision. Include an editable architecture graph, an editable sequence flow, an editable benchmark chart, and a legible code excerpt. Avoid prose arrows and generic card grids. Design direction: Use a cinematic minimal direction: fewer words, larger visual centers, deliberate scale changes, one memorable visual climax, and quiet transition beats. Keep all evidence honest and editable.
Disclaimer: Internal working material
[source_f8346a2e77de3e73099c8fd4624957bd] benchmark.csv
Citation: Uploaded file: benchmark.csv
adapter,p50_ms,p95_ms,receipt_bytes
memory,4,9,820
convex,38,92,1160
postgres,31,77,1080
Disclaimer: User supplied
[source_bfa1136d023b435db7f30b5bd96254d8] caseflow.ts.txt
Citation: Uploaded file: caseflow.ts.txt
export interface CaseflowAdapter { stage(input: StageInput): Promise&lt;Proposal&gt;; commit(input: CommitInput): Promise&lt;Receipt&gt;; restore(versionId: string): Promise&lt;Receipt&gt;; }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4ED"/>
        </a:solidFill>
      </p:bgPr>
    </p:bg>
    <p:spTree>
      <p:nvGrpSpPr>
        <p:cNvPr id="1" name=""/>
        <p:cNvGrpSpPr/>
        <p:nvPr/>
      </p:nvGrpSpPr>
      <p:grpSpPr>
        <a:xfrm>
          <a:off x="0" y="0"/>
          <a:ext cx="0" cy="0"/>
          <a:chOff x="0" y="0"/>
          <a:chExt cx="0" cy="0"/>
        </a:xfrm>
      </p:grpSpPr>
      <p:sp>
        <p:nvSpPr>
          <p:cNvPr id="2" name="element_1c01e13a042d5b2b16c252577156217d"/>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3" name="element_380dedb71e080138eed446bf121b6494"/>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OPENING / 01</a:t>
            </a:r>
            <a:endParaRPr lang="en-US" sz="1500" dirty="0"/>
          </a:p>
        </p:txBody>
      </p:sp>
      <p:sp>
        <p:nvSpPr>
          <p:cNvPr id="4" name="element_1ce2593df29b1d1bc4a07f7fb313abb1"/>
          <p:cNvSpPr txBox="1"/>
          <p:nvPr/>
        </p:nvSpPr>
        <p:spPr>
          <a:xfrm>
            <a:off x="853419" y="1028700"/>
            <a:ext cx="9631439" cy="1851660"/>
          </a:xfrm>
          <a:prstGeom prst="rect">
            <a:avLst/>
          </a:prstGeom>
          <a:noFill/>
          <a:ln/>
        </p:spPr>
        <p:txBody>
          <a:bodyPr wrap="square" lIns="0" tIns="0" rIns="0" bIns="0" rtlCol="0" anchor="t">
            <a:normAutofit/>
          </a:bodyPr>
          <a:lstStyle/>
          <a:p>
            <a:pPr algn="l" indent="0" marL="0">
              <a:lnSpc>
                <a:spcPct val="104000"/>
              </a:lnSpc>
              <a:buNone/>
            </a:pPr>
            <a:r>
              <a:rPr lang="en-US" sz="4800" b="1" spc="-80" kern="0" dirty="0">
                <a:solidFill>
                  <a:srgbClr val="26221D"/>
                </a:solidFill>
                <a:latin typeface="Georgia" pitchFamily="34" charset="0"/>
                <a:ea typeface="Georgia" pitchFamily="34" charset="-122"/>
                <a:cs typeface="Georgia" pitchFamily="34" charset="-120"/>
              </a:rPr>
              <a:t>Create an editable, reviewable presentation from this idea</a:t>
            </a:r>
            <a:endParaRPr lang="en-US" sz="4800" dirty="0"/>
          </a:p>
        </p:txBody>
      </p:sp>
      <p:sp>
        <p:nvSpPr>
          <p:cNvPr id="5" name="element_34cda479a314d174e6669b743f606afa"/>
          <p:cNvSpPr txBox="1"/>
          <p:nvPr/>
        </p:nvSpPr>
        <p:spPr>
          <a:xfrm>
            <a:off x="853419" y="3291840"/>
            <a:ext cx="8046519" cy="116586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A focused narrative for Decision-makers described in the brief, built from the supplied brief and kept editable from first draft onward.</a:t>
            </a:r>
            <a:endParaRPr lang="en-US" sz="1900" dirty="0"/>
          </a:p>
        </p:txBody>
      </p:sp>
      <p:sp>
        <p:nvSpPr>
          <p:cNvPr id="6" name="element_02aedde5803552d4007c9ee4b3609d6c"/>
          <p:cNvSpPr txBox="1"/>
          <p:nvPr/>
        </p:nvSpPr>
        <p:spPr>
          <a:xfrm>
            <a:off x="853419"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A coherent 6–8 slide narrative</a:t>
            </a:r>
            <a:endParaRPr lang="en-US" sz="1600" dirty="0"/>
          </a:p>
        </p:txBody>
      </p:sp>
      <p:sp>
        <p:nvSpPr>
          <p:cNvPr id="7" name="element_3e63f46874f058a5832d8045346298bd"/>
          <p:cNvSpPr txBox="1"/>
          <p:nvPr/>
        </p:nvSpPr>
        <p:spPr>
          <a:xfrm>
            <a:off x="4267093"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Structured chart, formula, and image primitives where relevant</a:t>
            </a:r>
            <a:endParaRPr lang="en-US" sz="1600" dirty="0"/>
          </a:p>
        </p:txBody>
      </p:sp>
      <p:sp>
        <p:nvSpPr>
          <p:cNvPr id="8" name="element_9eca393a0272fa54ad581751a068d882"/>
          <p:cNvSpPr txBox="1"/>
          <p:nvPr/>
        </p:nvSpPr>
        <p:spPr>
          <a:xfrm>
            <a:off x="7680768"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Validation passes before presentation or export</a:t>
            </a:r>
            <a:endParaRPr lang="en-US" sz="1600" dirty="0"/>
          </a:p>
        </p:txBody>
      </p:sp>
      <p:sp>
        <p:nvSpPr>
          <p:cNvPr id="9" name="element_30bda6ad257fa62e62b128a01e44eac1"/>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0" name="element_9a92b9beaf69b72ce100da46bf58f7b7"/>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01</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D"/>
        </a:solidFill>
      </p:bgPr>
    </p:bg>
    <p:spTree>
      <p:nvGrpSpPr>
        <p:cNvPr id="1" name=""/>
        <p:cNvGrpSpPr/>
        <p:nvPr/>
      </p:nvGrpSpPr>
      <p:grpSpPr>
        <a:xfrm>
          <a:off x="0" y="0"/>
          <a:ext cx="0" cy="0"/>
          <a:chOff x="0" y="0"/>
          <a:chExt cx="0" cy="0"/>
        </a:xfrm>
      </p:grpSpPr>
      <p:sp>
        <p:nvSpPr>
          <p:cNvPr id="2" name="element_3cc2e7432b3e1cc87dff9ea9d4685631"/>
          <p:cNvSpPr/>
          <p:nvPr/>
        </p:nvSpPr>
        <p:spPr>
          <a:xfrm>
            <a:off x="853419" y="377190"/>
            <a:ext cx="10484858" cy="68580"/>
          </a:xfrm>
          <a:prstGeom prst="roundRect">
            <a:avLst/>
          </a:prstGeom>
          <a:solidFill>
            <a:srgbClr val="B44A2D"/>
          </a:solidFill>
          <a:ln w="12700">
            <a:solidFill>
              <a:srgbClr val="FFFFFF">
                <a:alpha val="0"/>
              </a:srgbClr>
            </a:solidFill>
            <a:prstDash val="solid"/>
          </a:ln>
        </p:spPr>
      </p:sp>
      <p:sp>
        <p:nvSpPr>
          <p:cNvPr id="3" name="element_d6b4cf34021101f22d6124b84f0a45be"/>
          <p:cNvSpPr txBox="1"/>
          <p:nvPr/>
        </p:nvSpPr>
        <p:spPr>
          <a:xfrm>
            <a:off x="1706837" y="514350"/>
            <a:ext cx="8778021" cy="342900"/>
          </a:xfrm>
          <a:prstGeom prst="rect">
            <a:avLst/>
          </a:prstGeom>
          <a:noFill/>
          <a:ln/>
        </p:spPr>
        <p:txBody>
          <a:bodyPr wrap="square" lIns="0" tIns="0" rIns="0" bIns="0" rtlCol="0" anchor="t">
            <a:normAutofit/>
          </a:bodyPr>
          <a:lstStyle/>
          <a:p>
            <a:pPr algn="ctr"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CONTEXT / 02</a:t>
            </a:r>
            <a:endParaRPr lang="en-US" sz="1500" dirty="0"/>
          </a:p>
        </p:txBody>
      </p:sp>
      <p:sp>
        <p:nvSpPr>
          <p:cNvPr id="4" name="element_eaa7a1624f3c3b2aa417e7cc5a0b8790"/>
          <p:cNvSpPr txBox="1"/>
          <p:nvPr/>
        </p:nvSpPr>
        <p:spPr>
          <a:xfrm>
            <a:off x="1706837" y="1028700"/>
            <a:ext cx="8778021" cy="1165860"/>
          </a:xfrm>
          <a:prstGeom prst="rect">
            <a:avLst/>
          </a:prstGeom>
          <a:noFill/>
          <a:ln/>
        </p:spPr>
        <p:txBody>
          <a:bodyPr wrap="square" lIns="0" tIns="0" rIns="0" bIns="0" rtlCol="0" anchor="t">
            <a:normAutofit/>
          </a:bodyPr>
          <a:lstStyle/>
          <a:p>
            <a:pPr algn="ctr"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The cost of waiting is usually hidden in repeated work.</a:t>
            </a:r>
            <a:endParaRPr lang="en-US" sz="3800" dirty="0"/>
          </a:p>
        </p:txBody>
      </p:sp>
      <p:sp>
        <p:nvSpPr>
          <p:cNvPr id="5" name="element_c88297730ef0101c3c4029786ddb2fc3"/>
          <p:cNvSpPr txBox="1"/>
          <p:nvPr/>
        </p:nvSpPr>
        <p:spPr>
          <a:xfrm>
            <a:off x="853419" y="2606040"/>
            <a:ext cx="3901342" cy="1097280"/>
          </a:xfrm>
          <a:prstGeom prst="rect">
            <a:avLst/>
          </a:prstGeom>
          <a:noFill/>
          <a:ln/>
        </p:spPr>
        <p:txBody>
          <a:bodyPr wrap="square" lIns="0" tIns="0" rIns="0" bIns="0" rtlCol="0" anchor="t">
            <a:normAutofit/>
          </a:bodyPr>
          <a:lstStyle/>
          <a:p>
            <a:pPr algn="l" indent="0" marL="0">
              <a:lnSpc>
                <a:spcPct val="135000"/>
              </a:lnSpc>
              <a:buNone/>
            </a:pPr>
            <a:r>
              <a:rPr lang="en-US" sz="1700" dirty="0">
                <a:solidFill>
                  <a:srgbClr val="756B61"/>
                </a:solidFill>
                <a:latin typeface="Geist Variable" pitchFamily="34" charset="0"/>
                <a:ea typeface="Geist Variable" pitchFamily="34" charset="-122"/>
                <a:cs typeface="Geist Variable" pitchFamily="34" charset="-120"/>
              </a:rPr>
              <a:t>Frame the current reality for Decision-makers described in the brief: what is fragmented today, why it matters now, and where momentum is being lost.</a:t>
            </a:r>
            <a:endParaRPr lang="en-US" sz="1700" dirty="0"/>
          </a:p>
        </p:txBody>
      </p:sp>
      <p:sp>
        <p:nvSpPr>
          <p:cNvPr id="6" name="element_7dd8d1f814d834295bdc1e9602912c95"/>
          <p:cNvSpPr txBox="1"/>
          <p:nvPr/>
        </p:nvSpPr>
        <p:spPr>
          <a:xfrm>
            <a:off x="853419" y="42519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Name the friction</a:t>
            </a:r>
            <a:endParaRPr lang="en-US" sz="1700" dirty="0"/>
          </a:p>
        </p:txBody>
      </p:sp>
      <p:sp>
        <p:nvSpPr>
          <p:cNvPr id="7" name="element_3443eaf919bd7557439b1da293fbebcd"/>
          <p:cNvSpPr txBox="1"/>
          <p:nvPr/>
        </p:nvSpPr>
        <p:spPr>
          <a:xfrm>
            <a:off x="853419" y="49377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Expose the consequence</a:t>
            </a:r>
            <a:endParaRPr lang="en-US" sz="1700" dirty="0"/>
          </a:p>
        </p:txBody>
      </p:sp>
      <p:sp>
        <p:nvSpPr>
          <p:cNvPr id="8" name="element_2d97c9d9cac92c4edee94e57da511c95"/>
          <p:cNvSpPr txBox="1"/>
          <p:nvPr/>
        </p:nvSpPr>
        <p:spPr>
          <a:xfrm>
            <a:off x="853419" y="56235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Create urgency without hype</a:t>
            </a:r>
            <a:endParaRPr lang="en-US" sz="1700" dirty="0"/>
          </a:p>
        </p:txBody>
      </p:sp>
      <p:sp>
        <p:nvSpPr>
          <p:cNvPr id="9" name="element_6c8765a9e8f9e76d1448045d52fb0cdb"/>
          <p:cNvSpPr/>
          <p:nvPr/>
        </p:nvSpPr>
        <p:spPr>
          <a:xfrm>
            <a:off x="7019978" y="4375404"/>
            <a:ext cx="243834" cy="164592"/>
          </a:xfrm>
          <a:prstGeom prst="line">
            <a:avLst/>
          </a:prstGeom>
          <a:noFill/>
          <a:ln w="25400">
            <a:solidFill>
              <a:srgbClr val="7566A8"/>
            </a:solidFill>
            <a:prstDash val="solid"/>
            <a:tailEnd type="triangle"/>
          </a:ln>
        </p:spPr>
      </p:sp>
      <p:sp>
        <p:nvSpPr>
          <p:cNvPr id="10" name="element_4daddfa9c9fdc2ba88536ddf625b7016"/>
          <p:cNvSpPr/>
          <p:nvPr/>
        </p:nvSpPr>
        <p:spPr>
          <a:xfrm>
            <a:off x="9194977" y="4375404"/>
            <a:ext cx="243834" cy="164592"/>
          </a:xfrm>
          <a:prstGeom prst="line">
            <a:avLst/>
          </a:prstGeom>
          <a:noFill/>
          <a:ln w="25400">
            <a:solidFill>
              <a:srgbClr val="7566A8"/>
            </a:solidFill>
            <a:prstDash val="solid"/>
            <a:tailEnd type="triangle"/>
          </a:ln>
        </p:spPr>
      </p:sp>
      <p:sp>
        <p:nvSpPr>
          <p:cNvPr id="11" name="element_e68fd0acc77750d275b804c0f1f97a7b"/>
          <p:cNvSpPr/>
          <p:nvPr/>
        </p:nvSpPr>
        <p:spPr>
          <a:xfrm>
            <a:off x="5045753" y="3939235"/>
            <a:ext cx="2018506" cy="1036930"/>
          </a:xfrm>
          <a:prstGeom prst="roundRect">
            <a:avLst/>
          </a:prstGeom>
          <a:solidFill>
            <a:srgbClr val="F2DED3"/>
          </a:solidFill>
          <a:ln w="12700">
            <a:solidFill>
              <a:srgbClr val="DED7CC"/>
            </a:solidFill>
            <a:prstDash val="solid"/>
          </a:ln>
        </p:spPr>
      </p:sp>
      <p:sp>
        <p:nvSpPr>
          <p:cNvPr id="12" name="element_e68fd0acc77750d275b804c0f1f97a7b:text"/>
          <p:cNvSpPr txBox="1"/>
          <p:nvPr/>
        </p:nvSpPr>
        <p:spPr>
          <a:xfrm>
            <a:off x="5045753" y="3939235"/>
            <a:ext cx="2018506" cy="1036930"/>
          </a:xfrm>
          <a:prstGeom prst="rect">
            <a:avLst/>
          </a:prstGeom>
          <a:noFill/>
          <a:ln/>
        </p:spPr>
        <p:txBody>
          <a:bodyPr wrap="square" lIns="152400" tIns="152400" rIns="152400" bIns="152400" rtlCol="0" anchor="ctr">
            <a:normAutofit/>
          </a:bodyPr>
          <a:lstStyle/>
          <a:p>
            <a:pPr algn="ctr" indent="0" marL="0">
              <a:lnSpc>
                <a:spcPct val="115000"/>
              </a:lnSpc>
              <a:buNone/>
            </a:pPr>
            <a:r>
              <a:rPr lang="en-US" sz="1600" b="1" dirty="0">
                <a:solidFill>
                  <a:srgbClr val="26221D"/>
                </a:solidFill>
                <a:latin typeface="Geist Variable" pitchFamily="34" charset="0"/>
                <a:ea typeface="Geist Variable" pitchFamily="34" charset="-122"/>
                <a:cs typeface="Geist Variable" pitchFamily="34" charset="-120"/>
              </a:rPr>
              <a:t>Friction</a:t>
            </a:r>
            <a:endParaRPr lang="en-US" sz="1600" dirty="0"/>
          </a:p>
        </p:txBody>
      </p:sp>
      <p:sp>
        <p:nvSpPr>
          <p:cNvPr id="13" name="element_d4d1bbda573fa2e04ed060b1a7020bd8"/>
          <p:cNvSpPr/>
          <p:nvPr/>
        </p:nvSpPr>
        <p:spPr>
          <a:xfrm>
            <a:off x="7219532" y="3939235"/>
            <a:ext cx="2018506" cy="1036930"/>
          </a:xfrm>
          <a:prstGeom prst="roundRect">
            <a:avLst/>
          </a:prstGeom>
          <a:solidFill>
            <a:srgbClr val="F2DED3"/>
          </a:solidFill>
          <a:ln w="12700">
            <a:solidFill>
              <a:srgbClr val="DED7CC"/>
            </a:solidFill>
            <a:prstDash val="solid"/>
          </a:ln>
        </p:spPr>
      </p:sp>
      <p:sp>
        <p:nvSpPr>
          <p:cNvPr id="14" name="element_d4d1bbda573fa2e04ed060b1a7020bd8:text"/>
          <p:cNvSpPr txBox="1"/>
          <p:nvPr/>
        </p:nvSpPr>
        <p:spPr>
          <a:xfrm>
            <a:off x="7219532" y="3939235"/>
            <a:ext cx="2018506" cy="1036930"/>
          </a:xfrm>
          <a:prstGeom prst="rect">
            <a:avLst/>
          </a:prstGeom>
          <a:noFill/>
          <a:ln/>
        </p:spPr>
        <p:txBody>
          <a:bodyPr wrap="square" lIns="152400" tIns="152400" rIns="152400" bIns="152400" rtlCol="0" anchor="ctr">
            <a:normAutofit/>
          </a:bodyPr>
          <a:lstStyle/>
          <a:p>
            <a:pPr algn="ctr" indent="0" marL="0">
              <a:lnSpc>
                <a:spcPct val="115000"/>
              </a:lnSpc>
              <a:buNone/>
            </a:pPr>
            <a:r>
              <a:rPr lang="en-US" sz="1600" b="1" dirty="0">
                <a:solidFill>
                  <a:srgbClr val="26221D"/>
                </a:solidFill>
                <a:latin typeface="Geist Variable" pitchFamily="34" charset="0"/>
                <a:ea typeface="Geist Variable" pitchFamily="34" charset="-122"/>
                <a:cs typeface="Geist Variable" pitchFamily="34" charset="-120"/>
              </a:rPr>
              <a:t>Consequence</a:t>
            </a:r>
            <a:endParaRPr lang="en-US" sz="1600" dirty="0"/>
          </a:p>
        </p:txBody>
      </p:sp>
      <p:sp>
        <p:nvSpPr>
          <p:cNvPr id="15" name="element_ad59f9cfad585d9113c5e53808ee9ff0"/>
          <p:cNvSpPr/>
          <p:nvPr/>
        </p:nvSpPr>
        <p:spPr>
          <a:xfrm>
            <a:off x="9394530" y="3939235"/>
            <a:ext cx="2018506" cy="1036930"/>
          </a:xfrm>
          <a:prstGeom prst="roundRect">
            <a:avLst/>
          </a:prstGeom>
          <a:solidFill>
            <a:srgbClr val="E5E9D6"/>
          </a:solidFill>
          <a:ln w="12700">
            <a:solidFill>
              <a:srgbClr val="DED7CC"/>
            </a:solidFill>
            <a:prstDash val="solid"/>
          </a:ln>
        </p:spPr>
      </p:sp>
      <p:sp>
        <p:nvSpPr>
          <p:cNvPr id="16" name="element_ad59f9cfad585d9113c5e53808ee9ff0:text"/>
          <p:cNvSpPr txBox="1"/>
          <p:nvPr/>
        </p:nvSpPr>
        <p:spPr>
          <a:xfrm>
            <a:off x="9394530" y="3939235"/>
            <a:ext cx="2018506" cy="1036930"/>
          </a:xfrm>
          <a:prstGeom prst="rect">
            <a:avLst/>
          </a:prstGeom>
          <a:noFill/>
          <a:ln/>
        </p:spPr>
        <p:txBody>
          <a:bodyPr wrap="square" lIns="152400" tIns="152400" rIns="152400" bIns="152400" rtlCol="0" anchor="ctr">
            <a:normAutofit/>
          </a:bodyPr>
          <a:lstStyle/>
          <a:p>
            <a:pPr algn="ctr" indent="0" marL="0">
              <a:lnSpc>
                <a:spcPct val="115000"/>
              </a:lnSpc>
              <a:buNone/>
            </a:pPr>
            <a:r>
              <a:rPr lang="en-US" sz="1600" b="1" dirty="0">
                <a:solidFill>
                  <a:srgbClr val="26221D"/>
                </a:solidFill>
                <a:latin typeface="Geist Variable" pitchFamily="34" charset="0"/>
                <a:ea typeface="Geist Variable" pitchFamily="34" charset="-122"/>
                <a:cs typeface="Geist Variable" pitchFamily="34" charset="-120"/>
              </a:rPr>
              <a:t>Decision window</a:t>
            </a:r>
            <a:endParaRPr lang="en-US" sz="1600" dirty="0"/>
          </a:p>
        </p:txBody>
      </p:sp>
      <p:sp>
        <p:nvSpPr>
          <p:cNvPr id="17" name="element_9ee388b64680cdc414c0917f8c7b325f"/>
          <p:cNvSpPr txBox="1"/>
          <p:nvPr/>
        </p:nvSpPr>
        <p:spPr>
          <a:xfrm>
            <a:off x="2682173" y="6377940"/>
            <a:ext cx="6827349" cy="240030"/>
          </a:xfrm>
          <a:prstGeom prst="rect">
            <a:avLst/>
          </a:prstGeom>
          <a:noFill/>
          <a:ln/>
        </p:spPr>
        <p:txBody>
          <a:bodyPr wrap="square" lIns="0" tIns="0" rIns="0" bIns="0" rtlCol="0" anchor="t">
            <a:normAutofit/>
          </a:bodyPr>
          <a:lstStyle/>
          <a:p>
            <a:pPr algn="ctr"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8" name="element_9ee9a78586fb5fd9cfc6dfc93acbf49e"/>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02</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4ED"/>
        </a:solidFill>
      </p:bgPr>
    </p:bg>
    <p:spTree>
      <p:nvGrpSpPr>
        <p:cNvPr id="1" name=""/>
        <p:cNvGrpSpPr/>
        <p:nvPr/>
      </p:nvGrpSpPr>
      <p:grpSpPr>
        <a:xfrm>
          <a:off x="0" y="0"/>
          <a:ext cx="0" cy="0"/>
          <a:chOff x="0" y="0"/>
          <a:chExt cx="0" cy="0"/>
        </a:xfrm>
      </p:grpSpPr>
      <p:sp>
        <p:nvSpPr>
          <p:cNvPr id="2" name="element_577b432a8f534449253dd1f4bc6687fb"/>
          <p:cNvSpPr/>
          <p:nvPr/>
        </p:nvSpPr>
        <p:spPr>
          <a:xfrm>
            <a:off x="11667452" y="445770"/>
            <a:ext cx="121917" cy="5692140"/>
          </a:xfrm>
          <a:prstGeom prst="roundRect">
            <a:avLst/>
          </a:prstGeom>
          <a:solidFill>
            <a:srgbClr val="B44A2D"/>
          </a:solidFill>
          <a:ln w="12700">
            <a:solidFill>
              <a:srgbClr val="FFFFFF">
                <a:alpha val="0"/>
              </a:srgbClr>
            </a:solidFill>
            <a:prstDash val="solid"/>
          </a:ln>
        </p:spPr>
      </p:sp>
      <p:sp>
        <p:nvSpPr>
          <p:cNvPr id="3" name="element_4082b2aace2aa11d1c04438255e721d6"/>
          <p:cNvSpPr txBox="1"/>
          <p:nvPr/>
        </p:nvSpPr>
        <p:spPr>
          <a:xfrm>
            <a:off x="5486263"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INSIGHT / 03</a:t>
            </a:r>
            <a:endParaRPr lang="en-US" sz="1500" dirty="0"/>
          </a:p>
        </p:txBody>
      </p:sp>
      <p:sp>
        <p:nvSpPr>
          <p:cNvPr id="4" name="element_df7cf4b8f5b47ddcd2058136b8aecd92"/>
          <p:cNvSpPr txBox="1"/>
          <p:nvPr/>
        </p:nvSpPr>
        <p:spPr>
          <a:xfrm>
            <a:off x="2072588"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A better outcome starts with a sharper point of view.</a:t>
            </a:r>
            <a:endParaRPr lang="en-US" sz="3800" dirty="0"/>
          </a:p>
        </p:txBody>
      </p:sp>
      <p:sp>
        <p:nvSpPr>
          <p:cNvPr id="5" name="element_7ef5888941022f4ae78ddccaff44a85e"/>
          <p:cNvSpPr txBox="1"/>
          <p:nvPr/>
        </p:nvSpPr>
        <p:spPr>
          <a:xfrm>
            <a:off x="1706837" y="2743200"/>
            <a:ext cx="9631439" cy="123444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Create a seven-slide technical architecture review for staff engineers deciding whether to approve a portable caseflow runtime. Show the invariant lifecycle, adapter boundary, request sequence, benchmark evidence, code contract, failure handling, and decision…</a:t>
            </a:r>
            <a:endParaRPr lang="en-US" sz="1900" dirty="0"/>
          </a:p>
        </p:txBody>
      </p:sp>
      <p:sp>
        <p:nvSpPr>
          <p:cNvPr id="6" name="element_e43167572182baf473d1b2ea3191522a"/>
          <p:cNvSpPr txBox="1"/>
          <p:nvPr/>
        </p:nvSpPr>
        <p:spPr>
          <a:xfrm>
            <a:off x="8168436" y="4251960"/>
            <a:ext cx="3169841" cy="109728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A coherent 6–8 slide narrative</a:t>
            </a:r>
            <a:endParaRPr lang="en-US" sz="1700" dirty="0"/>
          </a:p>
        </p:txBody>
      </p:sp>
      <p:sp>
        <p:nvSpPr>
          <p:cNvPr id="7" name="element_b0740a9dcd0e7de6d7a71f9c77589c1e"/>
          <p:cNvSpPr txBox="1"/>
          <p:nvPr/>
        </p:nvSpPr>
        <p:spPr>
          <a:xfrm>
            <a:off x="4632844" y="4251960"/>
            <a:ext cx="3169841" cy="109728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Structured chart, formula, and image primitives where relevant</a:t>
            </a:r>
            <a:endParaRPr lang="en-US" sz="1700" dirty="0"/>
          </a:p>
        </p:txBody>
      </p:sp>
      <p:sp>
        <p:nvSpPr>
          <p:cNvPr id="8" name="element_51f2a7c8408a7f7ba035b712681bbfca"/>
          <p:cNvSpPr txBox="1"/>
          <p:nvPr/>
        </p:nvSpPr>
        <p:spPr>
          <a:xfrm>
            <a:off x="1097253" y="4251960"/>
            <a:ext cx="3169841" cy="109728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Validation passes before presentation or export</a:t>
            </a:r>
            <a:endParaRPr lang="en-US" sz="1700" dirty="0"/>
          </a:p>
        </p:txBody>
      </p:sp>
      <p:sp>
        <p:nvSpPr>
          <p:cNvPr id="9" name="element_8a4ead83a85de55e30a0d6701e8190c2"/>
          <p:cNvSpPr txBox="1"/>
          <p:nvPr/>
        </p:nvSpPr>
        <p:spPr>
          <a:xfrm>
            <a:off x="2560256"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0" name="element_74506ab3c4842074ca91acbcec723eb0"/>
          <p:cNvSpPr txBox="1"/>
          <p:nvPr/>
        </p:nvSpPr>
        <p:spPr>
          <a:xfrm>
            <a:off x="73150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03</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4ED"/>
        </a:solidFill>
      </p:bgPr>
    </p:bg>
    <p:spTree>
      <p:nvGrpSpPr>
        <p:cNvPr id="1" name=""/>
        <p:cNvGrpSpPr/>
        <p:nvPr/>
      </p:nvGrpSpPr>
      <p:grpSpPr>
        <a:xfrm>
          <a:off x="0" y="0"/>
          <a:ext cx="0" cy="0"/>
          <a:chOff x="0" y="0"/>
          <a:chExt cx="0" cy="0"/>
        </a:xfrm>
      </p:grpSpPr>
      <p:sp>
        <p:nvSpPr>
          <p:cNvPr id="2" name="element_2e2e3a5518fe87a3d133a7c83d61e14d"/>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3" name="element_472d329561992e6e546fcc1f3d8ba5b1"/>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APPROACH / 04</a:t>
            </a:r>
            <a:endParaRPr lang="en-US" sz="1500" dirty="0"/>
          </a:p>
        </p:txBody>
      </p:sp>
      <p:sp>
        <p:nvSpPr>
          <p:cNvPr id="4" name="element_62d3f6008124d305abd798c037cc2788"/>
          <p:cNvSpPr txBox="1"/>
          <p:nvPr/>
        </p:nvSpPr>
        <p:spPr>
          <a:xfrm>
            <a:off x="853419"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Turn the idea into a sequence people can understand and own.</a:t>
            </a:r>
            <a:endParaRPr lang="en-US" sz="3800" dirty="0"/>
          </a:p>
        </p:txBody>
      </p:sp>
      <p:sp>
        <p:nvSpPr>
          <p:cNvPr id="5" name="element_c0cbb8bab64ec611816ccbc6db332c9e"/>
          <p:cNvSpPr txBox="1"/>
          <p:nvPr/>
        </p:nvSpPr>
        <p:spPr>
          <a:xfrm>
            <a:off x="853419" y="2743200"/>
            <a:ext cx="4754761"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Connect intent, action, and feedback in one visible operating path so the audience can see both the destination and the mechanics.</a:t>
            </a:r>
            <a:endParaRPr lang="en-US" sz="1900" dirty="0"/>
          </a:p>
        </p:txBody>
      </p:sp>
      <p:sp>
        <p:nvSpPr>
          <p:cNvPr id="6" name="element_e546c243ef0f27448740de977353a023"/>
          <p:cNvSpPr txBox="1"/>
          <p:nvPr/>
        </p:nvSpPr>
        <p:spPr>
          <a:xfrm>
            <a:off x="853419" y="42519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Align on intent</a:t>
            </a:r>
            <a:endParaRPr lang="en-US" sz="1700" dirty="0"/>
          </a:p>
        </p:txBody>
      </p:sp>
      <p:sp>
        <p:nvSpPr>
          <p:cNvPr id="7" name="element_b2691a3a5d74f8fc287dae83cca5f9ba"/>
          <p:cNvSpPr txBox="1"/>
          <p:nvPr/>
        </p:nvSpPr>
        <p:spPr>
          <a:xfrm>
            <a:off x="853419" y="49377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Execute the critical moves</a:t>
            </a:r>
            <a:endParaRPr lang="en-US" sz="1700" dirty="0"/>
          </a:p>
        </p:txBody>
      </p:sp>
      <p:sp>
        <p:nvSpPr>
          <p:cNvPr id="8" name="element_f2ab496d7ca117c9291fbf0c73d2cd60"/>
          <p:cNvSpPr txBox="1"/>
          <p:nvPr/>
        </p:nvSpPr>
        <p:spPr>
          <a:xfrm>
            <a:off x="853419" y="56235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Review measurable outcomes</a:t>
            </a:r>
            <a:endParaRPr lang="en-US" sz="1700" dirty="0"/>
          </a:p>
        </p:txBody>
      </p:sp>
      <p:sp>
        <p:nvSpPr>
          <p:cNvPr id="9" name="element_d12f0149a1e7719c075396a1cd9b0577"/>
          <p:cNvSpPr txBox="1"/>
          <p:nvPr/>
        </p:nvSpPr>
        <p:spPr>
          <a:xfrm>
            <a:off x="6461598" y="2880360"/>
            <a:ext cx="4754761" cy="1645920"/>
          </a:xfrm>
          <a:prstGeom prst="rect">
            <a:avLst/>
          </a:prstGeom>
          <a:noFill/>
          <a:ln/>
        </p:spPr>
        <p:txBody>
          <a:bodyPr wrap="square" lIns="254000" tIns="254000" rIns="254000" bIns="254000" rtlCol="0" anchor="ctr">
            <a:normAutofit/>
          </a:bodyPr>
          <a:lstStyle/>
          <a:p>
            <a:pPr algn="ctr" indent="0" marL="0">
              <a:lnSpc>
                <a:spcPct val="115000"/>
              </a:lnSpc>
              <a:buNone/>
            </a:pPr>
            <a:r>
              <a:rPr lang="en-US" sz="3000" b="1" dirty="0">
                <a:solidFill>
                  <a:srgbClr val="34452C"/>
                </a:solidFill>
                <a:latin typeface="JetBrains Mono Variable" pitchFamily="34" charset="0"/>
                <a:ea typeface="JetBrains Mono Variable" pitchFamily="34" charset="-122"/>
                <a:cs typeface="JetBrains Mono Variable" pitchFamily="34" charset="-120"/>
              </a:rPr>
              <a:t>accepted change = proposal ∩ authorized scope</a:t>
            </a:r>
            <a:endParaRPr lang="en-US" sz="3000" dirty="0"/>
          </a:p>
        </p:txBody>
      </p:sp>
      <p:sp>
        <p:nvSpPr>
          <p:cNvPr id="10" name="element_eed1da64e32fc69a497c834fa4eda05b"/>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1" name="element_a29eb1d912079794a3e9914552726b6e"/>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04</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4ED"/>
        </a:solidFill>
      </p:bgPr>
    </p:bg>
    <p:spTree>
      <p:nvGrpSpPr>
        <p:cNvPr id="1" name=""/>
        <p:cNvGrpSpPr/>
        <p:nvPr/>
      </p:nvGrpSpPr>
      <p:grpSpPr>
        <a:xfrm>
          <a:off x="0" y="0"/>
          <a:ext cx="0" cy="0"/>
          <a:chOff x="0" y="0"/>
          <a:chExt cx="0" cy="0"/>
        </a:xfrm>
      </p:grpSpPr>
      <p:sp>
        <p:nvSpPr>
          <p:cNvPr id="2" name="element_35f09888bfe02ce0ab8e8776fdcec87d"/>
          <p:cNvSpPr/>
          <p:nvPr/>
        </p:nvSpPr>
        <p:spPr>
          <a:xfrm>
            <a:off x="853419" y="377190"/>
            <a:ext cx="10484858" cy="68580"/>
          </a:xfrm>
          <a:prstGeom prst="roundRect">
            <a:avLst/>
          </a:prstGeom>
          <a:solidFill>
            <a:srgbClr val="B44A2D"/>
          </a:solidFill>
          <a:ln w="12700">
            <a:solidFill>
              <a:srgbClr val="FFFFFF">
                <a:alpha val="0"/>
              </a:srgbClr>
            </a:solidFill>
            <a:prstDash val="solid"/>
          </a:ln>
        </p:spPr>
      </p:sp>
      <p:sp>
        <p:nvSpPr>
          <p:cNvPr id="3" name="element_6d6ab92b8e7274f2c96a719df0923727"/>
          <p:cNvSpPr txBox="1"/>
          <p:nvPr/>
        </p:nvSpPr>
        <p:spPr>
          <a:xfrm>
            <a:off x="1706837" y="514350"/>
            <a:ext cx="8778021" cy="342900"/>
          </a:xfrm>
          <a:prstGeom prst="rect">
            <a:avLst/>
          </a:prstGeom>
          <a:noFill/>
          <a:ln/>
        </p:spPr>
        <p:txBody>
          <a:bodyPr wrap="square" lIns="0" tIns="0" rIns="0" bIns="0" rtlCol="0" anchor="t">
            <a:normAutofit/>
          </a:bodyPr>
          <a:lstStyle/>
          <a:p>
            <a:pPr algn="ctr"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EVIDENCE / 05</a:t>
            </a:r>
            <a:endParaRPr lang="en-US" sz="1500" dirty="0"/>
          </a:p>
        </p:txBody>
      </p:sp>
      <p:sp>
        <p:nvSpPr>
          <p:cNvPr id="4" name="element_bea18eb9cd02cea4ec20d874dde3444c"/>
          <p:cNvSpPr txBox="1"/>
          <p:nvPr/>
        </p:nvSpPr>
        <p:spPr>
          <a:xfrm>
            <a:off x="1706837" y="1028700"/>
            <a:ext cx="8778021" cy="1165860"/>
          </a:xfrm>
          <a:prstGeom prst="rect">
            <a:avLst/>
          </a:prstGeom>
          <a:noFill/>
          <a:ln/>
        </p:spPr>
        <p:txBody>
          <a:bodyPr wrap="square" lIns="0" tIns="0" rIns="0" bIns="0" rtlCol="0" anchor="t">
            <a:normAutofit/>
          </a:bodyPr>
          <a:lstStyle/>
          <a:p>
            <a:pPr algn="ctr"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Define proof before asking for commitment.</a:t>
            </a:r>
            <a:endParaRPr lang="en-US" sz="3800" dirty="0"/>
          </a:p>
        </p:txBody>
      </p:sp>
      <p:sp>
        <p:nvSpPr>
          <p:cNvPr id="5" name="element_80c268bbe2047f145256642d36825ffe"/>
          <p:cNvSpPr txBox="1"/>
          <p:nvPr/>
        </p:nvSpPr>
        <p:spPr>
          <a:xfrm>
            <a:off x="853419" y="2743200"/>
            <a:ext cx="4754761"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Use the brief’s success criteria as explicit evaluation signals, with assumptions clearly separated from measured evidence.</a:t>
            </a:r>
            <a:endParaRPr lang="en-US" sz="1900" dirty="0"/>
          </a:p>
        </p:txBody>
      </p:sp>
      <p:sp>
        <p:nvSpPr>
          <p:cNvPr id="6" name="element_37f7be50d5b22850c685c41aeaa389ba"/>
          <p:cNvSpPr txBox="1"/>
          <p:nvPr/>
        </p:nvSpPr>
        <p:spPr>
          <a:xfrm>
            <a:off x="853419" y="42519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A coherent 6–8 slide narrative</a:t>
            </a:r>
            <a:endParaRPr lang="en-US" sz="1700" dirty="0"/>
          </a:p>
        </p:txBody>
      </p:sp>
      <p:sp>
        <p:nvSpPr>
          <p:cNvPr id="7" name="element_a44fd1c94766ea44d7b2c0ee02f1eb29"/>
          <p:cNvSpPr txBox="1"/>
          <p:nvPr/>
        </p:nvSpPr>
        <p:spPr>
          <a:xfrm>
            <a:off x="853419" y="49377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Structured chart, formula, and image primitives where relevant</a:t>
            </a:r>
            <a:endParaRPr lang="en-US" sz="1700" dirty="0"/>
          </a:p>
        </p:txBody>
      </p:sp>
      <p:sp>
        <p:nvSpPr>
          <p:cNvPr id="8" name="element_f52f688efa36d86932fa3d20ae8419da"/>
          <p:cNvSpPr txBox="1"/>
          <p:nvPr/>
        </p:nvSpPr>
        <p:spPr>
          <a:xfrm>
            <a:off x="853419" y="56235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Validation passes before presentation or export</a:t>
            </a:r>
            <a:endParaRPr lang="en-US" sz="1700" dirty="0"/>
          </a:p>
        </p:txBody>
      </p:sp>
      <p:sp>
        <p:nvSpPr>
          <p:cNvPr id="9" name="element_444d81f7c8bd60283666415e554ce330"/>
          <p:cNvSpPr txBox="1"/>
          <p:nvPr/>
        </p:nvSpPr>
        <p:spPr>
          <a:xfrm>
            <a:off x="6661542" y="2770632"/>
            <a:ext cx="4476790" cy="1110996"/>
          </a:xfrm>
          <a:prstGeom prst="rect">
            <a:avLst/>
          </a:prstGeom>
          <a:noFill/>
          <a:ln/>
        </p:spPr>
        <p:txBody>
          <a:bodyPr wrap="square" lIns="254000" tIns="254000" rIns="254000" bIns="254000" rtlCol="0" anchor="t">
            <a:normAutofit/>
          </a:bodyPr>
          <a:lstStyle/>
          <a:p>
            <a:pPr algn="l" indent="0" marL="0">
              <a:lnSpc>
                <a:spcPct val="100000"/>
              </a:lnSpc>
              <a:buNone/>
            </a:pPr>
            <a:r>
              <a:rPr lang="en-US" sz="4300" b="1" dirty="0">
                <a:solidFill>
                  <a:srgbClr val="34452C"/>
                </a:solidFill>
                <a:latin typeface="JetBrains Mono Variable" pitchFamily="34" charset="0"/>
                <a:ea typeface="JetBrains Mono Variable" pitchFamily="34" charset="-122"/>
                <a:cs typeface="JetBrains Mono Variable" pitchFamily="34" charset="-120"/>
              </a:rPr>
              <a:t>3 signals</a:t>
            </a:r>
            <a:endParaRPr lang="en-US" sz="4300" dirty="0"/>
          </a:p>
        </p:txBody>
      </p:sp>
      <p:sp>
        <p:nvSpPr>
          <p:cNvPr id="10" name="element_137b93c62ea0ceebffbacc4569b7b16c"/>
          <p:cNvSpPr txBox="1"/>
          <p:nvPr/>
        </p:nvSpPr>
        <p:spPr>
          <a:xfrm>
            <a:off x="7193100" y="3977640"/>
            <a:ext cx="3535592" cy="617220"/>
          </a:xfrm>
          <a:prstGeom prst="rect">
            <a:avLst/>
          </a:prstGeom>
          <a:noFill/>
          <a:ln/>
        </p:spPr>
        <p:txBody>
          <a:bodyPr wrap="square" lIns="0" tIns="0" rIns="0" bIns="0" rtlCol="0" anchor="t">
            <a:normAutofit/>
          </a:bodyPr>
          <a:lstStyle/>
          <a:p>
            <a:pPr algn="ctr" indent="0" marL="0">
              <a:lnSpc>
                <a:spcPct val="125000"/>
              </a:lnSpc>
              <a:buNone/>
            </a:pPr>
            <a:r>
              <a:rPr lang="en-US" sz="1500" dirty="0">
                <a:solidFill>
                  <a:srgbClr val="756B61"/>
                </a:solidFill>
                <a:latin typeface="Geist Variable" pitchFamily="34" charset="0"/>
                <a:ea typeface="Geist Variable" pitchFamily="34" charset="-122"/>
                <a:cs typeface="Geist Variable" pitchFamily="34" charset="-120"/>
              </a:rPr>
              <a:t>agreed measures of a successful outcome</a:t>
            </a:r>
            <a:endParaRPr lang="en-US" sz="1500" dirty="0"/>
          </a:p>
        </p:txBody>
      </p:sp>
      <p:graphicFrame>
        <p:nvGraphicFramePr>
          <p:cNvPr id="11" name="element_fd15fdf6c5c44b1b8e4adb62769d156a" descr=""/>
          <p:cNvGraphicFramePr/>
          <p:nvPr/>
        </p:nvGraphicFramePr>
        <p:xfrm>
          <a:off x="6271408" y="4753966"/>
          <a:ext cx="5135142" cy="1259129"/>
        </p:xfrm>
        <a:graphic xmlns:a="http://schemas.openxmlformats.org/drawingml/2006/main">
          <a:graphicData uri="http://schemas.openxmlformats.org/drawingml/2006/chart">
            <c:chart xmlns:c="http://schemas.openxmlformats.org/drawingml/2006/chart" r:id="rId1"/>
          </a:graphicData>
        </a:graphic>
      </p:graphicFrame>
      <p:sp>
        <p:nvSpPr>
          <p:cNvPr id="12" name="element_e3b971aad3ec64561f435b3d3fb1b07a"/>
          <p:cNvSpPr txBox="1"/>
          <p:nvPr/>
        </p:nvSpPr>
        <p:spPr>
          <a:xfrm>
            <a:off x="2682173" y="6377940"/>
            <a:ext cx="6827349" cy="240030"/>
          </a:xfrm>
          <a:prstGeom prst="rect">
            <a:avLst/>
          </a:prstGeom>
          <a:noFill/>
          <a:ln/>
        </p:spPr>
        <p:txBody>
          <a:bodyPr wrap="square" lIns="0" tIns="0" rIns="0" bIns="0" rtlCol="0" anchor="t">
            <a:normAutofit/>
          </a:bodyPr>
          <a:lstStyle/>
          <a:p>
            <a:pPr algn="ctr"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3" name="element_dff2c4e76fb13a994003dc6db2058900"/>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05</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4ED"/>
        </a:solidFill>
      </p:bgPr>
    </p:bg>
    <p:spTree>
      <p:nvGrpSpPr>
        <p:cNvPr id="1" name=""/>
        <p:cNvGrpSpPr/>
        <p:nvPr/>
      </p:nvGrpSpPr>
      <p:grpSpPr>
        <a:xfrm>
          <a:off x="0" y="0"/>
          <a:ext cx="0" cy="0"/>
          <a:chOff x="0" y="0"/>
          <a:chExt cx="0" cy="0"/>
        </a:xfrm>
      </p:grpSpPr>
      <p:sp>
        <p:nvSpPr>
          <p:cNvPr id="2" name="element_c30da3c516bc206965d647480ba4b14f"/>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3" name="element_53916a062c72c2af00560c4a3107a065"/>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DELIVERY / 06</a:t>
            </a:r>
            <a:endParaRPr lang="en-US" sz="1500" dirty="0"/>
          </a:p>
        </p:txBody>
      </p:sp>
      <p:sp>
        <p:nvSpPr>
          <p:cNvPr id="4" name="element_9e6a388ba9c6350958e6771946e5609c"/>
          <p:cNvSpPr txBox="1"/>
          <p:nvPr/>
        </p:nvSpPr>
        <p:spPr>
          <a:xfrm>
            <a:off x="853419"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Start narrow, learn quickly, and preserve room to adapt.</a:t>
            </a:r>
            <a:endParaRPr lang="en-US" sz="3800" dirty="0"/>
          </a:p>
        </p:txBody>
      </p:sp>
      <p:sp>
        <p:nvSpPr>
          <p:cNvPr id="5" name="element_b413fc91a25bb0bd5e848a4c6fedff99"/>
          <p:cNvSpPr txBox="1"/>
          <p:nvPr/>
        </p:nvSpPr>
        <p:spPr>
          <a:xfrm>
            <a:off x="6339682" y="2743200"/>
            <a:ext cx="4876678"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Sequence the work into a focused launch, an evidence review, and a deliberate scale decision with named ownership at every step.</a:t>
            </a:r>
            <a:endParaRPr lang="en-US" sz="1900" dirty="0"/>
          </a:p>
        </p:txBody>
      </p:sp>
      <p:sp>
        <p:nvSpPr>
          <p:cNvPr id="6" name="element_8ba87d8bfd076e3870be76c3ef83b583"/>
          <p:cNvSpPr txBox="1"/>
          <p:nvPr/>
        </p:nvSpPr>
        <p:spPr>
          <a:xfrm>
            <a:off x="6339682" y="4251960"/>
            <a:ext cx="4876678"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Launch the smallest credible move</a:t>
            </a:r>
            <a:endParaRPr lang="en-US" sz="1700" dirty="0"/>
          </a:p>
        </p:txBody>
      </p:sp>
      <p:sp>
        <p:nvSpPr>
          <p:cNvPr id="7" name="element_5bf995494bb460f3e7ee5495654de809"/>
          <p:cNvSpPr txBox="1"/>
          <p:nvPr/>
        </p:nvSpPr>
        <p:spPr>
          <a:xfrm>
            <a:off x="6339682" y="4937760"/>
            <a:ext cx="4876678"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Review evidence with stakeholders</a:t>
            </a:r>
            <a:endParaRPr lang="en-US" sz="1700" dirty="0"/>
          </a:p>
        </p:txBody>
      </p:sp>
      <p:sp>
        <p:nvSpPr>
          <p:cNvPr id="8" name="element_8d829b9ab650a603fad708d49d84a7bf"/>
          <p:cNvSpPr txBox="1"/>
          <p:nvPr/>
        </p:nvSpPr>
        <p:spPr>
          <a:xfrm>
            <a:off x="6339682" y="5623560"/>
            <a:ext cx="4876678"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Scale what earns confidence</a:t>
            </a:r>
            <a:endParaRPr lang="en-US" sz="1700" dirty="0"/>
          </a:p>
        </p:txBody>
      </p:sp>
      <p:sp>
        <p:nvSpPr>
          <p:cNvPr id="9" name="element_ad419702fa479da9f793caab4d674054:fallback-shape"/>
          <p:cNvSpPr/>
          <p:nvPr/>
        </p:nvSpPr>
        <p:spPr>
          <a:xfrm>
            <a:off x="731502" y="2674620"/>
            <a:ext cx="4754761" cy="2606040"/>
          </a:xfrm>
          <a:prstGeom prst="roundRect">
            <a:avLst/>
          </a:prstGeom>
          <a:solidFill>
            <a:srgbClr val="F2DED3"/>
          </a:solidFill>
          <a:ln w="19050">
            <a:solidFill>
              <a:srgbClr val="DED7CC"/>
            </a:solidFill>
            <a:prstDash val="dash"/>
          </a:ln>
        </p:spPr>
      </p:sp>
      <p:sp>
        <p:nvSpPr>
          <p:cNvPr id="10" name="element_ad419702fa479da9f793caab4d674054:fallback-label"/>
          <p:cNvSpPr/>
          <p:nvPr/>
        </p:nvSpPr>
        <p:spPr>
          <a:xfrm>
            <a:off x="731502" y="2674620"/>
            <a:ext cx="4754761" cy="2606040"/>
          </a:xfrm>
          <a:prstGeom prst="rect">
            <a:avLst/>
          </a:prstGeom>
          <a:noFill/>
          <a:ln/>
        </p:spPr>
        <p:txBody>
          <a:bodyPr wrap="square" lIns="101600" tIns="101600" rIns="101600" bIns="101600" rtlCol="0" anchor="ctr">
            <a:normAutofit/>
          </a:bodyPr>
          <a:lstStyle/>
          <a:p>
            <a:pPr algn="ctr" indent="0" marL="0">
              <a:buNone/>
            </a:pPr>
            <a:r>
              <a:rPr lang="en-US" sz="1400" dirty="0">
                <a:solidFill>
                  <a:srgbClr val="756B61"/>
                </a:solidFill>
                <a:latin typeface="Geist Variable" pitchFamily="34" charset="0"/>
                <a:ea typeface="Geist Variable" pitchFamily="34" charset="-122"/>
                <a:cs typeface="Geist Variable" pitchFamily="34" charset="-120"/>
              </a:rPr>
              <a:t>Structured evidence map derived from the supplied brief</a:t>
            </a:r>
            <a:endParaRPr lang="en-US" sz="1400" dirty="0"/>
          </a:p>
          <a:p>
            <a:pPr algn="ctr" indent="0" marL="0">
              <a:buNone/>
            </a:pPr>
            <a:r>
              <a:rPr lang="en-US" sz="1400" dirty="0">
                <a:solidFill>
                  <a:srgbClr val="756B61"/>
                </a:solidFill>
                <a:latin typeface="Geist Variable" pitchFamily="34" charset="0"/>
                <a:ea typeface="Geist Variable" pitchFamily="34" charset="-122"/>
                <a:cs typeface="Geist Variable" pitchFamily="34" charset="-120"/>
              </a:rPr>
              <a:t>Replace image</a:t>
            </a:r>
            <a:endParaRPr lang="en-US" sz="1400" dirty="0"/>
          </a:p>
          <a:p>
            <a:pPr algn="ctr" indent="0" marL="0">
              <a:buNone/>
            </a:pPr>
            <a:r>
              <a:rPr lang="en-US" sz="1400" dirty="0">
                <a:solidFill>
                  <a:srgbClr val="756B61"/>
                </a:solidFill>
                <a:latin typeface="Geist Variable" pitchFamily="34" charset="0"/>
                <a:ea typeface="Geist Variable" pitchFamily="34" charset="-122"/>
                <a:cs typeface="Geist Variable" pitchFamily="34" charset="-120"/>
              </a:rPr>
              <a:t>The visual is illustrative and remains replaceable as an image object.</a:t>
            </a:r>
            <a:endParaRPr lang="en-US" sz="1400" dirty="0"/>
          </a:p>
        </p:txBody>
      </p:sp>
      <p:sp>
        <p:nvSpPr>
          <p:cNvPr id="11" name="element_64fe6183822c8b841159368c69c9d83f"/>
          <p:cNvSpPr txBox="1"/>
          <p:nvPr/>
        </p:nvSpPr>
        <p:spPr>
          <a:xfrm>
            <a:off x="975336" y="5417820"/>
            <a:ext cx="4267093" cy="480060"/>
          </a:xfrm>
          <a:prstGeom prst="rect">
            <a:avLst/>
          </a:prstGeom>
          <a:noFill/>
          <a:ln/>
        </p:spPr>
        <p:txBody>
          <a:bodyPr wrap="square" lIns="0" tIns="0" rIns="0" bIns="0" rtlCol="0" anchor="t">
            <a:normAutofit/>
          </a:bodyPr>
          <a:lstStyle/>
          <a:p>
            <a:pPr algn="ctr" indent="0" marL="0">
              <a:lnSpc>
                <a:spcPct val="120000"/>
              </a:lnSpc>
              <a:buNone/>
            </a:pPr>
            <a:r>
              <a:rPr lang="en-US" sz="1400" dirty="0">
                <a:solidFill>
                  <a:srgbClr val="756B61"/>
                </a:solidFill>
                <a:latin typeface="Geist Variable" pitchFamily="34" charset="0"/>
                <a:ea typeface="Geist Variable" pitchFamily="34" charset="-122"/>
                <a:cs typeface="Geist Variable" pitchFamily="34" charset="-120"/>
              </a:rPr>
              <a:t>The visual is illustrative and remains replaceable as an image object.</a:t>
            </a:r>
            <a:endParaRPr lang="en-US" sz="1400" dirty="0"/>
          </a:p>
        </p:txBody>
      </p:sp>
      <p:sp>
        <p:nvSpPr>
          <p:cNvPr id="12" name="element_fec996c1ca4fece5d61d613f9ff77f9d"/>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3" name="element_25d120e9a6860856a4672dd0ab280237"/>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06</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4ED"/>
        </a:solidFill>
      </p:bgPr>
    </p:bg>
    <p:spTree>
      <p:nvGrpSpPr>
        <p:cNvPr id="1" name=""/>
        <p:cNvGrpSpPr/>
        <p:nvPr/>
      </p:nvGrpSpPr>
      <p:grpSpPr>
        <a:xfrm>
          <a:off x="0" y="0"/>
          <a:ext cx="0" cy="0"/>
          <a:chOff x="0" y="0"/>
          <a:chExt cx="0" cy="0"/>
        </a:xfrm>
      </p:grpSpPr>
      <p:sp>
        <p:nvSpPr>
          <p:cNvPr id="2" name="element_9da403fa1f3ddecdf0b05ef7d8849faf"/>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3" name="element_e2d142e0a011f77b318f49aeb7fe4b3f"/>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CLOSE / 07</a:t>
            </a:r>
            <a:endParaRPr lang="en-US" sz="1500" dirty="0"/>
          </a:p>
        </p:txBody>
      </p:sp>
      <p:sp>
        <p:nvSpPr>
          <p:cNvPr id="4" name="element_b16b13ffee068678d3721bb191c0c645"/>
          <p:cNvSpPr txBox="1"/>
          <p:nvPr/>
        </p:nvSpPr>
        <p:spPr>
          <a:xfrm>
            <a:off x="853419"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Create an editable, reviewable presentation from this idea</a:t>
            </a:r>
            <a:endParaRPr lang="en-US" sz="3800" dirty="0"/>
          </a:p>
        </p:txBody>
      </p:sp>
      <p:sp>
        <p:nvSpPr>
          <p:cNvPr id="5" name="element_5393c1f7a38bc363250b8c2c0c5dcf73"/>
          <p:cNvSpPr txBox="1"/>
          <p:nvPr/>
        </p:nvSpPr>
        <p:spPr>
          <a:xfrm>
            <a:off x="853419" y="2743200"/>
            <a:ext cx="8046519"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Invite Decision-makers described in the brief to align on the outcome, the first action, and the evidence that will guide the next decision.</a:t>
            </a:r>
            <a:endParaRPr lang="en-US" sz="1900" dirty="0"/>
          </a:p>
        </p:txBody>
      </p:sp>
      <p:sp>
        <p:nvSpPr>
          <p:cNvPr id="6" name="element_e4442e14eb780d3f194875a3258df199"/>
          <p:cNvSpPr txBox="1"/>
          <p:nvPr/>
        </p:nvSpPr>
        <p:spPr>
          <a:xfrm>
            <a:off x="853419"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Agree the outcome</a:t>
            </a:r>
            <a:endParaRPr lang="en-US" sz="1600" dirty="0"/>
          </a:p>
        </p:txBody>
      </p:sp>
      <p:sp>
        <p:nvSpPr>
          <p:cNvPr id="7" name="element_c4d143b44c9876dab769170edd9afa61"/>
          <p:cNvSpPr txBox="1"/>
          <p:nvPr/>
        </p:nvSpPr>
        <p:spPr>
          <a:xfrm>
            <a:off x="4267093"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Name the owner</a:t>
            </a:r>
            <a:endParaRPr lang="en-US" sz="1600" dirty="0"/>
          </a:p>
        </p:txBody>
      </p:sp>
      <p:sp>
        <p:nvSpPr>
          <p:cNvPr id="8" name="element_f7b6630f64640c20bb814b51b8f108a1"/>
          <p:cNvSpPr txBox="1"/>
          <p:nvPr/>
        </p:nvSpPr>
        <p:spPr>
          <a:xfrm>
            <a:off x="7680768"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Set the next checkpoint</a:t>
            </a:r>
            <a:endParaRPr lang="en-US" sz="1600" dirty="0"/>
          </a:p>
        </p:txBody>
      </p:sp>
      <p:sp>
        <p:nvSpPr>
          <p:cNvPr id="9" name="element_fe9d09377eb38c6bcd9b7bba5277a374"/>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0" name="element_715efd9e8f8aecc45e0887e5cef3af43"/>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07</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Geist Variable"/>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Parity Studio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Create a seven-slide technical architecture review for staff engineer…</dc:title>
  <dc:subject>Create an editable, reviewable presentation from this idea</dc:subject>
  <dc:creator>NodeSlide</dc:creator>
  <cp:lastModifiedBy>NodeSlide</cp:lastModifiedBy>
  <cp:revision>1</cp:revision>
  <dcterms:created xsi:type="dcterms:W3CDTF">2026-07-21T23:53:12Z</dcterms:created>
  <dcterms:modified xsi:type="dcterms:W3CDTF">2026-07-21T23:53:12Z</dcterms:modified>
</cp:coreProperties>
</file>