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Paid Workspaces</c:v>
                  </c:pt>
                  <c:pt idx="1">
                    <c:v>Monthly Active Operators</c:v>
                  </c:pt>
                  <c:pt idx="2">
                    <c:v>Weekly Workflows</c:v>
                  </c:pt>
                  <c:pt idx="3">
                    <c:v>Net Revenue Retention</c:v>
                  </c:pt>
                  <c:pt idx="4">
                    <c:v>Median Setup Time</c:v>
                  </c:pt>
                </c:lvl>
              </c:multiLvlStrCache>
            </c:multiLvlStrRef>
          </c:cat>
          <c:val>
            <c:numRef>
              <c:f>Sheet1!$B$2:$B$6</c:f>
              <c:numCache>
                <c:formatCode>General</c:formatCode>
                <c:ptCount val="5"/>
                <c:pt idx="0">
                  <c:v>84</c:v>
                </c:pt>
                <c:pt idx="1">
                  <c:v>1260</c:v>
                </c:pt>
                <c:pt idx="2">
                  <c:v>18400</c:v>
                </c:pt>
                <c:pt idx="3">
                  <c:v>118</c:v>
                </c:pt>
                <c:pt idx="4">
                  <c:v>19</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Signal</c:v>
                </c:pt>
              </c:strCache>
            </c:strRef>
          </c:tx>
          <c:spPr>
            <a:solidFill>
              <a:srgbClr val="B44A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S1</c:v>
                  </c:pt>
                  <c:pt idx="1">
                    <c:v>S2</c:v>
                  </c:pt>
                  <c:pt idx="2">
                    <c:v>S3</c:v>
                  </c:pt>
                </c:lvl>
              </c:multiLvlStrCache>
            </c:multiLvlStrRef>
          </c:cat>
          <c:val>
            <c:numRef>
              <c:f>Sheet1!$B$2:$B$4</c:f>
              <c:numCache>
                <c:formatCode>General</c:formatCode>
                <c:ptCount val="3"/>
                <c:pt idx="0">
                  <c:v>1</c:v>
                </c:pt>
                <c:pt idx="1">
                  <c:v>1</c:v>
                </c:pt>
                <c:pt idx="2">
                  <c:v>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6B61"/>
                </a:solidFill>
                <a:latin typeface="JetBrains Mono Variable"/>
              </a:defRPr>
            </a:pPr>
            <a:endParaRPr lang="en-US"/>
          </a:p>
        </c:txPr>
        <c:crossAx val="2094734554"/>
        <c:crosses val="autoZero"/>
        <c:crossBetween val="between"/>
      </c:valAx>
      <c:spPr>
        <a:noFill/>
        <a:ln>
          <a:noFill/>
        </a:ln>
        <a:effectLst/>
      </c:spPr>
    </c:plotArea>
    <c:plotVisOnly val="1"/>
    <c:dispBlanksAs val="span"/>
  </c:chart>
  <c:spPr>
    <a:solidFill>
      <a:srgbClr val="F2DED3">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Opening / 01.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Context / 02. Keep the spoken transition focused on “The cost of waiting is usually hidden in repeated work.”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Insight / 03. Keep the spoken transition focused on “A better outcome starts with a sharper point of view.”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Approach / 04. Keep the spoken transition focused on “The uploaded values remain an editable chart.”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 05. Keep the spoken transition focused on “Define proof before asking for commitment.”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Delivery / 06. Keep the spoken transition focused on “Start narrow, learn quickly, and preserve room to adapt.”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Close / 07. Keep the spoken transition focused on “Create an editable, reviewable presentation from this idea”
Evidence note: Content is based on the supplied creation brief. Illustrative examples are not independently verified; replace them with measured evidence before external publication.
NodeSlide sources
[source_bdfe5c9a6cb0e1a7c95457b99e66ba95] Create an evidence-led seven-slide Series A roadshow for early-stage… — creation brief
Citation: Create an evidence-led seven-slide Series A roadshow for early-stage enterprise software investors deciding whether RelayOS merits diligence. Use only the attached operating metrics and product facts. Show the workflow problem, product transformation, traction, market wedge, defensible architecture, financing use, and a clear diligence decision. Include an editable traction chart, an editable system architecture diagram, a large honestly labeled product screenshot slot, and one restrained market comparison. Do not invent customers, market size, quotes, or growth rates. Design direction: Use an evidence-led editorial direction: restrained surface treatment, decisive hierarchy, visible provenance, and an inspectable visual argument on every proof slide. Avoid card grids and decorative dashboards.
Disclaimer: Internal working material
[source_722143adf5fb152a4271221304d3ee85] relay-operating-metrics.csv
Citation: Uploaded file: relay-operating-metrics.csv
metric,value,unit,source
paid_workspaces,84,workspaces,internal ledger
monthly_active_operators,1260,operators,product telemetry
weekly_workflows,18400,workflows,product telemetry
net_revenue_retention,118,percent,billing export
median_setup_time,19,minutes,onboarding telemetry
Disclaimer: User supplied
[source_be88dddab6f8c7f84e9c7e4b5fc66f2e] relay-product-facts.md
Citation: Uploaded file: relay-product-facts.md
RelayOS coordinates approval-heavy operations. The product keeps proposals reviewable before mutation, records versioned receipts, and exposes adapters for CRM, ticketing, and document systems. No product screenshot was supplied to the benchmark.
Disclaimer: User supplied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element_e351036f8eecdc87a73cfffd34be1abc"/>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ed9cb000243c2cb48c2073218fdd697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OPENING / 01</a:t>
            </a:r>
            <a:endParaRPr lang="en-US" sz="1500" dirty="0"/>
          </a:p>
        </p:txBody>
      </p:sp>
      <p:sp>
        <p:nvSpPr>
          <p:cNvPr id="4" name="element_823611241c724b3020ed1a6bd9dc84c5"/>
          <p:cNvSpPr txBox="1"/>
          <p:nvPr/>
        </p:nvSpPr>
        <p:spPr>
          <a:xfrm>
            <a:off x="853419" y="1028700"/>
            <a:ext cx="9631439" cy="185166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4800" dirty="0"/>
          </a:p>
        </p:txBody>
      </p:sp>
      <p:sp>
        <p:nvSpPr>
          <p:cNvPr id="5" name="element_b29369619f79719f20bee218be9aa117"/>
          <p:cNvSpPr txBox="1"/>
          <p:nvPr/>
        </p:nvSpPr>
        <p:spPr>
          <a:xfrm>
            <a:off x="853419" y="3291840"/>
            <a:ext cx="8046519" cy="116586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A focused narrative for Decision-makers described in the brief, built from the supplied brief and kept editable from first draft onward.</a:t>
            </a:r>
            <a:endParaRPr lang="en-US" sz="1900" dirty="0"/>
          </a:p>
        </p:txBody>
      </p:sp>
      <p:sp>
        <p:nvSpPr>
          <p:cNvPr id="6" name="element_5176577b1a69c0a304181e924d340a30"/>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 coherent 6–8 slide narrative</a:t>
            </a:r>
            <a:endParaRPr lang="en-US" sz="1600" dirty="0"/>
          </a:p>
        </p:txBody>
      </p:sp>
      <p:sp>
        <p:nvSpPr>
          <p:cNvPr id="7" name="element_39428bab425a8925b46c8d8999bac184"/>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Structured chart, formula, and image primitives where relevant</a:t>
            </a:r>
            <a:endParaRPr lang="en-US" sz="1600" dirty="0"/>
          </a:p>
        </p:txBody>
      </p:sp>
      <p:sp>
        <p:nvSpPr>
          <p:cNvPr id="8" name="element_467e0544d38bf0f749b3837ea4bfd03a"/>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Validation passes before presentation or export</a:t>
            </a:r>
            <a:endParaRPr lang="en-US" sz="1600" dirty="0"/>
          </a:p>
        </p:txBody>
      </p:sp>
      <p:sp>
        <p:nvSpPr>
          <p:cNvPr id="9" name="element_fc420dcbfe4e80001f5c23d356e682e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eb6bb120a9ba84075a6ac7a5b23d55d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element_ee369c2e6c342c987958d51ef0103843"/>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b4c1d1964cbc476216e8939d91ea0bab"/>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CONTEXT / 02</a:t>
            </a:r>
            <a:endParaRPr lang="en-US" sz="1500" dirty="0"/>
          </a:p>
        </p:txBody>
      </p:sp>
      <p:sp>
        <p:nvSpPr>
          <p:cNvPr id="4" name="element_b4b51feea5582be49dcce276c7b6d089"/>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cost of waiting is usually hidden in repeated work.</a:t>
            </a:r>
            <a:endParaRPr lang="en-US" sz="3800" dirty="0"/>
          </a:p>
        </p:txBody>
      </p:sp>
      <p:sp>
        <p:nvSpPr>
          <p:cNvPr id="5" name="element_edd50e7ade0b7c0fcb0bc861a56da5b6"/>
          <p:cNvSpPr txBox="1"/>
          <p:nvPr/>
        </p:nvSpPr>
        <p:spPr>
          <a:xfrm>
            <a:off x="853419" y="2606040"/>
            <a:ext cx="3901342" cy="1097280"/>
          </a:xfrm>
          <a:prstGeom prst="rect">
            <a:avLst/>
          </a:prstGeom>
          <a:noFill/>
          <a:ln/>
        </p:spPr>
        <p:txBody>
          <a:bodyPr wrap="square" lIns="0" tIns="0" rIns="0" bIns="0" rtlCol="0" anchor="t">
            <a:normAutofit/>
          </a:bodyPr>
          <a:lstStyle/>
          <a:p>
            <a:pPr algn="l" indent="0" marL="0">
              <a:lnSpc>
                <a:spcPct val="135000"/>
              </a:lnSpc>
              <a:buNone/>
            </a:pPr>
            <a:r>
              <a:rPr lang="en-US" sz="1700" dirty="0">
                <a:solidFill>
                  <a:srgbClr val="756B61"/>
                </a:solidFill>
                <a:latin typeface="Geist Variable" pitchFamily="34" charset="0"/>
                <a:ea typeface="Geist Variable" pitchFamily="34" charset="-122"/>
                <a:cs typeface="Geist Variable" pitchFamily="34" charset="-120"/>
              </a:rPr>
              <a:t>Frame the current reality for Decision-makers described in the brief: what is fragmented today, why it matters now, and where momentum is being lost.</a:t>
            </a:r>
            <a:endParaRPr lang="en-US" sz="1700" dirty="0"/>
          </a:p>
        </p:txBody>
      </p:sp>
      <p:sp>
        <p:nvSpPr>
          <p:cNvPr id="6" name="element_770e4f8fa68c6a30524ad2795b4ba6ad"/>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Name the friction</a:t>
            </a:r>
            <a:endParaRPr lang="en-US" sz="1700" dirty="0"/>
          </a:p>
        </p:txBody>
      </p:sp>
      <p:sp>
        <p:nvSpPr>
          <p:cNvPr id="7" name="element_2de5a1f2bb21f6e51fffe2ed5b008d14"/>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Expose the consequence</a:t>
            </a:r>
            <a:endParaRPr lang="en-US" sz="1700" dirty="0"/>
          </a:p>
        </p:txBody>
      </p:sp>
      <p:sp>
        <p:nvSpPr>
          <p:cNvPr id="8" name="element_c6d3faec88c4c2ade3e04e1fab4d4c7c"/>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Create urgency without hype</a:t>
            </a:r>
            <a:endParaRPr lang="en-US" sz="1700" dirty="0"/>
          </a:p>
        </p:txBody>
      </p:sp>
      <p:sp>
        <p:nvSpPr>
          <p:cNvPr id="9" name="element_6d351396677c59df5a4d8c548d892c68"/>
          <p:cNvSpPr/>
          <p:nvPr/>
        </p:nvSpPr>
        <p:spPr>
          <a:xfrm>
            <a:off x="7019978" y="4375404"/>
            <a:ext cx="243834" cy="164592"/>
          </a:xfrm>
          <a:prstGeom prst="line">
            <a:avLst/>
          </a:prstGeom>
          <a:noFill/>
          <a:ln w="25400">
            <a:solidFill>
              <a:srgbClr val="7566A8"/>
            </a:solidFill>
            <a:prstDash val="solid"/>
            <a:tailEnd type="triangle"/>
          </a:ln>
        </p:spPr>
      </p:sp>
      <p:sp>
        <p:nvSpPr>
          <p:cNvPr id="10" name="element_05ef23c2f91d130baee1519ff05da31f"/>
          <p:cNvSpPr/>
          <p:nvPr/>
        </p:nvSpPr>
        <p:spPr>
          <a:xfrm>
            <a:off x="9194977" y="4375404"/>
            <a:ext cx="243834" cy="164592"/>
          </a:xfrm>
          <a:prstGeom prst="line">
            <a:avLst/>
          </a:prstGeom>
          <a:noFill/>
          <a:ln w="25400">
            <a:solidFill>
              <a:srgbClr val="7566A8"/>
            </a:solidFill>
            <a:prstDash val="solid"/>
            <a:tailEnd type="triangle"/>
          </a:ln>
        </p:spPr>
      </p:sp>
      <p:sp>
        <p:nvSpPr>
          <p:cNvPr id="11" name="element_f7e4d61914f59d29c5086d488389e0c7"/>
          <p:cNvSpPr/>
          <p:nvPr/>
        </p:nvSpPr>
        <p:spPr>
          <a:xfrm>
            <a:off x="5045753" y="3939235"/>
            <a:ext cx="2018506" cy="1036930"/>
          </a:xfrm>
          <a:prstGeom prst="roundRect">
            <a:avLst/>
          </a:prstGeom>
          <a:solidFill>
            <a:srgbClr val="F2DED3"/>
          </a:solidFill>
          <a:ln w="12700">
            <a:solidFill>
              <a:srgbClr val="DED7CC"/>
            </a:solidFill>
            <a:prstDash val="solid"/>
          </a:ln>
        </p:spPr>
      </p:sp>
      <p:sp>
        <p:nvSpPr>
          <p:cNvPr id="12" name="element_f7e4d61914f59d29c5086d488389e0c7:text"/>
          <p:cNvSpPr txBox="1"/>
          <p:nvPr/>
        </p:nvSpPr>
        <p:spPr>
          <a:xfrm>
            <a:off x="5045753"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Friction</a:t>
            </a:r>
            <a:endParaRPr lang="en-US" sz="1600" dirty="0"/>
          </a:p>
        </p:txBody>
      </p:sp>
      <p:sp>
        <p:nvSpPr>
          <p:cNvPr id="13" name="element_3bbb403a70666f6ffbd4b06074e1d2d4"/>
          <p:cNvSpPr/>
          <p:nvPr/>
        </p:nvSpPr>
        <p:spPr>
          <a:xfrm>
            <a:off x="7219532" y="3939235"/>
            <a:ext cx="2018506" cy="1036930"/>
          </a:xfrm>
          <a:prstGeom prst="roundRect">
            <a:avLst/>
          </a:prstGeom>
          <a:solidFill>
            <a:srgbClr val="F2DED3"/>
          </a:solidFill>
          <a:ln w="12700">
            <a:solidFill>
              <a:srgbClr val="DED7CC"/>
            </a:solidFill>
            <a:prstDash val="solid"/>
          </a:ln>
        </p:spPr>
      </p:sp>
      <p:sp>
        <p:nvSpPr>
          <p:cNvPr id="14" name="element_3bbb403a70666f6ffbd4b06074e1d2d4:text"/>
          <p:cNvSpPr txBox="1"/>
          <p:nvPr/>
        </p:nvSpPr>
        <p:spPr>
          <a:xfrm>
            <a:off x="7219532"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Consequence</a:t>
            </a:r>
            <a:endParaRPr lang="en-US" sz="1600" dirty="0"/>
          </a:p>
        </p:txBody>
      </p:sp>
      <p:sp>
        <p:nvSpPr>
          <p:cNvPr id="15" name="element_17cae6b3f24627b4e259c89025220296"/>
          <p:cNvSpPr/>
          <p:nvPr/>
        </p:nvSpPr>
        <p:spPr>
          <a:xfrm>
            <a:off x="9394530" y="3939235"/>
            <a:ext cx="2018506" cy="1036930"/>
          </a:xfrm>
          <a:prstGeom prst="roundRect">
            <a:avLst/>
          </a:prstGeom>
          <a:solidFill>
            <a:srgbClr val="E5E9D6"/>
          </a:solidFill>
          <a:ln w="12700">
            <a:solidFill>
              <a:srgbClr val="DED7CC"/>
            </a:solidFill>
            <a:prstDash val="solid"/>
          </a:ln>
        </p:spPr>
      </p:sp>
      <p:sp>
        <p:nvSpPr>
          <p:cNvPr id="16" name="element_17cae6b3f24627b4e259c89025220296:text"/>
          <p:cNvSpPr txBox="1"/>
          <p:nvPr/>
        </p:nvSpPr>
        <p:spPr>
          <a:xfrm>
            <a:off x="9394530" y="3939235"/>
            <a:ext cx="2018506" cy="1036930"/>
          </a:xfrm>
          <a:prstGeom prst="rect">
            <a:avLst/>
          </a:prstGeom>
          <a:noFill/>
          <a:ln/>
        </p:spPr>
        <p:txBody>
          <a:bodyPr wrap="square" lIns="152400" tIns="152400" rIns="152400" bIns="152400" rtlCol="0" anchor="ctr">
            <a:normAutofit/>
          </a:bodyPr>
          <a:lstStyle/>
          <a:p>
            <a:pPr algn="ctr" indent="0" marL="0">
              <a:lnSpc>
                <a:spcPct val="115000"/>
              </a:lnSpc>
              <a:buNone/>
            </a:pPr>
            <a:r>
              <a:rPr lang="en-US" sz="1600" b="1" dirty="0">
                <a:solidFill>
                  <a:srgbClr val="26221D"/>
                </a:solidFill>
                <a:latin typeface="Geist Variable" pitchFamily="34" charset="0"/>
                <a:ea typeface="Geist Variable" pitchFamily="34" charset="-122"/>
                <a:cs typeface="Geist Variable" pitchFamily="34" charset="-120"/>
              </a:rPr>
              <a:t>Decision window</a:t>
            </a:r>
            <a:endParaRPr lang="en-US" sz="1600" dirty="0"/>
          </a:p>
        </p:txBody>
      </p:sp>
      <p:sp>
        <p:nvSpPr>
          <p:cNvPr id="17" name="element_09aaa4b13926bc59e87d4518c8deb40c"/>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8" name="element_77bc1e4bd9cf7882b17aca20e679d651"/>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element_452511e3c002f2f597a219d389ffc78d"/>
          <p:cNvSpPr/>
          <p:nvPr/>
        </p:nvSpPr>
        <p:spPr>
          <a:xfrm>
            <a:off x="11667452" y="445770"/>
            <a:ext cx="121917" cy="5692140"/>
          </a:xfrm>
          <a:prstGeom prst="roundRect">
            <a:avLst/>
          </a:prstGeom>
          <a:solidFill>
            <a:srgbClr val="B44A2D"/>
          </a:solidFill>
          <a:ln w="12700">
            <a:solidFill>
              <a:srgbClr val="FFFFFF">
                <a:alpha val="0"/>
              </a:srgbClr>
            </a:solidFill>
            <a:prstDash val="solid"/>
          </a:ln>
        </p:spPr>
      </p:sp>
      <p:sp>
        <p:nvSpPr>
          <p:cNvPr id="3" name="element_38484d62ee023f4f2b24e8cbcb4de25c"/>
          <p:cNvSpPr txBox="1"/>
          <p:nvPr/>
        </p:nvSpPr>
        <p:spPr>
          <a:xfrm>
            <a:off x="5486263"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INSIGHT / 03</a:t>
            </a:r>
            <a:endParaRPr lang="en-US" sz="1500" dirty="0"/>
          </a:p>
        </p:txBody>
      </p:sp>
      <p:sp>
        <p:nvSpPr>
          <p:cNvPr id="4" name="element_003f3f9f62633b395447348eaa76e302"/>
          <p:cNvSpPr txBox="1"/>
          <p:nvPr/>
        </p:nvSpPr>
        <p:spPr>
          <a:xfrm>
            <a:off x="2072588"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A better outcome starts with a sharper point of view.</a:t>
            </a:r>
            <a:endParaRPr lang="en-US" sz="3800" dirty="0"/>
          </a:p>
        </p:txBody>
      </p:sp>
      <p:sp>
        <p:nvSpPr>
          <p:cNvPr id="5" name="element_db00ad9dfea2ff47f9e52bfe895f9dfb"/>
          <p:cNvSpPr txBox="1"/>
          <p:nvPr/>
        </p:nvSpPr>
        <p:spPr>
          <a:xfrm>
            <a:off x="1706837" y="2743200"/>
            <a:ext cx="9631439" cy="12344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Create an evidence-led seven-slide Series A roadshow for early-stage enterprise software investors deciding whether RelayOS merits diligence. Use only the attached operating metrics and product facts. Show the workflow problem, product transformation, tractio…</a:t>
            </a:r>
            <a:endParaRPr lang="en-US" sz="1900" dirty="0"/>
          </a:p>
        </p:txBody>
      </p:sp>
      <p:sp>
        <p:nvSpPr>
          <p:cNvPr id="6" name="element_953e3f430883d82ef12c7377a6978120"/>
          <p:cNvSpPr txBox="1"/>
          <p:nvPr/>
        </p:nvSpPr>
        <p:spPr>
          <a:xfrm>
            <a:off x="8168436"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daf9d5fd745a5969c04e88ffb99c40e9"/>
          <p:cNvSpPr txBox="1"/>
          <p:nvPr/>
        </p:nvSpPr>
        <p:spPr>
          <a:xfrm>
            <a:off x="4632844"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e6c7d8336cf37ffe7ca8a690a7e49f9c"/>
          <p:cNvSpPr txBox="1"/>
          <p:nvPr/>
        </p:nvSpPr>
        <p:spPr>
          <a:xfrm>
            <a:off x="1097253" y="4251960"/>
            <a:ext cx="3169841" cy="109728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66244f3711acc4e14a0f682a704ae701"/>
          <p:cNvSpPr txBox="1"/>
          <p:nvPr/>
        </p:nvSpPr>
        <p:spPr>
          <a:xfrm>
            <a:off x="2560256"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dae582a92705d8c34961301832d2aaa5"/>
          <p:cNvSpPr txBox="1"/>
          <p:nvPr/>
        </p:nvSpPr>
        <p:spPr>
          <a:xfrm>
            <a:off x="73150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element_af6eb87841236321de72dfa3be9be626"/>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92574d7349913f80604ee7bf005311bf"/>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APPROACH / 04</a:t>
            </a:r>
            <a:endParaRPr lang="en-US" sz="1500" dirty="0"/>
          </a:p>
        </p:txBody>
      </p:sp>
      <p:sp>
        <p:nvSpPr>
          <p:cNvPr id="4" name="element_68100e537d54140b8f2c5107a1e85789"/>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The uploaded values remain an editable chart.</a:t>
            </a:r>
            <a:endParaRPr lang="en-US" sz="3800" dirty="0"/>
          </a:p>
        </p:txBody>
      </p:sp>
      <p:sp>
        <p:nvSpPr>
          <p:cNvPr id="5" name="element_842df0b5ccc83ee31ba31664e157639d"/>
          <p:cNvSpPr txBox="1"/>
          <p:nvPr/>
        </p:nvSpPr>
        <p:spPr>
          <a:xfrm>
            <a:off x="853419" y="2743200"/>
            <a:ext cx="365750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Labels and values stay in the canonical deck spec for direct editing, validation, and native export.</a:t>
            </a:r>
            <a:endParaRPr lang="en-US" sz="1900" dirty="0"/>
          </a:p>
        </p:txBody>
      </p:sp>
      <p:sp>
        <p:nvSpPr>
          <p:cNvPr id="6" name="element_058d52b3eae179e0bf290c8d45169122"/>
          <p:cNvSpPr txBox="1"/>
          <p:nvPr/>
        </p:nvSpPr>
        <p:spPr>
          <a:xfrm>
            <a:off x="853419" y="42519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Data-bound bars</a:t>
            </a:r>
            <a:endParaRPr lang="en-US" sz="1700" dirty="0"/>
          </a:p>
        </p:txBody>
      </p:sp>
      <p:sp>
        <p:nvSpPr>
          <p:cNvPr id="7" name="element_2441d626fe704bb5961bb0ad3ab6f2ae"/>
          <p:cNvSpPr txBox="1"/>
          <p:nvPr/>
        </p:nvSpPr>
        <p:spPr>
          <a:xfrm>
            <a:off x="853419" y="49377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Source-linked values</a:t>
            </a:r>
            <a:endParaRPr lang="en-US" sz="1700" dirty="0"/>
          </a:p>
        </p:txBody>
      </p:sp>
      <p:sp>
        <p:nvSpPr>
          <p:cNvPr id="8" name="element_14fbb3c52cec56b495b52dcee8f1fcb3"/>
          <p:cNvSpPr txBox="1"/>
          <p:nvPr/>
        </p:nvSpPr>
        <p:spPr>
          <a:xfrm>
            <a:off x="853419" y="5623560"/>
            <a:ext cx="3657509"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Editable labels</a:t>
            </a:r>
            <a:endParaRPr lang="en-US" sz="1700" dirty="0"/>
          </a:p>
        </p:txBody>
      </p:sp>
      <p:graphicFrame>
        <p:nvGraphicFramePr>
          <p:cNvPr id="9" name="element_443d4b1e1f659c3da76fa7117f0de748" descr=""/>
          <p:cNvGraphicFramePr/>
          <p:nvPr/>
        </p:nvGraphicFramePr>
        <p:xfrm>
          <a:off x="5120512" y="2880360"/>
          <a:ext cx="6095848" cy="3154680"/>
        </p:xfrm>
        <a:graphic xmlns:a="http://schemas.openxmlformats.org/drawingml/2006/main">
          <a:graphicData uri="http://schemas.openxmlformats.org/drawingml/2006/chart">
            <c:chart xmlns:c="http://schemas.openxmlformats.org/drawingml/2006/chart" r:id="rId1"/>
          </a:graphicData>
        </a:graphic>
      </p:graphicFrame>
      <p:sp>
        <p:nvSpPr>
          <p:cNvPr id="10" name="element_1dfe050cc4d365c41e815a7ff4c9c2b1"/>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1" name="element_d7d633887bea3b07ef9fe4f10cd4970a"/>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element_af3aff9819ee42d12eab31221602fbb1"/>
          <p:cNvSpPr/>
          <p:nvPr/>
        </p:nvSpPr>
        <p:spPr>
          <a:xfrm>
            <a:off x="853419" y="377190"/>
            <a:ext cx="10484858" cy="68580"/>
          </a:xfrm>
          <a:prstGeom prst="roundRect">
            <a:avLst/>
          </a:prstGeom>
          <a:solidFill>
            <a:srgbClr val="B44A2D"/>
          </a:solidFill>
          <a:ln w="12700">
            <a:solidFill>
              <a:srgbClr val="FFFFFF">
                <a:alpha val="0"/>
              </a:srgbClr>
            </a:solidFill>
            <a:prstDash val="solid"/>
          </a:ln>
        </p:spPr>
      </p:sp>
      <p:sp>
        <p:nvSpPr>
          <p:cNvPr id="3" name="element_ed1fbef7f8bb7151bee9371b22b1db3c"/>
          <p:cNvSpPr txBox="1"/>
          <p:nvPr/>
        </p:nvSpPr>
        <p:spPr>
          <a:xfrm>
            <a:off x="1706837" y="514350"/>
            <a:ext cx="8778021" cy="342900"/>
          </a:xfrm>
          <a:prstGeom prst="rect">
            <a:avLst/>
          </a:prstGeom>
          <a:noFill/>
          <a:ln/>
        </p:spPr>
        <p:txBody>
          <a:bodyPr wrap="square" lIns="0" tIns="0" rIns="0" bIns="0" rtlCol="0" anchor="t">
            <a:normAutofit/>
          </a:bodyPr>
          <a:lstStyle/>
          <a:p>
            <a:pPr algn="ctr"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 05</a:t>
            </a:r>
            <a:endParaRPr lang="en-US" sz="1500" dirty="0"/>
          </a:p>
        </p:txBody>
      </p:sp>
      <p:sp>
        <p:nvSpPr>
          <p:cNvPr id="4" name="element_d928e4e2a1921f17cec4f707eb77d9b3"/>
          <p:cNvSpPr txBox="1"/>
          <p:nvPr/>
        </p:nvSpPr>
        <p:spPr>
          <a:xfrm>
            <a:off x="1706837" y="1028700"/>
            <a:ext cx="8778021" cy="1165860"/>
          </a:xfrm>
          <a:prstGeom prst="rect">
            <a:avLst/>
          </a:prstGeom>
          <a:noFill/>
          <a:ln/>
        </p:spPr>
        <p:txBody>
          <a:bodyPr wrap="square" lIns="0" tIns="0" rIns="0" bIns="0" rtlCol="0" anchor="t">
            <a:normAutofit/>
          </a:bodyPr>
          <a:lstStyle/>
          <a:p>
            <a:pPr algn="ctr"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Define proof before asking for commitment.</a:t>
            </a:r>
            <a:endParaRPr lang="en-US" sz="3800" dirty="0"/>
          </a:p>
        </p:txBody>
      </p:sp>
      <p:sp>
        <p:nvSpPr>
          <p:cNvPr id="5" name="element_541ed2ae0026f90d0e764b42a2f1832d"/>
          <p:cNvSpPr txBox="1"/>
          <p:nvPr/>
        </p:nvSpPr>
        <p:spPr>
          <a:xfrm>
            <a:off x="853419" y="274320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Use the brief’s success criteria as explicit evaluation signals, with assumptions clearly separated from measured evidence.</a:t>
            </a:r>
            <a:endParaRPr lang="en-US" sz="1900" dirty="0"/>
          </a:p>
        </p:txBody>
      </p:sp>
      <p:sp>
        <p:nvSpPr>
          <p:cNvPr id="6" name="element_9e619bcbaec7701ed4c261fbd1a84fd2"/>
          <p:cNvSpPr txBox="1"/>
          <p:nvPr/>
        </p:nvSpPr>
        <p:spPr>
          <a:xfrm>
            <a:off x="853419" y="42519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 coherent 6–8 slide narrative</a:t>
            </a:r>
            <a:endParaRPr lang="en-US" sz="1700" dirty="0"/>
          </a:p>
        </p:txBody>
      </p:sp>
      <p:sp>
        <p:nvSpPr>
          <p:cNvPr id="7" name="element_7e01e5411b6b9caaede36a4e01a068b2"/>
          <p:cNvSpPr txBox="1"/>
          <p:nvPr/>
        </p:nvSpPr>
        <p:spPr>
          <a:xfrm>
            <a:off x="853419" y="49377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Structured chart, formula, and image primitives where relevant</a:t>
            </a:r>
            <a:endParaRPr lang="en-US" sz="1700" dirty="0"/>
          </a:p>
        </p:txBody>
      </p:sp>
      <p:sp>
        <p:nvSpPr>
          <p:cNvPr id="8" name="element_0d266d439f6bd7099f7a2c5b29574ed4"/>
          <p:cNvSpPr txBox="1"/>
          <p:nvPr/>
        </p:nvSpPr>
        <p:spPr>
          <a:xfrm>
            <a:off x="853419" y="5623560"/>
            <a:ext cx="4754761"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Validation passes before presentation or export</a:t>
            </a:r>
            <a:endParaRPr lang="en-US" sz="1700" dirty="0"/>
          </a:p>
        </p:txBody>
      </p:sp>
      <p:sp>
        <p:nvSpPr>
          <p:cNvPr id="9" name="element_7d7f924c93d2ebc391ea7d81c140d186"/>
          <p:cNvSpPr txBox="1"/>
          <p:nvPr/>
        </p:nvSpPr>
        <p:spPr>
          <a:xfrm>
            <a:off x="6661542" y="2770632"/>
            <a:ext cx="4476790" cy="1110996"/>
          </a:xfrm>
          <a:prstGeom prst="rect">
            <a:avLst/>
          </a:prstGeom>
          <a:noFill/>
          <a:ln/>
        </p:spPr>
        <p:txBody>
          <a:bodyPr wrap="square" lIns="254000" tIns="254000" rIns="254000" bIns="254000" rtlCol="0" anchor="t">
            <a:normAutofit/>
          </a:bodyPr>
          <a:lstStyle/>
          <a:p>
            <a:pPr algn="l" indent="0" marL="0">
              <a:lnSpc>
                <a:spcPct val="100000"/>
              </a:lnSpc>
              <a:buNone/>
            </a:pPr>
            <a:r>
              <a:rPr lang="en-US" sz="4300" b="1" dirty="0">
                <a:solidFill>
                  <a:srgbClr val="34452C"/>
                </a:solidFill>
                <a:latin typeface="JetBrains Mono Variable" pitchFamily="34" charset="0"/>
                <a:ea typeface="JetBrains Mono Variable" pitchFamily="34" charset="-122"/>
                <a:cs typeface="JetBrains Mono Variable" pitchFamily="34" charset="-120"/>
              </a:rPr>
              <a:t>3 signals</a:t>
            </a:r>
            <a:endParaRPr lang="en-US" sz="4300" dirty="0"/>
          </a:p>
        </p:txBody>
      </p:sp>
      <p:sp>
        <p:nvSpPr>
          <p:cNvPr id="10" name="element_28e7283b45060bd698de50125dc9b538"/>
          <p:cNvSpPr txBox="1"/>
          <p:nvPr/>
        </p:nvSpPr>
        <p:spPr>
          <a:xfrm>
            <a:off x="7193100" y="3977640"/>
            <a:ext cx="3535592" cy="617220"/>
          </a:xfrm>
          <a:prstGeom prst="rect">
            <a:avLst/>
          </a:prstGeom>
          <a:noFill/>
          <a:ln/>
        </p:spPr>
        <p:txBody>
          <a:bodyPr wrap="square" lIns="0" tIns="0" rIns="0" bIns="0" rtlCol="0" anchor="t">
            <a:normAutofit/>
          </a:bodyPr>
          <a:lstStyle/>
          <a:p>
            <a:pPr algn="ctr" indent="0" marL="0">
              <a:lnSpc>
                <a:spcPct val="125000"/>
              </a:lnSpc>
              <a:buNone/>
            </a:pPr>
            <a:r>
              <a:rPr lang="en-US" sz="1500" dirty="0">
                <a:solidFill>
                  <a:srgbClr val="756B61"/>
                </a:solidFill>
                <a:latin typeface="Geist Variable" pitchFamily="34" charset="0"/>
                <a:ea typeface="Geist Variable" pitchFamily="34" charset="-122"/>
                <a:cs typeface="Geist Variable" pitchFamily="34" charset="-120"/>
              </a:rPr>
              <a:t>agreed measures of a successful outcome</a:t>
            </a:r>
            <a:endParaRPr lang="en-US" sz="1500" dirty="0"/>
          </a:p>
        </p:txBody>
      </p:sp>
      <p:graphicFrame>
        <p:nvGraphicFramePr>
          <p:cNvPr id="11" name="element_90dfe4987a45db39e456a16bfd6d1244" descr=""/>
          <p:cNvGraphicFramePr/>
          <p:nvPr/>
        </p:nvGraphicFramePr>
        <p:xfrm>
          <a:off x="6271408" y="4753966"/>
          <a:ext cx="5135142" cy="1259129"/>
        </p:xfrm>
        <a:graphic xmlns:a="http://schemas.openxmlformats.org/drawingml/2006/main">
          <a:graphicData uri="http://schemas.openxmlformats.org/drawingml/2006/chart">
            <c:chart xmlns:c="http://schemas.openxmlformats.org/drawingml/2006/chart" r:id="rId1"/>
          </a:graphicData>
        </a:graphic>
      </p:graphicFrame>
      <p:sp>
        <p:nvSpPr>
          <p:cNvPr id="12" name="element_31de0c678b20114f0a9ba902a22ea8fe"/>
          <p:cNvSpPr txBox="1"/>
          <p:nvPr/>
        </p:nvSpPr>
        <p:spPr>
          <a:xfrm>
            <a:off x="2682173" y="6377940"/>
            <a:ext cx="6827349" cy="240030"/>
          </a:xfrm>
          <a:prstGeom prst="rect">
            <a:avLst/>
          </a:prstGeom>
          <a:noFill/>
          <a:ln/>
        </p:spPr>
        <p:txBody>
          <a:bodyPr wrap="square" lIns="0" tIns="0" rIns="0" bIns="0" rtlCol="0" anchor="t">
            <a:normAutofit/>
          </a:bodyPr>
          <a:lstStyle/>
          <a:p>
            <a:pPr algn="ctr"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11192818044dc219a4e84c1498413fe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element_7e49c61617985817b06901c203d933b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78ba22a97ef415140cdc5e54d6ce08c2"/>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DELIVERY / 06</a:t>
            </a:r>
            <a:endParaRPr lang="en-US" sz="1500" dirty="0"/>
          </a:p>
        </p:txBody>
      </p:sp>
      <p:sp>
        <p:nvSpPr>
          <p:cNvPr id="4" name="element_1d552e368dee65f6122752e69e4c466c"/>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Start narrow, learn quickly, and preserve room to adapt.</a:t>
            </a:r>
            <a:endParaRPr lang="en-US" sz="3800" dirty="0"/>
          </a:p>
        </p:txBody>
      </p:sp>
      <p:sp>
        <p:nvSpPr>
          <p:cNvPr id="5" name="element_734bb2b0aec169c5c716d624cb08d1d1"/>
          <p:cNvSpPr txBox="1"/>
          <p:nvPr/>
        </p:nvSpPr>
        <p:spPr>
          <a:xfrm>
            <a:off x="6339682" y="2743200"/>
            <a:ext cx="4876678"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Sequence the work into a focused launch, an evidence review, and a deliberate scale decision with named ownership at every step.</a:t>
            </a:r>
            <a:endParaRPr lang="en-US" sz="1900" dirty="0"/>
          </a:p>
        </p:txBody>
      </p:sp>
      <p:sp>
        <p:nvSpPr>
          <p:cNvPr id="6" name="element_a9f02e7530aa657c065d35eae85f2bc6"/>
          <p:cNvSpPr txBox="1"/>
          <p:nvPr/>
        </p:nvSpPr>
        <p:spPr>
          <a:xfrm>
            <a:off x="6339682" y="42519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Launch the smallest credible move</a:t>
            </a:r>
            <a:endParaRPr lang="en-US" sz="1700" dirty="0"/>
          </a:p>
        </p:txBody>
      </p:sp>
      <p:sp>
        <p:nvSpPr>
          <p:cNvPr id="7" name="element_cf33aba033a579de78d60c72c7e70b6b"/>
          <p:cNvSpPr txBox="1"/>
          <p:nvPr/>
        </p:nvSpPr>
        <p:spPr>
          <a:xfrm>
            <a:off x="6339682" y="49377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Review evidence with stakeholders</a:t>
            </a:r>
            <a:endParaRPr lang="en-US" sz="1700" dirty="0"/>
          </a:p>
        </p:txBody>
      </p:sp>
      <p:sp>
        <p:nvSpPr>
          <p:cNvPr id="8" name="element_c0c4e15df83bc4d5413c2033d66f8fd8"/>
          <p:cNvSpPr txBox="1"/>
          <p:nvPr/>
        </p:nvSpPr>
        <p:spPr>
          <a:xfrm>
            <a:off x="6339682" y="5623560"/>
            <a:ext cx="4876678"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Scale what earns confidence</a:t>
            </a:r>
            <a:endParaRPr lang="en-US" sz="1700" dirty="0"/>
          </a:p>
        </p:txBody>
      </p:sp>
      <p:sp>
        <p:nvSpPr>
          <p:cNvPr id="9" name="element_d179d047dd5255dbbe9c8a18d94cab24:fallback-shape"/>
          <p:cNvSpPr/>
          <p:nvPr/>
        </p:nvSpPr>
        <p:spPr>
          <a:xfrm>
            <a:off x="731502" y="2674620"/>
            <a:ext cx="4754761" cy="2606040"/>
          </a:xfrm>
          <a:prstGeom prst="roundRect">
            <a:avLst/>
          </a:prstGeom>
          <a:solidFill>
            <a:srgbClr val="F2DED3"/>
          </a:solidFill>
          <a:ln w="19050">
            <a:solidFill>
              <a:srgbClr val="DED7CC"/>
            </a:solidFill>
            <a:prstDash val="dash"/>
          </a:ln>
        </p:spPr>
      </p:sp>
      <p:sp>
        <p:nvSpPr>
          <p:cNvPr id="10" name="element_d179d047dd5255dbbe9c8a18d94cab24:fallback-label"/>
          <p:cNvSpPr/>
          <p:nvPr/>
        </p:nvSpPr>
        <p:spPr>
          <a:xfrm>
            <a:off x="731502" y="2674620"/>
            <a:ext cx="4754761" cy="2606040"/>
          </a:xfrm>
          <a:prstGeom prst="rect">
            <a:avLst/>
          </a:prstGeom>
          <a:noFill/>
          <a:ln/>
        </p:spPr>
        <p:txBody>
          <a:bodyPr wrap="square" lIns="101600" tIns="101600" rIns="101600" bIns="101600" rtlCol="0" anchor="ctr">
            <a:normAutofit/>
          </a:bodyPr>
          <a:lstStyle/>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Structured evidence map derived from the supplied brief</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Replace image</a:t>
            </a:r>
            <a:endParaRPr lang="en-US" sz="1400" dirty="0"/>
          </a:p>
          <a:p>
            <a:pPr algn="ctr" indent="0" marL="0">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1" name="element_2abc180a16090c7853b7c7265be1d181"/>
          <p:cNvSpPr txBox="1"/>
          <p:nvPr/>
        </p:nvSpPr>
        <p:spPr>
          <a:xfrm>
            <a:off x="975336" y="5417820"/>
            <a:ext cx="4267093" cy="480060"/>
          </a:xfrm>
          <a:prstGeom prst="rect">
            <a:avLst/>
          </a:prstGeom>
          <a:noFill/>
          <a:ln/>
        </p:spPr>
        <p:txBody>
          <a:bodyPr wrap="square" lIns="0" tIns="0" rIns="0" bIns="0" rtlCol="0" anchor="t">
            <a:normAutofit/>
          </a:bodyPr>
          <a:lstStyle/>
          <a:p>
            <a:pPr algn="ctr" indent="0" marL="0">
              <a:lnSpc>
                <a:spcPct val="120000"/>
              </a:lnSpc>
              <a:buNone/>
            </a:pPr>
            <a:r>
              <a:rPr lang="en-US" sz="1400" dirty="0">
                <a:solidFill>
                  <a:srgbClr val="756B61"/>
                </a:solidFill>
                <a:latin typeface="Geist Variable" pitchFamily="34" charset="0"/>
                <a:ea typeface="Geist Variable" pitchFamily="34" charset="-122"/>
                <a:cs typeface="Geist Variable" pitchFamily="34" charset="-120"/>
              </a:rPr>
              <a:t>The visual is illustrative and remains replaceable as an image object.</a:t>
            </a:r>
            <a:endParaRPr lang="en-US" sz="1400" dirty="0"/>
          </a:p>
        </p:txBody>
      </p:sp>
      <p:sp>
        <p:nvSpPr>
          <p:cNvPr id="12" name="element_b7ca2d43080cf817682edf7565730df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3" name="element_43ed78111531c95f7e4e060451425728"/>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element_8ced64237dc37c422517e830240af5b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3" name="element_f0b2ff75db3c4c91fadf037c1f0bf1e3"/>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CLOSE / 07</a:t>
            </a:r>
            <a:endParaRPr lang="en-US" sz="1500" dirty="0"/>
          </a:p>
        </p:txBody>
      </p:sp>
      <p:sp>
        <p:nvSpPr>
          <p:cNvPr id="4" name="element_3cec2165154f311b50ee41ae0e798342"/>
          <p:cNvSpPr txBox="1"/>
          <p:nvPr/>
        </p:nvSpPr>
        <p:spPr>
          <a:xfrm>
            <a:off x="853419" y="1028700"/>
            <a:ext cx="9265688" cy="137160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Georgia" pitchFamily="34" charset="0"/>
                <a:ea typeface="Georgia" pitchFamily="34" charset="-122"/>
                <a:cs typeface="Georgia" pitchFamily="34" charset="-120"/>
              </a:rPr>
              <a:t>Create an editable, reviewable presentation from this idea</a:t>
            </a:r>
            <a:endParaRPr lang="en-US" sz="3800" dirty="0"/>
          </a:p>
        </p:txBody>
      </p:sp>
      <p:sp>
        <p:nvSpPr>
          <p:cNvPr id="5" name="element_4bc17bc64645785928b5d6718b30ac56"/>
          <p:cNvSpPr txBox="1"/>
          <p:nvPr/>
        </p:nvSpPr>
        <p:spPr>
          <a:xfrm>
            <a:off x="853419" y="2743200"/>
            <a:ext cx="8046519"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756B61"/>
                </a:solidFill>
                <a:latin typeface="Geist Variable" pitchFamily="34" charset="0"/>
                <a:ea typeface="Geist Variable" pitchFamily="34" charset="-122"/>
                <a:cs typeface="Geist Variable" pitchFamily="34" charset="-120"/>
              </a:rPr>
              <a:t>Invite Decision-makers described in the brief to align on the outcome, the first action, and the evidence that will guide the next decision.</a:t>
            </a:r>
            <a:endParaRPr lang="en-US" sz="1900" dirty="0"/>
          </a:p>
        </p:txBody>
      </p:sp>
      <p:sp>
        <p:nvSpPr>
          <p:cNvPr id="6" name="element_703f3ee95a1ded8b2b7ad63913dbdf44"/>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Agree the outcome</a:t>
            </a:r>
            <a:endParaRPr lang="en-US" sz="1600" dirty="0"/>
          </a:p>
        </p:txBody>
      </p:sp>
      <p:sp>
        <p:nvSpPr>
          <p:cNvPr id="7" name="element_8a7e7a05b506d2384427b21df4b2a7a8"/>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Name the owner</a:t>
            </a:r>
            <a:endParaRPr lang="en-US" sz="1600" dirty="0"/>
          </a:p>
        </p:txBody>
      </p:sp>
      <p:sp>
        <p:nvSpPr>
          <p:cNvPr id="8" name="element_27cc8725cfe9f1a0295893227a68d771"/>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Set the next checkpoint</a:t>
            </a:r>
            <a:endParaRPr lang="en-US" sz="1600" dirty="0"/>
          </a:p>
        </p:txBody>
      </p:sp>
      <p:sp>
        <p:nvSpPr>
          <p:cNvPr id="9" name="element_e2e40f0a11b5f305d2c383897accd3d8"/>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756B61"/>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0" name="element_bbeaba1b7fde4bcad3cca234394fd6f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an evidence-led seven-slide Series A roadshow for early-stage…</dc:title>
  <dc:subject>Create an editable, reviewable presentation from this idea</dc:subject>
  <dc:creator>NodeSlide</dc:creator>
  <cp:lastModifiedBy>NodeSlide</cp:lastModifiedBy>
  <cp:revision>1</cp:revision>
  <dcterms:created xsi:type="dcterms:W3CDTF">2026-07-21T23:51:19Z</dcterms:created>
  <dcterms:modified xsi:type="dcterms:W3CDTF">2026-07-21T23:51:19Z</dcterms:modified>
</cp:coreProperties>
</file>