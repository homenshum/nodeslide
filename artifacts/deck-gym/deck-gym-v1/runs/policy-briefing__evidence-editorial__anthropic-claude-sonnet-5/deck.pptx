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B44A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DED3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Opening / 01. Keep the spoken transition focused on “Create an editable, reviewable presentation from this idea”
Evidence note: Content is based on the supplied creation brief. Illustrative examples are not independently verified; replace them with measured evidence before external publication.
NodeSlide sources
[source_38da3b2aba4bc34c2da155bb3b147b6c] Create a seven-slide policy briefing for city council members choosin… — creation brief
Citation: Create a seven-slide policy briefing for city council members choosing a phased heat-resilience package. Show the evidence baseline, affected stakeholders, intervention options, implementation timeline, trade-offs, funding sequence, and recommendation. Use the supplied program facts without claiming measured health outcomes. Include an editable evidence map, stakeholder map, timeline, and trade-off comparison. Design direction: Use an evidence-led editorial direction: restrained surface treatment, decisive hierarchy, visible provenance, and an inspectable visual argument on every proof slide. Avoid card grids and decorative dashboards.
Disclaimer: Internal working material
[source_7c33a6746067702f5c99ed79bbca342a] heat-options.json
Citation: Uploaded file: heat-options.json
[{"option":"cool_roofs","annual_cost_musd":6.2,"implementation_years":3,"coverage_percent":18},{"option":"tree_canopy","annual_cost_musd":4.8,"implementation_years":8,"coverage_percent":11},{"option":"resilience_centers","annual_cost_musd":3.1,"implementation_years":2,"sites":14}]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Context / 02. Keep the spoken transition focused on “The cost of waiting is usually hidden in repeated work.”
Evidence note: Content is based on the supplied creation brief. Illustrative examples are not independently verified; replace them with measured evidence before external publication.
NodeSlide sources
[source_38da3b2aba4bc34c2da155bb3b147b6c] Create a seven-slide policy briefing for city council members choosin… — creation brief
Citation: Create a seven-slide policy briefing for city council members choosing a phased heat-resilience package. Show the evidence baseline, affected stakeholders, intervention options, implementation timeline, trade-offs, funding sequence, and recommendation. Use the supplied program facts without claiming measured health outcomes. Include an editable evidence map, stakeholder map, timeline, and trade-off comparison. Design direction: Use an evidence-led editorial direction: restrained surface treatment, decisive hierarchy, visible provenance, and an inspectable visual argument on every proof slide. Avoid card grids and decorative dashboards.
Disclaimer: Internal working material
[source_7c33a6746067702f5c99ed79bbca342a] heat-options.json
Citation: Uploaded file: heat-options.json
[{"option":"cool_roofs","annual_cost_musd":6.2,"implementation_years":3,"coverage_percent":18},{"option":"tree_canopy","annual_cost_musd":4.8,"implementation_years":8,"coverage_percent":11},{"option":"resilience_centers","annual_cost_musd":3.1,"implementation_years":2,"sites":14}]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Insight / 03. Keep the spoken transition focused on “A better outcome starts with a sharper point of view.”
Evidence note: Content is based on the supplied creation brief. Illustrative examples are not independently verified; replace them with measured evidence before external publication.
NodeSlide sources
[source_38da3b2aba4bc34c2da155bb3b147b6c] Create a seven-slide policy briefing for city council members choosin… — creation brief
Citation: Create a seven-slide policy briefing for city council members choosing a phased heat-resilience package. Show the evidence baseline, affected stakeholders, intervention options, implementation timeline, trade-offs, funding sequence, and recommendation. Use the supplied program facts without claiming measured health outcomes. Include an editable evidence map, stakeholder map, timeline, and trade-off comparison. Design direction: Use an evidence-led editorial direction: restrained surface treatment, decisive hierarchy, visible provenance, and an inspectable visual argument on every proof slide. Avoid card grids and decorative dashboards.
Disclaimer: Internal working material
[source_7c33a6746067702f5c99ed79bbca342a] heat-options.json
Citation: Uploaded file: heat-options.json
[{"option":"cool_roofs","annual_cost_musd":6.2,"implementation_years":3,"coverage_percent":18},{"option":"tree_canopy","annual_cost_musd":4.8,"implementation_years":8,"coverage_percent":11},{"option":"resilience_centers","annual_cost_musd":3.1,"implementation_years":2,"sites":14}]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Approach / 04. Keep the spoken transition focused on “Turn the idea into a sequence people can understand and own.”
Evidence note: Content is based on the supplied creation brief. Illustrative examples are not independently verified; replace them with measured evidence before external publication.
NodeSlide sources
[source_38da3b2aba4bc34c2da155bb3b147b6c] Create a seven-slide policy briefing for city council members choosin… — creation brief
Citation: Create a seven-slide policy briefing for city council members choosing a phased heat-resilience package. Show the evidence baseline, affected stakeholders, intervention options, implementation timeline, trade-offs, funding sequence, and recommendation. Use the supplied program facts without claiming measured health outcomes. Include an editable evidence map, stakeholder map, timeline, and trade-off comparison. Design direction: Use an evidence-led editorial direction: restrained surface treatment, decisive hierarchy, visible provenance, and an inspectable visual argument on every proof slide. Avoid card grids and decorative dashboards.
Disclaimer: Internal working material
[source_7c33a6746067702f5c99ed79bbca342a] heat-options.json
Citation: Uploaded file: heat-options.json
[{"option":"cool_roofs","annual_cost_musd":6.2,"implementation_years":3,"coverage_percent":18},{"option":"tree_canopy","annual_cost_musd":4.8,"implementation_years":8,"coverage_percent":11},{"option":"resilience_centers","annual_cost_musd":3.1,"implementation_years":2,"sites":14}]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Evidence / 05. Keep the spoken transition focused on “Define proof before asking for commitment.”
Evidence note: Content is based on the supplied creation brief. Illustrative examples are not independently verified; replace them with measured evidence before external publication.
NodeSlide sources
[source_38da3b2aba4bc34c2da155bb3b147b6c] Create a seven-slide policy briefing for city council members choosin… — creation brief
Citation: Create a seven-slide policy briefing for city council members choosing a phased heat-resilience package. Show the evidence baseline, affected stakeholders, intervention options, implementation timeline, trade-offs, funding sequence, and recommendation. Use the supplied program facts without claiming measured health outcomes. Include an editable evidence map, stakeholder map, timeline, and trade-off comparison. Design direction: Use an evidence-led editorial direction: restrained surface treatment, decisive hierarchy, visible provenance, and an inspectable visual argument on every proof slide. Avoid card grids and decorative dashboards.
Disclaimer: Internal working material
[source_7c33a6746067702f5c99ed79bbca342a] heat-options.json
Citation: Uploaded file: heat-options.json
[{"option":"cool_roofs","annual_cost_musd":6.2,"implementation_years":3,"coverage_percent":18},{"option":"tree_canopy","annual_cost_musd":4.8,"implementation_years":8,"coverage_percent":11},{"option":"resilience_centers","annual_cost_musd":3.1,"implementation_years":2,"sites":14}]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Delivery / 06. Keep the spoken transition focused on “Start narrow, learn quickly, and preserve room to adapt.”
Evidence note: Content is based on the supplied creation brief. Illustrative examples are not independently verified; replace them with measured evidence before external publication.
NodeSlide sources
[source_38da3b2aba4bc34c2da155bb3b147b6c] Create a seven-slide policy briefing for city council members choosin… — creation brief
Citation: Create a seven-slide policy briefing for city council members choosing a phased heat-resilience package. Show the evidence baseline, affected stakeholders, intervention options, implementation timeline, trade-offs, funding sequence, and recommendation. Use the supplied program facts without claiming measured health outcomes. Include an editable evidence map, stakeholder map, timeline, and trade-off comparison. Design direction: Use an evidence-led editorial direction: restrained surface treatment, decisive hierarchy, visible provenance, and an inspectable visual argument on every proof slide. Avoid card grids and decorative dashboards.
Disclaimer: Internal working material
[source_7c33a6746067702f5c99ed79bbca342a] heat-options.json
Citation: Uploaded file: heat-options.json
[{"option":"cool_roofs","annual_cost_musd":6.2,"implementation_years":3,"coverage_percent":18},{"option":"tree_canopy","annual_cost_musd":4.8,"implementation_years":8,"coverage_percent":11},{"option":"resilience_centers","annual_cost_musd":3.1,"implementation_years":2,"sites":14}]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Close / 07. Keep the spoken transition focused on “Create an editable, reviewable presentation from this idea”
Evidence note: Content is based on the supplied creation brief. Illustrative examples are not independently verified; replace them with measured evidence before external publication.
NodeSlide sources
[source_38da3b2aba4bc34c2da155bb3b147b6c] Create a seven-slide policy briefing for city council members choosin… — creation brief
Citation: Create a seven-slide policy briefing for city council members choosing a phased heat-resilience package. Show the evidence baseline, affected stakeholders, intervention options, implementation timeline, trade-offs, funding sequence, and recommendation. Use the supplied program facts without claiming measured health outcomes. Include an editable evidence map, stakeholder map, timeline, and trade-off comparison. Design direction: Use an evidence-led editorial direction: restrained surface treatment, decisive hierarchy, visible provenance, and an inspectable visual argument on every proof slide. Avoid card grids and decorative dashboards.
Disclaimer: Internal working material
[source_7c33a6746067702f5c99ed79bbca342a] heat-options.json
Citation: Uploaded file: heat-options.json
[{"option":"cool_roofs","annual_cost_musd":6.2,"implementation_years":3,"coverage_percent":18},{"option":"tree_canopy","annual_cost_musd":4.8,"implementation_years":8,"coverage_percent":11},{"option":"resilience_centers","annual_cost_musd":3.1,"implementation_years":2,"sites":14}]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f81f96a37864fe36cf248d2f222f8b45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309828512185754906936f7580fbde49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OPENING / 01</a:t>
            </a:r>
            <a:endParaRPr lang="en-US" sz="1500" dirty="0"/>
          </a:p>
        </p:txBody>
      </p:sp>
      <p:sp>
        <p:nvSpPr>
          <p:cNvPr id="4" name="element_ee91e3de857e34134668b022d463850c"/>
          <p:cNvSpPr txBox="1"/>
          <p:nvPr/>
        </p:nvSpPr>
        <p:spPr>
          <a:xfrm>
            <a:off x="853419" y="1028700"/>
            <a:ext cx="9631439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4800" dirty="0"/>
          </a:p>
        </p:txBody>
      </p:sp>
      <p:sp>
        <p:nvSpPr>
          <p:cNvPr id="5" name="element_42d43604c03f51181875df9f01bd65d2"/>
          <p:cNvSpPr txBox="1"/>
          <p:nvPr/>
        </p:nvSpPr>
        <p:spPr>
          <a:xfrm>
            <a:off x="853419" y="3291840"/>
            <a:ext cx="8046519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 focused narrative for Decision-makers described in the brief, built from the supplied brief and kept editable from first draft onward.</a:t>
            </a:r>
            <a:endParaRPr lang="en-US" sz="1900" dirty="0"/>
          </a:p>
        </p:txBody>
      </p:sp>
      <p:sp>
        <p:nvSpPr>
          <p:cNvPr id="6" name="element_c661e0e7b9ac7db76ce391cbbcb82a24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 coherent 6–8 slide narrative</a:t>
            </a:r>
            <a:endParaRPr lang="en-US" sz="1600" dirty="0"/>
          </a:p>
        </p:txBody>
      </p:sp>
      <p:sp>
        <p:nvSpPr>
          <p:cNvPr id="7" name="element_ad2a864f28c2a74e3e43b4a8fd84e3a4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Structured chart, formula, and image primitives where relevant</a:t>
            </a:r>
            <a:endParaRPr lang="en-US" sz="1600" dirty="0"/>
          </a:p>
        </p:txBody>
      </p:sp>
      <p:sp>
        <p:nvSpPr>
          <p:cNvPr id="8" name="element_12d61d2f0384b6cb646d36ce631c611b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Validation passes before presentation or export</a:t>
            </a:r>
            <a:endParaRPr lang="en-US" sz="1600" dirty="0"/>
          </a:p>
        </p:txBody>
      </p:sp>
      <p:sp>
        <p:nvSpPr>
          <p:cNvPr id="9" name="element_73518ec0610b1ee1d2aa2a1563cafd2b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da45292dcf92177fe11733891d65fb28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1b18acacbb37d11a685a4a59bea251b3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816f4fc8b5e15b99ccdfa312a93fad13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CONTEXT / 02</a:t>
            </a:r>
            <a:endParaRPr lang="en-US" sz="1500" dirty="0"/>
          </a:p>
        </p:txBody>
      </p:sp>
      <p:sp>
        <p:nvSpPr>
          <p:cNvPr id="4" name="element_26aaa767a2bcdbbf972305a255000eb4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cost of waiting is usually hidden in repeated work.</a:t>
            </a:r>
            <a:endParaRPr lang="en-US" sz="3800" dirty="0"/>
          </a:p>
        </p:txBody>
      </p:sp>
      <p:sp>
        <p:nvSpPr>
          <p:cNvPr id="5" name="element_6a870dc8f5a18b6e88ef51c2b809e989"/>
          <p:cNvSpPr txBox="1"/>
          <p:nvPr/>
        </p:nvSpPr>
        <p:spPr>
          <a:xfrm>
            <a:off x="853419" y="2606040"/>
            <a:ext cx="390134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Frame the current reality for Decision-makers described in the brief: what is fragmented today, why it matters now, and where momentum is being lost.</a:t>
            </a:r>
            <a:endParaRPr lang="en-US" sz="1700" dirty="0"/>
          </a:p>
        </p:txBody>
      </p:sp>
      <p:sp>
        <p:nvSpPr>
          <p:cNvPr id="6" name="element_029e73eca032fb4f909d7e2ca2111ad6"/>
          <p:cNvSpPr txBox="1"/>
          <p:nvPr/>
        </p:nvSpPr>
        <p:spPr>
          <a:xfrm>
            <a:off x="853419" y="42519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Name the friction</a:t>
            </a:r>
            <a:endParaRPr lang="en-US" sz="1700" dirty="0"/>
          </a:p>
        </p:txBody>
      </p:sp>
      <p:sp>
        <p:nvSpPr>
          <p:cNvPr id="7" name="element_5edfa3f8f3aeaf720a0655dedae42126"/>
          <p:cNvSpPr txBox="1"/>
          <p:nvPr/>
        </p:nvSpPr>
        <p:spPr>
          <a:xfrm>
            <a:off x="853419" y="49377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Expose the consequence</a:t>
            </a:r>
            <a:endParaRPr lang="en-US" sz="1700" dirty="0"/>
          </a:p>
        </p:txBody>
      </p:sp>
      <p:sp>
        <p:nvSpPr>
          <p:cNvPr id="8" name="element_37d7069b7b29bd2571635bfe9895bdee"/>
          <p:cNvSpPr txBox="1"/>
          <p:nvPr/>
        </p:nvSpPr>
        <p:spPr>
          <a:xfrm>
            <a:off x="853419" y="56235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Create urgency without hype</a:t>
            </a:r>
            <a:endParaRPr lang="en-US" sz="1700" dirty="0"/>
          </a:p>
        </p:txBody>
      </p:sp>
      <p:sp>
        <p:nvSpPr>
          <p:cNvPr id="9" name="element_ab08a8768dc6807832212a6bd6fc54e6"/>
          <p:cNvSpPr/>
          <p:nvPr/>
        </p:nvSpPr>
        <p:spPr>
          <a:xfrm>
            <a:off x="7019978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0" name="element_75ec9e8c952a5c4f2af0e7267ee8fa26"/>
          <p:cNvSpPr/>
          <p:nvPr/>
        </p:nvSpPr>
        <p:spPr>
          <a:xfrm>
            <a:off x="9194977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1" name="element_cf65deb84e3516b54a4485d2f4247893"/>
          <p:cNvSpPr/>
          <p:nvPr/>
        </p:nvSpPr>
        <p:spPr>
          <a:xfrm>
            <a:off x="5045753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2" name="element_cf65deb84e3516b54a4485d2f4247893:text"/>
          <p:cNvSpPr txBox="1"/>
          <p:nvPr/>
        </p:nvSpPr>
        <p:spPr>
          <a:xfrm>
            <a:off x="5045753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Friction</a:t>
            </a:r>
            <a:endParaRPr lang="en-US" sz="1600" dirty="0"/>
          </a:p>
        </p:txBody>
      </p:sp>
      <p:sp>
        <p:nvSpPr>
          <p:cNvPr id="13" name="element_5e9ec74b08ded0c554c62871d3ec021d"/>
          <p:cNvSpPr/>
          <p:nvPr/>
        </p:nvSpPr>
        <p:spPr>
          <a:xfrm>
            <a:off x="7219532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4" name="element_5e9ec74b08ded0c554c62871d3ec021d:text"/>
          <p:cNvSpPr txBox="1"/>
          <p:nvPr/>
        </p:nvSpPr>
        <p:spPr>
          <a:xfrm>
            <a:off x="7219532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Consequence</a:t>
            </a:r>
            <a:endParaRPr lang="en-US" sz="1600" dirty="0"/>
          </a:p>
        </p:txBody>
      </p:sp>
      <p:sp>
        <p:nvSpPr>
          <p:cNvPr id="15" name="element_d60dad24ec10518dda087395dedbc70d"/>
          <p:cNvSpPr/>
          <p:nvPr/>
        </p:nvSpPr>
        <p:spPr>
          <a:xfrm>
            <a:off x="9394530" y="3939235"/>
            <a:ext cx="2018506" cy="103693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6" name="element_d60dad24ec10518dda087395dedbc70d:text"/>
          <p:cNvSpPr txBox="1"/>
          <p:nvPr/>
        </p:nvSpPr>
        <p:spPr>
          <a:xfrm>
            <a:off x="9394530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 window</a:t>
            </a:r>
            <a:endParaRPr lang="en-US" sz="1600" dirty="0"/>
          </a:p>
        </p:txBody>
      </p:sp>
      <p:sp>
        <p:nvSpPr>
          <p:cNvPr id="17" name="element_c8337e25c66189b90d62ec8699648578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8" name="element_dce94d41e4a44aaea0d82e154cc5e2e4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5b47afa1023b1a7d80b59b542d5b936a"/>
          <p:cNvSpPr/>
          <p:nvPr/>
        </p:nvSpPr>
        <p:spPr>
          <a:xfrm>
            <a:off x="11667452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99a40649634d4b1fd2b08f8ea197bf83"/>
          <p:cNvSpPr txBox="1"/>
          <p:nvPr/>
        </p:nvSpPr>
        <p:spPr>
          <a:xfrm>
            <a:off x="5486263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INSIGHT / 03</a:t>
            </a:r>
            <a:endParaRPr lang="en-US" sz="1500" dirty="0"/>
          </a:p>
        </p:txBody>
      </p:sp>
      <p:sp>
        <p:nvSpPr>
          <p:cNvPr id="4" name="element_8c47131c7bd83681f92d68a307d7a190"/>
          <p:cNvSpPr txBox="1"/>
          <p:nvPr/>
        </p:nvSpPr>
        <p:spPr>
          <a:xfrm>
            <a:off x="2072588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better outcome starts with a sharper point of view.</a:t>
            </a:r>
            <a:endParaRPr lang="en-US" sz="3800" dirty="0"/>
          </a:p>
        </p:txBody>
      </p:sp>
      <p:sp>
        <p:nvSpPr>
          <p:cNvPr id="5" name="element_0f8f0f7fe29fc386c30d44c2d97d522c"/>
          <p:cNvSpPr txBox="1"/>
          <p:nvPr/>
        </p:nvSpPr>
        <p:spPr>
          <a:xfrm>
            <a:off x="1706837" y="2743200"/>
            <a:ext cx="963143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Create a seven-slide policy briefing for city council members choosing a phased heat-resilience package. Show the evidence baseline, affected stakeholders, intervention options, implementation timeline, trade-offs, funding sequence, and recommendation. Use th…</a:t>
            </a:r>
            <a:endParaRPr lang="en-US" sz="1900" dirty="0"/>
          </a:p>
        </p:txBody>
      </p:sp>
      <p:sp>
        <p:nvSpPr>
          <p:cNvPr id="6" name="element_abbadd00c032fb5192eaca9325df71f9"/>
          <p:cNvSpPr txBox="1"/>
          <p:nvPr/>
        </p:nvSpPr>
        <p:spPr>
          <a:xfrm>
            <a:off x="8168436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 coherent 6–8 slide narrative</a:t>
            </a:r>
            <a:endParaRPr lang="en-US" sz="1700" dirty="0"/>
          </a:p>
        </p:txBody>
      </p:sp>
      <p:sp>
        <p:nvSpPr>
          <p:cNvPr id="7" name="element_52dd25bd7ec1ace1ff192546283b5224"/>
          <p:cNvSpPr txBox="1"/>
          <p:nvPr/>
        </p:nvSpPr>
        <p:spPr>
          <a:xfrm>
            <a:off x="4632844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Structured chart, formula, and image primitives where relevant</a:t>
            </a:r>
            <a:endParaRPr lang="en-US" sz="1700" dirty="0"/>
          </a:p>
        </p:txBody>
      </p:sp>
      <p:sp>
        <p:nvSpPr>
          <p:cNvPr id="8" name="element_5c7245e17dd08a00d83ae40ecc4875f4"/>
          <p:cNvSpPr txBox="1"/>
          <p:nvPr/>
        </p:nvSpPr>
        <p:spPr>
          <a:xfrm>
            <a:off x="1097253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passes before presentation or export</a:t>
            </a:r>
            <a:endParaRPr lang="en-US" sz="1700" dirty="0"/>
          </a:p>
        </p:txBody>
      </p:sp>
      <p:sp>
        <p:nvSpPr>
          <p:cNvPr id="9" name="element_c088ce60755683ddb3304f4fb8788d27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2310c601ca96e6e79184e4395889839b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5eab7c3cc554f8d7c24745c1715b98f4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451e8f7b716fdf799b1d34b90f0f3784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APPROACH / 04</a:t>
            </a:r>
            <a:endParaRPr lang="en-US" sz="1500" dirty="0"/>
          </a:p>
        </p:txBody>
      </p:sp>
      <p:sp>
        <p:nvSpPr>
          <p:cNvPr id="4" name="element_0c7680bf82cad1461ed03e2b33bdd413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the idea into a sequence people can understand and own.</a:t>
            </a:r>
            <a:endParaRPr lang="en-US" sz="3800" dirty="0"/>
          </a:p>
        </p:txBody>
      </p:sp>
      <p:sp>
        <p:nvSpPr>
          <p:cNvPr id="5" name="element_a601e8602b5351f488d19d11fe6b190a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Connect intent, action, and feedback in one visible operating path so the audience can see both the destination and the mechanics.</a:t>
            </a:r>
            <a:endParaRPr lang="en-US" sz="1900" dirty="0"/>
          </a:p>
        </p:txBody>
      </p:sp>
      <p:sp>
        <p:nvSpPr>
          <p:cNvPr id="6" name="element_ff8136d38bc5561f77ab643a2e72e84d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Align on intent</a:t>
            </a:r>
            <a:endParaRPr lang="en-US" sz="1700" dirty="0"/>
          </a:p>
        </p:txBody>
      </p:sp>
      <p:sp>
        <p:nvSpPr>
          <p:cNvPr id="7" name="element_8da4c0e9424a0368c69c31c294aaed08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Execute the critical moves</a:t>
            </a:r>
            <a:endParaRPr lang="en-US" sz="1700" dirty="0"/>
          </a:p>
        </p:txBody>
      </p:sp>
      <p:sp>
        <p:nvSpPr>
          <p:cNvPr id="8" name="element_35ee4045698d448850162f32b10d3e43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Review measurable outcomes</a:t>
            </a:r>
            <a:endParaRPr lang="en-US" sz="1700" dirty="0"/>
          </a:p>
        </p:txBody>
      </p:sp>
      <p:sp>
        <p:nvSpPr>
          <p:cNvPr id="9" name="element_56aa6e9ce367e54765d4decacfc8bfd8"/>
          <p:cNvSpPr txBox="1"/>
          <p:nvPr/>
        </p:nvSpPr>
        <p:spPr>
          <a:xfrm>
            <a:off x="6461598" y="2880360"/>
            <a:ext cx="4754761" cy="164592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accepted change = proposal ∩ authorized scope</a:t>
            </a:r>
            <a:endParaRPr lang="en-US" sz="3000" dirty="0"/>
          </a:p>
        </p:txBody>
      </p:sp>
      <p:sp>
        <p:nvSpPr>
          <p:cNvPr id="10" name="element_fd36230c763e836ac87596bab7f44c3f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ad8c4de5ccfdb3e307fb279a322767a9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0dabb9f9a037257fad8c1313d1e4041b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78baa467046571bc7638245fb53dce69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EVIDENCE / 05</a:t>
            </a:r>
            <a:endParaRPr lang="en-US" sz="1500" dirty="0"/>
          </a:p>
        </p:txBody>
      </p:sp>
      <p:sp>
        <p:nvSpPr>
          <p:cNvPr id="4" name="element_490b8f5a007ea7407fe866d01d589f09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proof before asking for commitment.</a:t>
            </a:r>
            <a:endParaRPr lang="en-US" sz="3800" dirty="0"/>
          </a:p>
        </p:txBody>
      </p:sp>
      <p:sp>
        <p:nvSpPr>
          <p:cNvPr id="5" name="element_e12423ac2c50b0ab20ae03532e3f8344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Use the brief’s success criteria as explicit evaluation signals, with assumptions clearly separated from measured evidence.</a:t>
            </a:r>
            <a:endParaRPr lang="en-US" sz="1900" dirty="0"/>
          </a:p>
        </p:txBody>
      </p:sp>
      <p:sp>
        <p:nvSpPr>
          <p:cNvPr id="6" name="element_8309beca7af707c34b4832289fa97978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 coherent 6–8 slide narrative</a:t>
            </a:r>
            <a:endParaRPr lang="en-US" sz="1700" dirty="0"/>
          </a:p>
        </p:txBody>
      </p:sp>
      <p:sp>
        <p:nvSpPr>
          <p:cNvPr id="7" name="element_3ffb46b2afb6a187301311ecb2dd6cfb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Structured chart, formula, and image primitives where relevant</a:t>
            </a:r>
            <a:endParaRPr lang="en-US" sz="1700" dirty="0"/>
          </a:p>
        </p:txBody>
      </p:sp>
      <p:sp>
        <p:nvSpPr>
          <p:cNvPr id="8" name="element_cae3823fcb6cf98d95a6086582ec20a0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passes before presentation or export</a:t>
            </a:r>
            <a:endParaRPr lang="en-US" sz="1700" dirty="0"/>
          </a:p>
        </p:txBody>
      </p:sp>
      <p:sp>
        <p:nvSpPr>
          <p:cNvPr id="9" name="element_49b979aadaa47d24524cd892793eeadc"/>
          <p:cNvSpPr txBox="1"/>
          <p:nvPr/>
        </p:nvSpPr>
        <p:spPr>
          <a:xfrm>
            <a:off x="6661542" y="2770632"/>
            <a:ext cx="4476790" cy="1110996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 signals</a:t>
            </a:r>
            <a:endParaRPr lang="en-US" sz="4300" dirty="0"/>
          </a:p>
        </p:txBody>
      </p:sp>
      <p:sp>
        <p:nvSpPr>
          <p:cNvPr id="10" name="element_4b75abe1aaa4b134f44416bc59e05a52"/>
          <p:cNvSpPr txBox="1"/>
          <p:nvPr/>
        </p:nvSpPr>
        <p:spPr>
          <a:xfrm>
            <a:off x="7193100" y="3977640"/>
            <a:ext cx="353559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agreed measures of a successful outcome</a:t>
            </a:r>
            <a:endParaRPr lang="en-US" sz="1500" dirty="0"/>
          </a:p>
        </p:txBody>
      </p:sp>
      <p:graphicFrame>
        <p:nvGraphicFramePr>
          <p:cNvPr id="11" name="element_9b43adf4ef736ad19195530f56d3469d" descr=""/>
          <p:cNvGraphicFramePr/>
          <p:nvPr/>
        </p:nvGraphicFramePr>
        <p:xfrm>
          <a:off x="6271408" y="4753966"/>
          <a:ext cx="5135142" cy="125912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element_d3785c50de3eca6f590c970b9dbbaf8a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5112e1a2164169fc19bf89f6536be12c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a5f6b25aec010198c93d82a8edecea5a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de9da1919e62196a9929b085156ba4c3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DELIVERY / 06</a:t>
            </a:r>
            <a:endParaRPr lang="en-US" sz="1500" dirty="0"/>
          </a:p>
        </p:txBody>
      </p:sp>
      <p:sp>
        <p:nvSpPr>
          <p:cNvPr id="4" name="element_b0298d86f447c8c18fb5d5731676c70c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narrow, learn quickly, and preserve room to adapt.</a:t>
            </a:r>
            <a:endParaRPr lang="en-US" sz="3800" dirty="0"/>
          </a:p>
        </p:txBody>
      </p:sp>
      <p:sp>
        <p:nvSpPr>
          <p:cNvPr id="5" name="element_1edaa3a86ef2f017fba94b74af2d8df9"/>
          <p:cNvSpPr txBox="1"/>
          <p:nvPr/>
        </p:nvSpPr>
        <p:spPr>
          <a:xfrm>
            <a:off x="6339682" y="2743200"/>
            <a:ext cx="48766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Sequence the work into a focused launch, an evidence review, and a deliberate scale decision with named ownership at every step.</a:t>
            </a:r>
            <a:endParaRPr lang="en-US" sz="1900" dirty="0"/>
          </a:p>
        </p:txBody>
      </p:sp>
      <p:sp>
        <p:nvSpPr>
          <p:cNvPr id="6" name="element_ad0978e3d2ab1f311000f6a5ff10899d"/>
          <p:cNvSpPr txBox="1"/>
          <p:nvPr/>
        </p:nvSpPr>
        <p:spPr>
          <a:xfrm>
            <a:off x="6339682" y="42519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Launch the smallest credible move</a:t>
            </a:r>
            <a:endParaRPr lang="en-US" sz="1700" dirty="0"/>
          </a:p>
        </p:txBody>
      </p:sp>
      <p:sp>
        <p:nvSpPr>
          <p:cNvPr id="7" name="element_4e0779dfb34baa2f9e200a4e674cfcd6"/>
          <p:cNvSpPr txBox="1"/>
          <p:nvPr/>
        </p:nvSpPr>
        <p:spPr>
          <a:xfrm>
            <a:off x="6339682" y="49377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Review evidence with stakeholders</a:t>
            </a:r>
            <a:endParaRPr lang="en-US" sz="1700" dirty="0"/>
          </a:p>
        </p:txBody>
      </p:sp>
      <p:sp>
        <p:nvSpPr>
          <p:cNvPr id="8" name="element_8c1ad3fff99d62ee3e799990557260d3"/>
          <p:cNvSpPr txBox="1"/>
          <p:nvPr/>
        </p:nvSpPr>
        <p:spPr>
          <a:xfrm>
            <a:off x="6339682" y="56235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Scale what earns confidence</a:t>
            </a:r>
            <a:endParaRPr lang="en-US" sz="1700" dirty="0"/>
          </a:p>
        </p:txBody>
      </p:sp>
      <p:sp>
        <p:nvSpPr>
          <p:cNvPr id="9" name="element_29280cd4b8ca03f1bb6fec60cd9b76b3:fallback-shape"/>
          <p:cNvSpPr/>
          <p:nvPr/>
        </p:nvSpPr>
        <p:spPr>
          <a:xfrm>
            <a:off x="731502" y="2674620"/>
            <a:ext cx="4754761" cy="2606040"/>
          </a:xfrm>
          <a:prstGeom prst="roundRect">
            <a:avLst/>
          </a:prstGeom>
          <a:solidFill>
            <a:srgbClr val="F2DED3"/>
          </a:solidFill>
          <a:ln w="19050">
            <a:solidFill>
              <a:srgbClr val="DED7CC"/>
            </a:solidFill>
            <a:prstDash val="dash"/>
          </a:ln>
        </p:spPr>
      </p:sp>
      <p:sp>
        <p:nvSpPr>
          <p:cNvPr id="10" name="element_29280cd4b8ca03f1bb6fec60cd9b76b3:fallback-label"/>
          <p:cNvSpPr/>
          <p:nvPr/>
        </p:nvSpPr>
        <p:spPr>
          <a:xfrm>
            <a:off x="731502" y="2674620"/>
            <a:ext cx="4754761" cy="2606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Structured evidence map derived from the supplied brief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Replace image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1" name="element_d5d79d357fd11ef1aa5c9261dc3e633a"/>
          <p:cNvSpPr txBox="1"/>
          <p:nvPr/>
        </p:nvSpPr>
        <p:spPr>
          <a:xfrm>
            <a:off x="975336" y="5417820"/>
            <a:ext cx="4267093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2" name="element_12da7fde92c087a11a33c468ec04b839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3fa7e140b60696feb4732e8f40af5fec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df3ec3f097b4099c7a661e4cbf603af1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5925597a102b89a83cd53db711bbe677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CLOSE / 07</a:t>
            </a:r>
            <a:endParaRPr lang="en-US" sz="1500" dirty="0"/>
          </a:p>
        </p:txBody>
      </p:sp>
      <p:sp>
        <p:nvSpPr>
          <p:cNvPr id="4" name="element_7eeac837880b433f4e234b548fb8ed75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3800" dirty="0"/>
          </a:p>
        </p:txBody>
      </p:sp>
      <p:sp>
        <p:nvSpPr>
          <p:cNvPr id="5" name="element_82b19d9889f6569818928059b47d36d3"/>
          <p:cNvSpPr txBox="1"/>
          <p:nvPr/>
        </p:nvSpPr>
        <p:spPr>
          <a:xfrm>
            <a:off x="853419" y="2743200"/>
            <a:ext cx="80465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Invite Decision-makers described in the brief to align on the outcome, the first action, and the evidence that will guide the next decision.</a:t>
            </a:r>
            <a:endParaRPr lang="en-US" sz="1900" dirty="0"/>
          </a:p>
        </p:txBody>
      </p:sp>
      <p:sp>
        <p:nvSpPr>
          <p:cNvPr id="6" name="element_91b349339549d6ecee37f856b127b071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Agree the outcome</a:t>
            </a:r>
            <a:endParaRPr lang="en-US" sz="1600" dirty="0"/>
          </a:p>
        </p:txBody>
      </p:sp>
      <p:sp>
        <p:nvSpPr>
          <p:cNvPr id="7" name="element_b214e9cb41bcd2736145e719bfb84826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Name the owner</a:t>
            </a:r>
            <a:endParaRPr lang="en-US" sz="1600" dirty="0"/>
          </a:p>
        </p:txBody>
      </p:sp>
      <p:sp>
        <p:nvSpPr>
          <p:cNvPr id="8" name="element_9d18d5e2756f4d20a85c62b3c2bb4de7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Set the next checkpoint</a:t>
            </a:r>
            <a:endParaRPr lang="en-US" sz="1600" dirty="0"/>
          </a:p>
        </p:txBody>
      </p:sp>
      <p:sp>
        <p:nvSpPr>
          <p:cNvPr id="9" name="element_3b3c95418eb5b2949d1068a3f76a0358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61bf0fc4f3de984f324749e07f598112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Parity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a seven-slide policy briefing for city council members choosin…</dc:title>
  <dc:subject>Create an editable, reviewable presentation from this idea</dc:subject>
  <dc:creator>NodeSlide</dc:creator>
  <cp:lastModifiedBy>NodeSlide</cp:lastModifiedBy>
  <cp:revision>1</cp:revision>
  <dcterms:created xsi:type="dcterms:W3CDTF">2026-07-21T23:59:56Z</dcterms:created>
  <dcterms:modified xsi:type="dcterms:W3CDTF">2026-07-21T23:59:56Z</dcterms:modified>
</cp:coreProperties>
</file>