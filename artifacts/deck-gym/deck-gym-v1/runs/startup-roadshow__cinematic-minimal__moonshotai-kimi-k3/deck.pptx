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Paid Workspaces</c:v>
                  </c:pt>
                  <c:pt idx="1">
                    <c:v>Monthly Active Operators</c:v>
                  </c:pt>
                  <c:pt idx="2">
                    <c:v>Weekly Workflows</c:v>
                  </c:pt>
                </c:lvl>
              </c:multiLvlStrCache>
            </c:multiLvlStrRef>
          </c:cat>
          <c:val>
            <c:numRef>
              <c:f>Sheet1!$B$2:$B$4</c:f>
              <c:numCache>
                <c:formatCode>General</c:formatCode>
                <c:ptCount val="3"/>
                <c:pt idx="0">
                  <c:v>84</c:v>
                </c:pt>
                <c:pt idx="1">
                  <c:v>1260</c:v>
                </c:pt>
                <c:pt idx="2">
                  <c:v>18400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orient. Keep the spoken transition focused on “Approval-heavy operations slow critical enterprise workflows”
Evidence note: Content is based on the supplied creation brief. Illustrative examples are not independently verified; replace them with measured evidence before external publication.
NodeSlide sources
[source_285391a1ec9db194963791535c9ced3e]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 cinematic minimal direction: fewer words, larger visual centers, deliberate scale changes, one memorable visual climax, and quiet transition beats. Keep all evidence honest and editable.
Disclaimer: Internal working material
[source_367121aafe36cc3034c59ff9ef85de85]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[source_072be5521eff0d46f60d1e5f1958b64c]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build. Keep the spoken transition focused on “Reviewable proposals before mutation, versioned receipts”
Evidence note: Content is based on the supplied creation brief. Illustrative examples are not independently verified; replace them with measured evidence before external publication.
NodeSlide sources
[source_285391a1ec9db194963791535c9ced3e]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 cinematic minimal direction: fewer words, larger visual centers, deliberate scale changes, one memorable visual climax, and quiet transition beats. Keep all evidence honest and editable.
Disclaimer: Internal working material
[source_367121aafe36cc3034c59ff9ef85de85]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[source_072be5521eff0d46f60d1e5f1958b64c]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“Strong early traction with 118% net revenue retention”
Evidence note: Content is based on the supplied creation brief. Illustrative examples are not independently verified; replace them with measured evidence before external publication.
NodeSlide sources
[source_285391a1ec9db194963791535c9ced3e]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 cinematic minimal direction: fewer words, larger visual centers, deliberate scale changes, one memorable visual climax, and quiet transition beats. Keep all evidence honest and editable.
Disclaimer: Internal working material
[source_367121aafe36cc3034c59ff9ef85de85]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[source_072be5521eff0d46f60d1e5f1958b64c]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“Scalable architecture with system adapters”
Evidence note: Content is based on the supplied creation brief. Illustrative examples are not independently verified; replace them with measured evidence before external publication.
NodeSlide sources
[source_285391a1ec9db194963791535c9ced3e]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 cinematic minimal direction: fewer words, larger visual centers, deliberate scale changes, one memorable visual climax, and quiet transition beats. Keep all evidence honest and editable.
Disclaimer: Internal working material
[source_367121aafe36cc3034c59ff9ef85de85]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[source_072be5521eff0d46f60d1e5f1958b64c]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“Product screenshot placeholder”
Evidence note: Content is based on the supplied creation brief. Illustrative examples are not independently verified; replace them with measured evidence before external publication.
NodeSlide sources
[source_285391a1ec9db194963791535c9ced3e]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 cinematic minimal direction: fewer words, larger visual centers, deliberate scale changes, one memorable visual climax, and quiet transition beats. Keep all evidence honest and editable.
Disclaimer: Internal working material
[source_367121aafe36cc3034c59ff9ef85de85]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[source_072be5521eff0d46f60d1e5f1958b64c]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“Focused on approval-heavy operations”
Evidence note: Content is based on the supplied creation brief. Illustrative examples are not independently verified; replace them with measured evidence before external publication.
NodeSlide sources
[source_285391a1ec9db194963791535c9ced3e]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 cinematic minimal direction: fewer words, larger visual centers, deliberate scale changes, one memorable visual climax, and quiet transition beats. Keep all evidence honest and editable.
Disclaimer: Internal working material
[source_367121aafe36cc3034c59ff9ef85de85]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[source_072be5521eff0d46f60d1e5f1958b64c]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decide. Keep the spoken transition focused on “Proceed to diligence based on demonstrated traction”
Evidence note: Content is based on the supplied creation brief. Illustrative examples are not independently verified; replace them with measured evidence before external publication.
NodeSlide sources
[source_285391a1ec9db194963791535c9ced3e]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 cinematic minimal direction: fewer words, larger visual centers, deliberate scale changes, one memorable visual climax, and quiet transition beats. Keep all evidence honest and editable.
Disclaimer: Internal working material
[source_367121aafe36cc3034c59ff9ef85de85]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[source_072be5521eff0d46f60d1e5f1958b64c]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deef9f0416d42df4149a43acff16c17f"/>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4a5376beca536ff346c672269b35577c"/>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ORIENT</a:t>
            </a:r>
            <a:endParaRPr lang="en-US" sz="1500" dirty="0"/>
          </a:p>
        </p:txBody>
      </p:sp>
      <p:sp>
        <p:nvSpPr>
          <p:cNvPr id="4" name="element_a8d2bf241b9a59169af9c82438bfce9f"/>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Approval-heavy operations slow critical enterprise workflows</a:t>
            </a:r>
            <a:endParaRPr lang="en-US" sz="4800" dirty="0"/>
          </a:p>
        </p:txBody>
      </p:sp>
      <p:sp>
        <p:nvSpPr>
          <p:cNvPr id="5" name="element_6638a01231dcc5dfcd9f90277e225173"/>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Enterprise teams face delays and compliance risks when approvals require manual coordination across systems.</a:t>
            </a:r>
            <a:endParaRPr lang="en-US" sz="1900" dirty="0"/>
          </a:p>
        </p:txBody>
      </p:sp>
      <p:sp>
        <p:nvSpPr>
          <p:cNvPr id="6" name="element_46f9bbbfc5a2ab6d634ded435b068297"/>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Manual approval processes create bottlenecks</a:t>
            </a:r>
            <a:endParaRPr lang="en-US" sz="1600" dirty="0"/>
          </a:p>
        </p:txBody>
      </p:sp>
      <p:sp>
        <p:nvSpPr>
          <p:cNvPr id="7" name="element_2166bf1f9376168b6119774d7895f79d"/>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Lack of reviewable proposals increases risk</a:t>
            </a:r>
            <a:endParaRPr lang="en-US" sz="1600" dirty="0"/>
          </a:p>
        </p:txBody>
      </p:sp>
      <p:sp>
        <p:nvSpPr>
          <p:cNvPr id="8" name="element_8467627f555c917819e6c94c72d976dc"/>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No versioned receipts complicate compliance</a:t>
            </a:r>
            <a:endParaRPr lang="en-US" sz="1600" dirty="0"/>
          </a:p>
        </p:txBody>
      </p:sp>
      <p:sp>
        <p:nvSpPr>
          <p:cNvPr id="9" name="element_cfa8f7e923f5a8e785a98d93c7c93207"/>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f9c84f7d189ba6c6c569b4b3e6704121"/>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2a8d58bac00f2314ca27a436fe979a11"/>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8f3f12ee28df59597864bdf2d016bbd5"/>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BUILD</a:t>
            </a:r>
            <a:endParaRPr lang="en-US" sz="1500" dirty="0"/>
          </a:p>
        </p:txBody>
      </p:sp>
      <p:sp>
        <p:nvSpPr>
          <p:cNvPr id="4" name="element_c2ff4e21b30234480f2d54dc44e8cecb"/>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Reviewable proposals before mutation, versioned receipts</a:t>
            </a:r>
            <a:endParaRPr lang="en-US" sz="3800" dirty="0"/>
          </a:p>
        </p:txBody>
      </p:sp>
      <p:sp>
        <p:nvSpPr>
          <p:cNvPr id="5" name="element_1df7ca6989b7fd6e1263525382f0baca"/>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RelayOS coordinates approval-heavy operations with a focus on reviewability and compliance.</a:t>
            </a:r>
            <a:endParaRPr lang="en-US" sz="1700" dirty="0"/>
          </a:p>
        </p:txBody>
      </p:sp>
      <p:sp>
        <p:nvSpPr>
          <p:cNvPr id="6" name="element_378c568231371adb6ba69bc57fa6d6b0"/>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Proposals remain reviewable before mutation</a:t>
            </a:r>
            <a:endParaRPr lang="en-US" sz="1700" dirty="0"/>
          </a:p>
        </p:txBody>
      </p:sp>
      <p:sp>
        <p:nvSpPr>
          <p:cNvPr id="7" name="element_4a1143b072d2c9d6ad76d513147c4b82"/>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Versioned receipts for audit trails</a:t>
            </a:r>
            <a:endParaRPr lang="en-US" sz="1700" dirty="0"/>
          </a:p>
        </p:txBody>
      </p:sp>
      <p:sp>
        <p:nvSpPr>
          <p:cNvPr id="8" name="element_ba6bf473d6fae720af8933d50ebc012f"/>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Adapters for CRM, ticketing, and document systems</a:t>
            </a:r>
            <a:endParaRPr lang="en-US" sz="1700" dirty="0"/>
          </a:p>
        </p:txBody>
      </p:sp>
      <p:sp>
        <p:nvSpPr>
          <p:cNvPr id="9" name="element_3d2dd49ae89f12119ba824f1b0feb3d6"/>
          <p:cNvSpPr/>
          <p:nvPr/>
        </p:nvSpPr>
        <p:spPr>
          <a:xfrm>
            <a:off x="6477448" y="3775329"/>
            <a:ext cx="243834" cy="164592"/>
          </a:xfrm>
          <a:prstGeom prst="line">
            <a:avLst/>
          </a:prstGeom>
          <a:noFill/>
          <a:ln w="25400">
            <a:solidFill>
              <a:srgbClr val="7566A8"/>
            </a:solidFill>
            <a:prstDash val="solid"/>
            <a:tailEnd type="triangle"/>
          </a:ln>
        </p:spPr>
      </p:sp>
      <p:sp>
        <p:nvSpPr>
          <p:cNvPr id="10" name="element_9b6b385380cfdf255f895c07c531853f"/>
          <p:cNvSpPr/>
          <p:nvPr/>
        </p:nvSpPr>
        <p:spPr>
          <a:xfrm>
            <a:off x="8107477" y="3775329"/>
            <a:ext cx="243834" cy="164592"/>
          </a:xfrm>
          <a:prstGeom prst="line">
            <a:avLst/>
          </a:prstGeom>
          <a:noFill/>
          <a:ln w="25400">
            <a:solidFill>
              <a:srgbClr val="7566A8"/>
            </a:solidFill>
            <a:prstDash val="solid"/>
            <a:tailEnd type="triangle"/>
          </a:ln>
        </p:spPr>
      </p:sp>
      <p:sp>
        <p:nvSpPr>
          <p:cNvPr id="11" name="element_1f3dcb972586d51acff39d019b83820f"/>
          <p:cNvSpPr/>
          <p:nvPr/>
        </p:nvSpPr>
        <p:spPr>
          <a:xfrm>
            <a:off x="9738726" y="3775329"/>
            <a:ext cx="243834" cy="164592"/>
          </a:xfrm>
          <a:prstGeom prst="line">
            <a:avLst/>
          </a:prstGeom>
          <a:noFill/>
          <a:ln w="25400">
            <a:solidFill>
              <a:srgbClr val="7566A8"/>
            </a:solidFill>
            <a:prstDash val="solid"/>
            <a:tailEnd type="triangle"/>
          </a:ln>
        </p:spPr>
      </p:sp>
      <p:sp>
        <p:nvSpPr>
          <p:cNvPr id="12" name="element_20d7a45dc4ef7b9bf9ed2eed65c79bb8"/>
          <p:cNvSpPr/>
          <p:nvPr/>
        </p:nvSpPr>
        <p:spPr>
          <a:xfrm>
            <a:off x="6356750" y="4375404"/>
            <a:ext cx="3744070" cy="164592"/>
          </a:xfrm>
          <a:prstGeom prst="line">
            <a:avLst/>
          </a:prstGeom>
          <a:noFill/>
          <a:ln w="25400">
            <a:solidFill>
              <a:srgbClr val="7566A8"/>
            </a:solidFill>
            <a:prstDash val="solid"/>
            <a:tailEnd type="triangle"/>
          </a:ln>
        </p:spPr>
      </p:sp>
      <p:sp>
        <p:nvSpPr>
          <p:cNvPr id="13" name="element_cd6829e105770aaaa6dc5f2f671fc5bc"/>
          <p:cNvSpPr/>
          <p:nvPr/>
        </p:nvSpPr>
        <p:spPr>
          <a:xfrm>
            <a:off x="5067454" y="3339160"/>
            <a:ext cx="1432573" cy="1036930"/>
          </a:xfrm>
          <a:prstGeom prst="roundRect">
            <a:avLst/>
          </a:prstGeom>
          <a:solidFill>
            <a:srgbClr val="F2DED3"/>
          </a:solidFill>
          <a:ln w="12700">
            <a:solidFill>
              <a:srgbClr val="DED7CC"/>
            </a:solidFill>
            <a:prstDash val="solid"/>
          </a:ln>
        </p:spPr>
      </p:sp>
      <p:sp>
        <p:nvSpPr>
          <p:cNvPr id="14" name="element_cd6829e105770aaaa6dc5f2f671fc5bc:text"/>
          <p:cNvSpPr txBox="1"/>
          <p:nvPr/>
        </p:nvSpPr>
        <p:spPr>
          <a:xfrm>
            <a:off x="5067454" y="3339160"/>
            <a:ext cx="1432573"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Proposal Created</a:t>
            </a:r>
            <a:endParaRPr lang="en-US" sz="1600" dirty="0"/>
          </a:p>
        </p:txBody>
      </p:sp>
      <p:sp>
        <p:nvSpPr>
          <p:cNvPr id="15" name="element_8162b6dc9989758e31be1dbfede35b8d"/>
          <p:cNvSpPr/>
          <p:nvPr/>
        </p:nvSpPr>
        <p:spPr>
          <a:xfrm>
            <a:off x="6698703" y="3339160"/>
            <a:ext cx="1432573" cy="1036930"/>
          </a:xfrm>
          <a:prstGeom prst="roundRect">
            <a:avLst/>
          </a:prstGeom>
          <a:solidFill>
            <a:srgbClr val="F2DED3"/>
          </a:solidFill>
          <a:ln w="12700">
            <a:solidFill>
              <a:srgbClr val="DED7CC"/>
            </a:solidFill>
            <a:prstDash val="solid"/>
          </a:ln>
        </p:spPr>
      </p:sp>
      <p:sp>
        <p:nvSpPr>
          <p:cNvPr id="16" name="element_8162b6dc9989758e31be1dbfede35b8d:text"/>
          <p:cNvSpPr txBox="1"/>
          <p:nvPr/>
        </p:nvSpPr>
        <p:spPr>
          <a:xfrm>
            <a:off x="6698703" y="3339160"/>
            <a:ext cx="1432573"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Reviewable State</a:t>
            </a:r>
            <a:endParaRPr lang="en-US" sz="1600" dirty="0"/>
          </a:p>
        </p:txBody>
      </p:sp>
      <p:sp>
        <p:nvSpPr>
          <p:cNvPr id="17" name="element_0a54bd18b2165dd8d12e548560d07b94"/>
          <p:cNvSpPr/>
          <p:nvPr/>
        </p:nvSpPr>
        <p:spPr>
          <a:xfrm>
            <a:off x="8328732" y="3339160"/>
            <a:ext cx="1432573" cy="1036930"/>
          </a:xfrm>
          <a:prstGeom prst="roundRect">
            <a:avLst/>
          </a:prstGeom>
          <a:solidFill>
            <a:srgbClr val="E5E9D6"/>
          </a:solidFill>
          <a:ln w="25400">
            <a:solidFill>
              <a:srgbClr val="B44A2D"/>
            </a:solidFill>
            <a:prstDash val="solid"/>
          </a:ln>
        </p:spPr>
      </p:sp>
      <p:sp>
        <p:nvSpPr>
          <p:cNvPr id="18" name="element_0a54bd18b2165dd8d12e548560d07b94:text"/>
          <p:cNvSpPr txBox="1"/>
          <p:nvPr/>
        </p:nvSpPr>
        <p:spPr>
          <a:xfrm>
            <a:off x="8328732" y="3339160"/>
            <a:ext cx="1432573"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Approval</a:t>
            </a:r>
            <a:endParaRPr lang="en-US" sz="1600" dirty="0"/>
          </a:p>
        </p:txBody>
      </p:sp>
      <p:sp>
        <p:nvSpPr>
          <p:cNvPr id="19" name="element_a9f326bbe26efaf8999f3085d57d62b8"/>
          <p:cNvSpPr/>
          <p:nvPr/>
        </p:nvSpPr>
        <p:spPr>
          <a:xfrm>
            <a:off x="9959981" y="3339160"/>
            <a:ext cx="1432573" cy="1036930"/>
          </a:xfrm>
          <a:prstGeom prst="roundRect">
            <a:avLst/>
          </a:prstGeom>
          <a:solidFill>
            <a:srgbClr val="F2DED3"/>
          </a:solidFill>
          <a:ln w="12700">
            <a:solidFill>
              <a:srgbClr val="DED7CC"/>
            </a:solidFill>
            <a:prstDash val="solid"/>
          </a:ln>
        </p:spPr>
      </p:sp>
      <p:sp>
        <p:nvSpPr>
          <p:cNvPr id="20" name="element_a9f326bbe26efaf8999f3085d57d62b8:text"/>
          <p:cNvSpPr txBox="1"/>
          <p:nvPr/>
        </p:nvSpPr>
        <p:spPr>
          <a:xfrm>
            <a:off x="9959981" y="3339160"/>
            <a:ext cx="1432573"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Mutation</a:t>
            </a:r>
            <a:endParaRPr lang="en-US" sz="1600" dirty="0"/>
          </a:p>
        </p:txBody>
      </p:sp>
      <p:sp>
        <p:nvSpPr>
          <p:cNvPr id="21" name="element_1acd2f2ee63cee8d547a44fc67f09202"/>
          <p:cNvSpPr/>
          <p:nvPr/>
        </p:nvSpPr>
        <p:spPr>
          <a:xfrm>
            <a:off x="5067454" y="4539310"/>
            <a:ext cx="1432573" cy="1036930"/>
          </a:xfrm>
          <a:prstGeom prst="roundRect">
            <a:avLst/>
          </a:prstGeom>
          <a:solidFill>
            <a:srgbClr val="F2DED3"/>
          </a:solidFill>
          <a:ln w="12700">
            <a:solidFill>
              <a:srgbClr val="DED7CC"/>
            </a:solidFill>
            <a:prstDash val="solid"/>
          </a:ln>
        </p:spPr>
      </p:sp>
      <p:sp>
        <p:nvSpPr>
          <p:cNvPr id="22" name="element_1acd2f2ee63cee8d547a44fc67f09202:text"/>
          <p:cNvSpPr txBox="1"/>
          <p:nvPr/>
        </p:nvSpPr>
        <p:spPr>
          <a:xfrm>
            <a:off x="5067454" y="4539310"/>
            <a:ext cx="1432573"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Versioned Receipt</a:t>
            </a:r>
            <a:endParaRPr lang="en-US" sz="1600" dirty="0"/>
          </a:p>
        </p:txBody>
      </p:sp>
      <p:sp>
        <p:nvSpPr>
          <p:cNvPr id="23" name="element_03527b07f9e5892b0fd5b39dd79c65cf"/>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24" name="element_93e96b8ed219828be2d1dc9a999b9ef9"/>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8eaf6cd9095563c307cd0cea9b95f421"/>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f7ab86ae9ebb548dbd20c88e2b59ba27"/>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10ae3aeb1da8f4d799cc98024b7708d3"/>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Strong early traction with 118% net revenue retention</a:t>
            </a:r>
            <a:endParaRPr lang="en-US" sz="3800" dirty="0"/>
          </a:p>
        </p:txBody>
      </p:sp>
      <p:sp>
        <p:nvSpPr>
          <p:cNvPr id="5" name="element_153236324d9d60e42e60095de7e4674f"/>
          <p:cNvSpPr txBox="1"/>
          <p:nvPr/>
        </p:nvSpPr>
        <p:spPr>
          <a:xfrm>
            <a:off x="7680768" y="2743200"/>
            <a:ext cx="365750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RelayOS demonstrates product-market fit with growing workspace adoption and workflow volume.</a:t>
            </a:r>
            <a:endParaRPr lang="en-US" sz="1900" dirty="0"/>
          </a:p>
        </p:txBody>
      </p:sp>
      <p:sp>
        <p:nvSpPr>
          <p:cNvPr id="6" name="element_c85a480caf771f6e1212ab33875ea194"/>
          <p:cNvSpPr txBox="1"/>
          <p:nvPr/>
        </p:nvSpPr>
        <p:spPr>
          <a:xfrm>
            <a:off x="7680768"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84 paid workspaces</a:t>
            </a:r>
            <a:endParaRPr lang="en-US" sz="1700" dirty="0"/>
          </a:p>
        </p:txBody>
      </p:sp>
      <p:sp>
        <p:nvSpPr>
          <p:cNvPr id="7" name="element_22fc3140c6f19ce2e520d89a74de4b48"/>
          <p:cNvSpPr txBox="1"/>
          <p:nvPr/>
        </p:nvSpPr>
        <p:spPr>
          <a:xfrm>
            <a:off x="7680768"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1,260 monthly active operators</a:t>
            </a:r>
            <a:endParaRPr lang="en-US" sz="1700" dirty="0"/>
          </a:p>
        </p:txBody>
      </p:sp>
      <p:sp>
        <p:nvSpPr>
          <p:cNvPr id="8" name="element_c9342dfb62ee146233969ba395d6388c"/>
          <p:cNvSpPr txBox="1"/>
          <p:nvPr/>
        </p:nvSpPr>
        <p:spPr>
          <a:xfrm>
            <a:off x="7680768"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18,400 weekly workflows</a:t>
            </a:r>
            <a:endParaRPr lang="en-US" sz="1700" dirty="0"/>
          </a:p>
        </p:txBody>
      </p:sp>
      <p:graphicFrame>
        <p:nvGraphicFramePr>
          <p:cNvPr id="9" name="element_64907c706e81334978424193f56f402e" descr=""/>
          <p:cNvGraphicFramePr/>
          <p:nvPr/>
        </p:nvGraphicFramePr>
        <p:xfrm>
          <a:off x="975336" y="2880360"/>
          <a:ext cx="6095848" cy="3154680"/>
        </p:xfrm>
        <a:graphic xmlns:a="http://schemas.openxmlformats.org/drawingml/2006/main">
          <a:graphicData uri="http://schemas.openxmlformats.org/drawingml/2006/chart">
            <c:chart xmlns:c="http://schemas.openxmlformats.org/drawingml/2006/chart" r:id="rId1"/>
          </a:graphicData>
        </a:graphic>
      </p:graphicFrame>
      <p:sp>
        <p:nvSpPr>
          <p:cNvPr id="10" name="element_8fc4e374200f041cc85678bf7fef9f48"/>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974bd36caca741569853f19f85fad21c"/>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b9045a4d3932c080a57e5272e138fffb"/>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7e2a337f5bd08a78cbe132daa4fc6858"/>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6bd3ac6878136ae4f7eeb7ee7e0c31cc"/>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Scalable architecture with system adapters</a:t>
            </a:r>
            <a:endParaRPr lang="en-US" sz="3800" dirty="0"/>
          </a:p>
        </p:txBody>
      </p:sp>
      <p:sp>
        <p:nvSpPr>
          <p:cNvPr id="5" name="element_de4905aa3d2f016db567c8b76fa5e1f7"/>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RelayOS integrates with existing enterprise systems through a defensible adapter architecture.</a:t>
            </a:r>
            <a:endParaRPr lang="en-US" sz="1700" dirty="0"/>
          </a:p>
        </p:txBody>
      </p:sp>
      <p:sp>
        <p:nvSpPr>
          <p:cNvPr id="6" name="element_531bb36f2f9781dfa967cfeaf93030a6"/>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Adapters for CRM systems</a:t>
            </a:r>
            <a:endParaRPr lang="en-US" sz="1700" dirty="0"/>
          </a:p>
        </p:txBody>
      </p:sp>
      <p:sp>
        <p:nvSpPr>
          <p:cNvPr id="7" name="element_450ef70856ce794e7cec4843dae79168"/>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Adapters for ticketing systems</a:t>
            </a:r>
            <a:endParaRPr lang="en-US" sz="1700" dirty="0"/>
          </a:p>
        </p:txBody>
      </p:sp>
      <p:sp>
        <p:nvSpPr>
          <p:cNvPr id="8" name="element_e1a69fc7c9891382b01d62396d2d22db"/>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Adapters for document systems</a:t>
            </a:r>
            <a:endParaRPr lang="en-US" sz="1700" dirty="0"/>
          </a:p>
        </p:txBody>
      </p:sp>
      <p:sp>
        <p:nvSpPr>
          <p:cNvPr id="9" name="element_7c15d9be36e321f485ff79969932f941"/>
          <p:cNvSpPr/>
          <p:nvPr/>
        </p:nvSpPr>
        <p:spPr>
          <a:xfrm>
            <a:off x="7019978" y="3775329"/>
            <a:ext cx="243834" cy="164592"/>
          </a:xfrm>
          <a:prstGeom prst="line">
            <a:avLst/>
          </a:prstGeom>
          <a:noFill/>
          <a:ln w="25400">
            <a:solidFill>
              <a:srgbClr val="7566A8"/>
            </a:solidFill>
            <a:prstDash val="solid"/>
            <a:tailEnd type="triangle"/>
          </a:ln>
        </p:spPr>
      </p:sp>
      <p:sp>
        <p:nvSpPr>
          <p:cNvPr id="10" name="element_035e8e182181b45d92f93414f10a874e"/>
          <p:cNvSpPr/>
          <p:nvPr/>
        </p:nvSpPr>
        <p:spPr>
          <a:xfrm>
            <a:off x="7062649" y="3775329"/>
            <a:ext cx="2332271" cy="164592"/>
          </a:xfrm>
          <a:prstGeom prst="line">
            <a:avLst/>
          </a:prstGeom>
          <a:noFill/>
          <a:ln w="25400">
            <a:solidFill>
              <a:srgbClr val="7566A8"/>
            </a:solidFill>
            <a:prstDash val="solid"/>
            <a:tailEnd type="triangle"/>
          </a:ln>
        </p:spPr>
      </p:sp>
      <p:sp>
        <p:nvSpPr>
          <p:cNvPr id="11" name="element_52db2aab6f14a4039ecf69aef93ff484"/>
          <p:cNvSpPr/>
          <p:nvPr/>
        </p:nvSpPr>
        <p:spPr>
          <a:xfrm>
            <a:off x="5915411" y="4375404"/>
            <a:ext cx="280409" cy="164592"/>
          </a:xfrm>
          <a:prstGeom prst="line">
            <a:avLst/>
          </a:prstGeom>
          <a:noFill/>
          <a:ln w="25400">
            <a:solidFill>
              <a:srgbClr val="7566A8"/>
            </a:solidFill>
            <a:prstDash val="solid"/>
            <a:tailEnd type="triangle"/>
          </a:ln>
        </p:spPr>
      </p:sp>
      <p:sp>
        <p:nvSpPr>
          <p:cNvPr id="12" name="element_0f502dc59e625c982d6de52619d1161a"/>
          <p:cNvSpPr/>
          <p:nvPr/>
        </p:nvSpPr>
        <p:spPr>
          <a:xfrm>
            <a:off x="5120512" y="3377565"/>
            <a:ext cx="1868987" cy="960120"/>
          </a:xfrm>
          <a:prstGeom prst="roundRect">
            <a:avLst/>
          </a:prstGeom>
          <a:solidFill>
            <a:srgbClr val="F2DED3"/>
          </a:solidFill>
          <a:ln w="12700">
            <a:solidFill>
              <a:srgbClr val="DED7CC"/>
            </a:solidFill>
            <a:prstDash val="solid"/>
          </a:ln>
        </p:spPr>
      </p:sp>
      <p:sp>
        <p:nvSpPr>
          <p:cNvPr id="13" name="element_0f502dc59e625c982d6de52619d1161a:text"/>
          <p:cNvSpPr txBox="1"/>
          <p:nvPr/>
        </p:nvSpPr>
        <p:spPr>
          <a:xfrm>
            <a:off x="5120512" y="3377565"/>
            <a:ext cx="1868987"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RelayOS Core</a:t>
            </a:r>
            <a:endParaRPr lang="en-US" sz="1600" dirty="0"/>
          </a:p>
        </p:txBody>
      </p:sp>
      <p:sp>
        <p:nvSpPr>
          <p:cNvPr id="14" name="element_619d037eeddb86073b2a175b0630c5a6"/>
          <p:cNvSpPr/>
          <p:nvPr/>
        </p:nvSpPr>
        <p:spPr>
          <a:xfrm>
            <a:off x="7294291" y="3377565"/>
            <a:ext cx="1868987" cy="960120"/>
          </a:xfrm>
          <a:prstGeom prst="roundRect">
            <a:avLst/>
          </a:prstGeom>
          <a:solidFill>
            <a:srgbClr val="F2DED3"/>
          </a:solidFill>
          <a:ln w="12700">
            <a:solidFill>
              <a:srgbClr val="DED7CC"/>
            </a:solidFill>
            <a:prstDash val="solid"/>
          </a:ln>
        </p:spPr>
      </p:sp>
      <p:sp>
        <p:nvSpPr>
          <p:cNvPr id="15" name="element_619d037eeddb86073b2a175b0630c5a6:text"/>
          <p:cNvSpPr txBox="1"/>
          <p:nvPr/>
        </p:nvSpPr>
        <p:spPr>
          <a:xfrm>
            <a:off x="7294291" y="3377565"/>
            <a:ext cx="1868987"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CRM Adapter</a:t>
            </a:r>
            <a:endParaRPr lang="en-US" sz="1600" dirty="0"/>
          </a:p>
        </p:txBody>
      </p:sp>
      <p:sp>
        <p:nvSpPr>
          <p:cNvPr id="16" name="element_626684c0907abe1080047167f066bb9a"/>
          <p:cNvSpPr/>
          <p:nvPr/>
        </p:nvSpPr>
        <p:spPr>
          <a:xfrm>
            <a:off x="9469290" y="3377565"/>
            <a:ext cx="1868987" cy="960120"/>
          </a:xfrm>
          <a:prstGeom prst="roundRect">
            <a:avLst/>
          </a:prstGeom>
          <a:solidFill>
            <a:srgbClr val="F2DED3"/>
          </a:solidFill>
          <a:ln w="12700">
            <a:solidFill>
              <a:srgbClr val="DED7CC"/>
            </a:solidFill>
            <a:prstDash val="solid"/>
          </a:ln>
        </p:spPr>
      </p:sp>
      <p:sp>
        <p:nvSpPr>
          <p:cNvPr id="17" name="element_626684c0907abe1080047167f066bb9a:text"/>
          <p:cNvSpPr txBox="1"/>
          <p:nvPr/>
        </p:nvSpPr>
        <p:spPr>
          <a:xfrm>
            <a:off x="9469290" y="3377565"/>
            <a:ext cx="1868987"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Ticketing Adapter</a:t>
            </a:r>
            <a:endParaRPr lang="en-US" sz="1600" dirty="0"/>
          </a:p>
        </p:txBody>
      </p:sp>
      <p:sp>
        <p:nvSpPr>
          <p:cNvPr id="18" name="element_62aeefef833bc5c60f44e54dcd017d46"/>
          <p:cNvSpPr/>
          <p:nvPr/>
        </p:nvSpPr>
        <p:spPr>
          <a:xfrm>
            <a:off x="5120512" y="4577715"/>
            <a:ext cx="1868987" cy="960120"/>
          </a:xfrm>
          <a:prstGeom prst="roundRect">
            <a:avLst/>
          </a:prstGeom>
          <a:solidFill>
            <a:srgbClr val="F2DED3"/>
          </a:solidFill>
          <a:ln w="12700">
            <a:solidFill>
              <a:srgbClr val="DED7CC"/>
            </a:solidFill>
            <a:prstDash val="solid"/>
          </a:ln>
        </p:spPr>
      </p:sp>
      <p:sp>
        <p:nvSpPr>
          <p:cNvPr id="19" name="element_62aeefef833bc5c60f44e54dcd017d46:text"/>
          <p:cNvSpPr txBox="1"/>
          <p:nvPr/>
        </p:nvSpPr>
        <p:spPr>
          <a:xfrm>
            <a:off x="5120512" y="4577715"/>
            <a:ext cx="1868987"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Document Adapter</a:t>
            </a:r>
            <a:endParaRPr lang="en-US" sz="1600" dirty="0"/>
          </a:p>
        </p:txBody>
      </p:sp>
      <p:sp>
        <p:nvSpPr>
          <p:cNvPr id="20" name="element_220ac76e11d49c70298b6f36870021f3"/>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21" name="element_4ddf55fa880c9900b63611bfb0531d37"/>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e47ee35cf5c918d3354af01f8f2444b4"/>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43639e017f3a9413b6f4256234fe3294"/>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cae7ef588f1b157f961c4070c60d4e03"/>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Product screenshot placeholder</a:t>
            </a:r>
            <a:endParaRPr lang="en-US" sz="3800" dirty="0"/>
          </a:p>
        </p:txBody>
      </p:sp>
      <p:sp>
        <p:nvSpPr>
          <p:cNvPr id="5" name="element_e4b0ad80faa2a41d2d6ce991805fc374"/>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No product screenshot was supplied. This slot is reserved for a captured product interface image.</a:t>
            </a:r>
            <a:endParaRPr lang="en-US" sz="1900" dirty="0"/>
          </a:p>
        </p:txBody>
      </p:sp>
      <p:sp>
        <p:nvSpPr>
          <p:cNvPr id="6" name="element_658f5aec308443e3c69a4c6876687afb"/>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Reviewable proposal interface</a:t>
            </a:r>
            <a:endParaRPr lang="en-US" sz="1700" dirty="0"/>
          </a:p>
        </p:txBody>
      </p:sp>
      <p:sp>
        <p:nvSpPr>
          <p:cNvPr id="7" name="element_84a3693a96b60552f8c76e80c90f2043"/>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Versioned receipt display</a:t>
            </a:r>
            <a:endParaRPr lang="en-US" sz="1700" dirty="0"/>
          </a:p>
        </p:txBody>
      </p:sp>
      <p:sp>
        <p:nvSpPr>
          <p:cNvPr id="8" name="element_961768ff6e7f8dc4b8e4112e1c7c92b0"/>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Adapter configuration panel</a:t>
            </a:r>
            <a:endParaRPr lang="en-US" sz="1700" dirty="0"/>
          </a:p>
        </p:txBody>
      </p:sp>
      <p:sp>
        <p:nvSpPr>
          <p:cNvPr id="9" name="element_cae13848ecadfa4e086dd436404dd365:fallback-shape"/>
          <p:cNvSpPr/>
          <p:nvPr/>
        </p:nvSpPr>
        <p:spPr>
          <a:xfrm>
            <a:off x="6461598" y="2674620"/>
            <a:ext cx="4754761" cy="2606040"/>
          </a:xfrm>
          <a:prstGeom prst="roundRect">
            <a:avLst/>
          </a:prstGeom>
          <a:solidFill>
            <a:srgbClr val="F2DED3"/>
          </a:solidFill>
          <a:ln w="19050">
            <a:solidFill>
              <a:srgbClr val="DED7CC"/>
            </a:solidFill>
            <a:prstDash val="dash"/>
          </a:ln>
        </p:spPr>
      </p:sp>
      <p:sp>
        <p:nvSpPr>
          <p:cNvPr id="10" name="element_cae13848ecadfa4e086dd436404dd365:fallback-label"/>
          <p:cNvSpPr/>
          <p:nvPr/>
        </p:nvSpPr>
        <p:spPr>
          <a:xfrm>
            <a:off x="6461598"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RelayOS product interface showing reviewable proposals and versioned receipts</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Placeholder - No screenshot supplied</a:t>
            </a:r>
            <a:endParaRPr lang="en-US" sz="1400" dirty="0"/>
          </a:p>
        </p:txBody>
      </p:sp>
      <p:sp>
        <p:nvSpPr>
          <p:cNvPr id="11" name="element_7379c0803d9719720e1e7d5678a7b4f3"/>
          <p:cNvSpPr txBox="1"/>
          <p:nvPr/>
        </p:nvSpPr>
        <p:spPr>
          <a:xfrm>
            <a:off x="6705432"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Replace image before external use · Placeholder - No screenshot supplied</a:t>
            </a:r>
            <a:endParaRPr lang="en-US" sz="1400" dirty="0"/>
          </a:p>
        </p:txBody>
      </p:sp>
      <p:sp>
        <p:nvSpPr>
          <p:cNvPr id="12" name="element_8485306afeb63bb2a2f318d6b816a3ce"/>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a18f7b2a8d551d75cf3bbd84273869f3"/>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55e550a32d8db73a8a22f8ce45a9f132"/>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82ab714f2e25292e2ff35bdb38754bb1"/>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4e73121958de2ec81466e4c30e671fc2"/>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Focused on approval-heavy operations</a:t>
            </a:r>
            <a:endParaRPr lang="en-US" sz="3800" dirty="0"/>
          </a:p>
        </p:txBody>
      </p:sp>
      <p:sp>
        <p:nvSpPr>
          <p:cNvPr id="5" name="element_338b1172a930ef185d407f805653f9f5"/>
          <p:cNvSpPr txBox="1"/>
          <p:nvPr/>
        </p:nvSpPr>
        <p:spPr>
          <a:xfrm>
            <a:off x="6583515"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RelayOS targets a specific workflow problem with a differentiated approach.</a:t>
            </a:r>
            <a:endParaRPr lang="en-US" sz="1900" dirty="0"/>
          </a:p>
        </p:txBody>
      </p:sp>
      <p:sp>
        <p:nvSpPr>
          <p:cNvPr id="6" name="element_5f9a83664ee3c8e70445b087ada2b457"/>
          <p:cNvSpPr txBox="1"/>
          <p:nvPr/>
        </p:nvSpPr>
        <p:spPr>
          <a:xfrm>
            <a:off x="6583515"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Focus on approval-heavy operations</a:t>
            </a:r>
            <a:endParaRPr lang="en-US" sz="1700" dirty="0"/>
          </a:p>
        </p:txBody>
      </p:sp>
      <p:sp>
        <p:nvSpPr>
          <p:cNvPr id="7" name="element_c07569cfe3718af337a3b9521273e364"/>
          <p:cNvSpPr txBox="1"/>
          <p:nvPr/>
        </p:nvSpPr>
        <p:spPr>
          <a:xfrm>
            <a:off x="6583515"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Reviewable proposals before mutation</a:t>
            </a:r>
            <a:endParaRPr lang="en-US" sz="1700" dirty="0"/>
          </a:p>
        </p:txBody>
      </p:sp>
      <p:sp>
        <p:nvSpPr>
          <p:cNvPr id="8" name="element_e2f87511200980afd5dd87dd4d38c3c2"/>
          <p:cNvSpPr txBox="1"/>
          <p:nvPr/>
        </p:nvSpPr>
        <p:spPr>
          <a:xfrm>
            <a:off x="6583515"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Versioned receipts for compliance</a:t>
            </a:r>
            <a:endParaRPr lang="en-US" sz="1700" dirty="0"/>
          </a:p>
        </p:txBody>
      </p:sp>
      <p:sp>
        <p:nvSpPr>
          <p:cNvPr id="9" name="element_0e0d3427ed2b18cad160638a0029bae0"/>
          <p:cNvSpPr txBox="1"/>
          <p:nvPr/>
        </p:nvSpPr>
        <p:spPr>
          <a:xfrm>
            <a:off x="975336"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Net Revenue Retention = (Current Revenue / Previous Revenue) × 100</a:t>
            </a:r>
            <a:endParaRPr lang="en-US" sz="3000" dirty="0"/>
          </a:p>
        </p:txBody>
      </p:sp>
      <p:sp>
        <p:nvSpPr>
          <p:cNvPr id="10" name="element_f4374a69b97a66e7dfe90db3057ac744"/>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9e6a641f66db04215e604a6cadbfbbdd"/>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7ad1d015a85728ebb73cc7d9cc3ed3b9"/>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c4126d50e9a9a102481283a987789739"/>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DECIDE</a:t>
            </a:r>
            <a:endParaRPr lang="en-US" sz="1500" dirty="0"/>
          </a:p>
        </p:txBody>
      </p:sp>
      <p:sp>
        <p:nvSpPr>
          <p:cNvPr id="4" name="element_4107d9ea04011b3949d90f016c723b1c"/>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Proceed to diligence based on demonstrated traction</a:t>
            </a:r>
            <a:endParaRPr lang="en-US" sz="3800" dirty="0"/>
          </a:p>
        </p:txBody>
      </p:sp>
      <p:sp>
        <p:nvSpPr>
          <p:cNvPr id="5" name="element_1473024da2eaafd1ee4d2f45802117fb"/>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Series A financing will accelerate product development and market expansion.</a:t>
            </a:r>
            <a:endParaRPr lang="en-US" sz="1900" dirty="0"/>
          </a:p>
        </p:txBody>
      </p:sp>
      <p:sp>
        <p:nvSpPr>
          <p:cNvPr id="6" name="element_da4e81da3ff54e573348d88a01654d35"/>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Accelerate product development</a:t>
            </a:r>
            <a:endParaRPr lang="en-US" sz="1700" dirty="0"/>
          </a:p>
        </p:txBody>
      </p:sp>
      <p:sp>
        <p:nvSpPr>
          <p:cNvPr id="7" name="element_caa39f26e47abde128aedf6c79982898"/>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Expand market reach</a:t>
            </a:r>
            <a:endParaRPr lang="en-US" sz="1700" dirty="0"/>
          </a:p>
        </p:txBody>
      </p:sp>
      <p:sp>
        <p:nvSpPr>
          <p:cNvPr id="8" name="element_19a373b98b9332ef1c7a9a3c877eff97"/>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Strengthen adapter ecosystem</a:t>
            </a:r>
            <a:endParaRPr lang="en-US" sz="1700" dirty="0"/>
          </a:p>
        </p:txBody>
      </p:sp>
      <p:sp>
        <p:nvSpPr>
          <p:cNvPr id="9" name="element_d0ca7c2548cbac4d2d1af283afe754e9"/>
          <p:cNvSpPr txBox="1"/>
          <p:nvPr/>
        </p:nvSpPr>
        <p:spPr>
          <a:xfrm>
            <a:off x="6827349" y="2811780"/>
            <a:ext cx="4145176" cy="1371600"/>
          </a:xfrm>
          <a:prstGeom prst="rect">
            <a:avLst/>
          </a:prstGeom>
          <a:noFill/>
          <a:ln/>
        </p:spPr>
        <p:txBody>
          <a:bodyPr wrap="square" lIns="254000" tIns="254000" rIns="254000" bIns="254000" rtlCol="0" anchor="t">
            <a:normAutofit/>
          </a:bodyPr>
          <a:lstStyle/>
          <a:p>
            <a:pPr algn="l" indent="0" marL="0">
              <a:lnSpc>
                <a:spcPct val="100000"/>
              </a:lnSpc>
              <a:buNone/>
            </a:pPr>
            <a:r>
              <a:rPr lang="en-US" sz="5600" b="1" dirty="0">
                <a:solidFill>
                  <a:srgbClr val="34452C"/>
                </a:solidFill>
                <a:latin typeface="JetBrains Mono Variable" pitchFamily="34" charset="0"/>
                <a:ea typeface="JetBrains Mono Variable" pitchFamily="34" charset="-122"/>
                <a:cs typeface="JetBrains Mono Variable" pitchFamily="34" charset="-120"/>
              </a:rPr>
              <a:t>118%</a:t>
            </a:r>
            <a:endParaRPr lang="en-US" sz="5600" dirty="0"/>
          </a:p>
        </p:txBody>
      </p:sp>
      <p:sp>
        <p:nvSpPr>
          <p:cNvPr id="10" name="element_5c3134254e65ad6dbfce14e5cc37c3d6"/>
          <p:cNvSpPr txBox="1"/>
          <p:nvPr/>
        </p:nvSpPr>
        <p:spPr>
          <a:xfrm>
            <a:off x="7193100" y="43205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Net Revenue Retention</a:t>
            </a:r>
            <a:endParaRPr lang="en-US" sz="1500" dirty="0"/>
          </a:p>
        </p:txBody>
      </p:sp>
      <p:sp>
        <p:nvSpPr>
          <p:cNvPr id="11" name="element_f91d19a96f28b01eb697ac526d064054"/>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4cf6f074030bc5fd1eac41d0819188c9"/>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an evidence-led seven-slide Series A roadshow for early-stage…</dc:title>
  <dc:subject>Create an editable, reviewable presentation from this idea</dc:subject>
  <dc:creator>NodeSlide</dc:creator>
  <cp:lastModifiedBy>NodeSlide</cp:lastModifiedBy>
  <cp:revision>1</cp:revision>
  <dcterms:created xsi:type="dcterms:W3CDTF">2026-07-21T23:50:52Z</dcterms:created>
  <dcterms:modified xsi:type="dcterms:W3CDTF">2026-07-21T23:50:52Z</dcterms:modified>
</cp:coreProperties>
</file>