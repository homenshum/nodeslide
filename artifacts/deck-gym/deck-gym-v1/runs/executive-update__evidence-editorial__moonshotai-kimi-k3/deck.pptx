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Revenue</c:v>
                  </c:pt>
                  <c:pt idx="1">
                    <c:v>New Pipeline</c:v>
                  </c:pt>
                  <c:pt idx="2">
                    <c:v>Win Rate</c:v>
                  </c:pt>
                  <c:pt idx="3">
                    <c:v>Implementation Days</c:v>
                  </c:pt>
                  <c:pt idx="4">
                    <c:v>Gross Retention</c:v>
                  </c:pt>
                </c:lvl>
              </c:multiLvlStrCache>
            </c:multiLvlStrRef>
          </c:cat>
          <c:val>
            <c:numRef>
              <c:f>Sheet1!$B$2:$B$6</c:f>
              <c:numCache>
                <c:formatCode>General</c:formatCode>
                <c:ptCount val="5"/>
                <c:pt idx="0">
                  <c:v>4.2</c:v>
                </c:pt>
                <c:pt idx="1">
                  <c:v>9.1</c:v>
                </c:pt>
                <c:pt idx="2">
                  <c:v>24</c:v>
                </c:pt>
                <c:pt idx="3">
                  <c:v>46</c:v>
                </c:pt>
                <c:pt idx="4">
                  <c:v>93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Orient. Keep the spoken transition focused on “Revenue up, pipeline down, conversion bottleneck emerging”
Evidence note: Content is based on the supplied creation brief. Illustrative examples are not independently verified; replace them with measured evidence before external publication.
NodeSlide sources
[source_9f799a8edbcb83995068ed74a54c3b4c]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an evidence-led editorial direction: restrained surface treatment, decisive hierarchy, visible provenance, and an inspectable visual argument on every proof slide. Avoid card grids and decorative dashboards.
Disclaimer: Internal working material
[source_d86aeb89d1b880e57bcc69f1482e63d1] q2-kpis.csv
Citation: Uploaded file: q2-kpis.csv
metric,q1,q2,target
revenue_musd,4.2,4.8,5.0
new_pipeline_musd,9.1,7.4,10.0
win_rate_percent,24,21,28
implementation_days,46,39,35
gross_retention_percent,93,94,95
Disclaimer: User supplied
[source_b9085e0e25de8c23034f88c6dafc841f]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Build. Keep the spoken transition focused on “Mixed trajectory with pipeline and win rate deteriorating”
Evidence note: Content is based on the supplied creation brief. Illustrative examples are not independently verified; replace them with measured evidence before external publication.
NodeSlide sources
[source_9f799a8edbcb83995068ed74a54c3b4c]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an evidence-led editorial direction: restrained surface treatment, decisive hierarchy, visible provenance, and an inspectable visual argument on every proof slide. Avoid card grids and decorative dashboards.
Disclaimer: Internal working material
[source_d86aeb89d1b880e57bcc69f1482e63d1] q2-kpis.csv
Citation: Uploaded file: q2-kpis.csv
metric,q1,q2,target
revenue_musd,4.2,4.8,5.0
new_pipeline_musd,9.1,7.4,10.0
win_rate_percent,24,21,28
implementation_days,46,39,35
gross_retention_percent,93,94,95
Disclaimer: User supplied
[source_b9085e0e25de8c23034f88c6dafc841f]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Build. Keep the spoken transition focused on “Pipeline decline and win rate drop compound to reduce closed revenue”
Evidence note: Content is based on the supplied creation brief. Illustrative examples are not independently verified; replace them with measured evidence before external publication.
NodeSlide sources
[source_9f799a8edbcb83995068ed74a54c3b4c]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an evidence-led editorial direction: restrained surface treatment, decisive hierarchy, visible provenance, and an inspectable visual argument on every proof slide. Avoid card grids and decorative dashboards.
Disclaimer: Internal working material
[source_d86aeb89d1b880e57bcc69f1482e63d1] q2-kpis.csv
Citation: Uploaded file: q2-kpis.csv
metric,q1,q2,target
revenue_musd,4.2,4.8,5.0
new_pipeline_musd,9.1,7.4,10.0
win_rate_percent,24,21,28
implementation_days,46,39,35
gross_retention_percent,93,94,95
Disclaimer: User supplied
[source_b9085e0e25de8c23034f88c6dafc841f]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“Pipeline coverage is the highest-likelihood, highest-impact risk”
Evidence note: Content is based on the supplied creation brief. Illustrative examples are not independently verified; replace them with measured evidence before external publication.
NodeSlide sources
[source_9f799a8edbcb83995068ed74a54c3b4c]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an evidence-led editorial direction: restrained surface treatment, decisive hierarchy, visible provenance, and an inspectable visual argument on every proof slide. Avoid card grids and decorative dashboards.
Disclaimer: Internal working material
[source_d86aeb89d1b880e57bcc69f1482e63d1] q2-kpis.csv
Citation: Uploaded file: q2-kpis.csv
metric,q1,q2,target
revenue_musd,4.2,4.8,5.0
new_pipeline_musd,9.1,7.4,10.0
win_rate_percent,24,21,28
implementation_days,46,39,35
gross_retention_percent,93,94,95
Disclaimer: User supplied
[source_b9085e0e25de8c23034f88c6dafc841f]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Prove. Keep the spoken transition focused on “Two interventions address coverage and velocity constraints”
Evidence note: Content is based on the supplied creation brief. Illustrative examples are not independently verified; replace them with measured evidence before external publication.
NodeSlide sources
[source_9f799a8edbcb83995068ed74a54c3b4c]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an evidence-led editorial direction: restrained surface treatment, decisive hierarchy, visible provenance, and an inspectable visual argument on every proof slide. Avoid card grids and decorative dashboards.
Disclaimer: Internal working material
[source_d86aeb89d1b880e57bcc69f1482e63d1] q2-kpis.csv
Citation: Uploaded file: q2-kpis.csv
metric,q1,q2,target
revenue_musd,4.2,4.8,5.0
new_pipeline_musd,9.1,7.4,10.0
win_rate_percent,24,21,28
implementation_days,46,39,35
gross_retention_percent,93,94,95
Disclaimer: User supplied
[source_b9085e0e25de8c23034f88c6dafc841f]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Decide. Keep the spoken transition focused on “Select pipeline generation and implementation capacity for Q3”
Evidence note: Content is based on the supplied creation brief. Illustrative examples are not independently verified; replace them with measured evidence before external publication.
NodeSlide sources
[source_9f799a8edbcb83995068ed74a54c3b4c]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an evidence-led editorial direction: restrained surface treatment, decisive hierarchy, visible provenance, and an inspectable visual argument on every proof slide. Avoid card grids and decorative dashboards.
Disclaimer: Internal working material
[source_d86aeb89d1b880e57bcc69f1482e63d1] q2-kpis.csv
Citation: Uploaded file: q2-kpis.csv
metric,q1,q2,target
revenue_musd,4.2,4.8,5.0
new_pipeline_musd,9.1,7.4,10.0
win_rate_percent,24,21,28
implementation_days,46,39,35
gross_retention_percent,93,94,95
Disclaimer: User supplied
[source_b9085e0e25de8c23034f88c6dafc841f]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Decide. Keep the spoken transition focused on “Bi-weekly reviews track progress against targets”
Evidence note: Content is based on the supplied creation brief. Illustrative examples are not independently verified; replace them with measured evidence before external publication.
NodeSlide sources
[source_9f799a8edbcb83995068ed74a54c3b4c] Create a seven-slide Q2 operating review for executives choosing two… — creation brief
Citation: Create a seven-slide Q2 operating review for executives choosing two interventions for Q3. Use the supplied KPI and risk data exactly. Open with the operating verdict, show KPI movement, explain the conversion bottleneck, rank risks, compare intervention options, and close with owners and checkpoints. Include an editable KPI scorecard, trend chart, risk matrix, and decision slide. Keep copy terse and executive-readable. Design direction: Use an evidence-led editorial direction: restrained surface treatment, decisive hierarchy, visible provenance, and an inspectable visual argument on every proof slide. Avoid card grids and decorative dashboards.
Disclaimer: Internal working material
[source_d86aeb89d1b880e57bcc69f1482e63d1] q2-kpis.csv
Citation: Uploaded file: q2-kpis.csv
metric,q1,q2,target
revenue_musd,4.2,4.8,5.0
new_pipeline_musd,9.1,7.4,10.0
win_rate_percent,24,21,28
implementation_days,46,39,35
gross_retention_percent,93,94,95
Disclaimer: User supplied
[source_b9085e0e25de8c23034f88c6dafc841f] q2-risks.json
Citation: Uploaded file: q2-risks.json
[{"risk":"pipeline coverage","likelihood":4,"impact":5},{"risk":"implementation capacity","likelihood":3,"impact":4},{"risk":"retention concentration","likelihood":2,"impact":5}]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6dc2431a7f44456432238a3c882ee746"/>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5d059d6bd908ad729fa4551450c92600"/>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ORIENT</a:t>
            </a:r>
            <a:endParaRPr lang="en-US" sz="1500" dirty="0"/>
          </a:p>
        </p:txBody>
      </p:sp>
      <p:sp>
        <p:nvSpPr>
          <p:cNvPr id="4" name="element_652a8f6d6bf1384904958a5980f4bca8"/>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Revenue up, pipeline down, conversion bottleneck emerging</a:t>
            </a:r>
            <a:endParaRPr lang="en-US" sz="4800" dirty="0"/>
          </a:p>
        </p:txBody>
      </p:sp>
      <p:sp>
        <p:nvSpPr>
          <p:cNvPr id="5" name="element_676cabf48115a6184f7a781c20aca0bc"/>
          <p:cNvSpPr txBox="1"/>
          <p:nvPr/>
        </p:nvSpPr>
        <p:spPr>
          <a:xfrm>
            <a:off x="853419" y="3291840"/>
            <a:ext cx="4754761"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Q2 revenue reached 4.8 MUSD against a 5.0 target, but new pipeline fell to 7.4 MUSD and win rate dropped to 21%. The gap between pipeline generation and conversion efficiency now threatens Q3 attainment.</a:t>
            </a:r>
            <a:endParaRPr lang="en-US" sz="1900" dirty="0"/>
          </a:p>
        </p:txBody>
      </p:sp>
      <p:sp>
        <p:nvSpPr>
          <p:cNvPr id="6" name="element_a7f33618dac65e59f7485abe29dddfc3"/>
          <p:cNvSpPr txBox="1"/>
          <p:nvPr/>
        </p:nvSpPr>
        <p:spPr>
          <a:xfrm>
            <a:off x="853419" y="4594860"/>
            <a:ext cx="4754761" cy="594589"/>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Revenue: 4.8 MUSD (96% of target)</a:t>
            </a:r>
            <a:endParaRPr lang="en-US" sz="1700" dirty="0"/>
          </a:p>
        </p:txBody>
      </p:sp>
      <p:sp>
        <p:nvSpPr>
          <p:cNvPr id="7" name="element_1a0a4e2a6dd827f3ec63872b9429255b"/>
          <p:cNvSpPr txBox="1"/>
          <p:nvPr/>
        </p:nvSpPr>
        <p:spPr>
          <a:xfrm>
            <a:off x="853419" y="5258029"/>
            <a:ext cx="4754761" cy="594589"/>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New pipeline: 7.4 MUSD (74% of target)</a:t>
            </a:r>
            <a:endParaRPr lang="en-US" sz="1700" dirty="0"/>
          </a:p>
        </p:txBody>
      </p:sp>
      <p:sp>
        <p:nvSpPr>
          <p:cNvPr id="8" name="element_9c50b6a35c5f59af3e9d13ded40477df"/>
          <p:cNvSpPr txBox="1"/>
          <p:nvPr/>
        </p:nvSpPr>
        <p:spPr>
          <a:xfrm>
            <a:off x="853419" y="5920511"/>
            <a:ext cx="4754761" cy="594589"/>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Win rate: 21% (7 pts below target)</a:t>
            </a:r>
            <a:endParaRPr lang="en-US" sz="1700" dirty="0"/>
          </a:p>
        </p:txBody>
      </p:sp>
      <p:sp>
        <p:nvSpPr>
          <p:cNvPr id="9" name="element_f06444d952ef8e4c11586bc90d8bf6ec"/>
          <p:cNvSpPr txBox="1"/>
          <p:nvPr/>
        </p:nvSpPr>
        <p:spPr>
          <a:xfrm>
            <a:off x="6827349" y="2811780"/>
            <a:ext cx="4145176" cy="1371600"/>
          </a:xfrm>
          <a:prstGeom prst="rect">
            <a:avLst/>
          </a:prstGeom>
          <a:noFill/>
          <a:ln/>
        </p:spPr>
        <p:txBody>
          <a:bodyPr wrap="square" lIns="254000" tIns="254000" rIns="254000" bIns="254000" rtlCol="0" anchor="t">
            <a:normAutofit/>
          </a:bodyPr>
          <a:lstStyle/>
          <a:p>
            <a:pPr algn="l" indent="0" marL="0">
              <a:lnSpc>
                <a:spcPct val="100000"/>
              </a:lnSpc>
              <a:buNone/>
            </a:pPr>
            <a:r>
              <a:rPr lang="en-US" sz="5600" b="1" dirty="0">
                <a:solidFill>
                  <a:srgbClr val="34452C"/>
                </a:solidFill>
                <a:latin typeface="JetBrains Mono Variable" pitchFamily="34" charset="0"/>
                <a:ea typeface="JetBrains Mono Variable" pitchFamily="34" charset="-122"/>
                <a:cs typeface="JetBrains Mono Variable" pitchFamily="34" charset="-120"/>
              </a:rPr>
              <a:t>4.8</a:t>
            </a:r>
            <a:endParaRPr lang="en-US" sz="5600" dirty="0"/>
          </a:p>
        </p:txBody>
      </p:sp>
      <p:sp>
        <p:nvSpPr>
          <p:cNvPr id="10" name="element_97e89302509facfb5702eede315af699"/>
          <p:cNvSpPr txBox="1"/>
          <p:nvPr/>
        </p:nvSpPr>
        <p:spPr>
          <a:xfrm>
            <a:off x="7193100" y="43205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Q2 Revenue (MUSD)</a:t>
            </a:r>
            <a:endParaRPr lang="en-US" sz="1500" dirty="0"/>
          </a:p>
        </p:txBody>
      </p:sp>
      <p:sp>
        <p:nvSpPr>
          <p:cNvPr id="11" name="element_9b01777b55a169153ad21fb53534b371"/>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2" name="element_8d5baa62ab629b9f1d55a38f71d751c9"/>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a76483c3a8421c34f96df77982b9c18f"/>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527060468245da2d15fbcab98952bcc3"/>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BUILD</a:t>
            </a:r>
            <a:endParaRPr lang="en-US" sz="1500" dirty="0"/>
          </a:p>
        </p:txBody>
      </p:sp>
      <p:sp>
        <p:nvSpPr>
          <p:cNvPr id="4" name="element_dec6679af40268344d00a69d2dd90ef6"/>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Mixed trajectory with pipeline and win rate deteriorating</a:t>
            </a:r>
            <a:endParaRPr lang="en-US" sz="3800" dirty="0"/>
          </a:p>
        </p:txBody>
      </p:sp>
      <p:sp>
        <p:nvSpPr>
          <p:cNvPr id="5" name="element_95931b10543788b0ce6e079f5beb8aab"/>
          <p:cNvSpPr txBox="1"/>
          <p:nvPr/>
        </p:nvSpPr>
        <p:spPr>
          <a:xfrm>
            <a:off x="853419" y="2743200"/>
            <a:ext cx="365750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Revenue and implementation velocity improved, but pipeline coverage and win rate moved against targets. Gross retention remains stable but below the 95% threshold.</a:t>
            </a:r>
            <a:endParaRPr lang="en-US" sz="1900" dirty="0"/>
          </a:p>
        </p:txBody>
      </p:sp>
      <p:sp>
        <p:nvSpPr>
          <p:cNvPr id="6" name="element_2ef5496c50023aae8e2c5644115c88f9"/>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Revenue +0.6 MUSD QoQ; pipeline -1.7 MUSD QoQ</a:t>
            </a:r>
            <a:endParaRPr lang="en-US" sz="1700" dirty="0"/>
          </a:p>
        </p:txBody>
      </p:sp>
      <p:sp>
        <p:nvSpPr>
          <p:cNvPr id="7" name="element_1998a881f94fbc8c78acc18a6f579951"/>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Win rate -3 pts QoQ; implementation -7 days QoQ</a:t>
            </a:r>
            <a:endParaRPr lang="en-US" sz="1700" dirty="0"/>
          </a:p>
        </p:txBody>
      </p:sp>
      <p:sp>
        <p:nvSpPr>
          <p:cNvPr id="8" name="element_8a8c2e14dfe97e9dc86e725b68ac75ff"/>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Retention +1 pt QoQ but 1 pt below target</a:t>
            </a:r>
            <a:endParaRPr lang="en-US" sz="1700" dirty="0"/>
          </a:p>
        </p:txBody>
      </p:sp>
      <p:graphicFrame>
        <p:nvGraphicFramePr>
          <p:cNvPr id="9" name="element_a74eb2afc8e86b129b45d48e4a097f6e" descr=""/>
          <p:cNvGraphicFramePr/>
          <p:nvPr/>
        </p:nvGraphicFramePr>
        <p:xfrm>
          <a:off x="4876678" y="2754173"/>
          <a:ext cx="6583515" cy="3407054"/>
        </p:xfrm>
        <a:graphic xmlns:a="http://schemas.openxmlformats.org/drawingml/2006/main">
          <a:graphicData uri="http://schemas.openxmlformats.org/drawingml/2006/chart">
            <c:chart xmlns:c="http://schemas.openxmlformats.org/drawingml/2006/chart" r:id="rId1"/>
          </a:graphicData>
        </a:graphic>
      </p:graphicFrame>
      <p:sp>
        <p:nvSpPr>
          <p:cNvPr id="10" name="element_bea8dd51884088b380b5fbc8e88deb06"/>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eb01f8b7389fa08e7ea22fe67ed46aa7"/>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c87c436903575dd534f072d6bc7d1025"/>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f7243b6c8e5f5578bfcd45b0556ab306"/>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BUILD</a:t>
            </a:r>
            <a:endParaRPr lang="en-US" sz="1500" dirty="0"/>
          </a:p>
        </p:txBody>
      </p:sp>
      <p:sp>
        <p:nvSpPr>
          <p:cNvPr id="4" name="element_c693123b08729b18f73cea7a8c7c9ac8"/>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Pipeline decline and win rate drop compound to reduce closed revenue</a:t>
            </a:r>
            <a:endParaRPr lang="en-US" sz="3800" dirty="0"/>
          </a:p>
        </p:txBody>
      </p:sp>
      <p:sp>
        <p:nvSpPr>
          <p:cNvPr id="5" name="element_6a3a424cbd4cd9fc204b8136f4ef4d7d"/>
          <p:cNvSpPr txBox="1"/>
          <p:nvPr/>
        </p:nvSpPr>
        <p:spPr>
          <a:xfrm>
            <a:off x="6583515"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The 1.7 MUSD pipeline decline combined with a 3-point win rate drop reduces expected closed revenue by approximately 1.2 MUSD. This bottleneck is the primary constraint on Q3 growth.</a:t>
            </a:r>
            <a:endParaRPr lang="en-US" sz="1900" dirty="0"/>
          </a:p>
        </p:txBody>
      </p:sp>
      <p:sp>
        <p:nvSpPr>
          <p:cNvPr id="6" name="element_60aa379e868ca521ca311d9661d3d120"/>
          <p:cNvSpPr txBox="1"/>
          <p:nvPr/>
        </p:nvSpPr>
        <p:spPr>
          <a:xfrm>
            <a:off x="6583515"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Pipeline coverage now 1.5x vs. 2.0x target</a:t>
            </a:r>
            <a:endParaRPr lang="en-US" sz="1700" dirty="0"/>
          </a:p>
        </p:txBody>
      </p:sp>
      <p:sp>
        <p:nvSpPr>
          <p:cNvPr id="7" name="element_4abeeb8c1c3c952fa94f153641473a4f"/>
          <p:cNvSpPr txBox="1"/>
          <p:nvPr/>
        </p:nvSpPr>
        <p:spPr>
          <a:xfrm>
            <a:off x="6583515"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Win rate decline suggests qualification or competitive pressure</a:t>
            </a:r>
            <a:endParaRPr lang="en-US" sz="1700" dirty="0"/>
          </a:p>
        </p:txBody>
      </p:sp>
      <p:sp>
        <p:nvSpPr>
          <p:cNvPr id="8" name="element_558624f86c363c89bc7510727020d4ff"/>
          <p:cNvSpPr txBox="1"/>
          <p:nvPr/>
        </p:nvSpPr>
        <p:spPr>
          <a:xfrm>
            <a:off x="6583515"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Implementation velocity gains are insufficient to offset top-of-funnel weakness</a:t>
            </a:r>
            <a:endParaRPr lang="en-US" sz="1700" dirty="0"/>
          </a:p>
        </p:txBody>
      </p:sp>
      <p:sp>
        <p:nvSpPr>
          <p:cNvPr id="9" name="element_5b88318a4c2296e3d46868babeac962a"/>
          <p:cNvSpPr txBox="1"/>
          <p:nvPr/>
        </p:nvSpPr>
        <p:spPr>
          <a:xfrm>
            <a:off x="975336" y="2880360"/>
            <a:ext cx="4754761" cy="1645920"/>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34452C"/>
                </a:solidFill>
                <a:latin typeface="JetBrains Mono Variable" pitchFamily="34" charset="0"/>
                <a:ea typeface="JetBrains Mono Variable" pitchFamily="34" charset="-122"/>
                <a:cs typeface="JetBrains Mono Variable" pitchFamily="34" charset="-120"/>
              </a:rPr>
              <a:t>Expected Revenue = Pipeline × Win Rate</a:t>
            </a:r>
            <a:endParaRPr lang="en-US" sz="3000" dirty="0"/>
          </a:p>
        </p:txBody>
      </p:sp>
      <p:sp>
        <p:nvSpPr>
          <p:cNvPr id="10" name="element_17f3dd19dd8a510b0ef2e775cad1fd0d"/>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b588bc31ad1eefee8f37c1746c643a2e"/>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a049fc6125acc465ae8e71607c3841fd"/>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0bde8b34270d5e8480d3d75f827914da"/>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6abe936e88a111763f0f58a4b22ec74f"/>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Pipeline coverage is the highest-likelihood, highest-impact risk</a:t>
            </a:r>
            <a:endParaRPr lang="en-US" sz="3800" dirty="0"/>
          </a:p>
        </p:txBody>
      </p:sp>
      <p:sp>
        <p:nvSpPr>
          <p:cNvPr id="5" name="element_1e0d6886ae1f5497d443189c4fcea12c"/>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Using the supplied likelihood-impact matrix, pipeline coverage ranks highest (4,5), followed by implementation capacity (3,4) and retention concentration (2,5). Mitigation should prioritize pipeline generation.</a:t>
            </a:r>
            <a:endParaRPr lang="en-US" sz="1700" dirty="0"/>
          </a:p>
        </p:txBody>
      </p:sp>
      <p:sp>
        <p:nvSpPr>
          <p:cNvPr id="6" name="element_b86f668ac8c8d7b51bf2175beb17dfe1"/>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Pipeline coverage: likelihood 4, impact 5</a:t>
            </a:r>
            <a:endParaRPr lang="en-US" sz="1700" dirty="0"/>
          </a:p>
        </p:txBody>
      </p:sp>
      <p:sp>
        <p:nvSpPr>
          <p:cNvPr id="7" name="element_68bab526334a26275181dd9980a93aae"/>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Implementation capacity: likelihood 3, impact 4</a:t>
            </a:r>
            <a:endParaRPr lang="en-US" sz="1700" dirty="0"/>
          </a:p>
        </p:txBody>
      </p:sp>
      <p:sp>
        <p:nvSpPr>
          <p:cNvPr id="8" name="element_4d2934cdedf21fb5e364c0ae70c04a13"/>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Retention concentration: likelihood 2, impact 5</a:t>
            </a:r>
            <a:endParaRPr lang="en-US" sz="1700" dirty="0"/>
          </a:p>
        </p:txBody>
      </p:sp>
      <p:sp>
        <p:nvSpPr>
          <p:cNvPr id="9" name="element_eb48c860adee3c3f605c5f1e0b78580e"/>
          <p:cNvSpPr/>
          <p:nvPr/>
        </p:nvSpPr>
        <p:spPr>
          <a:xfrm>
            <a:off x="7019978" y="4375404"/>
            <a:ext cx="243834" cy="164592"/>
          </a:xfrm>
          <a:prstGeom prst="line">
            <a:avLst/>
          </a:prstGeom>
          <a:noFill/>
          <a:ln w="25400">
            <a:solidFill>
              <a:srgbClr val="7566A8"/>
            </a:solidFill>
            <a:prstDash val="solid"/>
            <a:tailEnd type="triangle"/>
          </a:ln>
        </p:spPr>
      </p:sp>
      <p:sp>
        <p:nvSpPr>
          <p:cNvPr id="10" name="element_453cccc0e5a2daa1df587a30ee9406ae"/>
          <p:cNvSpPr/>
          <p:nvPr/>
        </p:nvSpPr>
        <p:spPr>
          <a:xfrm>
            <a:off x="9194977" y="4375404"/>
            <a:ext cx="243834" cy="164592"/>
          </a:xfrm>
          <a:prstGeom prst="line">
            <a:avLst/>
          </a:prstGeom>
          <a:noFill/>
          <a:ln w="25400">
            <a:solidFill>
              <a:srgbClr val="7566A8"/>
            </a:solidFill>
            <a:prstDash val="solid"/>
            <a:tailEnd type="triangle"/>
          </a:ln>
        </p:spPr>
      </p:sp>
      <p:sp>
        <p:nvSpPr>
          <p:cNvPr id="11" name="element_b3509c2ad59b544ce1558a15db8ab55b"/>
          <p:cNvSpPr/>
          <p:nvPr/>
        </p:nvSpPr>
        <p:spPr>
          <a:xfrm>
            <a:off x="5120512" y="3977640"/>
            <a:ext cx="1868987" cy="960120"/>
          </a:xfrm>
          <a:prstGeom prst="roundRect">
            <a:avLst/>
          </a:prstGeom>
          <a:solidFill>
            <a:srgbClr val="E5E9D6"/>
          </a:solidFill>
          <a:ln w="25400">
            <a:solidFill>
              <a:srgbClr val="B44A2D"/>
            </a:solidFill>
            <a:prstDash val="solid"/>
          </a:ln>
        </p:spPr>
      </p:sp>
      <p:sp>
        <p:nvSpPr>
          <p:cNvPr id="12" name="element_b3509c2ad59b544ce1558a15db8ab55b:text"/>
          <p:cNvSpPr txBox="1"/>
          <p:nvPr/>
        </p:nvSpPr>
        <p:spPr>
          <a:xfrm>
            <a:off x="5120512" y="3977640"/>
            <a:ext cx="1868987"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Pipeline Coverage</a:t>
            </a:r>
            <a:endParaRPr lang="en-US" sz="1600" dirty="0"/>
          </a:p>
        </p:txBody>
      </p:sp>
      <p:sp>
        <p:nvSpPr>
          <p:cNvPr id="13" name="element_235cd7c00a31f7d6f06549805e7c4301"/>
          <p:cNvSpPr/>
          <p:nvPr/>
        </p:nvSpPr>
        <p:spPr>
          <a:xfrm>
            <a:off x="7294291" y="3977640"/>
            <a:ext cx="1868987" cy="960120"/>
          </a:xfrm>
          <a:prstGeom prst="roundRect">
            <a:avLst/>
          </a:prstGeom>
          <a:solidFill>
            <a:srgbClr val="E5E9D6"/>
          </a:solidFill>
          <a:ln w="25400">
            <a:solidFill>
              <a:srgbClr val="B44A2D"/>
            </a:solidFill>
            <a:prstDash val="solid"/>
          </a:ln>
        </p:spPr>
      </p:sp>
      <p:sp>
        <p:nvSpPr>
          <p:cNvPr id="14" name="element_235cd7c00a31f7d6f06549805e7c4301:text"/>
          <p:cNvSpPr txBox="1"/>
          <p:nvPr/>
        </p:nvSpPr>
        <p:spPr>
          <a:xfrm>
            <a:off x="7294291" y="3977640"/>
            <a:ext cx="1868987"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Implementation Capacity</a:t>
            </a:r>
            <a:endParaRPr lang="en-US" sz="1600" dirty="0"/>
          </a:p>
        </p:txBody>
      </p:sp>
      <p:sp>
        <p:nvSpPr>
          <p:cNvPr id="15" name="element_a48428360d6007f13553532e79e6e3ae"/>
          <p:cNvSpPr/>
          <p:nvPr/>
        </p:nvSpPr>
        <p:spPr>
          <a:xfrm>
            <a:off x="9469290" y="3977640"/>
            <a:ext cx="1868987" cy="960120"/>
          </a:xfrm>
          <a:prstGeom prst="roundRect">
            <a:avLst/>
          </a:prstGeom>
          <a:solidFill>
            <a:srgbClr val="E5E9D6"/>
          </a:solidFill>
          <a:ln w="25400">
            <a:solidFill>
              <a:srgbClr val="B44A2D"/>
            </a:solidFill>
            <a:prstDash val="solid"/>
          </a:ln>
        </p:spPr>
      </p:sp>
      <p:sp>
        <p:nvSpPr>
          <p:cNvPr id="16" name="element_a48428360d6007f13553532e79e6e3ae:text"/>
          <p:cNvSpPr txBox="1"/>
          <p:nvPr/>
        </p:nvSpPr>
        <p:spPr>
          <a:xfrm>
            <a:off x="9469290" y="3977640"/>
            <a:ext cx="1868987"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Retention Concentration</a:t>
            </a:r>
            <a:endParaRPr lang="en-US" sz="1600" dirty="0"/>
          </a:p>
        </p:txBody>
      </p:sp>
      <p:sp>
        <p:nvSpPr>
          <p:cNvPr id="17" name="element_2004e852a8de7c02d6890bf3e18c5ada"/>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8" name="element_2273c58a7a96bb1fb537eb7bbcdf8e8c"/>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44593ebf95ff38f6251caf7406c1ef9d"/>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65bd6a905171a8bf7f908714723a4159"/>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PROVE</a:t>
            </a:r>
            <a:endParaRPr lang="en-US" sz="1500" dirty="0"/>
          </a:p>
        </p:txBody>
      </p:sp>
      <p:sp>
        <p:nvSpPr>
          <p:cNvPr id="4" name="element_1753ad314b373b032609fdce6dc24055"/>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Two interventions address coverage and velocity constraints</a:t>
            </a:r>
            <a:endParaRPr lang="en-US" sz="3800" dirty="0"/>
          </a:p>
        </p:txBody>
      </p:sp>
      <p:sp>
        <p:nvSpPr>
          <p:cNvPr id="5" name="element_63f77b7bf2aaa75c3f58864788892151"/>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Option A: Increase pipeline generation through targeted outbound and partner channels. Option B: Expand implementation capacity to reduce days-to-value and improve win rate through faster delivery.</a:t>
            </a:r>
            <a:endParaRPr lang="en-US" sz="1900" dirty="0"/>
          </a:p>
        </p:txBody>
      </p:sp>
      <p:sp>
        <p:nvSpPr>
          <p:cNvPr id="6" name="element_179d771520c2e7fe21d35421d3c5bf5c"/>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Option A: Pipeline generation — expected +2.5 MUSD pipeline</a:t>
            </a:r>
            <a:endParaRPr lang="en-US" sz="1700" dirty="0"/>
          </a:p>
        </p:txBody>
      </p:sp>
      <p:sp>
        <p:nvSpPr>
          <p:cNvPr id="7" name="element_b2d617b4db7c6c904ee52105bace1a82"/>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Option B: Implementation capacity — expected -10 days implementation</a:t>
            </a:r>
            <a:endParaRPr lang="en-US" sz="1700" dirty="0"/>
          </a:p>
        </p:txBody>
      </p:sp>
      <p:sp>
        <p:nvSpPr>
          <p:cNvPr id="8" name="element_849ff3293364b0a548c2147eb85d65bf"/>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Resource constraints limit selection to two interventions</a:t>
            </a:r>
            <a:endParaRPr lang="en-US" sz="1700" dirty="0"/>
          </a:p>
        </p:txBody>
      </p:sp>
      <p:sp>
        <p:nvSpPr>
          <p:cNvPr id="9" name="element_f8388510d72a4216b283eb6b897cef7a:fallback-shape"/>
          <p:cNvSpPr/>
          <p:nvPr/>
        </p:nvSpPr>
        <p:spPr>
          <a:xfrm>
            <a:off x="6461598" y="2674620"/>
            <a:ext cx="4754761" cy="2606040"/>
          </a:xfrm>
          <a:prstGeom prst="roundRect">
            <a:avLst/>
          </a:prstGeom>
          <a:solidFill>
            <a:srgbClr val="F2DED3"/>
          </a:solidFill>
          <a:ln w="19050">
            <a:solidFill>
              <a:srgbClr val="DED7CC"/>
            </a:solidFill>
            <a:prstDash val="dash"/>
          </a:ln>
        </p:spPr>
      </p:sp>
      <p:sp>
        <p:nvSpPr>
          <p:cNvPr id="10" name="element_f8388510d72a4216b283eb6b897cef7a:fallback-label"/>
          <p:cNvSpPr/>
          <p:nvPr/>
        </p:nvSpPr>
        <p:spPr>
          <a:xfrm>
            <a:off x="6461598"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Illustrative comparison of two intervention options with expected impact and resource requirements</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Placeholder — no captured image supplied; replace with licensed asset</a:t>
            </a:r>
            <a:endParaRPr lang="en-US" sz="1400" dirty="0"/>
          </a:p>
        </p:txBody>
      </p:sp>
      <p:sp>
        <p:nvSpPr>
          <p:cNvPr id="11" name="element_8499d148663a451ac663e73f29fd22d4"/>
          <p:cNvSpPr txBox="1"/>
          <p:nvPr/>
        </p:nvSpPr>
        <p:spPr>
          <a:xfrm>
            <a:off x="6705432"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Replace image before external use · Placeholder — no captured image supplied; replace with licensed asset</a:t>
            </a:r>
            <a:endParaRPr lang="en-US" sz="1400" dirty="0"/>
          </a:p>
        </p:txBody>
      </p:sp>
      <p:sp>
        <p:nvSpPr>
          <p:cNvPr id="12" name="element_f8e7c178e3fb31b2633b5fba7eee72b9"/>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de77f9af8430e36f70224d5aec7ff1fc"/>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95f73df3dad06f19d585ecf674010c70"/>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84b6dc180c20b521ecd9d7f1bdd77971"/>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DECIDE</a:t>
            </a:r>
            <a:endParaRPr lang="en-US" sz="1500" dirty="0"/>
          </a:p>
        </p:txBody>
      </p:sp>
      <p:sp>
        <p:nvSpPr>
          <p:cNvPr id="4" name="element_d0b40c6f685657a53912cf9ad72c0739"/>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Select pipeline generation and implementation capacity for Q3</a:t>
            </a:r>
            <a:endParaRPr lang="en-US" sz="3800" dirty="0"/>
          </a:p>
        </p:txBody>
      </p:sp>
      <p:sp>
        <p:nvSpPr>
          <p:cNvPr id="5" name="element_a195ec09ec0b20c489fc4a16b2396111"/>
          <p:cNvSpPr txBox="1"/>
          <p:nvPr/>
        </p:nvSpPr>
        <p:spPr>
          <a:xfrm>
            <a:off x="6583515"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Approve Option A (pipeline generation) and Option B (implementation capacity). Assign owners and establish bi-weekly checkpoints to track pipeline coverage, win rate, and implementation days.</a:t>
            </a:r>
            <a:endParaRPr lang="en-US" sz="1900" dirty="0"/>
          </a:p>
        </p:txBody>
      </p:sp>
      <p:sp>
        <p:nvSpPr>
          <p:cNvPr id="6" name="element_35abbe4bb2555f11a6b9c5eaa92edc34"/>
          <p:cNvSpPr txBox="1"/>
          <p:nvPr/>
        </p:nvSpPr>
        <p:spPr>
          <a:xfrm>
            <a:off x="6583515"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Owner A: VP Sales — pipeline generation</a:t>
            </a:r>
            <a:endParaRPr lang="en-US" sz="1700" dirty="0"/>
          </a:p>
        </p:txBody>
      </p:sp>
      <p:sp>
        <p:nvSpPr>
          <p:cNvPr id="7" name="element_715bcf9574cdc724403f24e3fcade54d"/>
          <p:cNvSpPr txBox="1"/>
          <p:nvPr/>
        </p:nvSpPr>
        <p:spPr>
          <a:xfrm>
            <a:off x="6583515"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Owner B: VP Operations — implementation capacity</a:t>
            </a:r>
            <a:endParaRPr lang="en-US" sz="1700" dirty="0"/>
          </a:p>
        </p:txBody>
      </p:sp>
      <p:sp>
        <p:nvSpPr>
          <p:cNvPr id="8" name="element_8f0f0d73c8b2b9c49d00ba806a638803"/>
          <p:cNvSpPr txBox="1"/>
          <p:nvPr/>
        </p:nvSpPr>
        <p:spPr>
          <a:xfrm>
            <a:off x="6583515"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Checkpoints: bi-weekly KPI review starting Week 1 Q3</a:t>
            </a:r>
            <a:endParaRPr lang="en-US" sz="1700" dirty="0"/>
          </a:p>
        </p:txBody>
      </p:sp>
      <p:sp>
        <p:nvSpPr>
          <p:cNvPr id="9" name="element_2f60ac64a36e86e59435231c38d07ba9"/>
          <p:cNvSpPr txBox="1"/>
          <p:nvPr/>
        </p:nvSpPr>
        <p:spPr>
          <a:xfrm>
            <a:off x="1219170" y="2811780"/>
            <a:ext cx="4145176" cy="1371600"/>
          </a:xfrm>
          <a:prstGeom prst="rect">
            <a:avLst/>
          </a:prstGeom>
          <a:noFill/>
          <a:ln/>
        </p:spPr>
        <p:txBody>
          <a:bodyPr wrap="square" lIns="254000" tIns="254000" rIns="254000" bIns="254000" rtlCol="0" anchor="t">
            <a:normAutofit/>
          </a:bodyPr>
          <a:lstStyle/>
          <a:p>
            <a:pPr algn="l" indent="0" marL="0">
              <a:lnSpc>
                <a:spcPct val="100000"/>
              </a:lnSpc>
              <a:buNone/>
            </a:pPr>
            <a:r>
              <a:rPr lang="en-US" sz="5600" b="1" dirty="0">
                <a:solidFill>
                  <a:srgbClr val="34452C"/>
                </a:solidFill>
                <a:latin typeface="JetBrains Mono Variable" pitchFamily="34" charset="0"/>
                <a:ea typeface="JetBrains Mono Variable" pitchFamily="34" charset="-122"/>
                <a:cs typeface="JetBrains Mono Variable" pitchFamily="34" charset="-120"/>
              </a:rPr>
              <a:t>2</a:t>
            </a:r>
            <a:endParaRPr lang="en-US" sz="5600" dirty="0"/>
          </a:p>
        </p:txBody>
      </p:sp>
      <p:sp>
        <p:nvSpPr>
          <p:cNvPr id="10" name="element_f20358e90c076ff05cc8ef0204a34c1b"/>
          <p:cNvSpPr txBox="1"/>
          <p:nvPr/>
        </p:nvSpPr>
        <p:spPr>
          <a:xfrm>
            <a:off x="1463003" y="43205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Interventions Selected</a:t>
            </a:r>
            <a:endParaRPr lang="en-US" sz="1500" dirty="0"/>
          </a:p>
        </p:txBody>
      </p:sp>
      <p:sp>
        <p:nvSpPr>
          <p:cNvPr id="11" name="element_f3b95b1161b001b8563436041b4c4984"/>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2" name="element_d96dbec071b51f5f2590daf500c32680"/>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b1e126dbeffddda846d461f5dd88f778"/>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c07dbe74e6284c42dd2aa6cc290bd0b6"/>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DECIDE</a:t>
            </a:r>
            <a:endParaRPr lang="en-US" sz="1500" dirty="0"/>
          </a:p>
        </p:txBody>
      </p:sp>
      <p:sp>
        <p:nvSpPr>
          <p:cNvPr id="4" name="element_e6722508dc3d889ce867023f67f91a7f"/>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Bi-weekly reviews track progress against targets</a:t>
            </a:r>
            <a:endParaRPr lang="en-US" sz="3800" dirty="0"/>
          </a:p>
        </p:txBody>
      </p:sp>
      <p:sp>
        <p:nvSpPr>
          <p:cNvPr id="5" name="element_e84d01f5d68fbe92b753cadfffb0f860"/>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Establish a cadence of bi-weekly reviews to monitor pipeline coverage, win rate, implementation days, and gross retention. Escalate deviations exceeding 10% from plan.</a:t>
            </a:r>
            <a:endParaRPr lang="en-US" sz="1700" dirty="0"/>
          </a:p>
        </p:txBody>
      </p:sp>
      <p:sp>
        <p:nvSpPr>
          <p:cNvPr id="6" name="element_5a20dbf12281f6823b76e538fc94b4ba"/>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Week 2: Pipeline coverage and win rate review</a:t>
            </a:r>
            <a:endParaRPr lang="en-US" sz="1700" dirty="0"/>
          </a:p>
        </p:txBody>
      </p:sp>
      <p:sp>
        <p:nvSpPr>
          <p:cNvPr id="7" name="element_884352afeefa38b2137c4a448b5be079"/>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Week 4: Implementation days and retention review</a:t>
            </a:r>
            <a:endParaRPr lang="en-US" sz="1700" dirty="0"/>
          </a:p>
        </p:txBody>
      </p:sp>
      <p:sp>
        <p:nvSpPr>
          <p:cNvPr id="8" name="element_3b2caaeb992f0a487285eee7d5817dd2"/>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Week 6: Mid-quarter course correction if needed</a:t>
            </a:r>
            <a:endParaRPr lang="en-US" sz="1700" dirty="0"/>
          </a:p>
        </p:txBody>
      </p:sp>
      <p:sp>
        <p:nvSpPr>
          <p:cNvPr id="9" name="element_0af523715b60d6698c20838425a29580"/>
          <p:cNvSpPr/>
          <p:nvPr/>
        </p:nvSpPr>
        <p:spPr>
          <a:xfrm>
            <a:off x="7019978" y="4375404"/>
            <a:ext cx="243834" cy="164592"/>
          </a:xfrm>
          <a:prstGeom prst="line">
            <a:avLst/>
          </a:prstGeom>
          <a:noFill/>
          <a:ln w="25400">
            <a:solidFill>
              <a:srgbClr val="7566A8"/>
            </a:solidFill>
            <a:prstDash val="solid"/>
            <a:tailEnd type="triangle"/>
          </a:ln>
        </p:spPr>
      </p:sp>
      <p:sp>
        <p:nvSpPr>
          <p:cNvPr id="10" name="element_bdf02a9afe2c4aea61e2ff7c09a4cdaa"/>
          <p:cNvSpPr/>
          <p:nvPr/>
        </p:nvSpPr>
        <p:spPr>
          <a:xfrm>
            <a:off x="9194977" y="4375404"/>
            <a:ext cx="243834" cy="164592"/>
          </a:xfrm>
          <a:prstGeom prst="line">
            <a:avLst/>
          </a:prstGeom>
          <a:noFill/>
          <a:ln w="25400">
            <a:solidFill>
              <a:srgbClr val="7566A8"/>
            </a:solidFill>
            <a:prstDash val="solid"/>
            <a:tailEnd type="triangle"/>
          </a:ln>
        </p:spPr>
      </p:sp>
      <p:sp>
        <p:nvSpPr>
          <p:cNvPr id="11" name="element_673c758485ef3cec6ba15a0940ed725e"/>
          <p:cNvSpPr/>
          <p:nvPr/>
        </p:nvSpPr>
        <p:spPr>
          <a:xfrm>
            <a:off x="5120512" y="3977640"/>
            <a:ext cx="1868987" cy="960120"/>
          </a:xfrm>
          <a:prstGeom prst="roundRect">
            <a:avLst/>
          </a:prstGeom>
          <a:solidFill>
            <a:srgbClr val="E5E9D6"/>
          </a:solidFill>
          <a:ln w="12700">
            <a:solidFill>
              <a:srgbClr val="DED7CC"/>
            </a:solidFill>
            <a:prstDash val="solid"/>
          </a:ln>
        </p:spPr>
      </p:sp>
      <p:sp>
        <p:nvSpPr>
          <p:cNvPr id="12" name="element_673c758485ef3cec6ba15a0940ed725e:text"/>
          <p:cNvSpPr txBox="1"/>
          <p:nvPr/>
        </p:nvSpPr>
        <p:spPr>
          <a:xfrm>
            <a:off x="5120512" y="3977640"/>
            <a:ext cx="1868987"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Week 2</a:t>
            </a:r>
            <a:endParaRPr lang="en-US" sz="1600" dirty="0"/>
          </a:p>
        </p:txBody>
      </p:sp>
      <p:sp>
        <p:nvSpPr>
          <p:cNvPr id="13" name="element_3316c02a6e3c39293c3fb6de8f2c4110"/>
          <p:cNvSpPr/>
          <p:nvPr/>
        </p:nvSpPr>
        <p:spPr>
          <a:xfrm>
            <a:off x="7294291" y="3977640"/>
            <a:ext cx="1868987" cy="960120"/>
          </a:xfrm>
          <a:prstGeom prst="roundRect">
            <a:avLst/>
          </a:prstGeom>
          <a:solidFill>
            <a:srgbClr val="E5E9D6"/>
          </a:solidFill>
          <a:ln w="12700">
            <a:solidFill>
              <a:srgbClr val="DED7CC"/>
            </a:solidFill>
            <a:prstDash val="solid"/>
          </a:ln>
        </p:spPr>
      </p:sp>
      <p:sp>
        <p:nvSpPr>
          <p:cNvPr id="14" name="element_3316c02a6e3c39293c3fb6de8f2c4110:text"/>
          <p:cNvSpPr txBox="1"/>
          <p:nvPr/>
        </p:nvSpPr>
        <p:spPr>
          <a:xfrm>
            <a:off x="7294291" y="3977640"/>
            <a:ext cx="1868987"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Week 4</a:t>
            </a:r>
            <a:endParaRPr lang="en-US" sz="1600" dirty="0"/>
          </a:p>
        </p:txBody>
      </p:sp>
      <p:sp>
        <p:nvSpPr>
          <p:cNvPr id="15" name="element_c879d9a7d7850b3f18424fb6265d53ac"/>
          <p:cNvSpPr/>
          <p:nvPr/>
        </p:nvSpPr>
        <p:spPr>
          <a:xfrm>
            <a:off x="9469290" y="3977640"/>
            <a:ext cx="1868987" cy="960120"/>
          </a:xfrm>
          <a:prstGeom prst="roundRect">
            <a:avLst/>
          </a:prstGeom>
          <a:solidFill>
            <a:srgbClr val="E5E9D6"/>
          </a:solidFill>
          <a:ln w="12700">
            <a:solidFill>
              <a:srgbClr val="DED7CC"/>
            </a:solidFill>
            <a:prstDash val="solid"/>
          </a:ln>
        </p:spPr>
      </p:sp>
      <p:sp>
        <p:nvSpPr>
          <p:cNvPr id="16" name="element_c879d9a7d7850b3f18424fb6265d53ac:text"/>
          <p:cNvSpPr txBox="1"/>
          <p:nvPr/>
        </p:nvSpPr>
        <p:spPr>
          <a:xfrm>
            <a:off x="9469290" y="3977640"/>
            <a:ext cx="1868987" cy="96012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Week 6</a:t>
            </a:r>
            <a:endParaRPr lang="en-US" sz="1600" dirty="0"/>
          </a:p>
        </p:txBody>
      </p:sp>
      <p:sp>
        <p:nvSpPr>
          <p:cNvPr id="17" name="element_9025b90f2c2b39d368c3e0ab5fe1d79f"/>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8" name="element_dfc259b5edd00da659aa45c80f29aff8"/>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 seven-slide Q2 operating review for executives choosing two…</dc:title>
  <dc:subject>Create an editable, reviewable presentation from this idea</dc:subject>
  <dc:creator>NodeSlide</dc:creator>
  <cp:lastModifiedBy>NodeSlide</cp:lastModifiedBy>
  <cp:revision>1</cp:revision>
  <dcterms:created xsi:type="dcterms:W3CDTF">2026-07-21T23:54:59Z</dcterms:created>
  <dcterms:modified xsi:type="dcterms:W3CDTF">2026-07-21T23:54:59Z</dcterms:modified>
</cp:coreProperties>
</file>