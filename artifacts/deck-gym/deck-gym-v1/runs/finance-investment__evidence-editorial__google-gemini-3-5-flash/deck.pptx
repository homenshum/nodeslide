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Signal</c:v>
                </c:pt>
              </c:strCache>
            </c:strRef>
          </c:tx>
          <c:spPr>
            <a:solidFill>
              <a:srgbClr val="B44A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S1</c:v>
                  </c:pt>
                  <c:pt idx="1">
                    <c:v>S2</c:v>
                  </c:pt>
                  <c:pt idx="2">
                    <c:v>S3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DED3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Opening / 01. Keep the spoken transition focused on “Create an editable, reviewable presentation from this idea”
Evidence note: Content is based on the supplied creation brief. Illustrative examples are not independently verified; replace them with measured evidence before external publication.
NodeSlide sources
[source_022fb5bac73cba917e0103edef6ad261] Create a seven-slide investment-committee underwriting deck for a reg… — creation brief
Citation: Create a seven-slide investment-committee underwriting deck for a regional expansion. Show the thesis, unit economics, sources-and-uses waterfall, base/upside/downside scenarios, sensitivities, risks, and recommendation. Use only the supplied assumptions. Include an editable waterfall-style chart, assumptions table, scenario comparison, and return formula. Label every modeled value as an assumption rather than an observed outcome. Design direction: Use an evidence-led editorial direction: restrained surface treatment, decisive hierarchy, visible provenance, and an inspectable visual argument on every proof slide. Avoid card grids and decorative dashboards.
Disclaimer: Internal working material
[source_95e4bc59bc77cd2271eb4b54b1b1b728] underwriting.csv
Citation: Uploaded file: underwriting.csv
item,base,upside,downside,unit
initial_investment,12,12,12,musd
year3_revenue,18,24,13,musd
year3_ebitda_margin,22,27,14,percent
exit_multiple,8,9,6,x
irr,19,31,7,percent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Context / 02. Keep the spoken transition focused on “The cost of waiting is usually hidden in repeated work.”
Evidence note: Content is based on the supplied creation brief. Illustrative examples are not independently verified; replace them with measured evidence before external publication.
NodeSlide sources
[source_022fb5bac73cba917e0103edef6ad261] Create a seven-slide investment-committee underwriting deck for a reg… — creation brief
Citation: Create a seven-slide investment-committee underwriting deck for a regional expansion. Show the thesis, unit economics, sources-and-uses waterfall, base/upside/downside scenarios, sensitivities, risks, and recommendation. Use only the supplied assumptions. Include an editable waterfall-style chart, assumptions table, scenario comparison, and return formula. Label every modeled value as an assumption rather than an observed outcome. Design direction: Use an evidence-led editorial direction: restrained surface treatment, decisive hierarchy, visible provenance, and an inspectable visual argument on every proof slide. Avoid card grids and decorative dashboards.
Disclaimer: Internal working material
[source_95e4bc59bc77cd2271eb4b54b1b1b728] underwriting.csv
Citation: Uploaded file: underwriting.csv
item,base,upside,downside,unit
initial_investment,12,12,12,musd
year3_revenue,18,24,13,musd
year3_ebitda_margin,22,27,14,percent
exit_multiple,8,9,6,x
irr,19,31,7,percent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Insight / 03. Keep the spoken transition focused on “A better outcome starts with a sharper point of view.”
Evidence note: Content is based on the supplied creation brief. Illustrative examples are not independently verified; replace them with measured evidence before external publication.
NodeSlide sources
[source_022fb5bac73cba917e0103edef6ad261] Create a seven-slide investment-committee underwriting deck for a reg… — creation brief
Citation: Create a seven-slide investment-committee underwriting deck for a regional expansion. Show the thesis, unit economics, sources-and-uses waterfall, base/upside/downside scenarios, sensitivities, risks, and recommendation. Use only the supplied assumptions. Include an editable waterfall-style chart, assumptions table, scenario comparison, and return formula. Label every modeled value as an assumption rather than an observed outcome. Design direction: Use an evidence-led editorial direction: restrained surface treatment, decisive hierarchy, visible provenance, and an inspectable visual argument on every proof slide. Avoid card grids and decorative dashboards.
Disclaimer: Internal working material
[source_95e4bc59bc77cd2271eb4b54b1b1b728] underwriting.csv
Citation: Uploaded file: underwriting.csv
item,base,upside,downside,unit
initial_investment,12,12,12,musd
year3_revenue,18,24,13,musd
year3_ebitda_margin,22,27,14,percent
exit_multiple,8,9,6,x
irr,19,31,7,percent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Approach / 04. Keep the spoken transition focused on “Turn the idea into a sequence people can understand and own.”
Evidence note: Content is based on the supplied creation brief. Illustrative examples are not independently verified; replace them with measured evidence before external publication.
NodeSlide sources
[source_022fb5bac73cba917e0103edef6ad261] Create a seven-slide investment-committee underwriting deck for a reg… — creation brief
Citation: Create a seven-slide investment-committee underwriting deck for a regional expansion. Show the thesis, unit economics, sources-and-uses waterfall, base/upside/downside scenarios, sensitivities, risks, and recommendation. Use only the supplied assumptions. Include an editable waterfall-style chart, assumptions table, scenario comparison, and return formula. Label every modeled value as an assumption rather than an observed outcome. Design direction: Use an evidence-led editorial direction: restrained surface treatment, decisive hierarchy, visible provenance, and an inspectable visual argument on every proof slide. Avoid card grids and decorative dashboards.
Disclaimer: Internal working material
[source_95e4bc59bc77cd2271eb4b54b1b1b728] underwriting.csv
Citation: Uploaded file: underwriting.csv
item,base,upside,downside,unit
initial_investment,12,12,12,musd
year3_revenue,18,24,13,musd
year3_ebitda_margin,22,27,14,percent
exit_multiple,8,9,6,x
irr,19,31,7,percent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Evidence / 05. Keep the spoken transition focused on “Define proof before asking for commitment.”
Evidence note: Content is based on the supplied creation brief. Illustrative examples are not independently verified; replace them with measured evidence before external publication.
NodeSlide sources
[source_022fb5bac73cba917e0103edef6ad261] Create a seven-slide investment-committee underwriting deck for a reg… — creation brief
Citation: Create a seven-slide investment-committee underwriting deck for a regional expansion. Show the thesis, unit economics, sources-and-uses waterfall, base/upside/downside scenarios, sensitivities, risks, and recommendation. Use only the supplied assumptions. Include an editable waterfall-style chart, assumptions table, scenario comparison, and return formula. Label every modeled value as an assumption rather than an observed outcome. Design direction: Use an evidence-led editorial direction: restrained surface treatment, decisive hierarchy, visible provenance, and an inspectable visual argument on every proof slide. Avoid card grids and decorative dashboards.
Disclaimer: Internal working material
[source_95e4bc59bc77cd2271eb4b54b1b1b728] underwriting.csv
Citation: Uploaded file: underwriting.csv
item,base,upside,downside,unit
initial_investment,12,12,12,musd
year3_revenue,18,24,13,musd
year3_ebitda_margin,22,27,14,percent
exit_multiple,8,9,6,x
irr,19,31,7,percent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Delivery / 06. Keep the spoken transition focused on “Start narrow, learn quickly, and preserve room to adapt.”
Evidence note: Content is based on the supplied creation brief. Illustrative examples are not independently verified; replace them with measured evidence before external publication.
NodeSlide sources
[source_022fb5bac73cba917e0103edef6ad261] Create a seven-slide investment-committee underwriting deck for a reg… — creation brief
Citation: Create a seven-slide investment-committee underwriting deck for a regional expansion. Show the thesis, unit economics, sources-and-uses waterfall, base/upside/downside scenarios, sensitivities, risks, and recommendation. Use only the supplied assumptions. Include an editable waterfall-style chart, assumptions table, scenario comparison, and return formula. Label every modeled value as an assumption rather than an observed outcome. Design direction: Use an evidence-led editorial direction: restrained surface treatment, decisive hierarchy, visible provenance, and an inspectable visual argument on every proof slide. Avoid card grids and decorative dashboards.
Disclaimer: Internal working material
[source_95e4bc59bc77cd2271eb4b54b1b1b728] underwriting.csv
Citation: Uploaded file: underwriting.csv
item,base,upside,downside,unit
initial_investment,12,12,12,musd
year3_revenue,18,24,13,musd
year3_ebitda_margin,22,27,14,percent
exit_multiple,8,9,6,x
irr,19,31,7,percent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Close / 07. Keep the spoken transition focused on “Create an editable, reviewable presentation from this idea”
Evidence note: Content is based on the supplied creation brief. Illustrative examples are not independently verified; replace them with measured evidence before external publication.
NodeSlide sources
[source_022fb5bac73cba917e0103edef6ad261] Create a seven-slide investment-committee underwriting deck for a reg… — creation brief
Citation: Create a seven-slide investment-committee underwriting deck for a regional expansion. Show the thesis, unit economics, sources-and-uses waterfall, base/upside/downside scenarios, sensitivities, risks, and recommendation. Use only the supplied assumptions. Include an editable waterfall-style chart, assumptions table, scenario comparison, and return formula. Label every modeled value as an assumption rather than an observed outcome. Design direction: Use an evidence-led editorial direction: restrained surface treatment, decisive hierarchy, visible provenance, and an inspectable visual argument on every proof slide. Avoid card grids and decorative dashboards.
Disclaimer: Internal working material
[source_95e4bc59bc77cd2271eb4b54b1b1b728] underwriting.csv
Citation: Uploaded file: underwriting.csv
item,base,upside,downside,unit
initial_investment,12,12,12,musd
year3_revenue,18,24,13,musd
year3_ebitda_margin,22,27,14,percent
exit_multiple,8,9,6,x
irr,19,31,7,percent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e11ac454f5acd374f920744de2e3da14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716c6bc207595425acb4b500d2da019f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OPENING / 01</a:t>
            </a:r>
            <a:endParaRPr lang="en-US" sz="1500" dirty="0"/>
          </a:p>
        </p:txBody>
      </p:sp>
      <p:sp>
        <p:nvSpPr>
          <p:cNvPr id="4" name="element_dc949d1df4cccedeb2997fc727d070b3"/>
          <p:cNvSpPr txBox="1"/>
          <p:nvPr/>
        </p:nvSpPr>
        <p:spPr>
          <a:xfrm>
            <a:off x="853419" y="1028700"/>
            <a:ext cx="9631439" cy="1851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an editable, reviewable presentation from this idea</a:t>
            </a:r>
            <a:endParaRPr lang="en-US" sz="4800" dirty="0"/>
          </a:p>
        </p:txBody>
      </p:sp>
      <p:sp>
        <p:nvSpPr>
          <p:cNvPr id="5" name="element_3d040828ebf81dac9f1e1b24191cb92a"/>
          <p:cNvSpPr txBox="1"/>
          <p:nvPr/>
        </p:nvSpPr>
        <p:spPr>
          <a:xfrm>
            <a:off x="853419" y="3291840"/>
            <a:ext cx="8046519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 focused narrative for Decision-makers described in the brief, built from the supplied brief and kept editable from first draft onward.</a:t>
            </a:r>
            <a:endParaRPr lang="en-US" sz="1900" dirty="0"/>
          </a:p>
        </p:txBody>
      </p:sp>
      <p:sp>
        <p:nvSpPr>
          <p:cNvPr id="6" name="element_ba0199b24413d0fc1dad5960f6a264c6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A coherent 6–8 slide narrative</a:t>
            </a:r>
            <a:endParaRPr lang="en-US" sz="1600" dirty="0"/>
          </a:p>
        </p:txBody>
      </p:sp>
      <p:sp>
        <p:nvSpPr>
          <p:cNvPr id="7" name="element_ad4a200ed6059dadbc68ced5ec15a196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Structured chart, formula, and image primitives where relevant</a:t>
            </a:r>
            <a:endParaRPr lang="en-US" sz="1600" dirty="0"/>
          </a:p>
        </p:txBody>
      </p:sp>
      <p:sp>
        <p:nvSpPr>
          <p:cNvPr id="8" name="element_ad41c0d40b808c17678f92a5240b2a73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Validation passes before presentation or export</a:t>
            </a:r>
            <a:endParaRPr lang="en-US" sz="1600" dirty="0"/>
          </a:p>
        </p:txBody>
      </p:sp>
      <p:sp>
        <p:nvSpPr>
          <p:cNvPr id="9" name="element_afbaad053dee673d38d1e2a30ca8185e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1430b09884be63f2084f288b3c303a16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62634efbe47a4f4e06750e49d1ca5a50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fbe3af0038b647a22fd48e1b9be967d1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CONTEXT / 02</a:t>
            </a:r>
            <a:endParaRPr lang="en-US" sz="1500" dirty="0"/>
          </a:p>
        </p:txBody>
      </p:sp>
      <p:sp>
        <p:nvSpPr>
          <p:cNvPr id="4" name="element_45710c387e215348431f1250ac4543c6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cost of waiting is usually hidden in repeated work.</a:t>
            </a:r>
            <a:endParaRPr lang="en-US" sz="3800" dirty="0"/>
          </a:p>
        </p:txBody>
      </p:sp>
      <p:sp>
        <p:nvSpPr>
          <p:cNvPr id="5" name="element_73d212b182e7cb7ab32ec9f36577dedc"/>
          <p:cNvSpPr txBox="1"/>
          <p:nvPr/>
        </p:nvSpPr>
        <p:spPr>
          <a:xfrm>
            <a:off x="853419" y="2606040"/>
            <a:ext cx="390134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Frame the current reality for Decision-makers described in the brief: what is fragmented today, why it matters now, and where momentum is being lost.</a:t>
            </a:r>
            <a:endParaRPr lang="en-US" sz="1700" dirty="0"/>
          </a:p>
        </p:txBody>
      </p:sp>
      <p:sp>
        <p:nvSpPr>
          <p:cNvPr id="6" name="element_2c1cd9123b02c624eed0f71a5ae3cd8b"/>
          <p:cNvSpPr txBox="1"/>
          <p:nvPr/>
        </p:nvSpPr>
        <p:spPr>
          <a:xfrm>
            <a:off x="853419" y="42519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Name the friction</a:t>
            </a:r>
            <a:endParaRPr lang="en-US" sz="1700" dirty="0"/>
          </a:p>
        </p:txBody>
      </p:sp>
      <p:sp>
        <p:nvSpPr>
          <p:cNvPr id="7" name="element_b290a3585f4ba296d467626d9b10b25c"/>
          <p:cNvSpPr txBox="1"/>
          <p:nvPr/>
        </p:nvSpPr>
        <p:spPr>
          <a:xfrm>
            <a:off x="853419" y="49377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Expose the consequence</a:t>
            </a:r>
            <a:endParaRPr lang="en-US" sz="1700" dirty="0"/>
          </a:p>
        </p:txBody>
      </p:sp>
      <p:sp>
        <p:nvSpPr>
          <p:cNvPr id="8" name="element_47eae7f0811e8d3f611175f0c5de0998"/>
          <p:cNvSpPr txBox="1"/>
          <p:nvPr/>
        </p:nvSpPr>
        <p:spPr>
          <a:xfrm>
            <a:off x="853419" y="56235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Create urgency without hype</a:t>
            </a:r>
            <a:endParaRPr lang="en-US" sz="1700" dirty="0"/>
          </a:p>
        </p:txBody>
      </p:sp>
      <p:sp>
        <p:nvSpPr>
          <p:cNvPr id="9" name="element_bb565b02c49396e7b56282573e3e0bb4"/>
          <p:cNvSpPr/>
          <p:nvPr/>
        </p:nvSpPr>
        <p:spPr>
          <a:xfrm>
            <a:off x="7019978" y="4375404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0" name="element_73f630456ae385d0a7f145ee3c99778d"/>
          <p:cNvSpPr/>
          <p:nvPr/>
        </p:nvSpPr>
        <p:spPr>
          <a:xfrm>
            <a:off x="9194977" y="4375404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1" name="element_837ef3985bccc2ff50b87ea734ec9bcb"/>
          <p:cNvSpPr/>
          <p:nvPr/>
        </p:nvSpPr>
        <p:spPr>
          <a:xfrm>
            <a:off x="5045753" y="3939235"/>
            <a:ext cx="2018506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2" name="element_837ef3985bccc2ff50b87ea734ec9bcb:text"/>
          <p:cNvSpPr txBox="1"/>
          <p:nvPr/>
        </p:nvSpPr>
        <p:spPr>
          <a:xfrm>
            <a:off x="5045753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Friction</a:t>
            </a:r>
            <a:endParaRPr lang="en-US" sz="1600" dirty="0"/>
          </a:p>
        </p:txBody>
      </p:sp>
      <p:sp>
        <p:nvSpPr>
          <p:cNvPr id="13" name="element_2c80ea4b742eaa36c0ac5c04d3bfb079"/>
          <p:cNvSpPr/>
          <p:nvPr/>
        </p:nvSpPr>
        <p:spPr>
          <a:xfrm>
            <a:off x="7219532" y="3939235"/>
            <a:ext cx="2018506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4" name="element_2c80ea4b742eaa36c0ac5c04d3bfb079:text"/>
          <p:cNvSpPr txBox="1"/>
          <p:nvPr/>
        </p:nvSpPr>
        <p:spPr>
          <a:xfrm>
            <a:off x="7219532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Consequence</a:t>
            </a:r>
            <a:endParaRPr lang="en-US" sz="1600" dirty="0"/>
          </a:p>
        </p:txBody>
      </p:sp>
      <p:sp>
        <p:nvSpPr>
          <p:cNvPr id="15" name="element_6cdc4365925f6b6694be549b21c507a1"/>
          <p:cNvSpPr/>
          <p:nvPr/>
        </p:nvSpPr>
        <p:spPr>
          <a:xfrm>
            <a:off x="9394530" y="3939235"/>
            <a:ext cx="2018506" cy="1036930"/>
          </a:xfrm>
          <a:prstGeom prst="roundRect">
            <a:avLst/>
          </a:prstGeom>
          <a:solidFill>
            <a:srgbClr val="E5E9D6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6" name="element_6cdc4365925f6b6694be549b21c507a1:text"/>
          <p:cNvSpPr txBox="1"/>
          <p:nvPr/>
        </p:nvSpPr>
        <p:spPr>
          <a:xfrm>
            <a:off x="9394530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Decision window</a:t>
            </a:r>
            <a:endParaRPr lang="en-US" sz="1600" dirty="0"/>
          </a:p>
        </p:txBody>
      </p:sp>
      <p:sp>
        <p:nvSpPr>
          <p:cNvPr id="17" name="element_286186f83e97c11c0bd940e46132985b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8" name="element_b98da5f54e545414faefef0b4ab56d56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149e1746ad370de84b132116d4223c92"/>
          <p:cNvSpPr/>
          <p:nvPr/>
        </p:nvSpPr>
        <p:spPr>
          <a:xfrm>
            <a:off x="11667452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afb50783de3c14eb21f3221aba89d286"/>
          <p:cNvSpPr txBox="1"/>
          <p:nvPr/>
        </p:nvSpPr>
        <p:spPr>
          <a:xfrm>
            <a:off x="5486263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INSIGHT / 03</a:t>
            </a:r>
            <a:endParaRPr lang="en-US" sz="1500" dirty="0"/>
          </a:p>
        </p:txBody>
      </p:sp>
      <p:sp>
        <p:nvSpPr>
          <p:cNvPr id="4" name="element_06d35ce952e084cdeee7ba7b39037950"/>
          <p:cNvSpPr txBox="1"/>
          <p:nvPr/>
        </p:nvSpPr>
        <p:spPr>
          <a:xfrm>
            <a:off x="2072588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better outcome starts with a sharper point of view.</a:t>
            </a:r>
            <a:endParaRPr lang="en-US" sz="3800" dirty="0"/>
          </a:p>
        </p:txBody>
      </p:sp>
      <p:sp>
        <p:nvSpPr>
          <p:cNvPr id="5" name="element_f422d0bee091566b770d7590997f9a37"/>
          <p:cNvSpPr txBox="1"/>
          <p:nvPr/>
        </p:nvSpPr>
        <p:spPr>
          <a:xfrm>
            <a:off x="1706837" y="2743200"/>
            <a:ext cx="963143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Create a seven-slide investment-committee underwriting deck for a regional expansion. Show the thesis, unit economics, sources-and-uses waterfall, base/upside/downside scenarios, sensitivities, risks, and recommendation. Use only the supplied assumptions. Inc…</a:t>
            </a:r>
            <a:endParaRPr lang="en-US" sz="1900" dirty="0"/>
          </a:p>
        </p:txBody>
      </p:sp>
      <p:sp>
        <p:nvSpPr>
          <p:cNvPr id="6" name="element_fa8c083f602131fa1235483b6cc77362"/>
          <p:cNvSpPr txBox="1"/>
          <p:nvPr/>
        </p:nvSpPr>
        <p:spPr>
          <a:xfrm>
            <a:off x="8168436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 coherent 6–8 slide narrative</a:t>
            </a:r>
            <a:endParaRPr lang="en-US" sz="1700" dirty="0"/>
          </a:p>
        </p:txBody>
      </p:sp>
      <p:sp>
        <p:nvSpPr>
          <p:cNvPr id="7" name="element_63d0a8f89e9b3607b0ab03789b0ca454"/>
          <p:cNvSpPr txBox="1"/>
          <p:nvPr/>
        </p:nvSpPr>
        <p:spPr>
          <a:xfrm>
            <a:off x="4632844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Structured chart, formula, and image primitives where relevant</a:t>
            </a:r>
            <a:endParaRPr lang="en-US" sz="1700" dirty="0"/>
          </a:p>
        </p:txBody>
      </p:sp>
      <p:sp>
        <p:nvSpPr>
          <p:cNvPr id="8" name="element_37405aa2fd63fd139419c824b4ca94d7"/>
          <p:cNvSpPr txBox="1"/>
          <p:nvPr/>
        </p:nvSpPr>
        <p:spPr>
          <a:xfrm>
            <a:off x="1097253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Validation passes before presentation or export</a:t>
            </a:r>
            <a:endParaRPr lang="en-US" sz="1700" dirty="0"/>
          </a:p>
        </p:txBody>
      </p:sp>
      <p:sp>
        <p:nvSpPr>
          <p:cNvPr id="9" name="element_290e4f6e900aebbc97db1dc3ce8f3deb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1b4ca4aa80ac53a7fa0f5fbcb1b860a0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caeaa0ac116c3c951128c30069b500c5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1d4d9b0b9f5f051c744d9430ee7c5af1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APPROACH / 04</a:t>
            </a:r>
            <a:endParaRPr lang="en-US" sz="1500" dirty="0"/>
          </a:p>
        </p:txBody>
      </p:sp>
      <p:sp>
        <p:nvSpPr>
          <p:cNvPr id="4" name="element_dd3e9388836c7bd00e5154f6aa9d42d8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 the idea into a sequence people can understand and own.</a:t>
            </a:r>
            <a:endParaRPr lang="en-US" sz="3800" dirty="0"/>
          </a:p>
        </p:txBody>
      </p:sp>
      <p:sp>
        <p:nvSpPr>
          <p:cNvPr id="5" name="element_200bfb8eb11e11316f1c7cdf1512ed42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Connect intent, action, and feedback in one visible operating path so the audience can see both the destination and the mechanics.</a:t>
            </a:r>
            <a:endParaRPr lang="en-US" sz="1900" dirty="0"/>
          </a:p>
        </p:txBody>
      </p:sp>
      <p:sp>
        <p:nvSpPr>
          <p:cNvPr id="6" name="element_5b3a63f632a563be8fbc482e39adcfe0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Align on intent</a:t>
            </a:r>
            <a:endParaRPr lang="en-US" sz="1700" dirty="0"/>
          </a:p>
        </p:txBody>
      </p:sp>
      <p:sp>
        <p:nvSpPr>
          <p:cNvPr id="7" name="element_7b8fa80da1544d9f99460a7fc4dd2185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Execute the critical moves</a:t>
            </a:r>
            <a:endParaRPr lang="en-US" sz="1700" dirty="0"/>
          </a:p>
        </p:txBody>
      </p:sp>
      <p:sp>
        <p:nvSpPr>
          <p:cNvPr id="8" name="element_52600af52c0fe5cf45605c553c6fbd40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Review measurable outcomes</a:t>
            </a:r>
            <a:endParaRPr lang="en-US" sz="1700" dirty="0"/>
          </a:p>
        </p:txBody>
      </p:sp>
      <p:sp>
        <p:nvSpPr>
          <p:cNvPr id="9" name="element_03d18b576cc9c5f978c9a86b63d3ed0a"/>
          <p:cNvSpPr txBox="1"/>
          <p:nvPr/>
        </p:nvSpPr>
        <p:spPr>
          <a:xfrm>
            <a:off x="6461598" y="2880360"/>
            <a:ext cx="4754761" cy="164592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accepted change = proposal ∩ authorized scope</a:t>
            </a:r>
            <a:endParaRPr lang="en-US" sz="3000" dirty="0"/>
          </a:p>
        </p:txBody>
      </p:sp>
      <p:sp>
        <p:nvSpPr>
          <p:cNvPr id="10" name="element_0cc10f13e97f6765237e7b4eabee3850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1" name="element_6f1b088f97b3840191d6cc94038df5a1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7d7913ff1b27b1d9588b8cd693038513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46a59ea35331e90a1702764df5a19a67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EVIDENCE / 05</a:t>
            </a:r>
            <a:endParaRPr lang="en-US" sz="1500" dirty="0"/>
          </a:p>
        </p:txBody>
      </p:sp>
      <p:sp>
        <p:nvSpPr>
          <p:cNvPr id="4" name="element_39fcf77addcd586ecc3b8a0da261ef6d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 proof before asking for commitment.</a:t>
            </a:r>
            <a:endParaRPr lang="en-US" sz="3800" dirty="0"/>
          </a:p>
        </p:txBody>
      </p:sp>
      <p:sp>
        <p:nvSpPr>
          <p:cNvPr id="5" name="element_708debcc4aebb409028cdbd0d01bb532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Use the brief’s success criteria as explicit evaluation signals, with assumptions clearly separated from measured evidence.</a:t>
            </a:r>
            <a:endParaRPr lang="en-US" sz="1900" dirty="0"/>
          </a:p>
        </p:txBody>
      </p:sp>
      <p:sp>
        <p:nvSpPr>
          <p:cNvPr id="6" name="element_bbd73677e91dce0fe284af49bca47bad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 coherent 6–8 slide narrative</a:t>
            </a:r>
            <a:endParaRPr lang="en-US" sz="1700" dirty="0"/>
          </a:p>
        </p:txBody>
      </p:sp>
      <p:sp>
        <p:nvSpPr>
          <p:cNvPr id="7" name="element_347cc5456d65ce6dfc35c231f78641c6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Structured chart, formula, and image primitives where relevant</a:t>
            </a:r>
            <a:endParaRPr lang="en-US" sz="1700" dirty="0"/>
          </a:p>
        </p:txBody>
      </p:sp>
      <p:sp>
        <p:nvSpPr>
          <p:cNvPr id="8" name="element_e7e34b2f21335761a36a0bffc9445756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Validation passes before presentation or export</a:t>
            </a:r>
            <a:endParaRPr lang="en-US" sz="1700" dirty="0"/>
          </a:p>
        </p:txBody>
      </p:sp>
      <p:sp>
        <p:nvSpPr>
          <p:cNvPr id="9" name="element_c76c883ead017d2d242de407dc845a9a"/>
          <p:cNvSpPr txBox="1"/>
          <p:nvPr/>
        </p:nvSpPr>
        <p:spPr>
          <a:xfrm>
            <a:off x="6661542" y="2770632"/>
            <a:ext cx="4476790" cy="1110996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3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3 signals</a:t>
            </a:r>
            <a:endParaRPr lang="en-US" sz="4300" dirty="0"/>
          </a:p>
        </p:txBody>
      </p:sp>
      <p:sp>
        <p:nvSpPr>
          <p:cNvPr id="10" name="element_e5ddc7a24de64242ebc775d9d26fac69"/>
          <p:cNvSpPr txBox="1"/>
          <p:nvPr/>
        </p:nvSpPr>
        <p:spPr>
          <a:xfrm>
            <a:off x="7193100" y="3977640"/>
            <a:ext cx="353559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agreed measures of a successful outcome</a:t>
            </a:r>
            <a:endParaRPr lang="en-US" sz="1500" dirty="0"/>
          </a:p>
        </p:txBody>
      </p:sp>
      <p:graphicFrame>
        <p:nvGraphicFramePr>
          <p:cNvPr id="11" name="element_2f3b61891120fa22ca95b5c7ead518c8" descr=""/>
          <p:cNvGraphicFramePr/>
          <p:nvPr/>
        </p:nvGraphicFramePr>
        <p:xfrm>
          <a:off x="6271408" y="4753966"/>
          <a:ext cx="5135142" cy="125912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element_125ee9ab54cc143be6a0b2b86ac4efc4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10316faa35215a487dc99d18a9e76999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94cbc07710f2fa3ff2421e1f19dbb04e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3664589223ebd6922e0ae1714d75ad73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DELIVERY / 06</a:t>
            </a:r>
            <a:endParaRPr lang="en-US" sz="1500" dirty="0"/>
          </a:p>
        </p:txBody>
      </p:sp>
      <p:sp>
        <p:nvSpPr>
          <p:cNvPr id="4" name="element_f5e1a3cf87d84f1e5ddabc431bf32309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narrow, learn quickly, and preserve room to adapt.</a:t>
            </a:r>
            <a:endParaRPr lang="en-US" sz="3800" dirty="0"/>
          </a:p>
        </p:txBody>
      </p:sp>
      <p:sp>
        <p:nvSpPr>
          <p:cNvPr id="5" name="element_847c70f6f6ae29f524ca53452f0bdbbd"/>
          <p:cNvSpPr txBox="1"/>
          <p:nvPr/>
        </p:nvSpPr>
        <p:spPr>
          <a:xfrm>
            <a:off x="6339682" y="2743200"/>
            <a:ext cx="48766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Sequence the work into a focused launch, an evidence review, and a deliberate scale decision with named ownership at every step.</a:t>
            </a:r>
            <a:endParaRPr lang="en-US" sz="1900" dirty="0"/>
          </a:p>
        </p:txBody>
      </p:sp>
      <p:sp>
        <p:nvSpPr>
          <p:cNvPr id="6" name="element_4462d3e1ea5a9421caa5e780dbfdc707"/>
          <p:cNvSpPr txBox="1"/>
          <p:nvPr/>
        </p:nvSpPr>
        <p:spPr>
          <a:xfrm>
            <a:off x="6339682" y="42519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Launch the smallest credible move</a:t>
            </a:r>
            <a:endParaRPr lang="en-US" sz="1700" dirty="0"/>
          </a:p>
        </p:txBody>
      </p:sp>
      <p:sp>
        <p:nvSpPr>
          <p:cNvPr id="7" name="element_339585f774ea3bca8917fc957f0b56cd"/>
          <p:cNvSpPr txBox="1"/>
          <p:nvPr/>
        </p:nvSpPr>
        <p:spPr>
          <a:xfrm>
            <a:off x="6339682" y="49377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Review evidence with stakeholders</a:t>
            </a:r>
            <a:endParaRPr lang="en-US" sz="1700" dirty="0"/>
          </a:p>
        </p:txBody>
      </p:sp>
      <p:sp>
        <p:nvSpPr>
          <p:cNvPr id="8" name="element_aa04953e5d4a7f11e7a1e2e94dd1b7ac"/>
          <p:cNvSpPr txBox="1"/>
          <p:nvPr/>
        </p:nvSpPr>
        <p:spPr>
          <a:xfrm>
            <a:off x="6339682" y="56235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Scale what earns confidence</a:t>
            </a:r>
            <a:endParaRPr lang="en-US" sz="1700" dirty="0"/>
          </a:p>
        </p:txBody>
      </p:sp>
      <p:sp>
        <p:nvSpPr>
          <p:cNvPr id="9" name="element_c9fedb6c1b70dd73e3e8b90139c1bf02:fallback-shape"/>
          <p:cNvSpPr/>
          <p:nvPr/>
        </p:nvSpPr>
        <p:spPr>
          <a:xfrm>
            <a:off x="731502" y="2674620"/>
            <a:ext cx="4754761" cy="2606040"/>
          </a:xfrm>
          <a:prstGeom prst="roundRect">
            <a:avLst/>
          </a:prstGeom>
          <a:solidFill>
            <a:srgbClr val="F2DED3"/>
          </a:solidFill>
          <a:ln w="19050">
            <a:solidFill>
              <a:srgbClr val="DED7CC"/>
            </a:solidFill>
            <a:prstDash val="dash"/>
          </a:ln>
        </p:spPr>
      </p:sp>
      <p:sp>
        <p:nvSpPr>
          <p:cNvPr id="10" name="element_c9fedb6c1b70dd73e3e8b90139c1bf02:fallback-label"/>
          <p:cNvSpPr/>
          <p:nvPr/>
        </p:nvSpPr>
        <p:spPr>
          <a:xfrm>
            <a:off x="731502" y="2674620"/>
            <a:ext cx="4754761" cy="2606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Structured evidence map derived from the supplied brief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Replace image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visual is illustrative and remains replaceable as an image object.</a:t>
            </a:r>
            <a:endParaRPr lang="en-US" sz="1400" dirty="0"/>
          </a:p>
        </p:txBody>
      </p:sp>
      <p:sp>
        <p:nvSpPr>
          <p:cNvPr id="11" name="element_0aeab261a5d7aaa87d32f1d3a8eeb573"/>
          <p:cNvSpPr txBox="1"/>
          <p:nvPr/>
        </p:nvSpPr>
        <p:spPr>
          <a:xfrm>
            <a:off x="975336" y="5417820"/>
            <a:ext cx="4267093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visual is illustrative and remains replaceable as an image object.</a:t>
            </a:r>
            <a:endParaRPr lang="en-US" sz="1400" dirty="0"/>
          </a:p>
        </p:txBody>
      </p:sp>
      <p:sp>
        <p:nvSpPr>
          <p:cNvPr id="12" name="element_76b3a2919a7a15733a961abfc84a5b99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b545fa40d137a9a5971aa748e7a128db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68a7922a0b02041c7d1112ee9f77a09a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817eb6bac73bb5283e4c1f8595ecf80b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CLOSE / 07</a:t>
            </a:r>
            <a:endParaRPr lang="en-US" sz="1500" dirty="0"/>
          </a:p>
        </p:txBody>
      </p:sp>
      <p:sp>
        <p:nvSpPr>
          <p:cNvPr id="4" name="element_4f9e10c67cc809cdea2cc380893e68b8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an editable, reviewable presentation from this idea</a:t>
            </a:r>
            <a:endParaRPr lang="en-US" sz="3800" dirty="0"/>
          </a:p>
        </p:txBody>
      </p:sp>
      <p:sp>
        <p:nvSpPr>
          <p:cNvPr id="5" name="element_7e2b9827c7618a924422a089a499ec42"/>
          <p:cNvSpPr txBox="1"/>
          <p:nvPr/>
        </p:nvSpPr>
        <p:spPr>
          <a:xfrm>
            <a:off x="853419" y="2743200"/>
            <a:ext cx="804651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Invite Decision-makers described in the brief to align on the outcome, the first action, and the evidence that will guide the next decision.</a:t>
            </a:r>
            <a:endParaRPr lang="en-US" sz="1900" dirty="0"/>
          </a:p>
        </p:txBody>
      </p:sp>
      <p:sp>
        <p:nvSpPr>
          <p:cNvPr id="6" name="element_06778f977a1619033a36681cf2d3e942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Agree the outcome</a:t>
            </a:r>
            <a:endParaRPr lang="en-US" sz="1600" dirty="0"/>
          </a:p>
        </p:txBody>
      </p:sp>
      <p:sp>
        <p:nvSpPr>
          <p:cNvPr id="7" name="element_e13be6fe0edc618a90e1374b3af93b9e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Name the owner</a:t>
            </a:r>
            <a:endParaRPr lang="en-US" sz="1600" dirty="0"/>
          </a:p>
        </p:txBody>
      </p:sp>
      <p:sp>
        <p:nvSpPr>
          <p:cNvPr id="8" name="element_7e13f21e04eba4ba77365a0a9adaba62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Set the next checkpoint</a:t>
            </a:r>
            <a:endParaRPr lang="en-US" sz="1600" dirty="0"/>
          </a:p>
        </p:txBody>
      </p:sp>
      <p:sp>
        <p:nvSpPr>
          <p:cNvPr id="9" name="element_8ef0bb9bdd1498994000a191d0b8cee5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d4a8c29ea5723a0e856d42f2ece61e55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ist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Parity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Create a seven-slide investment-committee underwriting deck for a reg…</dc:title>
  <dc:subject>Create an editable, reviewable presentation from this idea</dc:subject>
  <dc:creator>NodeSlide</dc:creator>
  <cp:lastModifiedBy>NodeSlide</cp:lastModifiedBy>
  <cp:revision>1</cp:revision>
  <dcterms:created xsi:type="dcterms:W3CDTF">2026-07-21T23:55:43Z</dcterms:created>
  <dcterms:modified xsi:type="dcterms:W3CDTF">2026-07-21T23:55:43Z</dcterms:modified>
</cp:coreProperties>
</file>