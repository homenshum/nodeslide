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Cool roofs</c:v>
                  </c:pt>
                  <c:pt idx="1">
                    <c:v>Tree canopy</c:v>
                  </c:pt>
                  <c:pt idx="2">
                    <c:v>Resilience centers</c:v>
                  </c:pt>
                </c:lvl>
              </c:multiLvlStrCache>
            </c:multiLvlStrRef>
          </c:cat>
          <c:val>
            <c:numRef>
              <c:f>Sheet1!$B$2:$B$4</c:f>
              <c:numCache>
                <c:formatCode>General</c:formatCode>
                <c:ptCount val="3"/>
                <c:pt idx="0">
                  <c:v>6.2</c:v>
                </c:pt>
                <c:pt idx="1">
                  <c:v>4.8</c:v>
                </c:pt>
                <c:pt idx="2">
                  <c:v>3.1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Resilience centers (2 yr)</c:v>
                  </c:pt>
                  <c:pt idx="1">
                    <c:v>Cool roofs (3 yr)</c:v>
                  </c:pt>
                  <c:pt idx="2">
                    <c:v>Tree canopy (8 yr)</c:v>
                  </c:pt>
                </c:lvl>
              </c:multiLvlStrCache>
            </c:multiLvlStrRef>
          </c:cat>
          <c:val>
            <c:numRef>
              <c:f>Sheet1!$B$2:$B$4</c:f>
              <c:numCache>
                <c:formatCode>General</c:formatCode>
                <c:ptCount val="3"/>
                <c:pt idx="0">
                  <c:v>6.2</c:v>
                </c:pt>
                <c:pt idx="1">
                  <c:v>12.4</c:v>
                </c:pt>
                <c:pt idx="2">
                  <c:v>38.4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“Choose a phased heat-resilience package on supplied facts, not assumed outcomes”
Evidence note: Content is based on the supplied creation brief. Illustrative examples are not independently verified; replace them with measured evidence before external publication.
NodeSlide sources
[source_bc95201940c6c860fb715aa36172cafb] Create a seven-slide policy briefing for city council members choosin… — creation brief
Citation: Create a seven-slide policy briefing for city council members choosing a phased heat-resilience package. Show the evidence baseline, affected stakeholders, intervention options, implementation timeline, trade-offs, funding sequence, and recommendation. Use the supplied program facts without claiming measured health outcomes. Include an editable evidence map, stakeholder map, timeline, and trade-off comparison. Design direction: Use an evidence-led editorial direction: restrained surface treatment, decisive hierarchy, visible provenance, and an inspectable visual argument on every proof slide. Avoid card grids and decorative dashboards.
Disclaimer: Internal working material
[source_631a6fb68af7674182f01b3ce641dbfe] heat-options.json
Citation: Uploaded file: heat-options.json
[{"option":"cool_roofs","annual_cost_musd":6.2,"implementation_years":3,"coverage_percent":18},{"option":"tree_canopy","annual_cost_musd":4.8,"implementation_years":8,"coverage_percent":11},{"option":"resilience_centers","annual_cost_musd":3.1,"implementation_years":2,"sites":14}]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“Three options, three distinct cost and coverage profiles”
Evidence note: Content is based on the supplied creation brief. Illustrative examples are not independently verified; replace them with measured evidence before external publication.
NodeSlide sources
[source_bc95201940c6c860fb715aa36172cafb] Create a seven-slide policy briefing for city council members choosin… — creation brief
Citation: Create a seven-slide policy briefing for city council members choosing a phased heat-resilience package. Show the evidence baseline, affected stakeholders, intervention options, implementation timeline, trade-offs, funding sequence, and recommendation. Use the supplied program facts without claiming measured health outcomes. Include an editable evidence map, stakeholder map, timeline, and trade-off comparison. Design direction: Use an evidence-led editorial direction: restrained surface treatment, decisive hierarchy, visible provenance, and an inspectable visual argument on every proof slide. Avoid card grids and decorative dashboards.
Disclaimer: Internal working material
[source_631a6fb68af7674182f01b3ce641dbfe] heat-options.json
Citation: Uploaded file: heat-options.json
[{"option":"cool_roofs","annual_cost_musd":6.2,"implementation_years":3,"coverage_percent":18},{"option":"tree_canopy","annual_cost_musd":4.8,"implementation_years":8,"coverage_percent":11},{"option":"resilience_centers","annual_cost_musd":3.1,"implementation_years":2,"sites":14}]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“Each option reaches different stakeholders on different clocks”
Evidence note: Content is based on the supplied creation brief. Illustrative examples are not independently verified; replace them with measured evidence before external publication.
NodeSlide sources
[source_bc95201940c6c860fb715aa36172cafb] Create a seven-slide policy briefing for city council members choosin… — creation brief
Citation: Create a seven-slide policy briefing for city council members choosing a phased heat-resilience package. Show the evidence baseline, affected stakeholders, intervention options, implementation timeline, trade-offs, funding sequence, and recommendation. Use the supplied program facts without claiming measured health outcomes. Include an editable evidence map, stakeholder map, timeline, and trade-off comparison. Design direction: Use an evidence-led editorial direction: restrained surface treatment, decisive hierarchy, visible provenance, and an inspectable visual argument on every proof slide. Avoid card grids and decorative dashboards.
Disclaimer: Internal working material
[source_631a6fb68af7674182f01b3ce641dbfe] heat-options.json
Citation: Uploaded file: heat-options.json
[{"option":"cool_roofs","annual_cost_musd":6.2,"implementation_years":3,"coverage_percent":18},{"option":"tree_canopy","annual_cost_musd":4.8,"implementation_years":8,"coverage_percent":11},{"option":"resilience_centers","annual_cost_musd":3.1,"implementation_years":2,"sites":14}]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“Cost per point of coverage differs sharply across options”
Evidence note: Content is based on the supplied creation brief. Illustrative examples are not independently verified; replace them with measured evidence before external publication.
NodeSlide sources
[source_bc95201940c6c860fb715aa36172cafb] Create a seven-slide policy briefing for city council members choosin… — creation brief
Citation: Create a seven-slide policy briefing for city council members choosing a phased heat-resilience package. Show the evidence baseline, affected stakeholders, intervention options, implementation timeline, trade-offs, funding sequence, and recommendation. Use the supplied program facts without claiming measured health outcomes. Include an editable evidence map, stakeholder map, timeline, and trade-off comparison. Design direction: Use an evidence-led editorial direction: restrained surface treatment, decisive hierarchy, visible provenance, and an inspectable visual argument on every proof slide. Avoid card grids and decorative dashboards.
Disclaimer: Internal working material
[source_631a6fb68af7674182f01b3ce641dbfe] heat-options.json
Citation: Uploaded file: heat-options.json
[{"option":"cool_roofs","annual_cost_musd":6.2,"implementation_years":3,"coverage_percent":18},{"option":"tree_canopy","annual_cost_musd":4.8,"implementation_years":8,"coverage_percent":11},{"option":"resilience_centers","annual_cost_musd":3.1,"implementation_years":2,"sites":14}]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“Sequence fast deployment first, long-horizon canopy in parallel”
Evidence note: Content is based on the supplied creation brief. Illustrative examples are not independently verified; replace them with measured evidence before external publication.
NodeSlide sources
[source_bc95201940c6c860fb715aa36172cafb] Create a seven-slide policy briefing for city council members choosin… — creation brief
Citation: Create a seven-slide policy briefing for city council members choosing a phased heat-resilience package. Show the evidence baseline, affected stakeholders, intervention options, implementation timeline, trade-offs, funding sequence, and recommendation. Use the supplied program facts without claiming measured health outcomes. Include an editable evidence map, stakeholder map, timeline, and trade-off comparison. Design direction: Use an evidence-led editorial direction: restrained surface treatment, decisive hierarchy, visible provenance, and an inspectable visual argument on every proof slide. Avoid card grids and decorative dashboards.
Disclaimer: Internal working material
[source_631a6fb68af7674182f01b3ce641dbfe] heat-options.json
Citation: Uploaded file: heat-options.json
[{"option":"cool_roofs","annual_cost_musd":6.2,"implementation_years":3,"coverage_percent":18},{"option":"tree_canopy","annual_cost_musd":4.8,"implementation_years":8,"coverage_percent":11},{"option":"resilience_centers","annual_cost_musd":3.1,"implementation_years":2,"sites":14}]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“Combined annual commitment is 14.1 M USD while all phases run”
Evidence note: Content is based on the supplied creation brief. Illustrative examples are not independently verified; replace them with measured evidence before external publication.
NodeSlide sources
[source_bc95201940c6c860fb715aa36172cafb] Create a seven-slide policy briefing for city council members choosin… — creation brief
Citation: Create a seven-slide policy briefing for city council members choosing a phased heat-resilience package. Show the evidence baseline, affected stakeholders, intervention options, implementation timeline, trade-offs, funding sequence, and recommendation. Use the supplied program facts without claiming measured health outcomes. Include an editable evidence map, stakeholder map, timeline, and trade-off comparison. Design direction: Use an evidence-led editorial direction: restrained surface treatment, decisive hierarchy, visible provenance, and an inspectable visual argument on every proof slide. Avoid card grids and decorative dashboards.
Disclaimer: Internal working material
[source_631a6fb68af7674182f01b3ce641dbfe] heat-options.json
Citation: Uploaded file: heat-options.json
[{"option":"cool_roofs","annual_cost_musd":6.2,"implementation_years":3,"coverage_percent":18},{"option":"tree_canopy","annual_cost_musd":4.8,"implementation_years":8,"coverage_percent":11},{"option":"resilience_centers","annual_cost_musd":3.1,"implementation_years":2,"sites":14}]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“Adopt the phased package with a binding mid-program checkpoint”
Evidence note: Content is based on the supplied creation brief. Illustrative examples are not independently verified; replace them with measured evidence before external publication.
NodeSlide sources
[source_bc95201940c6c860fb715aa36172cafb] Create a seven-slide policy briefing for city council members choosin… — creation brief
Citation: Create a seven-slide policy briefing for city council members choosing a phased heat-resilience package. Show the evidence baseline, affected stakeholders, intervention options, implementation timeline, trade-offs, funding sequence, and recommendation. Use the supplied program facts without claiming measured health outcomes. Include an editable evidence map, stakeholder map, timeline, and trade-off comparison. Design direction: Use an evidence-led editorial direction: restrained surface treatment, decisive hierarchy, visible provenance, and an inspectable visual argument on every proof slide. Avoid card grids and decorative dashboards.
Disclaimer: Internal working material
[source_631a6fb68af7674182f01b3ce641dbfe] heat-options.json
Citation: Uploaded file: heat-options.json
[{"option":"cool_roofs","annual_cost_musd":6.2,"implementation_years":3,"coverage_percent":18},{"option":"tree_canopy","annual_cost_musd":4.8,"implementation_years":8,"coverage_percent":11},{"option":"resilience_centers","annual_cost_musd":3.1,"implementation_years":2,"sites":14}]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926dca23e5fc69c5c46e946f8346c16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4a042e5dfd507ee042e822df4c89106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6e4883d4bda3185ea985551fc1c0b912"/>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Choose a phased heat-resilience package on supplied facts, not assumed outcomes</a:t>
            </a:r>
            <a:endParaRPr lang="en-US" sz="4800" dirty="0"/>
          </a:p>
        </p:txBody>
      </p:sp>
      <p:sp>
        <p:nvSpPr>
          <p:cNvPr id="5" name="element_b55a661ef4ae8be1a4e9ed10b923495c"/>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This briefing supports a council decision among three candidate interventions drawn from the supplied program dataset. It presents costs, timelines, and coverage parameters exactly as supplied, and it makes no claim about measured health outcomes, which are not present in the source material.</a:t>
            </a:r>
            <a:endParaRPr lang="en-US" sz="1900" dirty="0"/>
          </a:p>
        </p:txBody>
      </p:sp>
      <p:sp>
        <p:nvSpPr>
          <p:cNvPr id="6" name="element_7d2965ca507c0fe25c358619bdf84b4b"/>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Decision: select and sequence a phased heat-resilience package</a:t>
            </a:r>
            <a:endParaRPr lang="en-US" sz="1600" dirty="0"/>
          </a:p>
        </p:txBody>
      </p:sp>
      <p:sp>
        <p:nvSpPr>
          <p:cNvPr id="7" name="element_24c04b83346bebf9dc422ea417511d4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Evidence boundary: only the supplied heat-options.json dataset is used</a:t>
            </a:r>
            <a:endParaRPr lang="en-US" sz="1600" dirty="0"/>
          </a:p>
        </p:txBody>
      </p:sp>
      <p:sp>
        <p:nvSpPr>
          <p:cNvPr id="8" name="element_de3d3e2ac7c1c2e3d4a644f7324feea7"/>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Every proof slide carries an inspectable, editable artifact</a:t>
            </a:r>
            <a:endParaRPr lang="en-US" sz="1600" dirty="0"/>
          </a:p>
        </p:txBody>
      </p:sp>
      <p:sp>
        <p:nvSpPr>
          <p:cNvPr id="9" name="element_1b32a93bf4ed7a154c4aec534c0071b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c2dcca299bf7b37c103d47ff21f3a54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4709f6a975cf1934dc358128081a8c27"/>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03106f6c7c885c6c859332aee2d46220"/>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15f8b187fba45c27dd79eaa4b57d109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Three options, three distinct cost and coverage profiles</a:t>
            </a:r>
            <a:endParaRPr lang="en-US" sz="3800" dirty="0"/>
          </a:p>
        </p:txBody>
      </p:sp>
      <p:sp>
        <p:nvSpPr>
          <p:cNvPr id="5" name="element_18d7d8c2539ffcca0b335af13075b3d3"/>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supplied dataset defines annual cost, implementation duration, and coverage or site count for each option. Cool roofs carry the highest annual cost and coverage percent; resilience centers deploy fastest; tree canopy is the longest-horizon investment. All values below are drawn directly from the supplied attachment.</a:t>
            </a:r>
            <a:endParaRPr lang="en-US" sz="1900" dirty="0"/>
          </a:p>
        </p:txBody>
      </p:sp>
      <p:sp>
        <p:nvSpPr>
          <p:cNvPr id="6" name="element_d94961d2dac77e09623b15135b4606d9"/>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Cool roofs: 6.2 M USD per year, 3 years, 18 percent coverage</a:t>
            </a:r>
            <a:endParaRPr lang="en-US" sz="1700" dirty="0"/>
          </a:p>
        </p:txBody>
      </p:sp>
      <p:sp>
        <p:nvSpPr>
          <p:cNvPr id="7" name="element_2a32e9777465efe06d73e0cbb3e66f2c"/>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Tree canopy: 4.8 M USD per year, 8 years, 11 percent coverage</a:t>
            </a:r>
            <a:endParaRPr lang="en-US" sz="1700" dirty="0"/>
          </a:p>
        </p:txBody>
      </p:sp>
      <p:sp>
        <p:nvSpPr>
          <p:cNvPr id="8" name="element_4ad04f54d08939f70974d3da9da99c50"/>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Resilience centers: 3.1 M USD per year, 2 years, 14 sites</a:t>
            </a:r>
            <a:endParaRPr lang="en-US" sz="1700" dirty="0"/>
          </a:p>
        </p:txBody>
      </p:sp>
      <p:sp>
        <p:nvSpPr>
          <p:cNvPr id="9" name="element_1748a46092b802a57e580a19c661823c"/>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6.2</a:t>
            </a:r>
            <a:endParaRPr lang="en-US" sz="4300" dirty="0"/>
          </a:p>
        </p:txBody>
      </p:sp>
      <p:sp>
        <p:nvSpPr>
          <p:cNvPr id="10" name="element_de3398de930bec30dbe7ad233e8a498e"/>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Highest annual cost (M USD), cool roofs</a:t>
            </a:r>
            <a:endParaRPr lang="en-US" sz="1500" dirty="0"/>
          </a:p>
        </p:txBody>
      </p:sp>
      <p:graphicFrame>
        <p:nvGraphicFramePr>
          <p:cNvPr id="11" name="element_2ad3074994f440ffe706947e4290c186"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23737ed6c5490a683d33922fba767199"/>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220d4dfefe88b48afcc09a8cf262d9b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a8fb1e1b7769906f9e930e8ee2b4caac"/>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3f9486a942abff1a8013868f856b106d"/>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c8356dc6c684567e861ca105a5239424"/>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Each option reaches different stakeholders on different clocks</a:t>
            </a:r>
            <a:endParaRPr lang="en-US" sz="3800" dirty="0"/>
          </a:p>
        </p:txBody>
      </p:sp>
      <p:sp>
        <p:nvSpPr>
          <p:cNvPr id="5" name="element_406de2189a7c40db98302d4d5a8ce7e5"/>
          <p:cNvSpPr txBox="1"/>
          <p:nvPr/>
        </p:nvSpPr>
        <p:spPr>
          <a:xfrm>
            <a:off x="7436934"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phasing decision distributes benefits and burdens across distinct groups. This editable map shows how the council decision connects each intervention to the stakeholders it primarily affects, based on the coverage mechanisms described in the supplied dataset.</a:t>
            </a:r>
            <a:endParaRPr lang="en-US" sz="1700" dirty="0"/>
          </a:p>
        </p:txBody>
      </p:sp>
      <p:sp>
        <p:nvSpPr>
          <p:cNvPr id="6" name="element_7f82ab0e57d9563818ce487157ee61b1"/>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Coverage percent applies to cool roofs and tree canopy; resilience centers are counted as 14 discre…</a:t>
            </a:r>
            <a:endParaRPr lang="en-US" sz="1700" dirty="0"/>
          </a:p>
        </p:txBody>
      </p:sp>
      <p:sp>
        <p:nvSpPr>
          <p:cNvPr id="7" name="element_7505d077520066bc0d39138510f7d698"/>
          <p:cNvSpPr txBox="1"/>
          <p:nvPr/>
        </p:nvSpPr>
        <p:spPr>
          <a:xfrm>
            <a:off x="7680768" y="507492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Stakeholder mapping is an analytical structure, not a measured impact claim</a:t>
            </a:r>
            <a:endParaRPr lang="en-US" sz="1700" dirty="0"/>
          </a:p>
        </p:txBody>
      </p:sp>
      <p:sp>
        <p:nvSpPr>
          <p:cNvPr id="8" name="element_948c5ff2a8d2c5286a4a74af763e7549"/>
          <p:cNvSpPr/>
          <p:nvPr/>
        </p:nvSpPr>
        <p:spPr>
          <a:xfrm>
            <a:off x="5470414" y="3775329"/>
            <a:ext cx="243834" cy="164592"/>
          </a:xfrm>
          <a:prstGeom prst="line">
            <a:avLst/>
          </a:prstGeom>
          <a:noFill/>
          <a:ln w="25400">
            <a:solidFill>
              <a:srgbClr val="7566A8"/>
            </a:solidFill>
            <a:prstDash val="solid"/>
            <a:tailEnd type="triangle"/>
          </a:ln>
        </p:spPr>
      </p:sp>
      <p:sp>
        <p:nvSpPr>
          <p:cNvPr id="9" name="element_22a71fc0172b6faf70f9d89a1e13cc14"/>
          <p:cNvSpPr/>
          <p:nvPr/>
        </p:nvSpPr>
        <p:spPr>
          <a:xfrm>
            <a:off x="3881836" y="3775329"/>
            <a:ext cx="1789741" cy="164592"/>
          </a:xfrm>
          <a:prstGeom prst="line">
            <a:avLst/>
          </a:prstGeom>
          <a:noFill/>
          <a:ln w="25400">
            <a:solidFill>
              <a:srgbClr val="7566A8"/>
            </a:solidFill>
            <a:prstDash val="solid"/>
            <a:tailEnd type="triangle"/>
          </a:ln>
        </p:spPr>
      </p:sp>
      <p:sp>
        <p:nvSpPr>
          <p:cNvPr id="10" name="element_7fbea663d07a0bc59ba089f866dc48cf"/>
          <p:cNvSpPr/>
          <p:nvPr/>
        </p:nvSpPr>
        <p:spPr>
          <a:xfrm>
            <a:off x="2251806" y="3775329"/>
            <a:ext cx="3419771" cy="164592"/>
          </a:xfrm>
          <a:prstGeom prst="line">
            <a:avLst/>
          </a:prstGeom>
          <a:noFill/>
          <a:ln w="25400">
            <a:solidFill>
              <a:srgbClr val="7566A8"/>
            </a:solidFill>
            <a:prstDash val="solid"/>
            <a:tailEnd type="triangle"/>
          </a:ln>
        </p:spPr>
      </p:sp>
      <p:sp>
        <p:nvSpPr>
          <p:cNvPr id="11" name="element_25f60b99ad04de0737f13179de84a4b7"/>
          <p:cNvSpPr/>
          <p:nvPr/>
        </p:nvSpPr>
        <p:spPr>
          <a:xfrm>
            <a:off x="5397263" y="4375404"/>
            <a:ext cx="391353" cy="164592"/>
          </a:xfrm>
          <a:prstGeom prst="line">
            <a:avLst/>
          </a:prstGeom>
          <a:noFill/>
          <a:ln w="25400">
            <a:solidFill>
              <a:srgbClr val="7566A8"/>
            </a:solidFill>
            <a:prstDash val="solid"/>
            <a:tailEnd type="triangle"/>
          </a:ln>
        </p:spPr>
      </p:sp>
      <p:sp>
        <p:nvSpPr>
          <p:cNvPr id="12" name="element_38b3c0f885beb41ca10e6549c2c69e2e"/>
          <p:cNvSpPr/>
          <p:nvPr/>
        </p:nvSpPr>
        <p:spPr>
          <a:xfrm>
            <a:off x="3766015" y="4375404"/>
            <a:ext cx="391353" cy="164592"/>
          </a:xfrm>
          <a:prstGeom prst="line">
            <a:avLst/>
          </a:prstGeom>
          <a:noFill/>
          <a:ln w="25400">
            <a:solidFill>
              <a:srgbClr val="7566A8"/>
            </a:solidFill>
            <a:prstDash val="solid"/>
            <a:tailEnd type="triangle"/>
          </a:ln>
        </p:spPr>
      </p:sp>
      <p:sp>
        <p:nvSpPr>
          <p:cNvPr id="13" name="element_72bd6643f563f48afa127e5af78e6118"/>
          <p:cNvSpPr/>
          <p:nvPr/>
        </p:nvSpPr>
        <p:spPr>
          <a:xfrm>
            <a:off x="2135985" y="4375404"/>
            <a:ext cx="391353" cy="164592"/>
          </a:xfrm>
          <a:prstGeom prst="line">
            <a:avLst/>
          </a:prstGeom>
          <a:noFill/>
          <a:ln w="25400">
            <a:solidFill>
              <a:srgbClr val="7566A8"/>
            </a:solidFill>
            <a:prstDash val="solid"/>
            <a:tailEnd type="triangle"/>
          </a:ln>
        </p:spPr>
      </p:sp>
      <p:sp>
        <p:nvSpPr>
          <p:cNvPr id="14" name="element_d464d59123d4060c36e9a4784b7c1c75"/>
          <p:cNvSpPr/>
          <p:nvPr/>
        </p:nvSpPr>
        <p:spPr>
          <a:xfrm>
            <a:off x="5744727" y="3377565"/>
            <a:ext cx="1326456" cy="960120"/>
          </a:xfrm>
          <a:prstGeom prst="roundRect">
            <a:avLst/>
          </a:prstGeom>
          <a:solidFill>
            <a:srgbClr val="E5E9D6"/>
          </a:solidFill>
          <a:ln w="25400">
            <a:solidFill>
              <a:srgbClr val="B44A2D"/>
            </a:solidFill>
            <a:prstDash val="solid"/>
          </a:ln>
        </p:spPr>
      </p:sp>
      <p:sp>
        <p:nvSpPr>
          <p:cNvPr id="15" name="element_d464d59123d4060c36e9a4784b7c1c75:text"/>
          <p:cNvSpPr txBox="1"/>
          <p:nvPr/>
        </p:nvSpPr>
        <p:spPr>
          <a:xfrm>
            <a:off x="5744727"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City council decision</a:t>
            </a:r>
            <a:endParaRPr lang="en-US" sz="1600" dirty="0"/>
          </a:p>
        </p:txBody>
      </p:sp>
      <p:sp>
        <p:nvSpPr>
          <p:cNvPr id="16" name="element_892f755e42d7c18dffdd9c6b85273cc6"/>
          <p:cNvSpPr/>
          <p:nvPr/>
        </p:nvSpPr>
        <p:spPr>
          <a:xfrm>
            <a:off x="4113478" y="3377565"/>
            <a:ext cx="1326456" cy="960120"/>
          </a:xfrm>
          <a:prstGeom prst="roundRect">
            <a:avLst/>
          </a:prstGeom>
          <a:solidFill>
            <a:srgbClr val="F2DED3"/>
          </a:solidFill>
          <a:ln w="12700">
            <a:solidFill>
              <a:srgbClr val="DED7CC"/>
            </a:solidFill>
            <a:prstDash val="solid"/>
          </a:ln>
        </p:spPr>
      </p:sp>
      <p:sp>
        <p:nvSpPr>
          <p:cNvPr id="17" name="element_892f755e42d7c18dffdd9c6b85273cc6:text"/>
          <p:cNvSpPr txBox="1"/>
          <p:nvPr/>
        </p:nvSpPr>
        <p:spPr>
          <a:xfrm>
            <a:off x="4113478"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Cool roofs program</a:t>
            </a:r>
            <a:endParaRPr lang="en-US" sz="1600" dirty="0"/>
          </a:p>
        </p:txBody>
      </p:sp>
      <p:sp>
        <p:nvSpPr>
          <p:cNvPr id="18" name="element_ae62cdaf80dba2110ada39f201eab482"/>
          <p:cNvSpPr/>
          <p:nvPr/>
        </p:nvSpPr>
        <p:spPr>
          <a:xfrm>
            <a:off x="2483448" y="3377565"/>
            <a:ext cx="1326456" cy="960120"/>
          </a:xfrm>
          <a:prstGeom prst="roundRect">
            <a:avLst/>
          </a:prstGeom>
          <a:solidFill>
            <a:srgbClr val="F2DED3"/>
          </a:solidFill>
          <a:ln w="12700">
            <a:solidFill>
              <a:srgbClr val="DED7CC"/>
            </a:solidFill>
            <a:prstDash val="solid"/>
          </a:ln>
        </p:spPr>
      </p:sp>
      <p:sp>
        <p:nvSpPr>
          <p:cNvPr id="19" name="element_ae62cdaf80dba2110ada39f201eab482:text"/>
          <p:cNvSpPr txBox="1"/>
          <p:nvPr/>
        </p:nvSpPr>
        <p:spPr>
          <a:xfrm>
            <a:off x="2483448"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Tree canopy program</a:t>
            </a:r>
            <a:endParaRPr lang="en-US" sz="1600" dirty="0"/>
          </a:p>
        </p:txBody>
      </p:sp>
      <p:sp>
        <p:nvSpPr>
          <p:cNvPr id="20" name="element_44a0563d7d2814fb6fe24ed6c02fddcf"/>
          <p:cNvSpPr/>
          <p:nvPr/>
        </p:nvSpPr>
        <p:spPr>
          <a:xfrm>
            <a:off x="852199" y="3377565"/>
            <a:ext cx="1326456" cy="960120"/>
          </a:xfrm>
          <a:prstGeom prst="roundRect">
            <a:avLst/>
          </a:prstGeom>
          <a:solidFill>
            <a:srgbClr val="F2DED3"/>
          </a:solidFill>
          <a:ln w="12700">
            <a:solidFill>
              <a:srgbClr val="DED7CC"/>
            </a:solidFill>
            <a:prstDash val="solid"/>
          </a:ln>
        </p:spPr>
      </p:sp>
      <p:sp>
        <p:nvSpPr>
          <p:cNvPr id="21" name="element_44a0563d7d2814fb6fe24ed6c02fddcf:text"/>
          <p:cNvSpPr txBox="1"/>
          <p:nvPr/>
        </p:nvSpPr>
        <p:spPr>
          <a:xfrm>
            <a:off x="852199"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Resilience centers</a:t>
            </a:r>
            <a:endParaRPr lang="en-US" sz="1600" dirty="0"/>
          </a:p>
        </p:txBody>
      </p:sp>
      <p:sp>
        <p:nvSpPr>
          <p:cNvPr id="22" name="element_eac118e4cadefb77504f9cab181e1f0f"/>
          <p:cNvSpPr/>
          <p:nvPr/>
        </p:nvSpPr>
        <p:spPr>
          <a:xfrm>
            <a:off x="5744727" y="4577715"/>
            <a:ext cx="1326456" cy="960120"/>
          </a:xfrm>
          <a:prstGeom prst="roundRect">
            <a:avLst/>
          </a:prstGeom>
          <a:solidFill>
            <a:srgbClr val="F2DED3"/>
          </a:solidFill>
          <a:ln w="12700">
            <a:solidFill>
              <a:srgbClr val="DED7CC"/>
            </a:solidFill>
            <a:prstDash val="solid"/>
          </a:ln>
        </p:spPr>
      </p:sp>
      <p:sp>
        <p:nvSpPr>
          <p:cNvPr id="23" name="element_eac118e4cadefb77504f9cab181e1f0f:text"/>
          <p:cNvSpPr txBox="1"/>
          <p:nvPr/>
        </p:nvSpPr>
        <p:spPr>
          <a:xfrm>
            <a:off x="5744727" y="457771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Building owners</a:t>
            </a:r>
            <a:endParaRPr lang="en-US" sz="1600" dirty="0"/>
          </a:p>
        </p:txBody>
      </p:sp>
      <p:sp>
        <p:nvSpPr>
          <p:cNvPr id="24" name="element_5312f9bf374c01906288c24a4805d939"/>
          <p:cNvSpPr/>
          <p:nvPr/>
        </p:nvSpPr>
        <p:spPr>
          <a:xfrm>
            <a:off x="4113478" y="4577715"/>
            <a:ext cx="1326456" cy="960120"/>
          </a:xfrm>
          <a:prstGeom prst="roundRect">
            <a:avLst/>
          </a:prstGeom>
          <a:solidFill>
            <a:srgbClr val="F2DED3"/>
          </a:solidFill>
          <a:ln w="12700">
            <a:solidFill>
              <a:srgbClr val="DED7CC"/>
            </a:solidFill>
            <a:prstDash val="solid"/>
          </a:ln>
        </p:spPr>
      </p:sp>
      <p:sp>
        <p:nvSpPr>
          <p:cNvPr id="25" name="element_5312f9bf374c01906288c24a4805d939:text"/>
          <p:cNvSpPr txBox="1"/>
          <p:nvPr/>
        </p:nvSpPr>
        <p:spPr>
          <a:xfrm>
            <a:off x="4113478" y="457771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Heat-exposed residents</a:t>
            </a:r>
            <a:endParaRPr lang="en-US" sz="1600" dirty="0"/>
          </a:p>
        </p:txBody>
      </p:sp>
      <p:sp>
        <p:nvSpPr>
          <p:cNvPr id="26" name="element_b5b6a270a01bc78d77a5b2cbd97cc128"/>
          <p:cNvSpPr/>
          <p:nvPr/>
        </p:nvSpPr>
        <p:spPr>
          <a:xfrm>
            <a:off x="2483448" y="4577715"/>
            <a:ext cx="1326456" cy="960120"/>
          </a:xfrm>
          <a:prstGeom prst="roundRect">
            <a:avLst/>
          </a:prstGeom>
          <a:solidFill>
            <a:srgbClr val="F2DED3"/>
          </a:solidFill>
          <a:ln w="12700">
            <a:solidFill>
              <a:srgbClr val="DED7CC"/>
            </a:solidFill>
            <a:prstDash val="solid"/>
          </a:ln>
        </p:spPr>
      </p:sp>
      <p:sp>
        <p:nvSpPr>
          <p:cNvPr id="27" name="element_b5b6a270a01bc78d77a5b2cbd97cc128:text"/>
          <p:cNvSpPr txBox="1"/>
          <p:nvPr/>
        </p:nvSpPr>
        <p:spPr>
          <a:xfrm>
            <a:off x="2483448" y="457771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Public facility users</a:t>
            </a:r>
            <a:endParaRPr lang="en-US" sz="1600" dirty="0"/>
          </a:p>
        </p:txBody>
      </p:sp>
      <p:sp>
        <p:nvSpPr>
          <p:cNvPr id="28" name="element_824f0c94ff4a7321805c9ba38fa41aeb"/>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9" name="element_67015f3a23ca1d318b3db36bffdf03ac"/>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708f8c7192e049a81d2b37e9979746f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a07b039e241ebd626b5ab69bbf3164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8d1c27bc37df77d78d6cb99c50f9f5bb"/>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Cost per point of coverage differs sharply across options</a:t>
            </a:r>
            <a:endParaRPr lang="en-US" sz="3800" dirty="0"/>
          </a:p>
        </p:txBody>
      </p:sp>
      <p:sp>
        <p:nvSpPr>
          <p:cNvPr id="5" name="element_3e80362cbd6be4ee161795aadab6db43"/>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Dividing annual cost by coverage percent yields an indicative cost-per-coverage-point figure for the two area-based options. This is an arithmetic comparison of supplied values, not an effectiveness measure; resilience centers are excluded because their coverage is counted in sites, not percent.</a:t>
            </a:r>
            <a:endParaRPr lang="en-US" sz="1900" dirty="0"/>
          </a:p>
        </p:txBody>
      </p:sp>
      <p:sp>
        <p:nvSpPr>
          <p:cNvPr id="6" name="element_a7de2c888c768ebc12cd3b79d6a5e0ec"/>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Cool roofs: about 0.34 M USD per coverage point per year</a:t>
            </a:r>
            <a:endParaRPr lang="en-US" sz="1700" dirty="0"/>
          </a:p>
        </p:txBody>
      </p:sp>
      <p:sp>
        <p:nvSpPr>
          <p:cNvPr id="7" name="element_2bf9d7589b0569c3f42b97d62edfdf61"/>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Tree canopy: about 0.44 M USD per coverage point per year</a:t>
            </a:r>
            <a:endParaRPr lang="en-US" sz="1700" dirty="0"/>
          </a:p>
        </p:txBody>
      </p:sp>
      <p:sp>
        <p:nvSpPr>
          <p:cNvPr id="8" name="element_e65c913e19484f78f3ec152249593716"/>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Resilience centers: about 0.22 M USD per site per year, a different unit basis</a:t>
            </a:r>
            <a:endParaRPr lang="en-US" sz="1700" dirty="0"/>
          </a:p>
        </p:txBody>
      </p:sp>
      <p:sp>
        <p:nvSpPr>
          <p:cNvPr id="9" name="element_eb1ac4708443716126618829f29af804"/>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cost per coverage point = annual cost (M USD) / coverage (%)</a:t>
            </a:r>
            <a:endParaRPr lang="en-US" sz="3000" dirty="0"/>
          </a:p>
        </p:txBody>
      </p:sp>
      <p:sp>
        <p:nvSpPr>
          <p:cNvPr id="10" name="element_d300f1d5004870b998cca681905c093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29f86b33355ec757f97806b2eece5be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c1fea632acc2e8878b62ca62cee63dde"/>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454046bec14efda7e380410e0767a4c"/>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0a4c6c312e803fd4e618cab2138e29d6"/>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Sequence fast deployment first, long-horizon canopy in parallel</a:t>
            </a:r>
            <a:endParaRPr lang="en-US" sz="3800" dirty="0"/>
          </a:p>
        </p:txBody>
      </p:sp>
      <p:sp>
        <p:nvSpPr>
          <p:cNvPr id="5" name="element_918c49053fe362d5df7f75cac747e36b"/>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supplied implementation durations support a phased path: resilience centers complete within two years, cool roofs within three, and tree canopy over eight. Running phases in parallel rather than strictly in series shortens time to initial coverage while respecting the long canopy horizon.</a:t>
            </a:r>
            <a:endParaRPr lang="en-US" sz="1700" dirty="0"/>
          </a:p>
        </p:txBody>
      </p:sp>
      <p:sp>
        <p:nvSpPr>
          <p:cNvPr id="6" name="element_da2252cbe729aac340c0c11735fdd148"/>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Phase 1: resilience centers, years 0 to 2</a:t>
            </a:r>
            <a:endParaRPr lang="en-US" sz="1700" dirty="0"/>
          </a:p>
        </p:txBody>
      </p:sp>
      <p:sp>
        <p:nvSpPr>
          <p:cNvPr id="7" name="element_117a23ab1426078f4233a74d0f499592"/>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Phase 2: cool roofs, years 0 to 3</a:t>
            </a:r>
            <a:endParaRPr lang="en-US" sz="1700" dirty="0"/>
          </a:p>
        </p:txBody>
      </p:sp>
      <p:sp>
        <p:nvSpPr>
          <p:cNvPr id="8" name="element_89fbf51e891920a12cbc60762787b742"/>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Phase 3: tree canopy, years 0 to 8, longest horizon</a:t>
            </a:r>
            <a:endParaRPr lang="en-US" sz="1700" dirty="0"/>
          </a:p>
        </p:txBody>
      </p:sp>
      <p:sp>
        <p:nvSpPr>
          <p:cNvPr id="9" name="element_93a5cb76ec1ac0768033e06ebc876803"/>
          <p:cNvSpPr/>
          <p:nvPr/>
        </p:nvSpPr>
        <p:spPr>
          <a:xfrm>
            <a:off x="6477448" y="3775329"/>
            <a:ext cx="243834" cy="164592"/>
          </a:xfrm>
          <a:prstGeom prst="line">
            <a:avLst/>
          </a:prstGeom>
          <a:noFill/>
          <a:ln w="25400">
            <a:solidFill>
              <a:srgbClr val="7566A8"/>
            </a:solidFill>
            <a:prstDash val="solid"/>
            <a:tailEnd type="triangle"/>
          </a:ln>
        </p:spPr>
      </p:sp>
      <p:sp>
        <p:nvSpPr>
          <p:cNvPr id="10" name="element_db96b9bd7d55214e2b1646890549c28e"/>
          <p:cNvSpPr/>
          <p:nvPr/>
        </p:nvSpPr>
        <p:spPr>
          <a:xfrm>
            <a:off x="6520119" y="3775329"/>
            <a:ext cx="1789741" cy="164592"/>
          </a:xfrm>
          <a:prstGeom prst="line">
            <a:avLst/>
          </a:prstGeom>
          <a:noFill/>
          <a:ln w="25400">
            <a:solidFill>
              <a:srgbClr val="7566A8"/>
            </a:solidFill>
            <a:prstDash val="solid"/>
            <a:tailEnd type="triangle"/>
          </a:ln>
        </p:spPr>
      </p:sp>
      <p:sp>
        <p:nvSpPr>
          <p:cNvPr id="11" name="element_33a80a5a679f0cd9f8834de143073174"/>
          <p:cNvSpPr/>
          <p:nvPr/>
        </p:nvSpPr>
        <p:spPr>
          <a:xfrm>
            <a:off x="6520119" y="3775329"/>
            <a:ext cx="3419771" cy="164592"/>
          </a:xfrm>
          <a:prstGeom prst="line">
            <a:avLst/>
          </a:prstGeom>
          <a:noFill/>
          <a:ln w="25400">
            <a:solidFill>
              <a:srgbClr val="7566A8"/>
            </a:solidFill>
            <a:prstDash val="solid"/>
            <a:tailEnd type="triangle"/>
          </a:ln>
        </p:spPr>
      </p:sp>
      <p:sp>
        <p:nvSpPr>
          <p:cNvPr id="12" name="element_95e90e7682f575dd555c5d237cbb9e2c"/>
          <p:cNvSpPr/>
          <p:nvPr/>
        </p:nvSpPr>
        <p:spPr>
          <a:xfrm>
            <a:off x="6403078" y="4375404"/>
            <a:ext cx="391353" cy="164592"/>
          </a:xfrm>
          <a:prstGeom prst="line">
            <a:avLst/>
          </a:prstGeom>
          <a:noFill/>
          <a:ln w="25400">
            <a:solidFill>
              <a:srgbClr val="7566A8"/>
            </a:solidFill>
            <a:prstDash val="solid"/>
            <a:tailEnd type="triangle"/>
          </a:ln>
        </p:spPr>
      </p:sp>
      <p:sp>
        <p:nvSpPr>
          <p:cNvPr id="13" name="element_1fd19eba6862b43a04bb95cbae885231"/>
          <p:cNvSpPr/>
          <p:nvPr/>
        </p:nvSpPr>
        <p:spPr>
          <a:xfrm>
            <a:off x="6331147" y="4375404"/>
            <a:ext cx="2166464" cy="164592"/>
          </a:xfrm>
          <a:prstGeom prst="line">
            <a:avLst/>
          </a:prstGeom>
          <a:noFill/>
          <a:ln w="25400">
            <a:solidFill>
              <a:srgbClr val="7566A8"/>
            </a:solidFill>
            <a:prstDash val="solid"/>
            <a:tailEnd type="triangle"/>
          </a:ln>
        </p:spPr>
      </p:sp>
      <p:sp>
        <p:nvSpPr>
          <p:cNvPr id="14" name="element_daff6425968c14dcb8216dd08240bab4"/>
          <p:cNvSpPr/>
          <p:nvPr/>
        </p:nvSpPr>
        <p:spPr>
          <a:xfrm>
            <a:off x="7961177" y="4375404"/>
            <a:ext cx="2166464" cy="164592"/>
          </a:xfrm>
          <a:prstGeom prst="line">
            <a:avLst/>
          </a:prstGeom>
          <a:noFill/>
          <a:ln w="25400">
            <a:solidFill>
              <a:srgbClr val="7566A8"/>
            </a:solidFill>
            <a:prstDash val="solid"/>
            <a:tailEnd type="triangle"/>
          </a:ln>
        </p:spPr>
      </p:sp>
      <p:sp>
        <p:nvSpPr>
          <p:cNvPr id="15" name="element_6e6e0c4798d72278a1d8fdc6695cf893"/>
          <p:cNvSpPr/>
          <p:nvPr/>
        </p:nvSpPr>
        <p:spPr>
          <a:xfrm>
            <a:off x="6477448" y="4975479"/>
            <a:ext cx="243834" cy="164592"/>
          </a:xfrm>
          <a:prstGeom prst="line">
            <a:avLst/>
          </a:prstGeom>
          <a:noFill/>
          <a:ln w="25400">
            <a:solidFill>
              <a:srgbClr val="7566A8"/>
            </a:solidFill>
            <a:prstDash val="solid"/>
            <a:tailEnd type="triangle"/>
          </a:ln>
        </p:spPr>
      </p:sp>
      <p:sp>
        <p:nvSpPr>
          <p:cNvPr id="16" name="element_e9377d04a13b6ea56b7eee21eecdf541"/>
          <p:cNvSpPr/>
          <p:nvPr/>
        </p:nvSpPr>
        <p:spPr>
          <a:xfrm>
            <a:off x="5067454" y="3339160"/>
            <a:ext cx="1432573" cy="1036930"/>
          </a:xfrm>
          <a:prstGeom prst="roundRect">
            <a:avLst/>
          </a:prstGeom>
          <a:solidFill>
            <a:srgbClr val="E5E9D6"/>
          </a:solidFill>
          <a:ln w="12700">
            <a:solidFill>
              <a:srgbClr val="DED7CC"/>
            </a:solidFill>
            <a:prstDash val="solid"/>
          </a:ln>
        </p:spPr>
      </p:sp>
      <p:sp>
        <p:nvSpPr>
          <p:cNvPr id="17" name="element_e9377d04a13b6ea56b7eee21eecdf541:text"/>
          <p:cNvSpPr txBox="1"/>
          <p:nvPr/>
        </p:nvSpPr>
        <p:spPr>
          <a:xfrm>
            <a:off x="5067454"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Council approval</a:t>
            </a:r>
            <a:endParaRPr lang="en-US" sz="1600" dirty="0"/>
          </a:p>
        </p:txBody>
      </p:sp>
      <p:sp>
        <p:nvSpPr>
          <p:cNvPr id="18" name="element_d66fa9f4d0a439d51ac750ff9d4f429b"/>
          <p:cNvSpPr/>
          <p:nvPr/>
        </p:nvSpPr>
        <p:spPr>
          <a:xfrm>
            <a:off x="6698703" y="3339160"/>
            <a:ext cx="1432573" cy="1036930"/>
          </a:xfrm>
          <a:prstGeom prst="roundRect">
            <a:avLst/>
          </a:prstGeom>
          <a:solidFill>
            <a:srgbClr val="F2DED3"/>
          </a:solidFill>
          <a:ln w="12700">
            <a:solidFill>
              <a:srgbClr val="DED7CC"/>
            </a:solidFill>
            <a:prstDash val="solid"/>
          </a:ln>
        </p:spPr>
      </p:sp>
      <p:sp>
        <p:nvSpPr>
          <p:cNvPr id="19" name="element_d66fa9f4d0a439d51ac750ff9d4f429b:text"/>
          <p:cNvSpPr txBox="1"/>
          <p:nvPr/>
        </p:nvSpPr>
        <p:spPr>
          <a:xfrm>
            <a:off x="6698703"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Resilience centers (0-2 yr)</a:t>
            </a:r>
            <a:endParaRPr lang="en-US" sz="1600" dirty="0"/>
          </a:p>
        </p:txBody>
      </p:sp>
      <p:sp>
        <p:nvSpPr>
          <p:cNvPr id="20" name="element_ba9cb5359dbd0a45858235cfefe695b2"/>
          <p:cNvSpPr/>
          <p:nvPr/>
        </p:nvSpPr>
        <p:spPr>
          <a:xfrm>
            <a:off x="8328732" y="3339160"/>
            <a:ext cx="1432573" cy="1036930"/>
          </a:xfrm>
          <a:prstGeom prst="roundRect">
            <a:avLst/>
          </a:prstGeom>
          <a:solidFill>
            <a:srgbClr val="F2DED3"/>
          </a:solidFill>
          <a:ln w="12700">
            <a:solidFill>
              <a:srgbClr val="DED7CC"/>
            </a:solidFill>
            <a:prstDash val="solid"/>
          </a:ln>
        </p:spPr>
      </p:sp>
      <p:sp>
        <p:nvSpPr>
          <p:cNvPr id="21" name="element_ba9cb5359dbd0a45858235cfefe695b2:text"/>
          <p:cNvSpPr txBox="1"/>
          <p:nvPr/>
        </p:nvSpPr>
        <p:spPr>
          <a:xfrm>
            <a:off x="8328732"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Cool roofs (0-3 yr)</a:t>
            </a:r>
            <a:endParaRPr lang="en-US" sz="1600" dirty="0"/>
          </a:p>
        </p:txBody>
      </p:sp>
      <p:sp>
        <p:nvSpPr>
          <p:cNvPr id="22" name="element_220f1d0e9d3e44c817a53418c8f36740"/>
          <p:cNvSpPr/>
          <p:nvPr/>
        </p:nvSpPr>
        <p:spPr>
          <a:xfrm>
            <a:off x="9959981" y="3339160"/>
            <a:ext cx="1432573" cy="1036930"/>
          </a:xfrm>
          <a:prstGeom prst="roundRect">
            <a:avLst/>
          </a:prstGeom>
          <a:solidFill>
            <a:srgbClr val="F2DED3"/>
          </a:solidFill>
          <a:ln w="12700">
            <a:solidFill>
              <a:srgbClr val="DED7CC"/>
            </a:solidFill>
            <a:prstDash val="solid"/>
          </a:ln>
        </p:spPr>
      </p:sp>
      <p:sp>
        <p:nvSpPr>
          <p:cNvPr id="23" name="element_220f1d0e9d3e44c817a53418c8f36740:text"/>
          <p:cNvSpPr txBox="1"/>
          <p:nvPr/>
        </p:nvSpPr>
        <p:spPr>
          <a:xfrm>
            <a:off x="9959981"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Tree canopy (0-8 yr)</a:t>
            </a:r>
            <a:endParaRPr lang="en-US" sz="1600" dirty="0"/>
          </a:p>
        </p:txBody>
      </p:sp>
      <p:sp>
        <p:nvSpPr>
          <p:cNvPr id="24" name="element_2ab199aab0cbc81d760c45cb35b53cc4"/>
          <p:cNvSpPr/>
          <p:nvPr/>
        </p:nvSpPr>
        <p:spPr>
          <a:xfrm>
            <a:off x="5067454" y="4539310"/>
            <a:ext cx="1432573" cy="1036930"/>
          </a:xfrm>
          <a:prstGeom prst="roundRect">
            <a:avLst/>
          </a:prstGeom>
          <a:solidFill>
            <a:srgbClr val="E5E9D6"/>
          </a:solidFill>
          <a:ln w="12700">
            <a:solidFill>
              <a:srgbClr val="DED7CC"/>
            </a:solidFill>
            <a:prstDash val="solid"/>
          </a:ln>
        </p:spPr>
      </p:sp>
      <p:sp>
        <p:nvSpPr>
          <p:cNvPr id="25" name="element_2ab199aab0cbc81d760c45cb35b53cc4:text"/>
          <p:cNvSpPr txBox="1"/>
          <p:nvPr/>
        </p:nvSpPr>
        <p:spPr>
          <a:xfrm>
            <a:off x="5067454" y="453931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Mid-program checkpoint</a:t>
            </a:r>
            <a:endParaRPr lang="en-US" sz="1600" dirty="0"/>
          </a:p>
        </p:txBody>
      </p:sp>
      <p:sp>
        <p:nvSpPr>
          <p:cNvPr id="26" name="element_37fc818b7ccbd299acd83ae9d4c27714"/>
          <p:cNvSpPr/>
          <p:nvPr/>
        </p:nvSpPr>
        <p:spPr>
          <a:xfrm>
            <a:off x="6698703" y="4539310"/>
            <a:ext cx="1432573" cy="1036930"/>
          </a:xfrm>
          <a:prstGeom prst="roundRect">
            <a:avLst/>
          </a:prstGeom>
          <a:solidFill>
            <a:srgbClr val="E5E9D6"/>
          </a:solidFill>
          <a:ln w="12700">
            <a:solidFill>
              <a:srgbClr val="DED7CC"/>
            </a:solidFill>
            <a:prstDash val="solid"/>
          </a:ln>
        </p:spPr>
      </p:sp>
      <p:sp>
        <p:nvSpPr>
          <p:cNvPr id="27" name="element_37fc818b7ccbd299acd83ae9d4c27714:text"/>
          <p:cNvSpPr txBox="1"/>
          <p:nvPr/>
        </p:nvSpPr>
        <p:spPr>
          <a:xfrm>
            <a:off x="6698703" y="453931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Full package horizon</a:t>
            </a:r>
            <a:endParaRPr lang="en-US" sz="1600" dirty="0"/>
          </a:p>
        </p:txBody>
      </p:sp>
      <p:sp>
        <p:nvSpPr>
          <p:cNvPr id="28" name="element_d93ab944112df61352a2bee2d2c53646"/>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9" name="element_29e381c8d6f3c803748d7990df3778a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32a60071eb7cf37275e7ae896a96d0c0"/>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88da9ababfbbd9566983fe892f678dbd"/>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30c8a91a28cc920f8f23b1675aa30b4c"/>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Combined annual commitment is 14.1 M USD while all phases run</a:t>
            </a:r>
            <a:endParaRPr lang="en-US" sz="3800" dirty="0"/>
          </a:p>
        </p:txBody>
      </p:sp>
      <p:sp>
        <p:nvSpPr>
          <p:cNvPr id="5" name="element_8fb5c1c88acd5a3d8f96c139a8265d96"/>
          <p:cNvSpPr txBox="1"/>
          <p:nvPr/>
        </p:nvSpPr>
        <p:spPr>
          <a:xfrm>
            <a:off x="7680768"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Summing the supplied annual costs gives a combined annual commitment of 14.1 M USD during the overlap period when all three programs run concurrently. A staged commitment lets the council release later-phase funds only after the mid-program checkpoint, limiting exposure before results of early deployment can be reviewed.</a:t>
            </a:r>
            <a:endParaRPr lang="en-US" sz="1900" dirty="0"/>
          </a:p>
        </p:txBody>
      </p:sp>
      <p:sp>
        <p:nvSpPr>
          <p:cNvPr id="6" name="element_bef8df40e7034b348392f679639d0c62"/>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Combined annual cost while all phases run: 6.2 + 4.8 + 3.1 = 14.1 M USD</a:t>
            </a:r>
            <a:endParaRPr lang="en-US" sz="1700" dirty="0"/>
          </a:p>
        </p:txBody>
      </p:sp>
      <p:sp>
        <p:nvSpPr>
          <p:cNvPr id="7" name="element_370c2a80cb9b2d1af07f9e9264a8b501"/>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Staged release ties later funding to the checkpoint</a:t>
            </a:r>
            <a:endParaRPr lang="en-US" sz="1700" dirty="0"/>
          </a:p>
        </p:txBody>
      </p:sp>
      <p:sp>
        <p:nvSpPr>
          <p:cNvPr id="8" name="element_86017712aceeff0b1ffd5824543b12c6"/>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Image slot below is a placeholder: no licensed image was supplied</a:t>
            </a:r>
            <a:endParaRPr lang="en-US" sz="1700" dirty="0"/>
          </a:p>
        </p:txBody>
      </p:sp>
      <p:graphicFrame>
        <p:nvGraphicFramePr>
          <p:cNvPr id="9" name="element_4c0117642d76264a1427c0ab45fa916c" descr=""/>
          <p:cNvGraphicFramePr/>
          <p:nvPr/>
        </p:nvGraphicFramePr>
        <p:xfrm>
          <a:off x="975336"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c52ab8ce5b62c7549401e3d19704fa08"/>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75856d81c58dc37256dd7906c642ed2e"/>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a3db2d18195c3f29bcd9f13f30d1c1d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3f1b6e7f58705dfedd0a2db80f7bdf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9bfceddd261d361cb075446969cbe1ab"/>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Adopt the phased package with a binding mid-program checkpoint</a:t>
            </a:r>
            <a:endParaRPr lang="en-US" sz="3800" dirty="0"/>
          </a:p>
        </p:txBody>
      </p:sp>
      <p:sp>
        <p:nvSpPr>
          <p:cNvPr id="5" name="element_5ef6fec8690bdb975550f40a3ae9a491"/>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Approve all three interventions as one phased package: launch resilience centers and cool roofs immediately, begin tree canopy in parallel given its eight-year horizon, and condition continued funding on a checkpoint review at the end of year two. The Office of Sustainability owns delivery and reports checkpoint results to council before later-phase funds a…</a:t>
            </a:r>
            <a:endParaRPr lang="en-US" sz="1900" dirty="0"/>
          </a:p>
        </p:txBody>
      </p:sp>
      <p:sp>
        <p:nvSpPr>
          <p:cNvPr id="6" name="element_beada174b162d0842542dfd6438c35d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Decision: approve the phased three-option package</a:t>
            </a:r>
            <a:endParaRPr lang="en-US" sz="1700" dirty="0"/>
          </a:p>
        </p:txBody>
      </p:sp>
      <p:sp>
        <p:nvSpPr>
          <p:cNvPr id="7" name="element_d07b84bfb29ac00f2bef53ff40956827"/>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Owner: Office of Sustainability, reporting to council</a:t>
            </a:r>
            <a:endParaRPr lang="en-US" sz="1700" dirty="0"/>
          </a:p>
        </p:txBody>
      </p:sp>
      <p:sp>
        <p:nvSpPr>
          <p:cNvPr id="8" name="element_4e231f19445c8c428db2a95fe3cd7a19"/>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Next checkpoint: end of year two, before later-phase fund release</a:t>
            </a:r>
            <a:endParaRPr lang="en-US" sz="1700" dirty="0"/>
          </a:p>
        </p:txBody>
      </p:sp>
      <p:sp>
        <p:nvSpPr>
          <p:cNvPr id="9" name="element_33d18f67350d0b114d5111d1dca420a1"/>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Year 2</a:t>
            </a:r>
            <a:endParaRPr lang="en-US" sz="5600" dirty="0"/>
          </a:p>
        </p:txBody>
      </p:sp>
      <p:sp>
        <p:nvSpPr>
          <p:cNvPr id="10" name="element_7398f4aed176fe57f9eb882e21e56917"/>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Binding mid-program checkpoint</a:t>
            </a:r>
            <a:endParaRPr lang="en-US" sz="1500" dirty="0"/>
          </a:p>
        </p:txBody>
      </p:sp>
      <p:sp>
        <p:nvSpPr>
          <p:cNvPr id="11" name="element_6c0c8e510f05a3185679576c69e058a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cad401d4ed8bac016da0882e5aa4d3f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policy briefing for city council members choosin…</dc:title>
  <dc:subject>Create an editable, reviewable presentation from this idea</dc:subject>
  <dc:creator>NodeSlide</dc:creator>
  <cp:lastModifiedBy>NodeSlide</cp:lastModifiedBy>
  <cp:revision>1</cp:revision>
  <dcterms:created xsi:type="dcterms:W3CDTF">2026-07-22T00:00:29Z</dcterms:created>
  <dcterms:modified xsi:type="dcterms:W3CDTF">2026-07-22T00:00:29Z</dcterms:modified>
</cp:coreProperties>
</file>