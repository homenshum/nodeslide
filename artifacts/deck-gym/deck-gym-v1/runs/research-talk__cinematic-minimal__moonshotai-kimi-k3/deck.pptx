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No Retrieval</c:v>
                  </c:pt>
                  <c:pt idx="1">
                    <c:v>Always Retrieve</c:v>
                  </c:pt>
                  <c:pt idx="2">
                    <c:v>Adaptive</c:v>
                  </c:pt>
                </c:lvl>
              </c:multiLvlStrCache>
            </c:multiLvlStrRef>
          </c:cat>
          <c:val>
            <c:numRef>
              <c:f>Sheet1!$B$2:$B$4</c:f>
              <c:numCache>
                <c:formatCode>General</c:formatCode>
                <c:ptCount val="3"/>
                <c:pt idx="0">
                  <c:v>0.61</c:v>
                </c:pt>
                <c:pt idx="1">
                  <c:v>0.78</c:v>
                </c:pt>
                <c:pt idx="2">
                  <c:v>0.75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“Retrieval improves quality but inflates cost and latency.”
Evidence note: Content is based on the supplied creation brief. Illustrative examples are not independently verified; replace them with measured evidence before external publication.
NodeSlide sources
[source_32ef407fb65118bad7fa238aed8ce962]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[source_d82929160f5292b677c3893c7d62bace] retrieval-results.csv
Citation: Uploaded file: retrieval-results.csv
policy,quality_score,cost_usd,latency_ms
no_retrieval,0.61,0.010,640
always_retrieve,0.78,0.092,1810
adaptive,0.75,0.038,1040
Disclaimer: User supplied
[source_919da6dc721a712875fd25947a5b41b7]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“Predict retrieval necessity, cap passages, cite claims.”
Evidence note: Content is based on the supplied creation brief. Illustrative examples are not independently verified; replace them with measured evidence before external publication.
NodeSlide sources
[source_32ef407fb65118bad7fa238aed8ce962]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[source_d82929160f5292b677c3893c7d62bace] retrieval-results.csv
Citation: Uploaded file: retrieval-results.csv
policy,quality_score,cost_usd,latency_ms
no_retrieval,0.61,0.010,640
always_retrieve,0.78,0.092,1810
adaptive,0.75,0.038,1040
Disclaimer: User supplied
[source_919da6dc721a712875fd25947a5b41b7]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“Fixed benchmark fixture; means reported; no significance claims.”
Evidence note: Content is based on the supplied creation brief. Illustrative examples are not independently verified; replace them with measured evidence before external publication.
NodeSlide sources
[source_32ef407fb65118bad7fa238aed8ce962]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[source_d82929160f5292b677c3893c7d62bace] retrieval-results.csv
Citation: Uploaded file: retrieval-results.csv
policy,quality_score,cost_usd,latency_ms
no_retrieval,0.61,0.010,640
always_retrieve,0.78,0.092,1810
adaptive,0.75,0.038,1040
Disclaimer: User supplied
[source_919da6dc721a712875fd25947a5b41b7]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“Adaptive achieves 0.75 quality at $0.038 cost.”
Evidence note: Content is based on the supplied creation brief. Illustrative examples are not independently verified; replace them with measured evidence before external publication.
NodeSlide sources
[source_32ef407fb65118bad7fa238aed8ce962]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[source_d82929160f5292b677c3893c7d62bace] retrieval-results.csv
Citation: Uploaded file: retrieval-results.csv
policy,quality_score,cost_usd,latency_ms
no_retrieval,0.61,0.010,640
always_retrieve,0.78,0.092,1810
adaptive,0.75,0.038,1040
Disclaimer: User supplied
[source_919da6dc721a712875fd25947a5b41b7]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“Q/cost: adaptive delivers 19.7 quality per dollar.”
Evidence note: Content is based on the supplied creation brief. Illustrative examples are not independently verified; replace them with measured evidence before external publication.
NodeSlide sources
[source_32ef407fb65118bad7fa238aed8ce962]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[source_d82929160f5292b677c3893c7d62bace] retrieval-results.csv
Citation: Uploaded file: retrieval-results.csv
policy,quality_score,cost_usd,latency_ms
no_retrieval,0.61,0.010,640
always_retrieve,0.78,0.092,1810
adaptive,0.75,0.038,1040
Disclaimer: User supplied
[source_919da6dc721a712875fd25947a5b41b7]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“Prediction errors and latency variance are key risks.”
Evidence note: Content is based on the supplied creation brief. Illustrative examples are not independently verified; replace them with measured evidence before external publication.
NodeSlide sources
[source_32ef407fb65118bad7fa238aed8ce962]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[source_d82929160f5292b677c3893c7d62bace] retrieval-results.csv
Citation: Uploaded file: retrieval-results.csv
policy,quality_score,cost_usd,latency_ms
no_retrieval,0.61,0.010,640
always_retrieve,0.78,0.092,1810
adaptive,0.75,0.038,1040
Disclaimer: User supplied
[source_919da6dc721a712875fd25947a5b41b7]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“Adopt adaptive retrieval for cost-sensitive production.”
Evidence note: Content is based on the supplied creation brief. Illustrative examples are not independently verified; replace them with measured evidence before external publication.
NodeSlide sources
[source_32ef407fb65118bad7fa238aed8ce962] Create a seven-slide research talk for applied machine-learning resea… — creation brief
Citation: Create a seven-slide research talk for applied machine-learning researchers evaluating adaptive retrieval under cost constraints. Explain the question, method, evaluation design, result, failure modes, and implications. Use the supplied experiment table exactly. Include an editable methods diagram, an editable result chart, the cost-adjusted quality formula Q divided by cost, and claim-adjacent source labels. Separate measured results from interpretation. Design direction: Use a cinematic minimal direction: fewer words, larger visual centers, deliberate scale changes, one memorable visual climax, and quiet transition beats. Keep all evidence honest and editable.
Disclaimer: Internal working material
[source_d82929160f5292b677c3893c7d62bace] retrieval-results.csv
Citation: Uploaded file: retrieval-results.csv
policy,quality_score,cost_usd,latency_ms
no_retrieval,0.61,0.010,640
always_retrieve,0.78,0.092,1810
adaptive,0.75,0.038,1040
Disclaimer: User supplied
[source_919da6dc721a712875fd25947a5b41b7] method.md
Citation: Uploaded file: method.md
The adaptive policy predicts whether a query requires retrieval, retrieves at most three passages, then answers with claim-linked citations. Reported values are means over the fixed benchmark fixture; no statistical-significance claim is authorized.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9e6e9d9685bfb87b51d4cb21cb823d2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83767cd04968b151dbc5702c59dd36f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ca19cad415dcb234b6bc75215900afbf"/>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Retrieval improves quality but inflates cost and latency.</a:t>
            </a:r>
            <a:endParaRPr lang="en-US" sz="4800" dirty="0"/>
          </a:p>
        </p:txBody>
      </p:sp>
      <p:sp>
        <p:nvSpPr>
          <p:cNvPr id="5" name="element_2c3efcb3f3c13c96dbe8c2db9f449bbe"/>
          <p:cNvSpPr txBox="1"/>
          <p:nvPr/>
        </p:nvSpPr>
        <p:spPr>
          <a:xfrm>
            <a:off x="853419" y="3291840"/>
            <a:ext cx="4754761"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Applied ML systems must balance answer quality against operational constraints. Always retrieving maximizes quality but at unsustainable cost; never retrieving saves cost but sacrifices accuracy.</a:t>
            </a:r>
            <a:endParaRPr lang="en-US" sz="1900" dirty="0"/>
          </a:p>
        </p:txBody>
      </p:sp>
      <p:sp>
        <p:nvSpPr>
          <p:cNvPr id="6" name="element_7f7c747364366bb12df056f5fd1b2500"/>
          <p:cNvSpPr txBox="1"/>
          <p:nvPr/>
        </p:nvSpPr>
        <p:spPr>
          <a:xfrm>
            <a:off x="853419" y="4594860"/>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Always-retrieve: highest quality, highest cost</a:t>
            </a:r>
            <a:endParaRPr lang="en-US" sz="1700" dirty="0"/>
          </a:p>
        </p:txBody>
      </p:sp>
      <p:sp>
        <p:nvSpPr>
          <p:cNvPr id="7" name="element_ff2ef66ec2e76486e1611fb8d4534407"/>
          <p:cNvSpPr txBox="1"/>
          <p:nvPr/>
        </p:nvSpPr>
        <p:spPr>
          <a:xfrm>
            <a:off x="853419" y="5258029"/>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No-retrieval: lowest cost, lowest quality</a:t>
            </a:r>
            <a:endParaRPr lang="en-US" sz="1700" dirty="0"/>
          </a:p>
        </p:txBody>
      </p:sp>
      <p:sp>
        <p:nvSpPr>
          <p:cNvPr id="8" name="element_d3d778d20141cfc65ca242a4b6ac9d3d"/>
          <p:cNvSpPr txBox="1"/>
          <p:nvPr/>
        </p:nvSpPr>
        <p:spPr>
          <a:xfrm>
            <a:off x="853419" y="5920511"/>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Adaptive: predict when retrieval is necessary</a:t>
            </a:r>
            <a:endParaRPr lang="en-US" sz="1700" dirty="0"/>
          </a:p>
        </p:txBody>
      </p:sp>
      <p:sp>
        <p:nvSpPr>
          <p:cNvPr id="9" name="element_3b649f1f2f113417bfb5f69e8a1953b3"/>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0.78</a:t>
            </a:r>
            <a:endParaRPr lang="en-US" sz="5600" dirty="0"/>
          </a:p>
        </p:txBody>
      </p:sp>
      <p:sp>
        <p:nvSpPr>
          <p:cNvPr id="10" name="element_abae825e47d3dd98329b0573994ff37f"/>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Always-retrieve quality score</a:t>
            </a:r>
            <a:endParaRPr lang="en-US" sz="1500" dirty="0"/>
          </a:p>
        </p:txBody>
      </p:sp>
      <p:sp>
        <p:nvSpPr>
          <p:cNvPr id="11" name="element_8c23e41d74b66619a18d29fbf222b04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c7f6993fbb573673861505ad4602175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65a51ea12bf597c94b8ef36989d8ffcb"/>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ee987414748a84901459be67200aa6c5"/>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16190978d94fbbaa523d5f8f3d8be812"/>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Predict retrieval necessity, cap passages, cite claims.</a:t>
            </a:r>
            <a:endParaRPr lang="en-US" sz="3800" dirty="0"/>
          </a:p>
        </p:txBody>
      </p:sp>
      <p:sp>
        <p:nvSpPr>
          <p:cNvPr id="5" name="element_943b9f009d874b61d7b9aca126083a2b"/>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The adaptive policy uses a lightweight classifier to predict whether a query requires retrieval. If yes, it retrieves at most three passages and generates an answer with claim-linked citations.</a:t>
            </a:r>
            <a:endParaRPr lang="en-US" sz="1700" dirty="0"/>
          </a:p>
        </p:txBody>
      </p:sp>
      <p:sp>
        <p:nvSpPr>
          <p:cNvPr id="6" name="element_d8b7759aa8ce4f0ac5c43b6ba50e8104"/>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Prediction: lightweight classifier per query</a:t>
            </a:r>
            <a:endParaRPr lang="en-US" sz="1700" dirty="0"/>
          </a:p>
        </p:txBody>
      </p:sp>
      <p:sp>
        <p:nvSpPr>
          <p:cNvPr id="7" name="element_ac950f482705dc2fd02218250e617095"/>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Retrieval: at most three passages</a:t>
            </a:r>
            <a:endParaRPr lang="en-US" sz="1700" dirty="0"/>
          </a:p>
        </p:txBody>
      </p:sp>
      <p:sp>
        <p:nvSpPr>
          <p:cNvPr id="8" name="element_ae1bbb9f99b7acb2e94b12efb50c2223"/>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Citation: claim-linked grounding</a:t>
            </a:r>
            <a:endParaRPr lang="en-US" sz="1700" dirty="0"/>
          </a:p>
        </p:txBody>
      </p:sp>
      <p:sp>
        <p:nvSpPr>
          <p:cNvPr id="9" name="element_2b02089b740dd0972e8bfea14822405b"/>
          <p:cNvSpPr/>
          <p:nvPr/>
        </p:nvSpPr>
        <p:spPr>
          <a:xfrm>
            <a:off x="7019978" y="3775329"/>
            <a:ext cx="243834" cy="164592"/>
          </a:xfrm>
          <a:prstGeom prst="line">
            <a:avLst/>
          </a:prstGeom>
          <a:noFill/>
          <a:ln w="25400">
            <a:solidFill>
              <a:srgbClr val="7566A8"/>
            </a:solidFill>
            <a:prstDash val="solid"/>
            <a:tailEnd type="triangle"/>
          </a:ln>
        </p:spPr>
      </p:sp>
      <p:sp>
        <p:nvSpPr>
          <p:cNvPr id="10" name="element_9ac052ecd847e301895afde643797f8c"/>
          <p:cNvSpPr/>
          <p:nvPr/>
        </p:nvSpPr>
        <p:spPr>
          <a:xfrm>
            <a:off x="9194977" y="3775329"/>
            <a:ext cx="243834" cy="164592"/>
          </a:xfrm>
          <a:prstGeom prst="line">
            <a:avLst/>
          </a:prstGeom>
          <a:noFill/>
          <a:ln w="25400">
            <a:solidFill>
              <a:srgbClr val="7566A8"/>
            </a:solidFill>
            <a:prstDash val="solid"/>
            <a:tailEnd type="triangle"/>
          </a:ln>
        </p:spPr>
      </p:sp>
      <p:sp>
        <p:nvSpPr>
          <p:cNvPr id="11" name="element_394c46334617673153c27c6310636033"/>
          <p:cNvSpPr/>
          <p:nvPr/>
        </p:nvSpPr>
        <p:spPr>
          <a:xfrm>
            <a:off x="6910253" y="4375404"/>
            <a:ext cx="463284" cy="164592"/>
          </a:xfrm>
          <a:prstGeom prst="line">
            <a:avLst/>
          </a:prstGeom>
          <a:noFill/>
          <a:ln w="25400">
            <a:solidFill>
              <a:srgbClr val="7566A8"/>
            </a:solidFill>
            <a:prstDash val="solid"/>
            <a:tailEnd type="triangle"/>
          </a:ln>
        </p:spPr>
      </p:sp>
      <p:sp>
        <p:nvSpPr>
          <p:cNvPr id="12" name="element_ddfe54a7fd93125335a96e87c3789a98"/>
          <p:cNvSpPr/>
          <p:nvPr/>
        </p:nvSpPr>
        <p:spPr>
          <a:xfrm>
            <a:off x="6922445" y="4375404"/>
            <a:ext cx="2615119" cy="164592"/>
          </a:xfrm>
          <a:prstGeom prst="line">
            <a:avLst/>
          </a:prstGeom>
          <a:noFill/>
          <a:ln w="25400">
            <a:solidFill>
              <a:srgbClr val="7566A8"/>
            </a:solidFill>
            <a:prstDash val="solid"/>
            <a:tailEnd type="triangle"/>
          </a:ln>
        </p:spPr>
      </p:sp>
      <p:sp>
        <p:nvSpPr>
          <p:cNvPr id="13" name="element_bf4fa4325cb90a6364f3ed2178bebe93"/>
          <p:cNvSpPr/>
          <p:nvPr/>
        </p:nvSpPr>
        <p:spPr>
          <a:xfrm>
            <a:off x="5045753" y="3339160"/>
            <a:ext cx="2018506" cy="1036930"/>
          </a:xfrm>
          <a:prstGeom prst="roundRect">
            <a:avLst/>
          </a:prstGeom>
          <a:solidFill>
            <a:srgbClr val="F2DED3"/>
          </a:solidFill>
          <a:ln w="12700">
            <a:solidFill>
              <a:srgbClr val="DED7CC"/>
            </a:solidFill>
            <a:prstDash val="solid"/>
          </a:ln>
        </p:spPr>
      </p:sp>
      <p:sp>
        <p:nvSpPr>
          <p:cNvPr id="14" name="element_bf4fa4325cb90a6364f3ed2178bebe93:text"/>
          <p:cNvSpPr txBox="1"/>
          <p:nvPr/>
        </p:nvSpPr>
        <p:spPr>
          <a:xfrm>
            <a:off x="5045753"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Query</a:t>
            </a:r>
            <a:endParaRPr lang="en-US" sz="1600" dirty="0"/>
          </a:p>
        </p:txBody>
      </p:sp>
      <p:sp>
        <p:nvSpPr>
          <p:cNvPr id="15" name="element_74227a143af1f092f2d7bffe9a6ce209"/>
          <p:cNvSpPr/>
          <p:nvPr/>
        </p:nvSpPr>
        <p:spPr>
          <a:xfrm>
            <a:off x="7219532" y="3339160"/>
            <a:ext cx="2018506" cy="1036930"/>
          </a:xfrm>
          <a:prstGeom prst="roundRect">
            <a:avLst/>
          </a:prstGeom>
          <a:solidFill>
            <a:srgbClr val="E5E9D6"/>
          </a:solidFill>
          <a:ln w="25400">
            <a:solidFill>
              <a:srgbClr val="B44A2D"/>
            </a:solidFill>
            <a:prstDash val="solid"/>
          </a:ln>
        </p:spPr>
      </p:sp>
      <p:sp>
        <p:nvSpPr>
          <p:cNvPr id="16" name="element_74227a143af1f092f2d7bffe9a6ce209:text"/>
          <p:cNvSpPr txBox="1"/>
          <p:nvPr/>
        </p:nvSpPr>
        <p:spPr>
          <a:xfrm>
            <a:off x="7219532"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Predict Need</a:t>
            </a:r>
            <a:endParaRPr lang="en-US" sz="1600" dirty="0"/>
          </a:p>
        </p:txBody>
      </p:sp>
      <p:sp>
        <p:nvSpPr>
          <p:cNvPr id="17" name="element_2475bfd9d02494341289073ce31bcb75"/>
          <p:cNvSpPr/>
          <p:nvPr/>
        </p:nvSpPr>
        <p:spPr>
          <a:xfrm>
            <a:off x="9394530" y="3339160"/>
            <a:ext cx="2018506" cy="1036930"/>
          </a:xfrm>
          <a:prstGeom prst="roundRect">
            <a:avLst/>
          </a:prstGeom>
          <a:solidFill>
            <a:srgbClr val="F2DED3"/>
          </a:solidFill>
          <a:ln w="12700">
            <a:solidFill>
              <a:srgbClr val="DED7CC"/>
            </a:solidFill>
            <a:prstDash val="solid"/>
          </a:ln>
        </p:spPr>
      </p:sp>
      <p:sp>
        <p:nvSpPr>
          <p:cNvPr id="18" name="element_2475bfd9d02494341289073ce31bcb75:text"/>
          <p:cNvSpPr txBox="1"/>
          <p:nvPr/>
        </p:nvSpPr>
        <p:spPr>
          <a:xfrm>
            <a:off x="9394530" y="333916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Retrieve ≤3</a:t>
            </a:r>
            <a:endParaRPr lang="en-US" sz="1600" dirty="0"/>
          </a:p>
        </p:txBody>
      </p:sp>
      <p:sp>
        <p:nvSpPr>
          <p:cNvPr id="19" name="element_8f899817891afb4a55acade15f368acd"/>
          <p:cNvSpPr/>
          <p:nvPr/>
        </p:nvSpPr>
        <p:spPr>
          <a:xfrm>
            <a:off x="5045753" y="4539310"/>
            <a:ext cx="2018506" cy="1036930"/>
          </a:xfrm>
          <a:prstGeom prst="roundRect">
            <a:avLst/>
          </a:prstGeom>
          <a:solidFill>
            <a:srgbClr val="F2DED3"/>
          </a:solidFill>
          <a:ln w="12700">
            <a:solidFill>
              <a:srgbClr val="DED7CC"/>
            </a:solidFill>
            <a:prstDash val="solid"/>
          </a:ln>
        </p:spPr>
      </p:sp>
      <p:sp>
        <p:nvSpPr>
          <p:cNvPr id="20" name="element_8f899817891afb4a55acade15f368acd:text"/>
          <p:cNvSpPr txBox="1"/>
          <p:nvPr/>
        </p:nvSpPr>
        <p:spPr>
          <a:xfrm>
            <a:off x="5045753" y="4539310"/>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Answer + Cite</a:t>
            </a:r>
            <a:endParaRPr lang="en-US" sz="1600" dirty="0"/>
          </a:p>
        </p:txBody>
      </p:sp>
      <p:sp>
        <p:nvSpPr>
          <p:cNvPr id="21" name="element_7ea84c4cb943d1c5fc1de4283afaf114"/>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2" name="element_dc53ece5d31e7227ec764e5ca49af31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532d7986feff2d6173ed32e6a638c65b"/>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8d22b57b13f1413202dbaa965b4a06b2"/>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45c503d81d74563478d15bb5983ffd4e"/>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Fixed benchmark fixture; means reported; no significance claims.</a:t>
            </a:r>
            <a:endParaRPr lang="en-US" sz="3800" dirty="0"/>
          </a:p>
        </p:txBody>
      </p:sp>
      <p:sp>
        <p:nvSpPr>
          <p:cNvPr id="5" name="element_f1eeeec860e96aa07ba65fe7f3b6d17f"/>
          <p:cNvSpPr txBox="1"/>
          <p:nvPr/>
        </p:nvSpPr>
        <p:spPr>
          <a:xfrm>
            <a:off x="6583515"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All policies evaluated on the same fixed benchmark fixture. Reported values are means across the fixture. No statistical-significance claims are authorized per method.md.</a:t>
            </a:r>
            <a:endParaRPr lang="en-US" sz="1900" dirty="0"/>
          </a:p>
        </p:txBody>
      </p:sp>
      <p:sp>
        <p:nvSpPr>
          <p:cNvPr id="6" name="element_86d6af92f2c1364db248113df7c87fad"/>
          <p:cNvSpPr txBox="1"/>
          <p:nvPr/>
        </p:nvSpPr>
        <p:spPr>
          <a:xfrm>
            <a:off x="6583515"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Fixed benchmark fixture for all policies</a:t>
            </a:r>
            <a:endParaRPr lang="en-US" sz="1700" dirty="0"/>
          </a:p>
        </p:txBody>
      </p:sp>
      <p:sp>
        <p:nvSpPr>
          <p:cNvPr id="7" name="element_9432f391691b5c782a5ad74ae8b548b6"/>
          <p:cNvSpPr txBox="1"/>
          <p:nvPr/>
        </p:nvSpPr>
        <p:spPr>
          <a:xfrm>
            <a:off x="6583515"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Reported values are means</a:t>
            </a:r>
            <a:endParaRPr lang="en-US" sz="1700" dirty="0"/>
          </a:p>
        </p:txBody>
      </p:sp>
      <p:sp>
        <p:nvSpPr>
          <p:cNvPr id="8" name="element_e13eaaaa3ff26af45062937bb5c631b8"/>
          <p:cNvSpPr txBox="1"/>
          <p:nvPr/>
        </p:nvSpPr>
        <p:spPr>
          <a:xfrm>
            <a:off x="6583515"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No statistical-significance claims authorized</a:t>
            </a:r>
            <a:endParaRPr lang="en-US" sz="1700" dirty="0"/>
          </a:p>
        </p:txBody>
      </p:sp>
      <p:sp>
        <p:nvSpPr>
          <p:cNvPr id="9" name="element_9451adb82be87cb1ecb245919787ef1a"/>
          <p:cNvSpPr txBox="1"/>
          <p:nvPr/>
        </p:nvSpPr>
        <p:spPr>
          <a:xfrm>
            <a:off x="1219170"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3</a:t>
            </a:r>
            <a:endParaRPr lang="en-US" sz="5600" dirty="0"/>
          </a:p>
        </p:txBody>
      </p:sp>
      <p:sp>
        <p:nvSpPr>
          <p:cNvPr id="10" name="element_6189b17a8a21f4190a55778e65bfebea"/>
          <p:cNvSpPr txBox="1"/>
          <p:nvPr/>
        </p:nvSpPr>
        <p:spPr>
          <a:xfrm>
            <a:off x="1463003"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Policies compared</a:t>
            </a:r>
            <a:endParaRPr lang="en-US" sz="1500" dirty="0"/>
          </a:p>
        </p:txBody>
      </p:sp>
      <p:sp>
        <p:nvSpPr>
          <p:cNvPr id="11" name="element_03867272a7df938b0f35d1a0ea4c0111"/>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3e9214d43d98e77987c55e012eadb3e9"/>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b629776e54e71fde2af70cc0648925c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87195f843d804189d204d3726e08cd3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7ec5c96bef9bd145009a26bd9cfc9824"/>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Adaptive achieves 0.75 quality at $0.038 cost.</a:t>
            </a:r>
            <a:endParaRPr lang="en-US" sz="3800" dirty="0"/>
          </a:p>
        </p:txBody>
      </p:sp>
      <p:sp>
        <p:nvSpPr>
          <p:cNvPr id="5" name="element_4086b7275423f5f5024d9ada3dccf83a"/>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Measured results from retrieval-results.csv. Adaptive retrieval achieves 96% of always-retrieve quality at 41% of the cost and 57% of the latency.</a:t>
            </a:r>
            <a:endParaRPr lang="en-US" sz="1900" dirty="0"/>
          </a:p>
        </p:txBody>
      </p:sp>
      <p:sp>
        <p:nvSpPr>
          <p:cNvPr id="6" name="element_4c511318dbcf5d5a5546d10e58850c69"/>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No retrieval: 0.61 quality, $0.010, 640ms</a:t>
            </a:r>
            <a:endParaRPr lang="en-US" sz="1700" dirty="0"/>
          </a:p>
        </p:txBody>
      </p:sp>
      <p:sp>
        <p:nvSpPr>
          <p:cNvPr id="7" name="element_ff9f52f76eecff5196a1e8f8e1ed5214"/>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Always retrieve: 0.78 quality, $0.092, 1810ms</a:t>
            </a:r>
            <a:endParaRPr lang="en-US" sz="1700" dirty="0"/>
          </a:p>
        </p:txBody>
      </p:sp>
      <p:sp>
        <p:nvSpPr>
          <p:cNvPr id="8" name="element_ee913a5b0ed0fb444322b6298740e716"/>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Adaptive: 0.75 quality, $0.038, 1040ms</a:t>
            </a:r>
            <a:endParaRPr lang="en-US" sz="1700" dirty="0"/>
          </a:p>
        </p:txBody>
      </p:sp>
      <p:graphicFrame>
        <p:nvGraphicFramePr>
          <p:cNvPr id="9" name="element_c2e41c89da4ceceea30ff623ccb56b5f"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d684768ac775304c90cc21ab669825b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381879507dc1c1ebc67fdd3b356db6f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078e59031d51b8e3a32a3958fabdfd27"/>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771556c10789cc16b091ffa15887d414"/>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c43624f2eacb59728862fc3be89b99ee"/>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Q/cost: adaptive delivers 19.7 quality per dollar.</a:t>
            </a:r>
            <a:endParaRPr lang="en-US" sz="3800" dirty="0"/>
          </a:p>
        </p:txBody>
      </p:sp>
      <p:sp>
        <p:nvSpPr>
          <p:cNvPr id="5" name="element_8b60e2deecd5b0b529d4a9483f52123c"/>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Cost-adjusted quality metric Q/cost. Adaptive retrieval delivers 19.7 quality points per dollar—2.4× better than always-retrieve and 1.2× better than no-retrieval.</a:t>
            </a:r>
            <a:endParaRPr lang="en-US" sz="1900" dirty="0"/>
          </a:p>
        </p:txBody>
      </p:sp>
      <p:sp>
        <p:nvSpPr>
          <p:cNvPr id="6" name="element_3043995fa25d0adda410b3bf453b5ad7"/>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No retrieval: 61.0 quality/$</a:t>
            </a:r>
            <a:endParaRPr lang="en-US" sz="1700" dirty="0"/>
          </a:p>
        </p:txBody>
      </p:sp>
      <p:sp>
        <p:nvSpPr>
          <p:cNvPr id="7" name="element_9c2f1ef613756a7a810298283d642c5a"/>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Always retrieve: 8.5 quality/$</a:t>
            </a:r>
            <a:endParaRPr lang="en-US" sz="1700" dirty="0"/>
          </a:p>
        </p:txBody>
      </p:sp>
      <p:sp>
        <p:nvSpPr>
          <p:cNvPr id="8" name="element_57a2d343b6e473554d77b953aad5ec35"/>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Adaptive: 19.7 quality/$</a:t>
            </a:r>
            <a:endParaRPr lang="en-US" sz="1700" dirty="0"/>
          </a:p>
        </p:txBody>
      </p:sp>
      <p:sp>
        <p:nvSpPr>
          <p:cNvPr id="9" name="element_b8d958afbb606de247405f863e1aceeb"/>
          <p:cNvSpPr txBox="1"/>
          <p:nvPr/>
        </p:nvSpPr>
        <p:spPr>
          <a:xfrm>
            <a:off x="6271408" y="2814523"/>
            <a:ext cx="5135142" cy="1777594"/>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Q / cost</a:t>
            </a:r>
            <a:endParaRPr lang="en-US" sz="3000" dirty="0"/>
          </a:p>
        </p:txBody>
      </p:sp>
      <p:sp>
        <p:nvSpPr>
          <p:cNvPr id="10" name="element_c477d6d72f7edc41c0d9251f3909925a"/>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8549dd01198f1382454f207dbc56f3a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1ed15483aac84a3676ae5e90ef576cc7"/>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8559d5d3927d97dfb46407c2220f21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fe2bef47a8db04ae9341241570dff88e"/>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Prediction errors and latency variance are key risks.</a:t>
            </a:r>
            <a:endParaRPr lang="en-US" sz="3800" dirty="0"/>
          </a:p>
        </p:txBody>
      </p:sp>
      <p:sp>
        <p:nvSpPr>
          <p:cNvPr id="5" name="element_ba86a3194c791e9b24f8614feda3756a"/>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The adaptive policy can mispredict retrieval necessity, leading to quality degradation on retrieval-critical queries. Latency variance is higher than fixed policies due to conditional retrieval.</a:t>
            </a:r>
            <a:endParaRPr lang="en-US" sz="1900" dirty="0"/>
          </a:p>
        </p:txBody>
      </p:sp>
      <p:sp>
        <p:nvSpPr>
          <p:cNvPr id="6" name="element_6d90f9ec77f479e8a313841dd4b63f49"/>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Misprediction: quality loss on retrieval-critical queries</a:t>
            </a:r>
            <a:endParaRPr lang="en-US" sz="1700" dirty="0"/>
          </a:p>
        </p:txBody>
      </p:sp>
      <p:sp>
        <p:nvSpPr>
          <p:cNvPr id="7" name="element_e07ac09dd5b9cc84eadff82bb2ea5dc2"/>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Latency variance: 640ms to 1040ms range</a:t>
            </a:r>
            <a:endParaRPr lang="en-US" sz="1700" dirty="0"/>
          </a:p>
        </p:txBody>
      </p:sp>
      <p:sp>
        <p:nvSpPr>
          <p:cNvPr id="8" name="element_d2f4a8aa8f7dd7bfc14f18ed270aa84f"/>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Citation coverage: depends on retrieval success</a:t>
            </a:r>
            <a:endParaRPr lang="en-US" sz="1700" dirty="0"/>
          </a:p>
        </p:txBody>
      </p:sp>
      <p:sp>
        <p:nvSpPr>
          <p:cNvPr id="9" name="element_5cb7e87f0896755f91916c758b23a037: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5cb7e87f0896755f91916c758b23a037: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Illustrative placeholder for failure mode visualization</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no captured image supplied</a:t>
            </a:r>
            <a:endParaRPr lang="en-US" sz="1400" dirty="0"/>
          </a:p>
        </p:txBody>
      </p:sp>
      <p:sp>
        <p:nvSpPr>
          <p:cNvPr id="11" name="element_e6e5b8d6a41ed5cdefb33c07d4ac1a3d"/>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Placeholder: no captured image supplied</a:t>
            </a:r>
            <a:endParaRPr lang="en-US" sz="1400" dirty="0"/>
          </a:p>
        </p:txBody>
      </p:sp>
      <p:sp>
        <p:nvSpPr>
          <p:cNvPr id="12" name="element_649454cecc5c2603248b643dec2e4a7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34d6ca637f4dbff5459623823426aeb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ee0980df983bf81669f35fd4a03c47de"/>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b2fa83205e47d300972f5c7e97a6aeaa"/>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eef167c3284d4cded33afbed7767252a"/>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Adopt adaptive retrieval for cost-sensitive production.</a:t>
            </a:r>
            <a:endParaRPr lang="en-US" sz="3800" dirty="0"/>
          </a:p>
        </p:txBody>
      </p:sp>
      <p:sp>
        <p:nvSpPr>
          <p:cNvPr id="5" name="element_e23f31be8b47b4f5527d9d6192ff162c"/>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Adaptive retrieval is recommended for cost-sensitive production workloads. Next steps: validate on production traffic, monitor misprediction rates, and tune the prediction threshold.</a:t>
            </a:r>
            <a:endParaRPr lang="en-US" sz="1900" dirty="0"/>
          </a:p>
        </p:txBody>
      </p:sp>
      <p:sp>
        <p:nvSpPr>
          <p:cNvPr id="6" name="element_c4d38afbd9025852fb487d3cabb7d4b4"/>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Adopt adaptive for cost-sensitive workloads</a:t>
            </a:r>
            <a:endParaRPr lang="en-US" sz="1700" dirty="0"/>
          </a:p>
        </p:txBody>
      </p:sp>
      <p:sp>
        <p:nvSpPr>
          <p:cNvPr id="7" name="element_97fd8c067985dd1a9ff3e298bb85f6fd"/>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Validate on production traffic</a:t>
            </a:r>
            <a:endParaRPr lang="en-US" sz="1700" dirty="0"/>
          </a:p>
        </p:txBody>
      </p:sp>
      <p:sp>
        <p:nvSpPr>
          <p:cNvPr id="8" name="element_ee026700371652ab782832b8ca2bf0c7"/>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Monitor misprediction and tune threshold</a:t>
            </a:r>
            <a:endParaRPr lang="en-US" sz="1700" dirty="0"/>
          </a:p>
        </p:txBody>
      </p:sp>
      <p:sp>
        <p:nvSpPr>
          <p:cNvPr id="9" name="element_010a872fa0383d7b62a97d1f96d9a808"/>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19.7</a:t>
            </a:r>
            <a:endParaRPr lang="en-US" sz="5600" dirty="0"/>
          </a:p>
        </p:txBody>
      </p:sp>
      <p:sp>
        <p:nvSpPr>
          <p:cNvPr id="10" name="element_78fd86d06d1ce78bd8d71adfb81f777f"/>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Quality per dollar (adaptive)</a:t>
            </a:r>
            <a:endParaRPr lang="en-US" sz="1500" dirty="0"/>
          </a:p>
        </p:txBody>
      </p:sp>
      <p:sp>
        <p:nvSpPr>
          <p:cNvPr id="11" name="element_5ca6f0a06418368f1b0da978ae98b17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9b9e760b0f40d0839c41272c8ecd5174"/>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research talk for applied machine-learning resea…</dc:title>
  <dc:subject>Create an editable, reviewable presentation from this idea</dc:subject>
  <dc:creator>NodeSlide</dc:creator>
  <cp:lastModifiedBy>NodeSlide</cp:lastModifiedBy>
  <cp:revision>1</cp:revision>
  <dcterms:created xsi:type="dcterms:W3CDTF">2026-07-21T23:52:22Z</dcterms:created>
  <dcterms:modified xsi:type="dcterms:W3CDTF">2026-07-21T23:52:22Z</dcterms:modified>
</cp:coreProperties>
</file>