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Paid Workspaces</c:v>
                  </c:pt>
                  <c:pt idx="1">
                    <c:v>Monthly Active Operators</c:v>
                  </c:pt>
                  <c:pt idx="2">
                    <c:v>Weekly Workflows</c:v>
                  </c:pt>
                  <c:pt idx="3">
                    <c:v>Net Revenue Retention</c:v>
                  </c:pt>
                  <c:pt idx="4">
                    <c:v>Median Setup Time</c:v>
                  </c:pt>
                </c:lvl>
              </c:multiLvlStrCache>
            </c:multiLvlStrRef>
          </c:cat>
          <c:val>
            <c:numRef>
              <c:f>Sheet1!$B$2:$B$6</c:f>
              <c:numCache>
                <c:formatCode>General</c:formatCode>
                <c:ptCount val="5"/>
                <c:pt idx="0">
                  <c:v>84</c:v>
                </c:pt>
                <c:pt idx="1">
                  <c:v>1260</c:v>
                </c:pt>
                <c:pt idx="2">
                  <c:v>18400</c:v>
                </c:pt>
                <c:pt idx="3">
                  <c:v>118</c:v>
                </c:pt>
                <c:pt idx="4">
                  <c:v>19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[source_16afced7889396c44b0a90fad539355b]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[source_11b2ca12051c64302e0a9293a0b0abf5]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[source_15f515105a175de3ff49a7dfbdb9957e]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[source_16afced7889396c44b0a90fad539355b]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[source_11b2ca12051c64302e0a9293a0b0abf5]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[source_15f515105a175de3ff49a7dfbdb9957e]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[source_16afced7889396c44b0a90fad539355b]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[source_11b2ca12051c64302e0a9293a0b0abf5]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[source_15f515105a175de3ff49a7dfbdb9957e]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“The uploaded values remain an editable chart.”
Evidence note: Content is based on the supplied creation brief. Illustrative examples are not independently verified; replace them with measured evidence before external publication.
NodeSlide sources
[source_16afced7889396c44b0a90fad539355b]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[source_11b2ca12051c64302e0a9293a0b0abf5]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[source_15f515105a175de3ff49a7dfbdb9957e]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[source_16afced7889396c44b0a90fad539355b]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[source_11b2ca12051c64302e0a9293a0b0abf5]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[source_15f515105a175de3ff49a7dfbdb9957e]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[source_16afced7889396c44b0a90fad539355b]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[source_11b2ca12051c64302e0a9293a0b0abf5]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[source_15f515105a175de3ff49a7dfbdb9957e]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[source_16afced7889396c44b0a90fad539355b]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[source_11b2ca12051c64302e0a9293a0b0abf5]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[source_15f515105a175de3ff49a7dfbdb9957e]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e793299cebf5d3179404a77b39cb143c"/>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642fddee7a03c0c7ff20dcf2713b01c2"/>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2022d453eb5d3700b593e278ba5bf10b"/>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c54b069fd3a3e8c30a3878a783d95546"/>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8fb5a43e901ad06ea5c8e77b95e7eed2"/>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659a67b97910227734b790615b73de83"/>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c16ed7e5d52b6687813e961b294e375b"/>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dcce0d79d262d72c95262ea847ee6eef"/>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9ded5b176e3549b24b551673bfb78c3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d3033689d24028472eb35a1c98bda400"/>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be35cbe265ed7c47885def1a938e496e"/>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98fa3c8e70602e9bfd1215647d95d8c7"/>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e4fdd910eedc11a9db86c05b1cbd448f"/>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8009c87d93b54dba9f085ba74d6a3b0a"/>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8199e27e030879c8d1b3efda62e81a8d"/>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f5cda9c878a7f1a12b3bd85bd2966ce9"/>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d12a6eb774bac2efac9f59736e60b007"/>
          <p:cNvSpPr/>
          <p:nvPr/>
        </p:nvSpPr>
        <p:spPr>
          <a:xfrm>
            <a:off x="7019978" y="4375404"/>
            <a:ext cx="243834" cy="164592"/>
          </a:xfrm>
          <a:prstGeom prst="line">
            <a:avLst/>
          </a:prstGeom>
          <a:noFill/>
          <a:ln w="25400">
            <a:solidFill>
              <a:srgbClr val="7566A8"/>
            </a:solidFill>
            <a:prstDash val="solid"/>
            <a:tailEnd type="triangle"/>
          </a:ln>
        </p:spPr>
      </p:sp>
      <p:sp>
        <p:nvSpPr>
          <p:cNvPr id="10" name="element_0ea8bcdbf59ea49fec42f53a1dd971ea"/>
          <p:cNvSpPr/>
          <p:nvPr/>
        </p:nvSpPr>
        <p:spPr>
          <a:xfrm>
            <a:off x="9194977" y="4375404"/>
            <a:ext cx="243834" cy="164592"/>
          </a:xfrm>
          <a:prstGeom prst="line">
            <a:avLst/>
          </a:prstGeom>
          <a:noFill/>
          <a:ln w="25400">
            <a:solidFill>
              <a:srgbClr val="7566A8"/>
            </a:solidFill>
            <a:prstDash val="solid"/>
            <a:tailEnd type="triangle"/>
          </a:ln>
        </p:spPr>
      </p:sp>
      <p:sp>
        <p:nvSpPr>
          <p:cNvPr id="11" name="element_66f90969f4fbb66da9a28216e30085e3"/>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66f90969f4fbb66da9a28216e30085e3: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1ed0ae27f7c53b6ea7f4548b24dc0679"/>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1ed0ae27f7c53b6ea7f4548b24dc0679: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957ac204314581efa9c43f0e4297dd99"/>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957ac204314581efa9c43f0e4297dd99: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5094629e924a3210b38db155451a2421"/>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f78f3992e36bc5589662b82e15f78c6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313aafe09b8231aaa92dcd1406929128"/>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eac5b59061738a2e31ec6dc4a635bfb6"/>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d3ea4f1903189ac8bd463e9f4cdc3247"/>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5696897e60e085146b214664ae567943"/>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an evidence-led seven-slide Series A roadshow for early-stage enterprise software investors deciding whether RelayOS merits diligence. Use only the attached operating metrics and product facts. Show the workflow problem, product transformation, tractio…</a:t>
            </a:r>
            <a:endParaRPr lang="en-US" sz="1900" dirty="0"/>
          </a:p>
        </p:txBody>
      </p:sp>
      <p:sp>
        <p:nvSpPr>
          <p:cNvPr id="6" name="element_f54237a4bf57a761348c2db086b5f552"/>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44fdb23cb7b1d0465a0334217a4b05aa"/>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fa80308c380956f663e32a9058e0e658"/>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16495e836b826b6eecf4afe1f62d11df"/>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ccc097dfc0d7e59b9844c3462c4a9d76"/>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c5800ddcca2e9b115c1ca81238956d08"/>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721827dd2474866b0235a6ef186ca4c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419144650004fc8fd807f7b77dad6a98"/>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uploaded values remain an editable chart.</a:t>
            </a:r>
            <a:endParaRPr lang="en-US" sz="3800" dirty="0"/>
          </a:p>
        </p:txBody>
      </p:sp>
      <p:sp>
        <p:nvSpPr>
          <p:cNvPr id="5" name="element_1e6b3e6a178afd019bc88d9a9eda3cc4"/>
          <p:cNvSpPr txBox="1"/>
          <p:nvPr/>
        </p:nvSpPr>
        <p:spPr>
          <a:xfrm>
            <a:off x="853419"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Labels and values stay in the canonical deck spec for direct editing, validation, and native export.</a:t>
            </a:r>
            <a:endParaRPr lang="en-US" sz="1900" dirty="0"/>
          </a:p>
        </p:txBody>
      </p:sp>
      <p:sp>
        <p:nvSpPr>
          <p:cNvPr id="6" name="element_d006e8be8ef730ba703aa37e3ab2e04e"/>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Data-bound bars</a:t>
            </a:r>
            <a:endParaRPr lang="en-US" sz="1700" dirty="0"/>
          </a:p>
        </p:txBody>
      </p:sp>
      <p:sp>
        <p:nvSpPr>
          <p:cNvPr id="7" name="element_d0a5a419969dafd33bdad9775f3e297d"/>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Source-linked values</a:t>
            </a:r>
            <a:endParaRPr lang="en-US" sz="1700" dirty="0"/>
          </a:p>
        </p:txBody>
      </p:sp>
      <p:sp>
        <p:nvSpPr>
          <p:cNvPr id="8" name="element_66535768cf6a242fc7183e546b32902d"/>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Editable labels</a:t>
            </a:r>
            <a:endParaRPr lang="en-US" sz="1700" dirty="0"/>
          </a:p>
        </p:txBody>
      </p:sp>
      <p:graphicFrame>
        <p:nvGraphicFramePr>
          <p:cNvPr id="9" name="element_fdfd1135d0ac0d1c9bc9efa96279f478" descr=""/>
          <p:cNvGraphicFramePr/>
          <p:nvPr/>
        </p:nvGraphicFramePr>
        <p:xfrm>
          <a:off x="5120512" y="2880360"/>
          <a:ext cx="6095848" cy="3154680"/>
        </p:xfrm>
        <a:graphic xmlns:a="http://schemas.openxmlformats.org/drawingml/2006/main">
          <a:graphicData uri="http://schemas.openxmlformats.org/drawingml/2006/chart">
            <c:chart xmlns:c="http://schemas.openxmlformats.org/drawingml/2006/chart" r:id="rId1"/>
          </a:graphicData>
        </a:graphic>
      </p:graphicFrame>
      <p:sp>
        <p:nvSpPr>
          <p:cNvPr id="10" name="element_9413f783a6c06489e3a548b64a4550eb"/>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41a2212f1f6e32688b071262cf2d733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2832e9b63870f42c9b1cadaf98df50f0"/>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0a7c5807850887e22ed7f53e1e707f7c"/>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34288ab03545c3318ebcf02bad9f6153"/>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075eb39ed67391fd7f21a837dea37a03"/>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a36bd9e12ec54f20e92f9bace998b9a1"/>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bd7b8803d543e0f4fd51075630e48ad2"/>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b804b92f7c93ecf4a6cbe1b786651e38"/>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75ff5b8e2ba903a0b52a5ec320470db3"/>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a5c9c633f8bc084f99e59241f8251f26"/>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9ad62b33c8440acf79d3273fb36e74fa"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9bf41c5e1d74f619dd09968386110773"/>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e5837100541a5ba1af71ec480e340ea5"/>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bf9fbaaf224129faf7a21cf21282c58c"/>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c92bfce8df7aaf77e2b8998cf3fe2196"/>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e399c4bf73a706ce77e6e8ad8c5be8a1"/>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374d09a533c62b575328c16988bda5c0"/>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7e144646ec6bf3e51f61dc96357831c8"/>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732cdb787d61941e5c8a558baed05fdc"/>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3b22edeeaed048d95ad55b25e7f2f941"/>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b013f343c49bea3e012af378f2fc1f0f: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b013f343c49bea3e012af378f2fc1f0f: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3e5bbeb299ecb05c1fe7efbaeb4d090e"/>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0d3016eff590857faf44e3f528f856cf"/>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4fada5e84fe45bf8360e84b37589a103"/>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6b4894d8e2200f52bf0b339ce945f3e2"/>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02337a10c75c36cf0074b64ea60e838c"/>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9b90cd78963e4108b4a620eb80c4c2f2"/>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32643fab6aefae23aa61f6fdb181c195"/>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759467f25f3c3f9ccb984f25a7230487"/>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3b883301d805f6f2d04a26174a2d8f72"/>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7b3bad4a2f2481c98fea059ce5d0d93f"/>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9a40334496a7f27bf1e6d3e2359709ed"/>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bda5f26746ee6c1da6c512f992cea00b"/>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an evidence-led seven-slide Series A roadshow for early-stage…</dc:title>
  <dc:subject>Create an editable, reviewable presentation from this idea</dc:subject>
  <dc:creator>NodeSlide</dc:creator>
  <cp:lastModifiedBy>NodeSlide</cp:lastModifiedBy>
  <cp:revision>1</cp:revision>
  <dcterms:created xsi:type="dcterms:W3CDTF">2026-07-21T23:50:50Z</dcterms:created>
  <dcterms:modified xsi:type="dcterms:W3CDTF">2026-07-21T23:50:50Z</dcterms:modified>
</cp:coreProperties>
</file>