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charts/chart1.xml" ContentType="application/vnd.openxmlformats-officedocument.drawingml.chart+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Lst>
  <p:notesMasterIdLst>
    <p:notesMasterId r:id="rId9"/>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notesMaster" Target="notesMasters/notesMaster1.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Signal</c:v>
                </c:pt>
              </c:strCache>
            </c:strRef>
          </c:tx>
          <c:spPr>
            <a:solidFill>
              <a:srgbClr val="B44A2D"/>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Sheet1!$A$2:$A$4</c:f>
              <c:multiLvlStrCache>
                <c:ptCount val="3"/>
                <c:lvl>
                  <c:pt idx="0">
                    <c:v>S1</c:v>
                  </c:pt>
                  <c:pt idx="1">
                    <c:v>S2</c:v>
                  </c:pt>
                  <c:pt idx="2">
                    <c:v>S3</c:v>
                  </c:pt>
                </c:lvl>
              </c:multiLvlStrCache>
            </c:multiLvlStrRef>
          </c:cat>
          <c:val>
            <c:numRef>
              <c:f>Sheet1!$B$2:$B$4</c:f>
              <c:numCache>
                <c:formatCode>General</c:formatCode>
                <c:ptCount val="3"/>
                <c:pt idx="0">
                  <c:v>1</c:v>
                </c:pt>
                <c:pt idx="1">
                  <c:v>1</c:v>
                </c:pt>
                <c:pt idx="2">
                  <c:v>1</c:v>
                </c:pt>
              </c:numCache>
            </c:numRef>
          </c:val>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756B61"/>
                </a:solidFill>
                <a:latin typeface="JetBrains Mono Variable"/>
              </a:defRPr>
            </a:pPr>
            <a:endParaRPr lang="en-US"/>
          </a:p>
        </c:txPr>
        <c:crossAx val="2094734552"/>
        <c:crosses val="autoZero"/>
        <c:auto val="1"/>
        <c:lblAlgn val="ctr"/>
        <c:noMultiLvlLbl val="1"/>
      </c:catAx>
      <c:valAx>
        <c:axId val="2094734552"/>
        <c:scaling>
          <c:orientation val="minMax"/>
        </c:scaling>
        <c:delete val="0"/>
        <c:axPos val="l"/>
        <c:majorGridlines>
          <c:spPr>
            <a:ln w="12700" cap="flat">
              <a:solidFill>
                <a:srgbClr val="888888"/>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756B61"/>
                </a:solidFill>
                <a:latin typeface="JetBrains Mono Variable"/>
              </a:defRPr>
            </a:pPr>
            <a:endParaRPr lang="en-US"/>
          </a:p>
        </c:txPr>
        <c:crossAx val="2094734554"/>
        <c:crosses val="autoZero"/>
        <c:crossBetween val="between"/>
      </c:valAx>
      <c:spPr>
        <a:noFill/>
        <a:ln>
          <a:noFill/>
        </a:ln>
        <a:effectLst/>
      </c:spPr>
    </c:plotArea>
    <c:plotVisOnly val="1"/>
    <c:dispBlanksAs val="span"/>
  </c:chart>
  <c:spPr>
    <a:solidFill>
      <a:srgbClr val="F2DED3">
        <a:alpha val="0"/>
      </a:srgbClr>
    </a:solid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Narrative role: Opening / 01. Keep the spoken transition focused on “Create an editable, reviewable presentation from this idea”
Evidence note: Content is based on the supplied creation brief. Illustrative examples are not independently verified; replace them with measured evidence before external publication.
NodeSlide sources
[source_e8ca6a9078543d203631e6e4509a8175] Create a seven-slide Q2 operating review for executives choosing two… — creation brief
Citation: Create a seven-slide Q2 operating review for executives choosing two interventions for Q3. Use the supplied KPI and risk data exactly. Open with the operating verdict, show KPI movement, explain the conversion bottleneck, rank risks, compare intervention options, and close with owners and checkpoints. Include an editable KPI scorecard, trend chart, risk matrix, and decision slide. Keep copy terse and executive-readable. Design direction: Use a cinematic minimal direction: fewer words, larger visual centers, deliberate scale changes, one memorable visual climax, and quiet transition beats. Keep all evidence honest and editable.
Disclaimer: Internal working material
[source_1bce7eb98c361d02d82977efee661d6e] q2-kpis.csv
Citation: Uploaded file: q2-kpis.csv
metric,q1,q2,target
revenue_musd,4.2,4.8,5.0
new_pipeline_musd,9.1,7.4,10.0
win_rate_percent,24,21,28
implementation_days,46,39,35
gross_retention_percent,93,94,95
Disclaimer: User supplied
[source_c00cfe0ce8e1f0e81b621e3b18fcdf43] q2-risks.json
Citation: Uploaded file: q2-risks.json
[{"risk":"pipeline coverage","likelihood":4,"impact":5},{"risk":"implementation capacity","likelihood":3,"impact":4},{"risk":"retention concentration","likelihood":2,"impact":5}]
Disclaimer: User supplied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Narrative role: Context / 02. Keep the spoken transition focused on “The cost of waiting is usually hidden in repeated work.”
Evidence note: Content is based on the supplied creation brief. Illustrative examples are not independently verified; replace them with measured evidence before external publication.
NodeSlide sources
[source_e8ca6a9078543d203631e6e4509a8175] Create a seven-slide Q2 operating review for executives choosing two… — creation brief
Citation: Create a seven-slide Q2 operating review for executives choosing two interventions for Q3. Use the supplied KPI and risk data exactly. Open with the operating verdict, show KPI movement, explain the conversion bottleneck, rank risks, compare intervention options, and close with owners and checkpoints. Include an editable KPI scorecard, trend chart, risk matrix, and decision slide. Keep copy terse and executive-readable. Design direction: Use a cinematic minimal direction: fewer words, larger visual centers, deliberate scale changes, one memorable visual climax, and quiet transition beats. Keep all evidence honest and editable.
Disclaimer: Internal working material
[source_1bce7eb98c361d02d82977efee661d6e] q2-kpis.csv
Citation: Uploaded file: q2-kpis.csv
metric,q1,q2,target
revenue_musd,4.2,4.8,5.0
new_pipeline_musd,9.1,7.4,10.0
win_rate_percent,24,21,28
implementation_days,46,39,35
gross_retention_percent,93,94,95
Disclaimer: User supplied
[source_c00cfe0ce8e1f0e81b621e3b18fcdf43] q2-risks.json
Citation: Uploaded file: q2-risks.json
[{"risk":"pipeline coverage","likelihood":4,"impact":5},{"risk":"implementation capacity","likelihood":3,"impact":4},{"risk":"retention concentration","likelihood":2,"impact":5}]
Disclaimer: User supplied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Narrative role: Insight / 03. Keep the spoken transition focused on “A better outcome starts with a sharper point of view.”
Evidence note: Content is based on the supplied creation brief. Illustrative examples are not independently verified; replace them with measured evidence before external publication.
NodeSlide sources
[source_e8ca6a9078543d203631e6e4509a8175] Create a seven-slide Q2 operating review for executives choosing two… — creation brief
Citation: Create a seven-slide Q2 operating review for executives choosing two interventions for Q3. Use the supplied KPI and risk data exactly. Open with the operating verdict, show KPI movement, explain the conversion bottleneck, rank risks, compare intervention options, and close with owners and checkpoints. Include an editable KPI scorecard, trend chart, risk matrix, and decision slide. Keep copy terse and executive-readable. Design direction: Use a cinematic minimal direction: fewer words, larger visual centers, deliberate scale changes, one memorable visual climax, and quiet transition beats. Keep all evidence honest and editable.
Disclaimer: Internal working material
[source_1bce7eb98c361d02d82977efee661d6e] q2-kpis.csv
Citation: Uploaded file: q2-kpis.csv
metric,q1,q2,target
revenue_musd,4.2,4.8,5.0
new_pipeline_musd,9.1,7.4,10.0
win_rate_percent,24,21,28
implementation_days,46,39,35
gross_retention_percent,93,94,95
Disclaimer: User supplied
[source_c00cfe0ce8e1f0e81b621e3b18fcdf43] q2-risks.json
Citation: Uploaded file: q2-risks.json
[{"risk":"pipeline coverage","likelihood":4,"impact":5},{"risk":"implementation capacity","likelihood":3,"impact":4},{"risk":"retention concentration","likelihood":2,"impact":5}]
Disclaimer: User supplied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Narrative role: Approach / 04. Keep the spoken transition focused on “Turn the idea into a sequence people can understand and own.”
Evidence note: Content is based on the supplied creation brief. Illustrative examples are not independently verified; replace them with measured evidence before external publication.
NodeSlide sources
[source_e8ca6a9078543d203631e6e4509a8175] Create a seven-slide Q2 operating review for executives choosing two… — creation brief
Citation: Create a seven-slide Q2 operating review for executives choosing two interventions for Q3. Use the supplied KPI and risk data exactly. Open with the operating verdict, show KPI movement, explain the conversion bottleneck, rank risks, compare intervention options, and close with owners and checkpoints. Include an editable KPI scorecard, trend chart, risk matrix, and decision slide. Keep copy terse and executive-readable. Design direction: Use a cinematic minimal direction: fewer words, larger visual centers, deliberate scale changes, one memorable visual climax, and quiet transition beats. Keep all evidence honest and editable.
Disclaimer: Internal working material
[source_1bce7eb98c361d02d82977efee661d6e] q2-kpis.csv
Citation: Uploaded file: q2-kpis.csv
metric,q1,q2,target
revenue_musd,4.2,4.8,5.0
new_pipeline_musd,9.1,7.4,10.0
win_rate_percent,24,21,28
implementation_days,46,39,35
gross_retention_percent,93,94,95
Disclaimer: User supplied
[source_c00cfe0ce8e1f0e81b621e3b18fcdf43] q2-risks.json
Citation: Uploaded file: q2-risks.json
[{"risk":"pipeline coverage","likelihood":4,"impact":5},{"risk":"implementation capacity","likelihood":3,"impact":4},{"risk":"retention concentration","likelihood":2,"impact":5}]
Disclaimer: User supplied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Narrative role: Evidence / 05. Keep the spoken transition focused on “Define proof before asking for commitment.”
Evidence note: Content is based on the supplied creation brief. Illustrative examples are not independently verified; replace them with measured evidence before external publication.
NodeSlide sources
[source_e8ca6a9078543d203631e6e4509a8175] Create a seven-slide Q2 operating review for executives choosing two… — creation brief
Citation: Create a seven-slide Q2 operating review for executives choosing two interventions for Q3. Use the supplied KPI and risk data exactly. Open with the operating verdict, show KPI movement, explain the conversion bottleneck, rank risks, compare intervention options, and close with owners and checkpoints. Include an editable KPI scorecard, trend chart, risk matrix, and decision slide. Keep copy terse and executive-readable. Design direction: Use a cinematic minimal direction: fewer words, larger visual centers, deliberate scale changes, one memorable visual climax, and quiet transition beats. Keep all evidence honest and editable.
Disclaimer: Internal working material
[source_1bce7eb98c361d02d82977efee661d6e] q2-kpis.csv
Citation: Uploaded file: q2-kpis.csv
metric,q1,q2,target
revenue_musd,4.2,4.8,5.0
new_pipeline_musd,9.1,7.4,10.0
win_rate_percent,24,21,28
implementation_days,46,39,35
gross_retention_percent,93,94,95
Disclaimer: User supplied
[source_c00cfe0ce8e1f0e81b621e3b18fcdf43] q2-risks.json
Citation: Uploaded file: q2-risks.json
[{"risk":"pipeline coverage","likelihood":4,"impact":5},{"risk":"implementation capacity","likelihood":3,"impact":4},{"risk":"retention concentration","likelihood":2,"impact":5}]
Disclaimer: User supplied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Narrative role: Delivery / 06. Keep the spoken transition focused on “Start narrow, learn quickly, and preserve room to adapt.”
Evidence note: Content is based on the supplied creation brief. Illustrative examples are not independently verified; replace them with measured evidence before external publication.
NodeSlide sources
[source_e8ca6a9078543d203631e6e4509a8175] Create a seven-slide Q2 operating review for executives choosing two… — creation brief
Citation: Create a seven-slide Q2 operating review for executives choosing two interventions for Q3. Use the supplied KPI and risk data exactly. Open with the operating verdict, show KPI movement, explain the conversion bottleneck, rank risks, compare intervention options, and close with owners and checkpoints. Include an editable KPI scorecard, trend chart, risk matrix, and decision slide. Keep copy terse and executive-readable. Design direction: Use a cinematic minimal direction: fewer words, larger visual centers, deliberate scale changes, one memorable visual climax, and quiet transition beats. Keep all evidence honest and editable.
Disclaimer: Internal working material
[source_1bce7eb98c361d02d82977efee661d6e] q2-kpis.csv
Citation: Uploaded file: q2-kpis.csv
metric,q1,q2,target
revenue_musd,4.2,4.8,5.0
new_pipeline_musd,9.1,7.4,10.0
win_rate_percent,24,21,28
implementation_days,46,39,35
gross_retention_percent,93,94,95
Disclaimer: User supplied
[source_c00cfe0ce8e1f0e81b621e3b18fcdf43] q2-risks.json
Citation: Uploaded file: q2-risks.json
[{"risk":"pipeline coverage","likelihood":4,"impact":5},{"risk":"implementation capacity","likelihood":3,"impact":4},{"risk":"retention concentration","likelihood":2,"impact":5}]
Disclaimer: User supplied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Narrative role: Close / 07. Keep the spoken transition focused on “Create an editable, reviewable presentation from this idea”
Evidence note: Content is based on the supplied creation brief. Illustrative examples are not independently verified; replace them with measured evidence before external publication.
NodeSlide sources
[source_e8ca6a9078543d203631e6e4509a8175] Create a seven-slide Q2 operating review for executives choosing two… — creation brief
Citation: Create a seven-slide Q2 operating review for executives choosing two interventions for Q3. Use the supplied KPI and risk data exactly. Open with the operating verdict, show KPI movement, explain the conversion bottleneck, rank risks, compare intervention options, and close with owners and checkpoints. Include an editable KPI scorecard, trend chart, risk matrix, and decision slide. Keep copy terse and executive-readable. Design direction: Use a cinematic minimal direction: fewer words, larger visual centers, deliberate scale changes, one memorable visual climax, and quiet transition beats. Keep all evidence honest and editable.
Disclaimer: Internal working material
[source_1bce7eb98c361d02d82977efee661d6e] q2-kpis.csv
Citation: Uploaded file: q2-kpis.csv
metric,q1,q2,target
revenue_musd,4.2,4.8,5.0
new_pipeline_musd,9.1,7.4,10.0
win_rate_percent,24,21,28
implementation_days,46,39,35
gross_retention_percent,93,94,95
Disclaimer: User supplied
[source_c00cfe0ce8e1f0e81b621e3b18fcdf43] q2-risks.json
Citation: Uploaded file: q2-risks.json
[{"risk":"pipeline coverage","likelihood":4,"impact":5},{"risk":"implementation capacity","likelihood":3,"impact":4},{"risk":"retention concentration","likelihood":2,"impact":5}]
Disclaimer: User supplied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7F4ED"/>
        </a:solidFill>
      </p:bgPr>
    </p:bg>
    <p:spTree>
      <p:nvGrpSpPr>
        <p:cNvPr id="1" name=""/>
        <p:cNvGrpSpPr/>
        <p:nvPr/>
      </p:nvGrpSpPr>
      <p:grpSpPr>
        <a:xfrm>
          <a:off x="0" y="0"/>
          <a:ext cx="0" cy="0"/>
          <a:chOff x="0" y="0"/>
          <a:chExt cx="0" cy="0"/>
        </a:xfrm>
      </p:grpSpPr>
      <p:sp>
        <p:nvSpPr>
          <p:cNvPr id="2" name="element_5573699ad3a1ec8adc1bb3908fefc124"/>
          <p:cNvSpPr/>
          <p:nvPr/>
        </p:nvSpPr>
        <p:spPr>
          <a:xfrm>
            <a:off x="426709" y="445770"/>
            <a:ext cx="121917" cy="5692140"/>
          </a:xfrm>
          <a:prstGeom prst="roundRect">
            <a:avLst/>
          </a:prstGeom>
          <a:solidFill>
            <a:srgbClr val="B44A2D"/>
          </a:solidFill>
          <a:ln w="12700">
            <a:solidFill>
              <a:srgbClr val="FFFFFF">
                <a:alpha val="0"/>
              </a:srgbClr>
            </a:solidFill>
            <a:prstDash val="solid"/>
          </a:ln>
        </p:spPr>
      </p:sp>
      <p:sp>
        <p:nvSpPr>
          <p:cNvPr id="3" name="element_ab8a7530da8641dfdc9c75c6434b4297"/>
          <p:cNvSpPr txBox="1"/>
          <p:nvPr/>
        </p:nvSpPr>
        <p:spPr>
          <a:xfrm>
            <a:off x="853419" y="445770"/>
            <a:ext cx="5852014" cy="342900"/>
          </a:xfrm>
          <a:prstGeom prst="rect">
            <a:avLst/>
          </a:prstGeom>
          <a:noFill/>
          <a:ln/>
        </p:spPr>
        <p:txBody>
          <a:bodyPr wrap="square" lIns="0" tIns="0" rIns="0" bIns="0" rtlCol="0" anchor="t">
            <a:normAutofit/>
          </a:bodyPr>
          <a:lstStyle/>
          <a:p>
            <a:pPr algn="l" indent="0" marL="0">
              <a:lnSpc>
                <a:spcPct val="120000"/>
              </a:lnSpc>
              <a:buNone/>
            </a:pPr>
            <a:r>
              <a:rPr lang="en-US" sz="1500" b="1" spc="130" kern="0" dirty="0">
                <a:solidFill>
                  <a:srgbClr val="B44A2D"/>
                </a:solidFill>
                <a:latin typeface="JetBrains Mono Variable" pitchFamily="34" charset="0"/>
                <a:ea typeface="JetBrains Mono Variable" pitchFamily="34" charset="-122"/>
                <a:cs typeface="JetBrains Mono Variable" pitchFamily="34" charset="-120"/>
              </a:rPr>
              <a:t>OPENING / 01</a:t>
            </a:r>
            <a:endParaRPr lang="en-US" sz="1500" dirty="0"/>
          </a:p>
        </p:txBody>
      </p:sp>
      <p:sp>
        <p:nvSpPr>
          <p:cNvPr id="4" name="element_0900cec840547d51778a8234c421adc7"/>
          <p:cNvSpPr txBox="1"/>
          <p:nvPr/>
        </p:nvSpPr>
        <p:spPr>
          <a:xfrm>
            <a:off x="853419" y="1028700"/>
            <a:ext cx="9631439" cy="1851660"/>
          </a:xfrm>
          <a:prstGeom prst="rect">
            <a:avLst/>
          </a:prstGeom>
          <a:noFill/>
          <a:ln/>
        </p:spPr>
        <p:txBody>
          <a:bodyPr wrap="square" lIns="0" tIns="0" rIns="0" bIns="0" rtlCol="0" anchor="t">
            <a:normAutofit/>
          </a:bodyPr>
          <a:lstStyle/>
          <a:p>
            <a:pPr algn="l" indent="0" marL="0">
              <a:lnSpc>
                <a:spcPct val="104000"/>
              </a:lnSpc>
              <a:buNone/>
            </a:pPr>
            <a:r>
              <a:rPr lang="en-US" sz="4800" b="1" spc="-80" kern="0" dirty="0">
                <a:solidFill>
                  <a:srgbClr val="26221D"/>
                </a:solidFill>
                <a:latin typeface="Georgia" pitchFamily="34" charset="0"/>
                <a:ea typeface="Georgia" pitchFamily="34" charset="-122"/>
                <a:cs typeface="Georgia" pitchFamily="34" charset="-120"/>
              </a:rPr>
              <a:t>Create an editable, reviewable presentation from this idea</a:t>
            </a:r>
            <a:endParaRPr lang="en-US" sz="4800" dirty="0"/>
          </a:p>
        </p:txBody>
      </p:sp>
      <p:sp>
        <p:nvSpPr>
          <p:cNvPr id="5" name="element_11f722c31363cac8a6987108c30a2014"/>
          <p:cNvSpPr txBox="1"/>
          <p:nvPr/>
        </p:nvSpPr>
        <p:spPr>
          <a:xfrm>
            <a:off x="853419" y="3291840"/>
            <a:ext cx="8046519" cy="1165860"/>
          </a:xfrm>
          <a:prstGeom prst="rect">
            <a:avLst/>
          </a:prstGeom>
          <a:noFill/>
          <a:ln/>
        </p:spPr>
        <p:txBody>
          <a:bodyPr wrap="square" lIns="0" tIns="0" rIns="0" bIns="0" rtlCol="0" anchor="t">
            <a:normAutofit/>
          </a:bodyPr>
          <a:lstStyle/>
          <a:p>
            <a:pPr algn="l" indent="0" marL="0">
              <a:lnSpc>
                <a:spcPct val="135000"/>
              </a:lnSpc>
              <a:buNone/>
            </a:pPr>
            <a:r>
              <a:rPr lang="en-US" sz="1900" dirty="0">
                <a:solidFill>
                  <a:srgbClr val="756B61"/>
                </a:solidFill>
                <a:latin typeface="Geist Variable" pitchFamily="34" charset="0"/>
                <a:ea typeface="Geist Variable" pitchFamily="34" charset="-122"/>
                <a:cs typeface="Geist Variable" pitchFamily="34" charset="-120"/>
              </a:rPr>
              <a:t>A focused narrative for Decision-makers described in the brief, built from the supplied brief and kept editable from first draft onward.</a:t>
            </a:r>
            <a:endParaRPr lang="en-US" sz="1900" dirty="0"/>
          </a:p>
        </p:txBody>
      </p:sp>
      <p:sp>
        <p:nvSpPr>
          <p:cNvPr id="6" name="element_8338292df92caf519d9c2d6fa801fdb7"/>
          <p:cNvSpPr txBox="1"/>
          <p:nvPr/>
        </p:nvSpPr>
        <p:spPr>
          <a:xfrm>
            <a:off x="853419" y="4937760"/>
            <a:ext cx="3047924" cy="548640"/>
          </a:xfrm>
          <a:prstGeom prst="rect">
            <a:avLst/>
          </a:prstGeom>
          <a:noFill/>
          <a:ln/>
        </p:spPr>
        <p:txBody>
          <a:bodyPr wrap="square" lIns="0" tIns="0" rIns="0" bIns="0" rtlCol="0" anchor="t">
            <a:normAutofit/>
          </a:bodyPr>
          <a:lstStyle/>
          <a:p>
            <a:pPr algn="l" indent="0" marL="0">
              <a:lnSpc>
                <a:spcPct val="120000"/>
              </a:lnSpc>
              <a:buNone/>
            </a:pPr>
            <a:r>
              <a:rPr lang="en-US" sz="1600" dirty="0">
                <a:solidFill>
                  <a:srgbClr val="26221D"/>
                </a:solidFill>
                <a:latin typeface="Geist Variable" pitchFamily="34" charset="0"/>
                <a:ea typeface="Geist Variable" pitchFamily="34" charset="-122"/>
                <a:cs typeface="Geist Variable" pitchFamily="34" charset="-120"/>
              </a:rPr>
              <a:t>•  A coherent 6–8 slide narrative</a:t>
            </a:r>
            <a:endParaRPr lang="en-US" sz="1600" dirty="0"/>
          </a:p>
        </p:txBody>
      </p:sp>
      <p:sp>
        <p:nvSpPr>
          <p:cNvPr id="7" name="element_fef9ab9af0f7d29e14d2aca36a313c31"/>
          <p:cNvSpPr txBox="1"/>
          <p:nvPr/>
        </p:nvSpPr>
        <p:spPr>
          <a:xfrm>
            <a:off x="4267093" y="4937760"/>
            <a:ext cx="3047924" cy="548640"/>
          </a:xfrm>
          <a:prstGeom prst="rect">
            <a:avLst/>
          </a:prstGeom>
          <a:noFill/>
          <a:ln/>
        </p:spPr>
        <p:txBody>
          <a:bodyPr wrap="square" lIns="0" tIns="0" rIns="0" bIns="0" rtlCol="0" anchor="t">
            <a:normAutofit/>
          </a:bodyPr>
          <a:lstStyle/>
          <a:p>
            <a:pPr algn="l" indent="0" marL="0">
              <a:lnSpc>
                <a:spcPct val="120000"/>
              </a:lnSpc>
              <a:buNone/>
            </a:pPr>
            <a:r>
              <a:rPr lang="en-US" sz="1600" dirty="0">
                <a:solidFill>
                  <a:srgbClr val="26221D"/>
                </a:solidFill>
                <a:latin typeface="Geist Variable" pitchFamily="34" charset="0"/>
                <a:ea typeface="Geist Variable" pitchFamily="34" charset="-122"/>
                <a:cs typeface="Geist Variable" pitchFamily="34" charset="-120"/>
              </a:rPr>
              <a:t>•  Structured chart, formula, and image primitives where relevant</a:t>
            </a:r>
            <a:endParaRPr lang="en-US" sz="1600" dirty="0"/>
          </a:p>
        </p:txBody>
      </p:sp>
      <p:sp>
        <p:nvSpPr>
          <p:cNvPr id="8" name="element_f27ceecd59b3a5d666cc96a1844b88b8"/>
          <p:cNvSpPr txBox="1"/>
          <p:nvPr/>
        </p:nvSpPr>
        <p:spPr>
          <a:xfrm>
            <a:off x="7680768" y="4937760"/>
            <a:ext cx="3047924" cy="548640"/>
          </a:xfrm>
          <a:prstGeom prst="rect">
            <a:avLst/>
          </a:prstGeom>
          <a:noFill/>
          <a:ln/>
        </p:spPr>
        <p:txBody>
          <a:bodyPr wrap="square" lIns="0" tIns="0" rIns="0" bIns="0" rtlCol="0" anchor="t">
            <a:normAutofit/>
          </a:bodyPr>
          <a:lstStyle/>
          <a:p>
            <a:pPr algn="l" indent="0" marL="0">
              <a:lnSpc>
                <a:spcPct val="120000"/>
              </a:lnSpc>
              <a:buNone/>
            </a:pPr>
            <a:r>
              <a:rPr lang="en-US" sz="1600" dirty="0">
                <a:solidFill>
                  <a:srgbClr val="26221D"/>
                </a:solidFill>
                <a:latin typeface="Geist Variable" pitchFamily="34" charset="0"/>
                <a:ea typeface="Geist Variable" pitchFamily="34" charset="-122"/>
                <a:cs typeface="Geist Variable" pitchFamily="34" charset="-120"/>
              </a:rPr>
              <a:t>•  Validation passes before presentation or export</a:t>
            </a:r>
            <a:endParaRPr lang="en-US" sz="1600" dirty="0"/>
          </a:p>
        </p:txBody>
      </p:sp>
      <p:sp>
        <p:nvSpPr>
          <p:cNvPr id="9" name="element_695cf9157cb627810b38135668567970"/>
          <p:cNvSpPr txBox="1"/>
          <p:nvPr/>
        </p:nvSpPr>
        <p:spPr>
          <a:xfrm>
            <a:off x="853419" y="6377940"/>
            <a:ext cx="8778021" cy="240030"/>
          </a:xfrm>
          <a:prstGeom prst="rect">
            <a:avLst/>
          </a:prstGeom>
          <a:noFill/>
          <a:ln/>
        </p:spPr>
        <p:txBody>
          <a:bodyPr wrap="square" lIns="0" tIns="0" rIns="0" bIns="0" rtlCol="0" anchor="t">
            <a:normAutofit/>
          </a:bodyPr>
          <a:lstStyle/>
          <a:p>
            <a:pPr algn="l" indent="0" marL="0">
              <a:lnSpc>
                <a:spcPct val="120000"/>
              </a:lnSpc>
              <a:buNone/>
            </a:pPr>
            <a:r>
              <a:rPr lang="en-US" sz="1000" spc="110" kern="0" dirty="0">
                <a:solidFill>
                  <a:srgbClr val="756B61"/>
                </a:solidFill>
                <a:latin typeface="JetBrains Mono Variable" pitchFamily="34" charset="0"/>
                <a:ea typeface="JetBrains Mono Variable" pitchFamily="34" charset="-122"/>
                <a:cs typeface="JetBrains Mono Variable" pitchFamily="34" charset="-120"/>
              </a:rPr>
              <a:t>NODESLIDE  ·  SOURCE-AWARE  ·  EDITABLE</a:t>
            </a:r>
            <a:endParaRPr lang="en-US" sz="1000" dirty="0"/>
          </a:p>
        </p:txBody>
      </p:sp>
      <p:sp>
        <p:nvSpPr>
          <p:cNvPr id="10" name="element_8878010609cb2c9f9e43d98fc81bebe4"/>
          <p:cNvSpPr txBox="1"/>
          <p:nvPr/>
        </p:nvSpPr>
        <p:spPr>
          <a:xfrm>
            <a:off x="10728692" y="6309360"/>
            <a:ext cx="731502" cy="342900"/>
          </a:xfrm>
          <a:prstGeom prst="rect">
            <a:avLst/>
          </a:prstGeom>
          <a:noFill/>
          <a:ln/>
        </p:spPr>
        <p:txBody>
          <a:bodyPr wrap="square" lIns="0" tIns="0" rIns="0" bIns="0" rtlCol="0" anchor="t">
            <a:normAutofit/>
          </a:bodyPr>
          <a:lstStyle/>
          <a:p>
            <a:pPr algn="r" indent="0" marL="0">
              <a:lnSpc>
                <a:spcPct val="120000"/>
              </a:lnSpc>
              <a:buNone/>
            </a:pPr>
            <a:r>
              <a:rPr lang="en-US" sz="1300" b="1" dirty="0">
                <a:solidFill>
                  <a:srgbClr val="B44A2D"/>
                </a:solidFill>
                <a:latin typeface="JetBrains Mono Variable" pitchFamily="34" charset="0"/>
                <a:ea typeface="JetBrains Mono Variable" pitchFamily="34" charset="-122"/>
                <a:cs typeface="JetBrains Mono Variable" pitchFamily="34" charset="-120"/>
              </a:rPr>
              <a:t>01</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4ED"/>
        </a:solidFill>
      </p:bgPr>
    </p:bg>
    <p:spTree>
      <p:nvGrpSpPr>
        <p:cNvPr id="1" name=""/>
        <p:cNvGrpSpPr/>
        <p:nvPr/>
      </p:nvGrpSpPr>
      <p:grpSpPr>
        <a:xfrm>
          <a:off x="0" y="0"/>
          <a:ext cx="0" cy="0"/>
          <a:chOff x="0" y="0"/>
          <a:chExt cx="0" cy="0"/>
        </a:xfrm>
      </p:grpSpPr>
      <p:sp>
        <p:nvSpPr>
          <p:cNvPr id="2" name="element_b36d71ddd0d7c4f8c2e8bd947260e16d"/>
          <p:cNvSpPr/>
          <p:nvPr/>
        </p:nvSpPr>
        <p:spPr>
          <a:xfrm>
            <a:off x="853419" y="377190"/>
            <a:ext cx="10484858" cy="68580"/>
          </a:xfrm>
          <a:prstGeom prst="roundRect">
            <a:avLst/>
          </a:prstGeom>
          <a:solidFill>
            <a:srgbClr val="B44A2D"/>
          </a:solidFill>
          <a:ln w="12700">
            <a:solidFill>
              <a:srgbClr val="FFFFFF">
                <a:alpha val="0"/>
              </a:srgbClr>
            </a:solidFill>
            <a:prstDash val="solid"/>
          </a:ln>
        </p:spPr>
      </p:sp>
      <p:sp>
        <p:nvSpPr>
          <p:cNvPr id="3" name="element_e70a86767b907a345e99e4bb181dfe33"/>
          <p:cNvSpPr txBox="1"/>
          <p:nvPr/>
        </p:nvSpPr>
        <p:spPr>
          <a:xfrm>
            <a:off x="1706837" y="514350"/>
            <a:ext cx="8778021" cy="342900"/>
          </a:xfrm>
          <a:prstGeom prst="rect">
            <a:avLst/>
          </a:prstGeom>
          <a:noFill/>
          <a:ln/>
        </p:spPr>
        <p:txBody>
          <a:bodyPr wrap="square" lIns="0" tIns="0" rIns="0" bIns="0" rtlCol="0" anchor="t">
            <a:normAutofit/>
          </a:bodyPr>
          <a:lstStyle/>
          <a:p>
            <a:pPr algn="ctr" indent="0" marL="0">
              <a:lnSpc>
                <a:spcPct val="120000"/>
              </a:lnSpc>
              <a:buNone/>
            </a:pPr>
            <a:r>
              <a:rPr lang="en-US" sz="1500" b="1" spc="130" kern="0" dirty="0">
                <a:solidFill>
                  <a:srgbClr val="B44A2D"/>
                </a:solidFill>
                <a:latin typeface="JetBrains Mono Variable" pitchFamily="34" charset="0"/>
                <a:ea typeface="JetBrains Mono Variable" pitchFamily="34" charset="-122"/>
                <a:cs typeface="JetBrains Mono Variable" pitchFamily="34" charset="-120"/>
              </a:rPr>
              <a:t>CONTEXT / 02</a:t>
            </a:r>
            <a:endParaRPr lang="en-US" sz="1500" dirty="0"/>
          </a:p>
        </p:txBody>
      </p:sp>
      <p:sp>
        <p:nvSpPr>
          <p:cNvPr id="4" name="element_552d35d2d784197045b6aeccb33e1931"/>
          <p:cNvSpPr txBox="1"/>
          <p:nvPr/>
        </p:nvSpPr>
        <p:spPr>
          <a:xfrm>
            <a:off x="1706837" y="1028700"/>
            <a:ext cx="8778021" cy="1165860"/>
          </a:xfrm>
          <a:prstGeom prst="rect">
            <a:avLst/>
          </a:prstGeom>
          <a:noFill/>
          <a:ln/>
        </p:spPr>
        <p:txBody>
          <a:bodyPr wrap="square" lIns="0" tIns="0" rIns="0" bIns="0" rtlCol="0" anchor="t">
            <a:normAutofit/>
          </a:bodyPr>
          <a:lstStyle/>
          <a:p>
            <a:pPr algn="ctr" indent="0" marL="0">
              <a:lnSpc>
                <a:spcPct val="104000"/>
              </a:lnSpc>
              <a:buNone/>
            </a:pPr>
            <a:r>
              <a:rPr lang="en-US" sz="3800" b="1" spc="-80" kern="0" dirty="0">
                <a:solidFill>
                  <a:srgbClr val="26221D"/>
                </a:solidFill>
                <a:latin typeface="Georgia" pitchFamily="34" charset="0"/>
                <a:ea typeface="Georgia" pitchFamily="34" charset="-122"/>
                <a:cs typeface="Georgia" pitchFamily="34" charset="-120"/>
              </a:rPr>
              <a:t>The cost of waiting is usually hidden in repeated work.</a:t>
            </a:r>
            <a:endParaRPr lang="en-US" sz="3800" dirty="0"/>
          </a:p>
        </p:txBody>
      </p:sp>
      <p:sp>
        <p:nvSpPr>
          <p:cNvPr id="5" name="element_dfe6f6df5c1ad3502a43c4b922df650d"/>
          <p:cNvSpPr txBox="1"/>
          <p:nvPr/>
        </p:nvSpPr>
        <p:spPr>
          <a:xfrm>
            <a:off x="853419" y="2606040"/>
            <a:ext cx="3901342" cy="1097280"/>
          </a:xfrm>
          <a:prstGeom prst="rect">
            <a:avLst/>
          </a:prstGeom>
          <a:noFill/>
          <a:ln/>
        </p:spPr>
        <p:txBody>
          <a:bodyPr wrap="square" lIns="0" tIns="0" rIns="0" bIns="0" rtlCol="0" anchor="t">
            <a:normAutofit/>
          </a:bodyPr>
          <a:lstStyle/>
          <a:p>
            <a:pPr algn="l" indent="0" marL="0">
              <a:lnSpc>
                <a:spcPct val="135000"/>
              </a:lnSpc>
              <a:buNone/>
            </a:pPr>
            <a:r>
              <a:rPr lang="en-US" sz="1700" dirty="0">
                <a:solidFill>
                  <a:srgbClr val="756B61"/>
                </a:solidFill>
                <a:latin typeface="Geist Variable" pitchFamily="34" charset="0"/>
                <a:ea typeface="Geist Variable" pitchFamily="34" charset="-122"/>
                <a:cs typeface="Geist Variable" pitchFamily="34" charset="-120"/>
              </a:rPr>
              <a:t>Frame the current reality for Decision-makers described in the brief: what is fragmented today, why it matters now, and where momentum is being lost.</a:t>
            </a:r>
            <a:endParaRPr lang="en-US" sz="1700" dirty="0"/>
          </a:p>
        </p:txBody>
      </p:sp>
      <p:sp>
        <p:nvSpPr>
          <p:cNvPr id="6" name="element_94d6f2a049072433d2fcb6674181ae19"/>
          <p:cNvSpPr txBox="1"/>
          <p:nvPr/>
        </p:nvSpPr>
        <p:spPr>
          <a:xfrm>
            <a:off x="853419" y="4251960"/>
            <a:ext cx="3657509" cy="617220"/>
          </a:xfrm>
          <a:prstGeom prst="rect">
            <a:avLst/>
          </a:prstGeom>
          <a:noFill/>
          <a:ln/>
        </p:spPr>
        <p:txBody>
          <a:bodyPr wrap="square" lIns="0" tIns="0" rIns="0" bIns="0" rtlCol="0" anchor="t">
            <a:normAutofit/>
          </a:bodyPr>
          <a:lstStyle/>
          <a:p>
            <a:pPr algn="l" indent="0" marL="0">
              <a:lnSpc>
                <a:spcPct val="120000"/>
              </a:lnSpc>
              <a:buNone/>
            </a:pPr>
            <a:r>
              <a:rPr lang="en-US" sz="1700" dirty="0">
                <a:solidFill>
                  <a:srgbClr val="26221D"/>
                </a:solidFill>
                <a:latin typeface="Geist Variable" pitchFamily="34" charset="0"/>
                <a:ea typeface="Geist Variable" pitchFamily="34" charset="-122"/>
                <a:cs typeface="Geist Variable" pitchFamily="34" charset="-120"/>
              </a:rPr>
              <a:t>01  Name the friction</a:t>
            </a:r>
            <a:endParaRPr lang="en-US" sz="1700" dirty="0"/>
          </a:p>
        </p:txBody>
      </p:sp>
      <p:sp>
        <p:nvSpPr>
          <p:cNvPr id="7" name="element_417732ac7f51e1fbc6a7b0b09ab65656"/>
          <p:cNvSpPr txBox="1"/>
          <p:nvPr/>
        </p:nvSpPr>
        <p:spPr>
          <a:xfrm>
            <a:off x="853419" y="4937760"/>
            <a:ext cx="3657509" cy="617220"/>
          </a:xfrm>
          <a:prstGeom prst="rect">
            <a:avLst/>
          </a:prstGeom>
          <a:noFill/>
          <a:ln/>
        </p:spPr>
        <p:txBody>
          <a:bodyPr wrap="square" lIns="0" tIns="0" rIns="0" bIns="0" rtlCol="0" anchor="t">
            <a:normAutofit/>
          </a:bodyPr>
          <a:lstStyle/>
          <a:p>
            <a:pPr algn="l" indent="0" marL="0">
              <a:lnSpc>
                <a:spcPct val="120000"/>
              </a:lnSpc>
              <a:buNone/>
            </a:pPr>
            <a:r>
              <a:rPr lang="en-US" sz="1700" dirty="0">
                <a:solidFill>
                  <a:srgbClr val="26221D"/>
                </a:solidFill>
                <a:latin typeface="Geist Variable" pitchFamily="34" charset="0"/>
                <a:ea typeface="Geist Variable" pitchFamily="34" charset="-122"/>
                <a:cs typeface="Geist Variable" pitchFamily="34" charset="-120"/>
              </a:rPr>
              <a:t>02  Expose the consequence</a:t>
            </a:r>
            <a:endParaRPr lang="en-US" sz="1700" dirty="0"/>
          </a:p>
        </p:txBody>
      </p:sp>
      <p:sp>
        <p:nvSpPr>
          <p:cNvPr id="8" name="element_41eeab9bc7721883158def841fe442d1"/>
          <p:cNvSpPr txBox="1"/>
          <p:nvPr/>
        </p:nvSpPr>
        <p:spPr>
          <a:xfrm>
            <a:off x="853419" y="5623560"/>
            <a:ext cx="3657509" cy="617220"/>
          </a:xfrm>
          <a:prstGeom prst="rect">
            <a:avLst/>
          </a:prstGeom>
          <a:noFill/>
          <a:ln/>
        </p:spPr>
        <p:txBody>
          <a:bodyPr wrap="square" lIns="0" tIns="0" rIns="0" bIns="0" rtlCol="0" anchor="t">
            <a:normAutofit/>
          </a:bodyPr>
          <a:lstStyle/>
          <a:p>
            <a:pPr algn="l" indent="0" marL="0">
              <a:lnSpc>
                <a:spcPct val="120000"/>
              </a:lnSpc>
              <a:buNone/>
            </a:pPr>
            <a:r>
              <a:rPr lang="en-US" sz="1700" dirty="0">
                <a:solidFill>
                  <a:srgbClr val="26221D"/>
                </a:solidFill>
                <a:latin typeface="Geist Variable" pitchFamily="34" charset="0"/>
                <a:ea typeface="Geist Variable" pitchFamily="34" charset="-122"/>
                <a:cs typeface="Geist Variable" pitchFamily="34" charset="-120"/>
              </a:rPr>
              <a:t>03  Create urgency without hype</a:t>
            </a:r>
            <a:endParaRPr lang="en-US" sz="1700" dirty="0"/>
          </a:p>
        </p:txBody>
      </p:sp>
      <p:sp>
        <p:nvSpPr>
          <p:cNvPr id="9" name="element_61f4973cf0036e0d29818c358332c579"/>
          <p:cNvSpPr/>
          <p:nvPr/>
        </p:nvSpPr>
        <p:spPr>
          <a:xfrm>
            <a:off x="7019978" y="4375404"/>
            <a:ext cx="243834" cy="164592"/>
          </a:xfrm>
          <a:prstGeom prst="line">
            <a:avLst/>
          </a:prstGeom>
          <a:noFill/>
          <a:ln w="25400">
            <a:solidFill>
              <a:srgbClr val="7566A8"/>
            </a:solidFill>
            <a:prstDash val="solid"/>
            <a:tailEnd type="triangle"/>
          </a:ln>
        </p:spPr>
      </p:sp>
      <p:sp>
        <p:nvSpPr>
          <p:cNvPr id="10" name="element_6f1aab9d27f0fbe7aa5c3ce68f1f68bd"/>
          <p:cNvSpPr/>
          <p:nvPr/>
        </p:nvSpPr>
        <p:spPr>
          <a:xfrm>
            <a:off x="9194977" y="4375404"/>
            <a:ext cx="243834" cy="164592"/>
          </a:xfrm>
          <a:prstGeom prst="line">
            <a:avLst/>
          </a:prstGeom>
          <a:noFill/>
          <a:ln w="25400">
            <a:solidFill>
              <a:srgbClr val="7566A8"/>
            </a:solidFill>
            <a:prstDash val="solid"/>
            <a:tailEnd type="triangle"/>
          </a:ln>
        </p:spPr>
      </p:sp>
      <p:sp>
        <p:nvSpPr>
          <p:cNvPr id="11" name="element_0e9d41ae0b0c807d60edb626516e76b2"/>
          <p:cNvSpPr/>
          <p:nvPr/>
        </p:nvSpPr>
        <p:spPr>
          <a:xfrm>
            <a:off x="5045753" y="3939235"/>
            <a:ext cx="2018506" cy="1036930"/>
          </a:xfrm>
          <a:prstGeom prst="roundRect">
            <a:avLst/>
          </a:prstGeom>
          <a:solidFill>
            <a:srgbClr val="F2DED3"/>
          </a:solidFill>
          <a:ln w="12700">
            <a:solidFill>
              <a:srgbClr val="DED7CC"/>
            </a:solidFill>
            <a:prstDash val="solid"/>
          </a:ln>
        </p:spPr>
      </p:sp>
      <p:sp>
        <p:nvSpPr>
          <p:cNvPr id="12" name="element_0e9d41ae0b0c807d60edb626516e76b2:text"/>
          <p:cNvSpPr txBox="1"/>
          <p:nvPr/>
        </p:nvSpPr>
        <p:spPr>
          <a:xfrm>
            <a:off x="5045753" y="3939235"/>
            <a:ext cx="2018506" cy="1036930"/>
          </a:xfrm>
          <a:prstGeom prst="rect">
            <a:avLst/>
          </a:prstGeom>
          <a:noFill/>
          <a:ln/>
        </p:spPr>
        <p:txBody>
          <a:bodyPr wrap="square" lIns="152400" tIns="152400" rIns="152400" bIns="152400" rtlCol="0" anchor="ctr">
            <a:normAutofit/>
          </a:bodyPr>
          <a:lstStyle/>
          <a:p>
            <a:pPr algn="ctr" indent="0" marL="0">
              <a:lnSpc>
                <a:spcPct val="115000"/>
              </a:lnSpc>
              <a:buNone/>
            </a:pPr>
            <a:r>
              <a:rPr lang="en-US" sz="1600" b="1" dirty="0">
                <a:solidFill>
                  <a:srgbClr val="26221D"/>
                </a:solidFill>
                <a:latin typeface="Geist Variable" pitchFamily="34" charset="0"/>
                <a:ea typeface="Geist Variable" pitchFamily="34" charset="-122"/>
                <a:cs typeface="Geist Variable" pitchFamily="34" charset="-120"/>
              </a:rPr>
              <a:t>Friction</a:t>
            </a:r>
            <a:endParaRPr lang="en-US" sz="1600" dirty="0"/>
          </a:p>
        </p:txBody>
      </p:sp>
      <p:sp>
        <p:nvSpPr>
          <p:cNvPr id="13" name="element_f9de640da09dc48174b7e111eb855494"/>
          <p:cNvSpPr/>
          <p:nvPr/>
        </p:nvSpPr>
        <p:spPr>
          <a:xfrm>
            <a:off x="7219532" y="3939235"/>
            <a:ext cx="2018506" cy="1036930"/>
          </a:xfrm>
          <a:prstGeom prst="roundRect">
            <a:avLst/>
          </a:prstGeom>
          <a:solidFill>
            <a:srgbClr val="F2DED3"/>
          </a:solidFill>
          <a:ln w="12700">
            <a:solidFill>
              <a:srgbClr val="DED7CC"/>
            </a:solidFill>
            <a:prstDash val="solid"/>
          </a:ln>
        </p:spPr>
      </p:sp>
      <p:sp>
        <p:nvSpPr>
          <p:cNvPr id="14" name="element_f9de640da09dc48174b7e111eb855494:text"/>
          <p:cNvSpPr txBox="1"/>
          <p:nvPr/>
        </p:nvSpPr>
        <p:spPr>
          <a:xfrm>
            <a:off x="7219532" y="3939235"/>
            <a:ext cx="2018506" cy="1036930"/>
          </a:xfrm>
          <a:prstGeom prst="rect">
            <a:avLst/>
          </a:prstGeom>
          <a:noFill/>
          <a:ln/>
        </p:spPr>
        <p:txBody>
          <a:bodyPr wrap="square" lIns="152400" tIns="152400" rIns="152400" bIns="152400" rtlCol="0" anchor="ctr">
            <a:normAutofit/>
          </a:bodyPr>
          <a:lstStyle/>
          <a:p>
            <a:pPr algn="ctr" indent="0" marL="0">
              <a:lnSpc>
                <a:spcPct val="115000"/>
              </a:lnSpc>
              <a:buNone/>
            </a:pPr>
            <a:r>
              <a:rPr lang="en-US" sz="1600" b="1" dirty="0">
                <a:solidFill>
                  <a:srgbClr val="26221D"/>
                </a:solidFill>
                <a:latin typeface="Geist Variable" pitchFamily="34" charset="0"/>
                <a:ea typeface="Geist Variable" pitchFamily="34" charset="-122"/>
                <a:cs typeface="Geist Variable" pitchFamily="34" charset="-120"/>
              </a:rPr>
              <a:t>Consequence</a:t>
            </a:r>
            <a:endParaRPr lang="en-US" sz="1600" dirty="0"/>
          </a:p>
        </p:txBody>
      </p:sp>
      <p:sp>
        <p:nvSpPr>
          <p:cNvPr id="15" name="element_12f0e192e13cb25b50f7ffe2ea05010c"/>
          <p:cNvSpPr/>
          <p:nvPr/>
        </p:nvSpPr>
        <p:spPr>
          <a:xfrm>
            <a:off x="9394530" y="3939235"/>
            <a:ext cx="2018506" cy="1036930"/>
          </a:xfrm>
          <a:prstGeom prst="roundRect">
            <a:avLst/>
          </a:prstGeom>
          <a:solidFill>
            <a:srgbClr val="E5E9D6"/>
          </a:solidFill>
          <a:ln w="12700">
            <a:solidFill>
              <a:srgbClr val="DED7CC"/>
            </a:solidFill>
            <a:prstDash val="solid"/>
          </a:ln>
        </p:spPr>
      </p:sp>
      <p:sp>
        <p:nvSpPr>
          <p:cNvPr id="16" name="element_12f0e192e13cb25b50f7ffe2ea05010c:text"/>
          <p:cNvSpPr txBox="1"/>
          <p:nvPr/>
        </p:nvSpPr>
        <p:spPr>
          <a:xfrm>
            <a:off x="9394530" y="3939235"/>
            <a:ext cx="2018506" cy="1036930"/>
          </a:xfrm>
          <a:prstGeom prst="rect">
            <a:avLst/>
          </a:prstGeom>
          <a:noFill/>
          <a:ln/>
        </p:spPr>
        <p:txBody>
          <a:bodyPr wrap="square" lIns="152400" tIns="152400" rIns="152400" bIns="152400" rtlCol="0" anchor="ctr">
            <a:normAutofit/>
          </a:bodyPr>
          <a:lstStyle/>
          <a:p>
            <a:pPr algn="ctr" indent="0" marL="0">
              <a:lnSpc>
                <a:spcPct val="115000"/>
              </a:lnSpc>
              <a:buNone/>
            </a:pPr>
            <a:r>
              <a:rPr lang="en-US" sz="1600" b="1" dirty="0">
                <a:solidFill>
                  <a:srgbClr val="26221D"/>
                </a:solidFill>
                <a:latin typeface="Geist Variable" pitchFamily="34" charset="0"/>
                <a:ea typeface="Geist Variable" pitchFamily="34" charset="-122"/>
                <a:cs typeface="Geist Variable" pitchFamily="34" charset="-120"/>
              </a:rPr>
              <a:t>Decision window</a:t>
            </a:r>
            <a:endParaRPr lang="en-US" sz="1600" dirty="0"/>
          </a:p>
        </p:txBody>
      </p:sp>
      <p:sp>
        <p:nvSpPr>
          <p:cNvPr id="17" name="element_4a0e3fe88d95f3a2c493c539f42dffb9"/>
          <p:cNvSpPr txBox="1"/>
          <p:nvPr/>
        </p:nvSpPr>
        <p:spPr>
          <a:xfrm>
            <a:off x="2682173" y="6377940"/>
            <a:ext cx="6827349" cy="240030"/>
          </a:xfrm>
          <a:prstGeom prst="rect">
            <a:avLst/>
          </a:prstGeom>
          <a:noFill/>
          <a:ln/>
        </p:spPr>
        <p:txBody>
          <a:bodyPr wrap="square" lIns="0" tIns="0" rIns="0" bIns="0" rtlCol="0" anchor="t">
            <a:normAutofit/>
          </a:bodyPr>
          <a:lstStyle/>
          <a:p>
            <a:pPr algn="ctr" indent="0" marL="0">
              <a:lnSpc>
                <a:spcPct val="120000"/>
              </a:lnSpc>
              <a:buNone/>
            </a:pPr>
            <a:r>
              <a:rPr lang="en-US" sz="1000" spc="110" kern="0" dirty="0">
                <a:solidFill>
                  <a:srgbClr val="756B61"/>
                </a:solidFill>
                <a:latin typeface="JetBrains Mono Variable" pitchFamily="34" charset="0"/>
                <a:ea typeface="JetBrains Mono Variable" pitchFamily="34" charset="-122"/>
                <a:cs typeface="JetBrains Mono Variable" pitchFamily="34" charset="-120"/>
              </a:rPr>
              <a:t>NODESLIDE  ·  SOURCE-AWARE  ·  EDITABLE</a:t>
            </a:r>
            <a:endParaRPr lang="en-US" sz="1000" dirty="0"/>
          </a:p>
        </p:txBody>
      </p:sp>
      <p:sp>
        <p:nvSpPr>
          <p:cNvPr id="18" name="element_3209737f6a083cf7ef4ddc3d8a498518"/>
          <p:cNvSpPr txBox="1"/>
          <p:nvPr/>
        </p:nvSpPr>
        <p:spPr>
          <a:xfrm>
            <a:off x="10728692" y="6309360"/>
            <a:ext cx="731502" cy="342900"/>
          </a:xfrm>
          <a:prstGeom prst="rect">
            <a:avLst/>
          </a:prstGeom>
          <a:noFill/>
          <a:ln/>
        </p:spPr>
        <p:txBody>
          <a:bodyPr wrap="square" lIns="0" tIns="0" rIns="0" bIns="0" rtlCol="0" anchor="t">
            <a:normAutofit/>
          </a:bodyPr>
          <a:lstStyle/>
          <a:p>
            <a:pPr algn="r" indent="0" marL="0">
              <a:lnSpc>
                <a:spcPct val="120000"/>
              </a:lnSpc>
              <a:buNone/>
            </a:pPr>
            <a:r>
              <a:rPr lang="en-US" sz="1300" b="1" dirty="0">
                <a:solidFill>
                  <a:srgbClr val="B44A2D"/>
                </a:solidFill>
                <a:latin typeface="JetBrains Mono Variable" pitchFamily="34" charset="0"/>
                <a:ea typeface="JetBrains Mono Variable" pitchFamily="34" charset="-122"/>
                <a:cs typeface="JetBrains Mono Variable" pitchFamily="34" charset="-120"/>
              </a:rPr>
              <a:t>02</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4ED"/>
        </a:solidFill>
      </p:bgPr>
    </p:bg>
    <p:spTree>
      <p:nvGrpSpPr>
        <p:cNvPr id="1" name=""/>
        <p:cNvGrpSpPr/>
        <p:nvPr/>
      </p:nvGrpSpPr>
      <p:grpSpPr>
        <a:xfrm>
          <a:off x="0" y="0"/>
          <a:ext cx="0" cy="0"/>
          <a:chOff x="0" y="0"/>
          <a:chExt cx="0" cy="0"/>
        </a:xfrm>
      </p:grpSpPr>
      <p:sp>
        <p:nvSpPr>
          <p:cNvPr id="2" name="element_f3a461f69d4faa29916284813e003ed0"/>
          <p:cNvSpPr/>
          <p:nvPr/>
        </p:nvSpPr>
        <p:spPr>
          <a:xfrm>
            <a:off x="11667452" y="445770"/>
            <a:ext cx="121917" cy="5692140"/>
          </a:xfrm>
          <a:prstGeom prst="roundRect">
            <a:avLst/>
          </a:prstGeom>
          <a:solidFill>
            <a:srgbClr val="B44A2D"/>
          </a:solidFill>
          <a:ln w="12700">
            <a:solidFill>
              <a:srgbClr val="FFFFFF">
                <a:alpha val="0"/>
              </a:srgbClr>
            </a:solidFill>
            <a:prstDash val="solid"/>
          </a:ln>
        </p:spPr>
      </p:sp>
      <p:sp>
        <p:nvSpPr>
          <p:cNvPr id="3" name="element_aaf6427268179fe83bd98973d5610a34"/>
          <p:cNvSpPr txBox="1"/>
          <p:nvPr/>
        </p:nvSpPr>
        <p:spPr>
          <a:xfrm>
            <a:off x="5486263" y="445770"/>
            <a:ext cx="5852014" cy="342900"/>
          </a:xfrm>
          <a:prstGeom prst="rect">
            <a:avLst/>
          </a:prstGeom>
          <a:noFill/>
          <a:ln/>
        </p:spPr>
        <p:txBody>
          <a:bodyPr wrap="square" lIns="0" tIns="0" rIns="0" bIns="0" rtlCol="0" anchor="t">
            <a:normAutofit/>
          </a:bodyPr>
          <a:lstStyle/>
          <a:p>
            <a:pPr algn="l" indent="0" marL="0">
              <a:lnSpc>
                <a:spcPct val="120000"/>
              </a:lnSpc>
              <a:buNone/>
            </a:pPr>
            <a:r>
              <a:rPr lang="en-US" sz="1500" b="1" spc="130" kern="0" dirty="0">
                <a:solidFill>
                  <a:srgbClr val="B44A2D"/>
                </a:solidFill>
                <a:latin typeface="JetBrains Mono Variable" pitchFamily="34" charset="0"/>
                <a:ea typeface="JetBrains Mono Variable" pitchFamily="34" charset="-122"/>
                <a:cs typeface="JetBrains Mono Variable" pitchFamily="34" charset="-120"/>
              </a:rPr>
              <a:t>INSIGHT / 03</a:t>
            </a:r>
            <a:endParaRPr lang="en-US" sz="1500" dirty="0"/>
          </a:p>
        </p:txBody>
      </p:sp>
      <p:sp>
        <p:nvSpPr>
          <p:cNvPr id="4" name="element_5ddd45c47d9a5d2eb3765695f0442eea"/>
          <p:cNvSpPr txBox="1"/>
          <p:nvPr/>
        </p:nvSpPr>
        <p:spPr>
          <a:xfrm>
            <a:off x="2072588" y="1028700"/>
            <a:ext cx="9265688" cy="1371600"/>
          </a:xfrm>
          <a:prstGeom prst="rect">
            <a:avLst/>
          </a:prstGeom>
          <a:noFill/>
          <a:ln/>
        </p:spPr>
        <p:txBody>
          <a:bodyPr wrap="square" lIns="0" tIns="0" rIns="0" bIns="0" rtlCol="0" anchor="t">
            <a:normAutofit/>
          </a:bodyPr>
          <a:lstStyle/>
          <a:p>
            <a:pPr algn="l" indent="0" marL="0">
              <a:lnSpc>
                <a:spcPct val="104000"/>
              </a:lnSpc>
              <a:buNone/>
            </a:pPr>
            <a:r>
              <a:rPr lang="en-US" sz="3800" b="1" spc="-80" kern="0" dirty="0">
                <a:solidFill>
                  <a:srgbClr val="26221D"/>
                </a:solidFill>
                <a:latin typeface="Georgia" pitchFamily="34" charset="0"/>
                <a:ea typeface="Georgia" pitchFamily="34" charset="-122"/>
                <a:cs typeface="Georgia" pitchFamily="34" charset="-120"/>
              </a:rPr>
              <a:t>A better outcome starts with a sharper point of view.</a:t>
            </a:r>
            <a:endParaRPr lang="en-US" sz="3800" dirty="0"/>
          </a:p>
        </p:txBody>
      </p:sp>
      <p:sp>
        <p:nvSpPr>
          <p:cNvPr id="5" name="element_3fef3b4e6ffdf2af9d5e4419de25fcfa"/>
          <p:cNvSpPr txBox="1"/>
          <p:nvPr/>
        </p:nvSpPr>
        <p:spPr>
          <a:xfrm>
            <a:off x="1706837" y="2743200"/>
            <a:ext cx="9631439" cy="1234440"/>
          </a:xfrm>
          <a:prstGeom prst="rect">
            <a:avLst/>
          </a:prstGeom>
          <a:noFill/>
          <a:ln/>
        </p:spPr>
        <p:txBody>
          <a:bodyPr wrap="square" lIns="0" tIns="0" rIns="0" bIns="0" rtlCol="0" anchor="t">
            <a:normAutofit/>
          </a:bodyPr>
          <a:lstStyle/>
          <a:p>
            <a:pPr algn="l" indent="0" marL="0">
              <a:lnSpc>
                <a:spcPct val="135000"/>
              </a:lnSpc>
              <a:buNone/>
            </a:pPr>
            <a:r>
              <a:rPr lang="en-US" sz="1900" dirty="0">
                <a:solidFill>
                  <a:srgbClr val="756B61"/>
                </a:solidFill>
                <a:latin typeface="Geist Variable" pitchFamily="34" charset="0"/>
                <a:ea typeface="Geist Variable" pitchFamily="34" charset="-122"/>
                <a:cs typeface="Geist Variable" pitchFamily="34" charset="-120"/>
              </a:rPr>
              <a:t>Create a seven-slide Q2 operating review for executives choosing two interventions for Q3. Use the supplied KPI and risk data exactly. Open with the operating verdict, show KPI movement, explain the conversion bottleneck, rank risks, compare intervention opti…</a:t>
            </a:r>
            <a:endParaRPr lang="en-US" sz="1900" dirty="0"/>
          </a:p>
        </p:txBody>
      </p:sp>
      <p:sp>
        <p:nvSpPr>
          <p:cNvPr id="6" name="element_d7af172e4788a11cea40c6f5a940409b"/>
          <p:cNvSpPr txBox="1"/>
          <p:nvPr/>
        </p:nvSpPr>
        <p:spPr>
          <a:xfrm>
            <a:off x="8168436" y="4251960"/>
            <a:ext cx="3169841" cy="1097280"/>
          </a:xfrm>
          <a:prstGeom prst="rect">
            <a:avLst/>
          </a:prstGeom>
          <a:noFill/>
          <a:ln/>
        </p:spPr>
        <p:txBody>
          <a:bodyPr wrap="square" lIns="0" tIns="0" rIns="0" bIns="0" rtlCol="0" anchor="t">
            <a:normAutofit/>
          </a:bodyPr>
          <a:lstStyle/>
          <a:p>
            <a:pPr algn="l" indent="0" marL="0">
              <a:lnSpc>
                <a:spcPct val="120000"/>
              </a:lnSpc>
              <a:buNone/>
            </a:pPr>
            <a:r>
              <a:rPr lang="en-US" sz="1700" dirty="0">
                <a:solidFill>
                  <a:srgbClr val="26221D"/>
                </a:solidFill>
                <a:latin typeface="Geist Variable" pitchFamily="34" charset="0"/>
                <a:ea typeface="Geist Variable" pitchFamily="34" charset="-122"/>
                <a:cs typeface="Geist Variable" pitchFamily="34" charset="-120"/>
              </a:rPr>
              <a:t>01  A coherent 6–8 slide narrative</a:t>
            </a:r>
            <a:endParaRPr lang="en-US" sz="1700" dirty="0"/>
          </a:p>
        </p:txBody>
      </p:sp>
      <p:sp>
        <p:nvSpPr>
          <p:cNvPr id="7" name="element_0c57aa536b41196b387321446661e28e"/>
          <p:cNvSpPr txBox="1"/>
          <p:nvPr/>
        </p:nvSpPr>
        <p:spPr>
          <a:xfrm>
            <a:off x="4632844" y="4251960"/>
            <a:ext cx="3169841" cy="1097280"/>
          </a:xfrm>
          <a:prstGeom prst="rect">
            <a:avLst/>
          </a:prstGeom>
          <a:noFill/>
          <a:ln/>
        </p:spPr>
        <p:txBody>
          <a:bodyPr wrap="square" lIns="0" tIns="0" rIns="0" bIns="0" rtlCol="0" anchor="t">
            <a:normAutofit/>
          </a:bodyPr>
          <a:lstStyle/>
          <a:p>
            <a:pPr algn="l" indent="0" marL="0">
              <a:lnSpc>
                <a:spcPct val="120000"/>
              </a:lnSpc>
              <a:buNone/>
            </a:pPr>
            <a:r>
              <a:rPr lang="en-US" sz="1700" dirty="0">
                <a:solidFill>
                  <a:srgbClr val="26221D"/>
                </a:solidFill>
                <a:latin typeface="Geist Variable" pitchFamily="34" charset="0"/>
                <a:ea typeface="Geist Variable" pitchFamily="34" charset="-122"/>
                <a:cs typeface="Geist Variable" pitchFamily="34" charset="-120"/>
              </a:rPr>
              <a:t>02  Structured chart, formula, and image primitives where relevant</a:t>
            </a:r>
            <a:endParaRPr lang="en-US" sz="1700" dirty="0"/>
          </a:p>
        </p:txBody>
      </p:sp>
      <p:sp>
        <p:nvSpPr>
          <p:cNvPr id="8" name="element_6f108d65b9c84fc274221e94255b0c08"/>
          <p:cNvSpPr txBox="1"/>
          <p:nvPr/>
        </p:nvSpPr>
        <p:spPr>
          <a:xfrm>
            <a:off x="1097253" y="4251960"/>
            <a:ext cx="3169841" cy="1097280"/>
          </a:xfrm>
          <a:prstGeom prst="rect">
            <a:avLst/>
          </a:prstGeom>
          <a:noFill/>
          <a:ln/>
        </p:spPr>
        <p:txBody>
          <a:bodyPr wrap="square" lIns="0" tIns="0" rIns="0" bIns="0" rtlCol="0" anchor="t">
            <a:normAutofit/>
          </a:bodyPr>
          <a:lstStyle/>
          <a:p>
            <a:pPr algn="l" indent="0" marL="0">
              <a:lnSpc>
                <a:spcPct val="120000"/>
              </a:lnSpc>
              <a:buNone/>
            </a:pPr>
            <a:r>
              <a:rPr lang="en-US" sz="1700" dirty="0">
                <a:solidFill>
                  <a:srgbClr val="26221D"/>
                </a:solidFill>
                <a:latin typeface="Geist Variable" pitchFamily="34" charset="0"/>
                <a:ea typeface="Geist Variable" pitchFamily="34" charset="-122"/>
                <a:cs typeface="Geist Variable" pitchFamily="34" charset="-120"/>
              </a:rPr>
              <a:t>03  Validation passes before presentation or export</a:t>
            </a:r>
            <a:endParaRPr lang="en-US" sz="1700" dirty="0"/>
          </a:p>
        </p:txBody>
      </p:sp>
      <p:sp>
        <p:nvSpPr>
          <p:cNvPr id="9" name="element_a34b60cd5ad69d3de6438436af4960c4"/>
          <p:cNvSpPr txBox="1"/>
          <p:nvPr/>
        </p:nvSpPr>
        <p:spPr>
          <a:xfrm>
            <a:off x="2560256" y="6377940"/>
            <a:ext cx="8778021" cy="240030"/>
          </a:xfrm>
          <a:prstGeom prst="rect">
            <a:avLst/>
          </a:prstGeom>
          <a:noFill/>
          <a:ln/>
        </p:spPr>
        <p:txBody>
          <a:bodyPr wrap="square" lIns="0" tIns="0" rIns="0" bIns="0" rtlCol="0" anchor="t">
            <a:normAutofit/>
          </a:bodyPr>
          <a:lstStyle/>
          <a:p>
            <a:pPr algn="l" indent="0" marL="0">
              <a:lnSpc>
                <a:spcPct val="120000"/>
              </a:lnSpc>
              <a:buNone/>
            </a:pPr>
            <a:r>
              <a:rPr lang="en-US" sz="1000" spc="110" kern="0" dirty="0">
                <a:solidFill>
                  <a:srgbClr val="756B61"/>
                </a:solidFill>
                <a:latin typeface="JetBrains Mono Variable" pitchFamily="34" charset="0"/>
                <a:ea typeface="JetBrains Mono Variable" pitchFamily="34" charset="-122"/>
                <a:cs typeface="JetBrains Mono Variable" pitchFamily="34" charset="-120"/>
              </a:rPr>
              <a:t>NODESLIDE  ·  SOURCE-AWARE  ·  EDITABLE</a:t>
            </a:r>
            <a:endParaRPr lang="en-US" sz="1000" dirty="0"/>
          </a:p>
        </p:txBody>
      </p:sp>
      <p:sp>
        <p:nvSpPr>
          <p:cNvPr id="10" name="element_9c49627e70a59ede449df76d52659b5a"/>
          <p:cNvSpPr txBox="1"/>
          <p:nvPr/>
        </p:nvSpPr>
        <p:spPr>
          <a:xfrm>
            <a:off x="731502" y="6309360"/>
            <a:ext cx="731502" cy="342900"/>
          </a:xfrm>
          <a:prstGeom prst="rect">
            <a:avLst/>
          </a:prstGeom>
          <a:noFill/>
          <a:ln/>
        </p:spPr>
        <p:txBody>
          <a:bodyPr wrap="square" lIns="0" tIns="0" rIns="0" bIns="0" rtlCol="0" anchor="t">
            <a:normAutofit/>
          </a:bodyPr>
          <a:lstStyle/>
          <a:p>
            <a:pPr algn="r" indent="0" marL="0">
              <a:lnSpc>
                <a:spcPct val="120000"/>
              </a:lnSpc>
              <a:buNone/>
            </a:pPr>
            <a:r>
              <a:rPr lang="en-US" sz="1300" b="1" dirty="0">
                <a:solidFill>
                  <a:srgbClr val="B44A2D"/>
                </a:solidFill>
                <a:latin typeface="JetBrains Mono Variable" pitchFamily="34" charset="0"/>
                <a:ea typeface="JetBrains Mono Variable" pitchFamily="34" charset="-122"/>
                <a:cs typeface="JetBrains Mono Variable" pitchFamily="34" charset="-120"/>
              </a:rPr>
              <a:t>03</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4ED"/>
        </a:solidFill>
      </p:bgPr>
    </p:bg>
    <p:spTree>
      <p:nvGrpSpPr>
        <p:cNvPr id="1" name=""/>
        <p:cNvGrpSpPr/>
        <p:nvPr/>
      </p:nvGrpSpPr>
      <p:grpSpPr>
        <a:xfrm>
          <a:off x="0" y="0"/>
          <a:ext cx="0" cy="0"/>
          <a:chOff x="0" y="0"/>
          <a:chExt cx="0" cy="0"/>
        </a:xfrm>
      </p:grpSpPr>
      <p:sp>
        <p:nvSpPr>
          <p:cNvPr id="2" name="element_21ca80095fb4ddc41675215fca0ec9bf"/>
          <p:cNvSpPr/>
          <p:nvPr/>
        </p:nvSpPr>
        <p:spPr>
          <a:xfrm>
            <a:off x="426709" y="445770"/>
            <a:ext cx="121917" cy="5692140"/>
          </a:xfrm>
          <a:prstGeom prst="roundRect">
            <a:avLst/>
          </a:prstGeom>
          <a:solidFill>
            <a:srgbClr val="B44A2D"/>
          </a:solidFill>
          <a:ln w="12700">
            <a:solidFill>
              <a:srgbClr val="FFFFFF">
                <a:alpha val="0"/>
              </a:srgbClr>
            </a:solidFill>
            <a:prstDash val="solid"/>
          </a:ln>
        </p:spPr>
      </p:sp>
      <p:sp>
        <p:nvSpPr>
          <p:cNvPr id="3" name="element_477830b9bcfa416eb9f18d3e7c71cfa0"/>
          <p:cNvSpPr txBox="1"/>
          <p:nvPr/>
        </p:nvSpPr>
        <p:spPr>
          <a:xfrm>
            <a:off x="853419" y="445770"/>
            <a:ext cx="5852014" cy="342900"/>
          </a:xfrm>
          <a:prstGeom prst="rect">
            <a:avLst/>
          </a:prstGeom>
          <a:noFill/>
          <a:ln/>
        </p:spPr>
        <p:txBody>
          <a:bodyPr wrap="square" lIns="0" tIns="0" rIns="0" bIns="0" rtlCol="0" anchor="t">
            <a:normAutofit/>
          </a:bodyPr>
          <a:lstStyle/>
          <a:p>
            <a:pPr algn="l" indent="0" marL="0">
              <a:lnSpc>
                <a:spcPct val="120000"/>
              </a:lnSpc>
              <a:buNone/>
            </a:pPr>
            <a:r>
              <a:rPr lang="en-US" sz="1500" b="1" spc="130" kern="0" dirty="0">
                <a:solidFill>
                  <a:srgbClr val="B44A2D"/>
                </a:solidFill>
                <a:latin typeface="JetBrains Mono Variable" pitchFamily="34" charset="0"/>
                <a:ea typeface="JetBrains Mono Variable" pitchFamily="34" charset="-122"/>
                <a:cs typeface="JetBrains Mono Variable" pitchFamily="34" charset="-120"/>
              </a:rPr>
              <a:t>APPROACH / 04</a:t>
            </a:r>
            <a:endParaRPr lang="en-US" sz="1500" dirty="0"/>
          </a:p>
        </p:txBody>
      </p:sp>
      <p:sp>
        <p:nvSpPr>
          <p:cNvPr id="4" name="element_27527325b180abe94900da5d6bac6809"/>
          <p:cNvSpPr txBox="1"/>
          <p:nvPr/>
        </p:nvSpPr>
        <p:spPr>
          <a:xfrm>
            <a:off x="853419" y="1028700"/>
            <a:ext cx="9265688" cy="1371600"/>
          </a:xfrm>
          <a:prstGeom prst="rect">
            <a:avLst/>
          </a:prstGeom>
          <a:noFill/>
          <a:ln/>
        </p:spPr>
        <p:txBody>
          <a:bodyPr wrap="square" lIns="0" tIns="0" rIns="0" bIns="0" rtlCol="0" anchor="t">
            <a:normAutofit/>
          </a:bodyPr>
          <a:lstStyle/>
          <a:p>
            <a:pPr algn="l" indent="0" marL="0">
              <a:lnSpc>
                <a:spcPct val="104000"/>
              </a:lnSpc>
              <a:buNone/>
            </a:pPr>
            <a:r>
              <a:rPr lang="en-US" sz="3800" b="1" spc="-80" kern="0" dirty="0">
                <a:solidFill>
                  <a:srgbClr val="26221D"/>
                </a:solidFill>
                <a:latin typeface="Georgia" pitchFamily="34" charset="0"/>
                <a:ea typeface="Georgia" pitchFamily="34" charset="-122"/>
                <a:cs typeface="Georgia" pitchFamily="34" charset="-120"/>
              </a:rPr>
              <a:t>Turn the idea into a sequence people can understand and own.</a:t>
            </a:r>
            <a:endParaRPr lang="en-US" sz="3800" dirty="0"/>
          </a:p>
        </p:txBody>
      </p:sp>
      <p:sp>
        <p:nvSpPr>
          <p:cNvPr id="5" name="element_7a4f0c730e3cefcfa7b07f61f7802538"/>
          <p:cNvSpPr txBox="1"/>
          <p:nvPr/>
        </p:nvSpPr>
        <p:spPr>
          <a:xfrm>
            <a:off x="853419" y="2743200"/>
            <a:ext cx="4754761" cy="1371600"/>
          </a:xfrm>
          <a:prstGeom prst="rect">
            <a:avLst/>
          </a:prstGeom>
          <a:noFill/>
          <a:ln/>
        </p:spPr>
        <p:txBody>
          <a:bodyPr wrap="square" lIns="0" tIns="0" rIns="0" bIns="0" rtlCol="0" anchor="t">
            <a:normAutofit/>
          </a:bodyPr>
          <a:lstStyle/>
          <a:p>
            <a:pPr algn="l" indent="0" marL="0">
              <a:lnSpc>
                <a:spcPct val="135000"/>
              </a:lnSpc>
              <a:buNone/>
            </a:pPr>
            <a:r>
              <a:rPr lang="en-US" sz="1900" dirty="0">
                <a:solidFill>
                  <a:srgbClr val="756B61"/>
                </a:solidFill>
                <a:latin typeface="Geist Variable" pitchFamily="34" charset="0"/>
                <a:ea typeface="Geist Variable" pitchFamily="34" charset="-122"/>
                <a:cs typeface="Geist Variable" pitchFamily="34" charset="-120"/>
              </a:rPr>
              <a:t>Connect intent, action, and feedback in one visible operating path so the audience can see both the destination and the mechanics.</a:t>
            </a:r>
            <a:endParaRPr lang="en-US" sz="1900" dirty="0"/>
          </a:p>
        </p:txBody>
      </p:sp>
      <p:sp>
        <p:nvSpPr>
          <p:cNvPr id="6" name="element_853aea2e5816f78498b7d563611788db"/>
          <p:cNvSpPr txBox="1"/>
          <p:nvPr/>
        </p:nvSpPr>
        <p:spPr>
          <a:xfrm>
            <a:off x="853419" y="4251960"/>
            <a:ext cx="4754761" cy="617220"/>
          </a:xfrm>
          <a:prstGeom prst="rect">
            <a:avLst/>
          </a:prstGeom>
          <a:noFill/>
          <a:ln/>
        </p:spPr>
        <p:txBody>
          <a:bodyPr wrap="square" lIns="0" tIns="0" rIns="0" bIns="0" rtlCol="0" anchor="t">
            <a:normAutofit/>
          </a:bodyPr>
          <a:lstStyle/>
          <a:p>
            <a:pPr algn="l" indent="0" marL="0">
              <a:lnSpc>
                <a:spcPct val="120000"/>
              </a:lnSpc>
              <a:buNone/>
            </a:pPr>
            <a:r>
              <a:rPr lang="en-US" sz="1700" dirty="0">
                <a:solidFill>
                  <a:srgbClr val="26221D"/>
                </a:solidFill>
                <a:latin typeface="Geist Variable" pitchFamily="34" charset="0"/>
                <a:ea typeface="Geist Variable" pitchFamily="34" charset="-122"/>
                <a:cs typeface="Geist Variable" pitchFamily="34" charset="-120"/>
              </a:rPr>
              <a:t>01  Align on intent</a:t>
            </a:r>
            <a:endParaRPr lang="en-US" sz="1700" dirty="0"/>
          </a:p>
        </p:txBody>
      </p:sp>
      <p:sp>
        <p:nvSpPr>
          <p:cNvPr id="7" name="element_6dba7d6c13b8d8207b8ed2eaf495e707"/>
          <p:cNvSpPr txBox="1"/>
          <p:nvPr/>
        </p:nvSpPr>
        <p:spPr>
          <a:xfrm>
            <a:off x="853419" y="4937760"/>
            <a:ext cx="4754761" cy="617220"/>
          </a:xfrm>
          <a:prstGeom prst="rect">
            <a:avLst/>
          </a:prstGeom>
          <a:noFill/>
          <a:ln/>
        </p:spPr>
        <p:txBody>
          <a:bodyPr wrap="square" lIns="0" tIns="0" rIns="0" bIns="0" rtlCol="0" anchor="t">
            <a:normAutofit/>
          </a:bodyPr>
          <a:lstStyle/>
          <a:p>
            <a:pPr algn="l" indent="0" marL="0">
              <a:lnSpc>
                <a:spcPct val="120000"/>
              </a:lnSpc>
              <a:buNone/>
            </a:pPr>
            <a:r>
              <a:rPr lang="en-US" sz="1700" dirty="0">
                <a:solidFill>
                  <a:srgbClr val="26221D"/>
                </a:solidFill>
                <a:latin typeface="Geist Variable" pitchFamily="34" charset="0"/>
                <a:ea typeface="Geist Variable" pitchFamily="34" charset="-122"/>
                <a:cs typeface="Geist Variable" pitchFamily="34" charset="-120"/>
              </a:rPr>
              <a:t>02  Execute the critical moves</a:t>
            </a:r>
            <a:endParaRPr lang="en-US" sz="1700" dirty="0"/>
          </a:p>
        </p:txBody>
      </p:sp>
      <p:sp>
        <p:nvSpPr>
          <p:cNvPr id="8" name="element_325e0fbb9318ae94eddbb8d1f9a556a5"/>
          <p:cNvSpPr txBox="1"/>
          <p:nvPr/>
        </p:nvSpPr>
        <p:spPr>
          <a:xfrm>
            <a:off x="853419" y="5623560"/>
            <a:ext cx="4754761" cy="617220"/>
          </a:xfrm>
          <a:prstGeom prst="rect">
            <a:avLst/>
          </a:prstGeom>
          <a:noFill/>
          <a:ln/>
        </p:spPr>
        <p:txBody>
          <a:bodyPr wrap="square" lIns="0" tIns="0" rIns="0" bIns="0" rtlCol="0" anchor="t">
            <a:normAutofit/>
          </a:bodyPr>
          <a:lstStyle/>
          <a:p>
            <a:pPr algn="l" indent="0" marL="0">
              <a:lnSpc>
                <a:spcPct val="120000"/>
              </a:lnSpc>
              <a:buNone/>
            </a:pPr>
            <a:r>
              <a:rPr lang="en-US" sz="1700" dirty="0">
                <a:solidFill>
                  <a:srgbClr val="26221D"/>
                </a:solidFill>
                <a:latin typeface="Geist Variable" pitchFamily="34" charset="0"/>
                <a:ea typeface="Geist Variable" pitchFamily="34" charset="-122"/>
                <a:cs typeface="Geist Variable" pitchFamily="34" charset="-120"/>
              </a:rPr>
              <a:t>03  Review measurable outcomes</a:t>
            </a:r>
            <a:endParaRPr lang="en-US" sz="1700" dirty="0"/>
          </a:p>
        </p:txBody>
      </p:sp>
      <p:sp>
        <p:nvSpPr>
          <p:cNvPr id="9" name="element_1f937fe7e0d71fe683b782281a16419d"/>
          <p:cNvSpPr txBox="1"/>
          <p:nvPr/>
        </p:nvSpPr>
        <p:spPr>
          <a:xfrm>
            <a:off x="6461598" y="2880360"/>
            <a:ext cx="4754761" cy="1645920"/>
          </a:xfrm>
          <a:prstGeom prst="rect">
            <a:avLst/>
          </a:prstGeom>
          <a:noFill/>
          <a:ln/>
        </p:spPr>
        <p:txBody>
          <a:bodyPr wrap="square" lIns="254000" tIns="254000" rIns="254000" bIns="254000" rtlCol="0" anchor="ctr">
            <a:normAutofit/>
          </a:bodyPr>
          <a:lstStyle/>
          <a:p>
            <a:pPr algn="ctr" indent="0" marL="0">
              <a:lnSpc>
                <a:spcPct val="115000"/>
              </a:lnSpc>
              <a:buNone/>
            </a:pPr>
            <a:r>
              <a:rPr lang="en-US" sz="3000" b="1" dirty="0">
                <a:solidFill>
                  <a:srgbClr val="34452C"/>
                </a:solidFill>
                <a:latin typeface="JetBrains Mono Variable" pitchFamily="34" charset="0"/>
                <a:ea typeface="JetBrains Mono Variable" pitchFamily="34" charset="-122"/>
                <a:cs typeface="JetBrains Mono Variable" pitchFamily="34" charset="-120"/>
              </a:rPr>
              <a:t>accepted change = proposal ∩ authorized scope</a:t>
            </a:r>
            <a:endParaRPr lang="en-US" sz="3000" dirty="0"/>
          </a:p>
        </p:txBody>
      </p:sp>
      <p:sp>
        <p:nvSpPr>
          <p:cNvPr id="10" name="element_f98464ffd3297f408911da9a66a64d8b"/>
          <p:cNvSpPr txBox="1"/>
          <p:nvPr/>
        </p:nvSpPr>
        <p:spPr>
          <a:xfrm>
            <a:off x="853419" y="6377940"/>
            <a:ext cx="8778021" cy="240030"/>
          </a:xfrm>
          <a:prstGeom prst="rect">
            <a:avLst/>
          </a:prstGeom>
          <a:noFill/>
          <a:ln/>
        </p:spPr>
        <p:txBody>
          <a:bodyPr wrap="square" lIns="0" tIns="0" rIns="0" bIns="0" rtlCol="0" anchor="t">
            <a:normAutofit/>
          </a:bodyPr>
          <a:lstStyle/>
          <a:p>
            <a:pPr algn="l" indent="0" marL="0">
              <a:lnSpc>
                <a:spcPct val="120000"/>
              </a:lnSpc>
              <a:buNone/>
            </a:pPr>
            <a:r>
              <a:rPr lang="en-US" sz="1000" spc="110" kern="0" dirty="0">
                <a:solidFill>
                  <a:srgbClr val="756B61"/>
                </a:solidFill>
                <a:latin typeface="JetBrains Mono Variable" pitchFamily="34" charset="0"/>
                <a:ea typeface="JetBrains Mono Variable" pitchFamily="34" charset="-122"/>
                <a:cs typeface="JetBrains Mono Variable" pitchFamily="34" charset="-120"/>
              </a:rPr>
              <a:t>NODESLIDE  ·  SOURCE-AWARE  ·  EDITABLE</a:t>
            </a:r>
            <a:endParaRPr lang="en-US" sz="1000" dirty="0"/>
          </a:p>
        </p:txBody>
      </p:sp>
      <p:sp>
        <p:nvSpPr>
          <p:cNvPr id="11" name="element_a00e2175307e7fc2dee2d69d808f4ccc"/>
          <p:cNvSpPr txBox="1"/>
          <p:nvPr/>
        </p:nvSpPr>
        <p:spPr>
          <a:xfrm>
            <a:off x="10728692" y="6309360"/>
            <a:ext cx="731502" cy="342900"/>
          </a:xfrm>
          <a:prstGeom prst="rect">
            <a:avLst/>
          </a:prstGeom>
          <a:noFill/>
          <a:ln/>
        </p:spPr>
        <p:txBody>
          <a:bodyPr wrap="square" lIns="0" tIns="0" rIns="0" bIns="0" rtlCol="0" anchor="t">
            <a:normAutofit/>
          </a:bodyPr>
          <a:lstStyle/>
          <a:p>
            <a:pPr algn="r" indent="0" marL="0">
              <a:lnSpc>
                <a:spcPct val="120000"/>
              </a:lnSpc>
              <a:buNone/>
            </a:pPr>
            <a:r>
              <a:rPr lang="en-US" sz="1300" b="1" dirty="0">
                <a:solidFill>
                  <a:srgbClr val="B44A2D"/>
                </a:solidFill>
                <a:latin typeface="JetBrains Mono Variable" pitchFamily="34" charset="0"/>
                <a:ea typeface="JetBrains Mono Variable" pitchFamily="34" charset="-122"/>
                <a:cs typeface="JetBrains Mono Variable" pitchFamily="34" charset="-120"/>
              </a:rPr>
              <a:t>04</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4ED"/>
        </a:solidFill>
      </p:bgPr>
    </p:bg>
    <p:spTree>
      <p:nvGrpSpPr>
        <p:cNvPr id="1" name=""/>
        <p:cNvGrpSpPr/>
        <p:nvPr/>
      </p:nvGrpSpPr>
      <p:grpSpPr>
        <a:xfrm>
          <a:off x="0" y="0"/>
          <a:ext cx="0" cy="0"/>
          <a:chOff x="0" y="0"/>
          <a:chExt cx="0" cy="0"/>
        </a:xfrm>
      </p:grpSpPr>
      <p:sp>
        <p:nvSpPr>
          <p:cNvPr id="2" name="element_dc2b90c2b006189977270fdc64f70747"/>
          <p:cNvSpPr/>
          <p:nvPr/>
        </p:nvSpPr>
        <p:spPr>
          <a:xfrm>
            <a:off x="853419" y="377190"/>
            <a:ext cx="10484858" cy="68580"/>
          </a:xfrm>
          <a:prstGeom prst="roundRect">
            <a:avLst/>
          </a:prstGeom>
          <a:solidFill>
            <a:srgbClr val="B44A2D"/>
          </a:solidFill>
          <a:ln w="12700">
            <a:solidFill>
              <a:srgbClr val="FFFFFF">
                <a:alpha val="0"/>
              </a:srgbClr>
            </a:solidFill>
            <a:prstDash val="solid"/>
          </a:ln>
        </p:spPr>
      </p:sp>
      <p:sp>
        <p:nvSpPr>
          <p:cNvPr id="3" name="element_f7ab8bf63661dac80803dfe61fa5f5b9"/>
          <p:cNvSpPr txBox="1"/>
          <p:nvPr/>
        </p:nvSpPr>
        <p:spPr>
          <a:xfrm>
            <a:off x="1706837" y="514350"/>
            <a:ext cx="8778021" cy="342900"/>
          </a:xfrm>
          <a:prstGeom prst="rect">
            <a:avLst/>
          </a:prstGeom>
          <a:noFill/>
          <a:ln/>
        </p:spPr>
        <p:txBody>
          <a:bodyPr wrap="square" lIns="0" tIns="0" rIns="0" bIns="0" rtlCol="0" anchor="t">
            <a:normAutofit/>
          </a:bodyPr>
          <a:lstStyle/>
          <a:p>
            <a:pPr algn="ctr" indent="0" marL="0">
              <a:lnSpc>
                <a:spcPct val="120000"/>
              </a:lnSpc>
              <a:buNone/>
            </a:pPr>
            <a:r>
              <a:rPr lang="en-US" sz="1500" b="1" spc="130" kern="0" dirty="0">
                <a:solidFill>
                  <a:srgbClr val="B44A2D"/>
                </a:solidFill>
                <a:latin typeface="JetBrains Mono Variable" pitchFamily="34" charset="0"/>
                <a:ea typeface="JetBrains Mono Variable" pitchFamily="34" charset="-122"/>
                <a:cs typeface="JetBrains Mono Variable" pitchFamily="34" charset="-120"/>
              </a:rPr>
              <a:t>EVIDENCE / 05</a:t>
            </a:r>
            <a:endParaRPr lang="en-US" sz="1500" dirty="0"/>
          </a:p>
        </p:txBody>
      </p:sp>
      <p:sp>
        <p:nvSpPr>
          <p:cNvPr id="4" name="element_d3f956dd330a28bc94cb0df2d02815f0"/>
          <p:cNvSpPr txBox="1"/>
          <p:nvPr/>
        </p:nvSpPr>
        <p:spPr>
          <a:xfrm>
            <a:off x="1706837" y="1028700"/>
            <a:ext cx="8778021" cy="1165860"/>
          </a:xfrm>
          <a:prstGeom prst="rect">
            <a:avLst/>
          </a:prstGeom>
          <a:noFill/>
          <a:ln/>
        </p:spPr>
        <p:txBody>
          <a:bodyPr wrap="square" lIns="0" tIns="0" rIns="0" bIns="0" rtlCol="0" anchor="t">
            <a:normAutofit/>
          </a:bodyPr>
          <a:lstStyle/>
          <a:p>
            <a:pPr algn="ctr" indent="0" marL="0">
              <a:lnSpc>
                <a:spcPct val="104000"/>
              </a:lnSpc>
              <a:buNone/>
            </a:pPr>
            <a:r>
              <a:rPr lang="en-US" sz="3800" b="1" spc="-80" kern="0" dirty="0">
                <a:solidFill>
                  <a:srgbClr val="26221D"/>
                </a:solidFill>
                <a:latin typeface="Georgia" pitchFamily="34" charset="0"/>
                <a:ea typeface="Georgia" pitchFamily="34" charset="-122"/>
                <a:cs typeface="Georgia" pitchFamily="34" charset="-120"/>
              </a:rPr>
              <a:t>Define proof before asking for commitment.</a:t>
            </a:r>
            <a:endParaRPr lang="en-US" sz="3800" dirty="0"/>
          </a:p>
        </p:txBody>
      </p:sp>
      <p:sp>
        <p:nvSpPr>
          <p:cNvPr id="5" name="element_683dd43f6f45778ab1cf79964dad793a"/>
          <p:cNvSpPr txBox="1"/>
          <p:nvPr/>
        </p:nvSpPr>
        <p:spPr>
          <a:xfrm>
            <a:off x="853419" y="2743200"/>
            <a:ext cx="4754761" cy="1371600"/>
          </a:xfrm>
          <a:prstGeom prst="rect">
            <a:avLst/>
          </a:prstGeom>
          <a:noFill/>
          <a:ln/>
        </p:spPr>
        <p:txBody>
          <a:bodyPr wrap="square" lIns="0" tIns="0" rIns="0" bIns="0" rtlCol="0" anchor="t">
            <a:normAutofit/>
          </a:bodyPr>
          <a:lstStyle/>
          <a:p>
            <a:pPr algn="l" indent="0" marL="0">
              <a:lnSpc>
                <a:spcPct val="135000"/>
              </a:lnSpc>
              <a:buNone/>
            </a:pPr>
            <a:r>
              <a:rPr lang="en-US" sz="1900" dirty="0">
                <a:solidFill>
                  <a:srgbClr val="756B61"/>
                </a:solidFill>
                <a:latin typeface="Geist Variable" pitchFamily="34" charset="0"/>
                <a:ea typeface="Geist Variable" pitchFamily="34" charset="-122"/>
                <a:cs typeface="Geist Variable" pitchFamily="34" charset="-120"/>
              </a:rPr>
              <a:t>Use the brief’s success criteria as explicit evaluation signals, with assumptions clearly separated from measured evidence.</a:t>
            </a:r>
            <a:endParaRPr lang="en-US" sz="1900" dirty="0"/>
          </a:p>
        </p:txBody>
      </p:sp>
      <p:sp>
        <p:nvSpPr>
          <p:cNvPr id="6" name="element_3600e6b696d654bd2f32a78b5c546bff"/>
          <p:cNvSpPr txBox="1"/>
          <p:nvPr/>
        </p:nvSpPr>
        <p:spPr>
          <a:xfrm>
            <a:off x="853419" y="4251960"/>
            <a:ext cx="4754761" cy="617220"/>
          </a:xfrm>
          <a:prstGeom prst="rect">
            <a:avLst/>
          </a:prstGeom>
          <a:noFill/>
          <a:ln/>
        </p:spPr>
        <p:txBody>
          <a:bodyPr wrap="square" lIns="0" tIns="0" rIns="0" bIns="0" rtlCol="0" anchor="t">
            <a:normAutofit/>
          </a:bodyPr>
          <a:lstStyle/>
          <a:p>
            <a:pPr algn="l" indent="0" marL="0">
              <a:lnSpc>
                <a:spcPct val="120000"/>
              </a:lnSpc>
              <a:buNone/>
            </a:pPr>
            <a:r>
              <a:rPr lang="en-US" sz="1700" dirty="0">
                <a:solidFill>
                  <a:srgbClr val="26221D"/>
                </a:solidFill>
                <a:latin typeface="Geist Variable" pitchFamily="34" charset="0"/>
                <a:ea typeface="Geist Variable" pitchFamily="34" charset="-122"/>
                <a:cs typeface="Geist Variable" pitchFamily="34" charset="-120"/>
              </a:rPr>
              <a:t>01  A coherent 6–8 slide narrative</a:t>
            </a:r>
            <a:endParaRPr lang="en-US" sz="1700" dirty="0"/>
          </a:p>
        </p:txBody>
      </p:sp>
      <p:sp>
        <p:nvSpPr>
          <p:cNvPr id="7" name="element_2ee1697a0c08f37f08e4b48865d7de70"/>
          <p:cNvSpPr txBox="1"/>
          <p:nvPr/>
        </p:nvSpPr>
        <p:spPr>
          <a:xfrm>
            <a:off x="853419" y="4937760"/>
            <a:ext cx="4754761" cy="617220"/>
          </a:xfrm>
          <a:prstGeom prst="rect">
            <a:avLst/>
          </a:prstGeom>
          <a:noFill/>
          <a:ln/>
        </p:spPr>
        <p:txBody>
          <a:bodyPr wrap="square" lIns="0" tIns="0" rIns="0" bIns="0" rtlCol="0" anchor="t">
            <a:normAutofit/>
          </a:bodyPr>
          <a:lstStyle/>
          <a:p>
            <a:pPr algn="l" indent="0" marL="0">
              <a:lnSpc>
                <a:spcPct val="120000"/>
              </a:lnSpc>
              <a:buNone/>
            </a:pPr>
            <a:r>
              <a:rPr lang="en-US" sz="1700" dirty="0">
                <a:solidFill>
                  <a:srgbClr val="26221D"/>
                </a:solidFill>
                <a:latin typeface="Geist Variable" pitchFamily="34" charset="0"/>
                <a:ea typeface="Geist Variable" pitchFamily="34" charset="-122"/>
                <a:cs typeface="Geist Variable" pitchFamily="34" charset="-120"/>
              </a:rPr>
              <a:t>02  Structured chart, formula, and image primitives where relevant</a:t>
            </a:r>
            <a:endParaRPr lang="en-US" sz="1700" dirty="0"/>
          </a:p>
        </p:txBody>
      </p:sp>
      <p:sp>
        <p:nvSpPr>
          <p:cNvPr id="8" name="element_1e3c34db90ada0b5d9f9d351eccd536e"/>
          <p:cNvSpPr txBox="1"/>
          <p:nvPr/>
        </p:nvSpPr>
        <p:spPr>
          <a:xfrm>
            <a:off x="853419" y="5623560"/>
            <a:ext cx="4754761" cy="617220"/>
          </a:xfrm>
          <a:prstGeom prst="rect">
            <a:avLst/>
          </a:prstGeom>
          <a:noFill/>
          <a:ln/>
        </p:spPr>
        <p:txBody>
          <a:bodyPr wrap="square" lIns="0" tIns="0" rIns="0" bIns="0" rtlCol="0" anchor="t">
            <a:normAutofit/>
          </a:bodyPr>
          <a:lstStyle/>
          <a:p>
            <a:pPr algn="l" indent="0" marL="0">
              <a:lnSpc>
                <a:spcPct val="120000"/>
              </a:lnSpc>
              <a:buNone/>
            </a:pPr>
            <a:r>
              <a:rPr lang="en-US" sz="1700" dirty="0">
                <a:solidFill>
                  <a:srgbClr val="26221D"/>
                </a:solidFill>
                <a:latin typeface="Geist Variable" pitchFamily="34" charset="0"/>
                <a:ea typeface="Geist Variable" pitchFamily="34" charset="-122"/>
                <a:cs typeface="Geist Variable" pitchFamily="34" charset="-120"/>
              </a:rPr>
              <a:t>03  Validation passes before presentation or export</a:t>
            </a:r>
            <a:endParaRPr lang="en-US" sz="1700" dirty="0"/>
          </a:p>
        </p:txBody>
      </p:sp>
      <p:sp>
        <p:nvSpPr>
          <p:cNvPr id="9" name="element_4f6a946e747e127fd7f87fb54eb484f8"/>
          <p:cNvSpPr txBox="1"/>
          <p:nvPr/>
        </p:nvSpPr>
        <p:spPr>
          <a:xfrm>
            <a:off x="6661542" y="2770632"/>
            <a:ext cx="4476790" cy="1110996"/>
          </a:xfrm>
          <a:prstGeom prst="rect">
            <a:avLst/>
          </a:prstGeom>
          <a:noFill/>
          <a:ln/>
        </p:spPr>
        <p:txBody>
          <a:bodyPr wrap="square" lIns="254000" tIns="254000" rIns="254000" bIns="254000" rtlCol="0" anchor="t">
            <a:normAutofit/>
          </a:bodyPr>
          <a:lstStyle/>
          <a:p>
            <a:pPr algn="l" indent="0" marL="0">
              <a:lnSpc>
                <a:spcPct val="100000"/>
              </a:lnSpc>
              <a:buNone/>
            </a:pPr>
            <a:r>
              <a:rPr lang="en-US" sz="4300" b="1" dirty="0">
                <a:solidFill>
                  <a:srgbClr val="34452C"/>
                </a:solidFill>
                <a:latin typeface="JetBrains Mono Variable" pitchFamily="34" charset="0"/>
                <a:ea typeface="JetBrains Mono Variable" pitchFamily="34" charset="-122"/>
                <a:cs typeface="JetBrains Mono Variable" pitchFamily="34" charset="-120"/>
              </a:rPr>
              <a:t>3 signals</a:t>
            </a:r>
            <a:endParaRPr lang="en-US" sz="4300" dirty="0"/>
          </a:p>
        </p:txBody>
      </p:sp>
      <p:sp>
        <p:nvSpPr>
          <p:cNvPr id="10" name="element_f362d79785da2f15a75ce77152bc78e3"/>
          <p:cNvSpPr txBox="1"/>
          <p:nvPr/>
        </p:nvSpPr>
        <p:spPr>
          <a:xfrm>
            <a:off x="7193100" y="3977640"/>
            <a:ext cx="3535592" cy="617220"/>
          </a:xfrm>
          <a:prstGeom prst="rect">
            <a:avLst/>
          </a:prstGeom>
          <a:noFill/>
          <a:ln/>
        </p:spPr>
        <p:txBody>
          <a:bodyPr wrap="square" lIns="0" tIns="0" rIns="0" bIns="0" rtlCol="0" anchor="t">
            <a:normAutofit/>
          </a:bodyPr>
          <a:lstStyle/>
          <a:p>
            <a:pPr algn="ctr" indent="0" marL="0">
              <a:lnSpc>
                <a:spcPct val="125000"/>
              </a:lnSpc>
              <a:buNone/>
            </a:pPr>
            <a:r>
              <a:rPr lang="en-US" sz="1500" dirty="0">
                <a:solidFill>
                  <a:srgbClr val="756B61"/>
                </a:solidFill>
                <a:latin typeface="Geist Variable" pitchFamily="34" charset="0"/>
                <a:ea typeface="Geist Variable" pitchFamily="34" charset="-122"/>
                <a:cs typeface="Geist Variable" pitchFamily="34" charset="-120"/>
              </a:rPr>
              <a:t>agreed measures of a successful outcome</a:t>
            </a:r>
            <a:endParaRPr lang="en-US" sz="1500" dirty="0"/>
          </a:p>
        </p:txBody>
      </p:sp>
      <p:graphicFrame>
        <p:nvGraphicFramePr>
          <p:cNvPr id="11" name="element_7e38a66ccfab7440afbff7caad9a9a6a" descr=""/>
          <p:cNvGraphicFramePr/>
          <p:nvPr/>
        </p:nvGraphicFramePr>
        <p:xfrm>
          <a:off x="6271408" y="4753966"/>
          <a:ext cx="5135142" cy="1259129"/>
        </p:xfrm>
        <a:graphic xmlns:a="http://schemas.openxmlformats.org/drawingml/2006/main">
          <a:graphicData uri="http://schemas.openxmlformats.org/drawingml/2006/chart">
            <c:chart xmlns:c="http://schemas.openxmlformats.org/drawingml/2006/chart" r:id="rId1"/>
          </a:graphicData>
        </a:graphic>
      </p:graphicFrame>
      <p:sp>
        <p:nvSpPr>
          <p:cNvPr id="12" name="element_1754ce22ea78054816ddd5380bcd915c"/>
          <p:cNvSpPr txBox="1"/>
          <p:nvPr/>
        </p:nvSpPr>
        <p:spPr>
          <a:xfrm>
            <a:off x="2682173" y="6377940"/>
            <a:ext cx="6827349" cy="240030"/>
          </a:xfrm>
          <a:prstGeom prst="rect">
            <a:avLst/>
          </a:prstGeom>
          <a:noFill/>
          <a:ln/>
        </p:spPr>
        <p:txBody>
          <a:bodyPr wrap="square" lIns="0" tIns="0" rIns="0" bIns="0" rtlCol="0" anchor="t">
            <a:normAutofit/>
          </a:bodyPr>
          <a:lstStyle/>
          <a:p>
            <a:pPr algn="ctr" indent="0" marL="0">
              <a:lnSpc>
                <a:spcPct val="120000"/>
              </a:lnSpc>
              <a:buNone/>
            </a:pPr>
            <a:r>
              <a:rPr lang="en-US" sz="1000" spc="110" kern="0" dirty="0">
                <a:solidFill>
                  <a:srgbClr val="756B61"/>
                </a:solidFill>
                <a:latin typeface="JetBrains Mono Variable" pitchFamily="34" charset="0"/>
                <a:ea typeface="JetBrains Mono Variable" pitchFamily="34" charset="-122"/>
                <a:cs typeface="JetBrains Mono Variable" pitchFamily="34" charset="-120"/>
              </a:rPr>
              <a:t>NODESLIDE  ·  SOURCE-AWARE  ·  EDITABLE</a:t>
            </a:r>
            <a:endParaRPr lang="en-US" sz="1000" dirty="0"/>
          </a:p>
        </p:txBody>
      </p:sp>
      <p:sp>
        <p:nvSpPr>
          <p:cNvPr id="13" name="element_610b8cbe13697a63af43d19e5881922e"/>
          <p:cNvSpPr txBox="1"/>
          <p:nvPr/>
        </p:nvSpPr>
        <p:spPr>
          <a:xfrm>
            <a:off x="10728692" y="6309360"/>
            <a:ext cx="731502" cy="342900"/>
          </a:xfrm>
          <a:prstGeom prst="rect">
            <a:avLst/>
          </a:prstGeom>
          <a:noFill/>
          <a:ln/>
        </p:spPr>
        <p:txBody>
          <a:bodyPr wrap="square" lIns="0" tIns="0" rIns="0" bIns="0" rtlCol="0" anchor="t">
            <a:normAutofit/>
          </a:bodyPr>
          <a:lstStyle/>
          <a:p>
            <a:pPr algn="r" indent="0" marL="0">
              <a:lnSpc>
                <a:spcPct val="120000"/>
              </a:lnSpc>
              <a:buNone/>
            </a:pPr>
            <a:r>
              <a:rPr lang="en-US" sz="1300" b="1" dirty="0">
                <a:solidFill>
                  <a:srgbClr val="B44A2D"/>
                </a:solidFill>
                <a:latin typeface="JetBrains Mono Variable" pitchFamily="34" charset="0"/>
                <a:ea typeface="JetBrains Mono Variable" pitchFamily="34" charset="-122"/>
                <a:cs typeface="JetBrains Mono Variable" pitchFamily="34" charset="-120"/>
              </a:rPr>
              <a:t>05</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4ED"/>
        </a:solidFill>
      </p:bgPr>
    </p:bg>
    <p:spTree>
      <p:nvGrpSpPr>
        <p:cNvPr id="1" name=""/>
        <p:cNvGrpSpPr/>
        <p:nvPr/>
      </p:nvGrpSpPr>
      <p:grpSpPr>
        <a:xfrm>
          <a:off x="0" y="0"/>
          <a:ext cx="0" cy="0"/>
          <a:chOff x="0" y="0"/>
          <a:chExt cx="0" cy="0"/>
        </a:xfrm>
      </p:grpSpPr>
      <p:sp>
        <p:nvSpPr>
          <p:cNvPr id="2" name="element_917e22134300bcdec3387af20619a34b"/>
          <p:cNvSpPr/>
          <p:nvPr/>
        </p:nvSpPr>
        <p:spPr>
          <a:xfrm>
            <a:off x="426709" y="445770"/>
            <a:ext cx="121917" cy="5692140"/>
          </a:xfrm>
          <a:prstGeom prst="roundRect">
            <a:avLst/>
          </a:prstGeom>
          <a:solidFill>
            <a:srgbClr val="B44A2D"/>
          </a:solidFill>
          <a:ln w="12700">
            <a:solidFill>
              <a:srgbClr val="FFFFFF">
                <a:alpha val="0"/>
              </a:srgbClr>
            </a:solidFill>
            <a:prstDash val="solid"/>
          </a:ln>
        </p:spPr>
      </p:sp>
      <p:sp>
        <p:nvSpPr>
          <p:cNvPr id="3" name="element_cc46270395f90e9928d1706d0544f1ec"/>
          <p:cNvSpPr txBox="1"/>
          <p:nvPr/>
        </p:nvSpPr>
        <p:spPr>
          <a:xfrm>
            <a:off x="853419" y="445770"/>
            <a:ext cx="5852014" cy="342900"/>
          </a:xfrm>
          <a:prstGeom prst="rect">
            <a:avLst/>
          </a:prstGeom>
          <a:noFill/>
          <a:ln/>
        </p:spPr>
        <p:txBody>
          <a:bodyPr wrap="square" lIns="0" tIns="0" rIns="0" bIns="0" rtlCol="0" anchor="t">
            <a:normAutofit/>
          </a:bodyPr>
          <a:lstStyle/>
          <a:p>
            <a:pPr algn="l" indent="0" marL="0">
              <a:lnSpc>
                <a:spcPct val="120000"/>
              </a:lnSpc>
              <a:buNone/>
            </a:pPr>
            <a:r>
              <a:rPr lang="en-US" sz="1500" b="1" spc="130" kern="0" dirty="0">
                <a:solidFill>
                  <a:srgbClr val="B44A2D"/>
                </a:solidFill>
                <a:latin typeface="JetBrains Mono Variable" pitchFamily="34" charset="0"/>
                <a:ea typeface="JetBrains Mono Variable" pitchFamily="34" charset="-122"/>
                <a:cs typeface="JetBrains Mono Variable" pitchFamily="34" charset="-120"/>
              </a:rPr>
              <a:t>DELIVERY / 06</a:t>
            </a:r>
            <a:endParaRPr lang="en-US" sz="1500" dirty="0"/>
          </a:p>
        </p:txBody>
      </p:sp>
      <p:sp>
        <p:nvSpPr>
          <p:cNvPr id="4" name="element_5320a3696dc4dac3629ed44b2a1c774f"/>
          <p:cNvSpPr txBox="1"/>
          <p:nvPr/>
        </p:nvSpPr>
        <p:spPr>
          <a:xfrm>
            <a:off x="853419" y="1028700"/>
            <a:ext cx="9265688" cy="1371600"/>
          </a:xfrm>
          <a:prstGeom prst="rect">
            <a:avLst/>
          </a:prstGeom>
          <a:noFill/>
          <a:ln/>
        </p:spPr>
        <p:txBody>
          <a:bodyPr wrap="square" lIns="0" tIns="0" rIns="0" bIns="0" rtlCol="0" anchor="t">
            <a:normAutofit/>
          </a:bodyPr>
          <a:lstStyle/>
          <a:p>
            <a:pPr algn="l" indent="0" marL="0">
              <a:lnSpc>
                <a:spcPct val="104000"/>
              </a:lnSpc>
              <a:buNone/>
            </a:pPr>
            <a:r>
              <a:rPr lang="en-US" sz="3800" b="1" spc="-80" kern="0" dirty="0">
                <a:solidFill>
                  <a:srgbClr val="26221D"/>
                </a:solidFill>
                <a:latin typeface="Georgia" pitchFamily="34" charset="0"/>
                <a:ea typeface="Georgia" pitchFamily="34" charset="-122"/>
                <a:cs typeface="Georgia" pitchFamily="34" charset="-120"/>
              </a:rPr>
              <a:t>Start narrow, learn quickly, and preserve room to adapt.</a:t>
            </a:r>
            <a:endParaRPr lang="en-US" sz="3800" dirty="0"/>
          </a:p>
        </p:txBody>
      </p:sp>
      <p:sp>
        <p:nvSpPr>
          <p:cNvPr id="5" name="element_40c2841771be22b844d358f3c938ab18"/>
          <p:cNvSpPr txBox="1"/>
          <p:nvPr/>
        </p:nvSpPr>
        <p:spPr>
          <a:xfrm>
            <a:off x="6339682" y="2743200"/>
            <a:ext cx="4876678" cy="1371600"/>
          </a:xfrm>
          <a:prstGeom prst="rect">
            <a:avLst/>
          </a:prstGeom>
          <a:noFill/>
          <a:ln/>
        </p:spPr>
        <p:txBody>
          <a:bodyPr wrap="square" lIns="0" tIns="0" rIns="0" bIns="0" rtlCol="0" anchor="t">
            <a:normAutofit/>
          </a:bodyPr>
          <a:lstStyle/>
          <a:p>
            <a:pPr algn="l" indent="0" marL="0">
              <a:lnSpc>
                <a:spcPct val="135000"/>
              </a:lnSpc>
              <a:buNone/>
            </a:pPr>
            <a:r>
              <a:rPr lang="en-US" sz="1900" dirty="0">
                <a:solidFill>
                  <a:srgbClr val="756B61"/>
                </a:solidFill>
                <a:latin typeface="Geist Variable" pitchFamily="34" charset="0"/>
                <a:ea typeface="Geist Variable" pitchFamily="34" charset="-122"/>
                <a:cs typeface="Geist Variable" pitchFamily="34" charset="-120"/>
              </a:rPr>
              <a:t>Sequence the work into a focused launch, an evidence review, and a deliberate scale decision with named ownership at every step.</a:t>
            </a:r>
            <a:endParaRPr lang="en-US" sz="1900" dirty="0"/>
          </a:p>
        </p:txBody>
      </p:sp>
      <p:sp>
        <p:nvSpPr>
          <p:cNvPr id="6" name="element_c24592003d2807849e1d42dc28e3c873"/>
          <p:cNvSpPr txBox="1"/>
          <p:nvPr/>
        </p:nvSpPr>
        <p:spPr>
          <a:xfrm>
            <a:off x="6339682" y="4251960"/>
            <a:ext cx="4876678" cy="617220"/>
          </a:xfrm>
          <a:prstGeom prst="rect">
            <a:avLst/>
          </a:prstGeom>
          <a:noFill/>
          <a:ln/>
        </p:spPr>
        <p:txBody>
          <a:bodyPr wrap="square" lIns="0" tIns="0" rIns="0" bIns="0" rtlCol="0" anchor="t">
            <a:normAutofit/>
          </a:bodyPr>
          <a:lstStyle/>
          <a:p>
            <a:pPr algn="l" indent="0" marL="0">
              <a:lnSpc>
                <a:spcPct val="120000"/>
              </a:lnSpc>
              <a:buNone/>
            </a:pPr>
            <a:r>
              <a:rPr lang="en-US" sz="1700" dirty="0">
                <a:solidFill>
                  <a:srgbClr val="26221D"/>
                </a:solidFill>
                <a:latin typeface="Geist Variable" pitchFamily="34" charset="0"/>
                <a:ea typeface="Geist Variable" pitchFamily="34" charset="-122"/>
                <a:cs typeface="Geist Variable" pitchFamily="34" charset="-120"/>
              </a:rPr>
              <a:t>01  Launch the smallest credible move</a:t>
            </a:r>
            <a:endParaRPr lang="en-US" sz="1700" dirty="0"/>
          </a:p>
        </p:txBody>
      </p:sp>
      <p:sp>
        <p:nvSpPr>
          <p:cNvPr id="7" name="element_c34db38b538d12575b588ee30031e5ee"/>
          <p:cNvSpPr txBox="1"/>
          <p:nvPr/>
        </p:nvSpPr>
        <p:spPr>
          <a:xfrm>
            <a:off x="6339682" y="4937760"/>
            <a:ext cx="4876678" cy="617220"/>
          </a:xfrm>
          <a:prstGeom prst="rect">
            <a:avLst/>
          </a:prstGeom>
          <a:noFill/>
          <a:ln/>
        </p:spPr>
        <p:txBody>
          <a:bodyPr wrap="square" lIns="0" tIns="0" rIns="0" bIns="0" rtlCol="0" anchor="t">
            <a:normAutofit/>
          </a:bodyPr>
          <a:lstStyle/>
          <a:p>
            <a:pPr algn="l" indent="0" marL="0">
              <a:lnSpc>
                <a:spcPct val="120000"/>
              </a:lnSpc>
              <a:buNone/>
            </a:pPr>
            <a:r>
              <a:rPr lang="en-US" sz="1700" dirty="0">
                <a:solidFill>
                  <a:srgbClr val="26221D"/>
                </a:solidFill>
                <a:latin typeface="Geist Variable" pitchFamily="34" charset="0"/>
                <a:ea typeface="Geist Variable" pitchFamily="34" charset="-122"/>
                <a:cs typeface="Geist Variable" pitchFamily="34" charset="-120"/>
              </a:rPr>
              <a:t>02  Review evidence with stakeholders</a:t>
            </a:r>
            <a:endParaRPr lang="en-US" sz="1700" dirty="0"/>
          </a:p>
        </p:txBody>
      </p:sp>
      <p:sp>
        <p:nvSpPr>
          <p:cNvPr id="8" name="element_a28a62f029bff5d3894c5701b2a1816f"/>
          <p:cNvSpPr txBox="1"/>
          <p:nvPr/>
        </p:nvSpPr>
        <p:spPr>
          <a:xfrm>
            <a:off x="6339682" y="5623560"/>
            <a:ext cx="4876678" cy="617220"/>
          </a:xfrm>
          <a:prstGeom prst="rect">
            <a:avLst/>
          </a:prstGeom>
          <a:noFill/>
          <a:ln/>
        </p:spPr>
        <p:txBody>
          <a:bodyPr wrap="square" lIns="0" tIns="0" rIns="0" bIns="0" rtlCol="0" anchor="t">
            <a:normAutofit/>
          </a:bodyPr>
          <a:lstStyle/>
          <a:p>
            <a:pPr algn="l" indent="0" marL="0">
              <a:lnSpc>
                <a:spcPct val="120000"/>
              </a:lnSpc>
              <a:buNone/>
            </a:pPr>
            <a:r>
              <a:rPr lang="en-US" sz="1700" dirty="0">
                <a:solidFill>
                  <a:srgbClr val="26221D"/>
                </a:solidFill>
                <a:latin typeface="Geist Variable" pitchFamily="34" charset="0"/>
                <a:ea typeface="Geist Variable" pitchFamily="34" charset="-122"/>
                <a:cs typeface="Geist Variable" pitchFamily="34" charset="-120"/>
              </a:rPr>
              <a:t>03  Scale what earns confidence</a:t>
            </a:r>
            <a:endParaRPr lang="en-US" sz="1700" dirty="0"/>
          </a:p>
        </p:txBody>
      </p:sp>
      <p:sp>
        <p:nvSpPr>
          <p:cNvPr id="9" name="element_85670ffd3fb28b172ff190063a1ded4b:fallback-shape"/>
          <p:cNvSpPr/>
          <p:nvPr/>
        </p:nvSpPr>
        <p:spPr>
          <a:xfrm>
            <a:off x="731502" y="2674620"/>
            <a:ext cx="4754761" cy="2606040"/>
          </a:xfrm>
          <a:prstGeom prst="roundRect">
            <a:avLst/>
          </a:prstGeom>
          <a:solidFill>
            <a:srgbClr val="F2DED3"/>
          </a:solidFill>
          <a:ln w="19050">
            <a:solidFill>
              <a:srgbClr val="DED7CC"/>
            </a:solidFill>
            <a:prstDash val="dash"/>
          </a:ln>
        </p:spPr>
      </p:sp>
      <p:sp>
        <p:nvSpPr>
          <p:cNvPr id="10" name="element_85670ffd3fb28b172ff190063a1ded4b:fallback-label"/>
          <p:cNvSpPr/>
          <p:nvPr/>
        </p:nvSpPr>
        <p:spPr>
          <a:xfrm>
            <a:off x="731502" y="2674620"/>
            <a:ext cx="4754761" cy="2606040"/>
          </a:xfrm>
          <a:prstGeom prst="rect">
            <a:avLst/>
          </a:prstGeom>
          <a:noFill/>
          <a:ln/>
        </p:spPr>
        <p:txBody>
          <a:bodyPr wrap="square" lIns="101600" tIns="101600" rIns="101600" bIns="101600" rtlCol="0" anchor="ctr">
            <a:normAutofit/>
          </a:bodyPr>
          <a:lstStyle/>
          <a:p>
            <a:pPr algn="ctr" indent="0" marL="0">
              <a:buNone/>
            </a:pPr>
            <a:r>
              <a:rPr lang="en-US" sz="1400" dirty="0">
                <a:solidFill>
                  <a:srgbClr val="756B61"/>
                </a:solidFill>
                <a:latin typeface="Geist Variable" pitchFamily="34" charset="0"/>
                <a:ea typeface="Geist Variable" pitchFamily="34" charset="-122"/>
                <a:cs typeface="Geist Variable" pitchFamily="34" charset="-120"/>
              </a:rPr>
              <a:t>Structured evidence map derived from the supplied brief</a:t>
            </a:r>
            <a:endParaRPr lang="en-US" sz="1400" dirty="0"/>
          </a:p>
          <a:p>
            <a:pPr algn="ctr" indent="0" marL="0">
              <a:buNone/>
            </a:pPr>
            <a:r>
              <a:rPr lang="en-US" sz="1400" dirty="0">
                <a:solidFill>
                  <a:srgbClr val="756B61"/>
                </a:solidFill>
                <a:latin typeface="Geist Variable" pitchFamily="34" charset="0"/>
                <a:ea typeface="Geist Variable" pitchFamily="34" charset="-122"/>
                <a:cs typeface="Geist Variable" pitchFamily="34" charset="-120"/>
              </a:rPr>
              <a:t>Replace image</a:t>
            </a:r>
            <a:endParaRPr lang="en-US" sz="1400" dirty="0"/>
          </a:p>
          <a:p>
            <a:pPr algn="ctr" indent="0" marL="0">
              <a:buNone/>
            </a:pPr>
            <a:r>
              <a:rPr lang="en-US" sz="1400" dirty="0">
                <a:solidFill>
                  <a:srgbClr val="756B61"/>
                </a:solidFill>
                <a:latin typeface="Geist Variable" pitchFamily="34" charset="0"/>
                <a:ea typeface="Geist Variable" pitchFamily="34" charset="-122"/>
                <a:cs typeface="Geist Variable" pitchFamily="34" charset="-120"/>
              </a:rPr>
              <a:t>The visual is illustrative and remains replaceable as an image object.</a:t>
            </a:r>
            <a:endParaRPr lang="en-US" sz="1400" dirty="0"/>
          </a:p>
        </p:txBody>
      </p:sp>
      <p:sp>
        <p:nvSpPr>
          <p:cNvPr id="11" name="element_2c14f36d6eb6bd496f243544013b6456"/>
          <p:cNvSpPr txBox="1"/>
          <p:nvPr/>
        </p:nvSpPr>
        <p:spPr>
          <a:xfrm>
            <a:off x="975336" y="5417820"/>
            <a:ext cx="4267093" cy="480060"/>
          </a:xfrm>
          <a:prstGeom prst="rect">
            <a:avLst/>
          </a:prstGeom>
          <a:noFill/>
          <a:ln/>
        </p:spPr>
        <p:txBody>
          <a:bodyPr wrap="square" lIns="0" tIns="0" rIns="0" bIns="0" rtlCol="0" anchor="t">
            <a:normAutofit/>
          </a:bodyPr>
          <a:lstStyle/>
          <a:p>
            <a:pPr algn="ctr" indent="0" marL="0">
              <a:lnSpc>
                <a:spcPct val="120000"/>
              </a:lnSpc>
              <a:buNone/>
            </a:pPr>
            <a:r>
              <a:rPr lang="en-US" sz="1400" dirty="0">
                <a:solidFill>
                  <a:srgbClr val="756B61"/>
                </a:solidFill>
                <a:latin typeface="Geist Variable" pitchFamily="34" charset="0"/>
                <a:ea typeface="Geist Variable" pitchFamily="34" charset="-122"/>
                <a:cs typeface="Geist Variable" pitchFamily="34" charset="-120"/>
              </a:rPr>
              <a:t>The visual is illustrative and remains replaceable as an image object.</a:t>
            </a:r>
            <a:endParaRPr lang="en-US" sz="1400" dirty="0"/>
          </a:p>
        </p:txBody>
      </p:sp>
      <p:sp>
        <p:nvSpPr>
          <p:cNvPr id="12" name="element_af415626df9d327e404eef8c7d3042d1"/>
          <p:cNvSpPr txBox="1"/>
          <p:nvPr/>
        </p:nvSpPr>
        <p:spPr>
          <a:xfrm>
            <a:off x="853419" y="6377940"/>
            <a:ext cx="8778021" cy="240030"/>
          </a:xfrm>
          <a:prstGeom prst="rect">
            <a:avLst/>
          </a:prstGeom>
          <a:noFill/>
          <a:ln/>
        </p:spPr>
        <p:txBody>
          <a:bodyPr wrap="square" lIns="0" tIns="0" rIns="0" bIns="0" rtlCol="0" anchor="t">
            <a:normAutofit/>
          </a:bodyPr>
          <a:lstStyle/>
          <a:p>
            <a:pPr algn="l" indent="0" marL="0">
              <a:lnSpc>
                <a:spcPct val="120000"/>
              </a:lnSpc>
              <a:buNone/>
            </a:pPr>
            <a:r>
              <a:rPr lang="en-US" sz="1000" spc="110" kern="0" dirty="0">
                <a:solidFill>
                  <a:srgbClr val="756B61"/>
                </a:solidFill>
                <a:latin typeface="JetBrains Mono Variable" pitchFamily="34" charset="0"/>
                <a:ea typeface="JetBrains Mono Variable" pitchFamily="34" charset="-122"/>
                <a:cs typeface="JetBrains Mono Variable" pitchFamily="34" charset="-120"/>
              </a:rPr>
              <a:t>NODESLIDE  ·  SOURCE-AWARE  ·  EDITABLE</a:t>
            </a:r>
            <a:endParaRPr lang="en-US" sz="1000" dirty="0"/>
          </a:p>
        </p:txBody>
      </p:sp>
      <p:sp>
        <p:nvSpPr>
          <p:cNvPr id="13" name="element_d859f05a0b7c7dc1a819f9f61f4b760b"/>
          <p:cNvSpPr txBox="1"/>
          <p:nvPr/>
        </p:nvSpPr>
        <p:spPr>
          <a:xfrm>
            <a:off x="10728692" y="6309360"/>
            <a:ext cx="731502" cy="342900"/>
          </a:xfrm>
          <a:prstGeom prst="rect">
            <a:avLst/>
          </a:prstGeom>
          <a:noFill/>
          <a:ln/>
        </p:spPr>
        <p:txBody>
          <a:bodyPr wrap="square" lIns="0" tIns="0" rIns="0" bIns="0" rtlCol="0" anchor="t">
            <a:normAutofit/>
          </a:bodyPr>
          <a:lstStyle/>
          <a:p>
            <a:pPr algn="r" indent="0" marL="0">
              <a:lnSpc>
                <a:spcPct val="120000"/>
              </a:lnSpc>
              <a:buNone/>
            </a:pPr>
            <a:r>
              <a:rPr lang="en-US" sz="1300" b="1" dirty="0">
                <a:solidFill>
                  <a:srgbClr val="B44A2D"/>
                </a:solidFill>
                <a:latin typeface="JetBrains Mono Variable" pitchFamily="34" charset="0"/>
                <a:ea typeface="JetBrains Mono Variable" pitchFamily="34" charset="-122"/>
                <a:cs typeface="JetBrains Mono Variable" pitchFamily="34" charset="-120"/>
              </a:rPr>
              <a:t>06</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4ED"/>
        </a:solidFill>
      </p:bgPr>
    </p:bg>
    <p:spTree>
      <p:nvGrpSpPr>
        <p:cNvPr id="1" name=""/>
        <p:cNvGrpSpPr/>
        <p:nvPr/>
      </p:nvGrpSpPr>
      <p:grpSpPr>
        <a:xfrm>
          <a:off x="0" y="0"/>
          <a:ext cx="0" cy="0"/>
          <a:chOff x="0" y="0"/>
          <a:chExt cx="0" cy="0"/>
        </a:xfrm>
      </p:grpSpPr>
      <p:sp>
        <p:nvSpPr>
          <p:cNvPr id="2" name="element_e8ecb2abe74a0934f984974d12d7b876"/>
          <p:cNvSpPr/>
          <p:nvPr/>
        </p:nvSpPr>
        <p:spPr>
          <a:xfrm>
            <a:off x="426709" y="445770"/>
            <a:ext cx="121917" cy="5692140"/>
          </a:xfrm>
          <a:prstGeom prst="roundRect">
            <a:avLst/>
          </a:prstGeom>
          <a:solidFill>
            <a:srgbClr val="B44A2D"/>
          </a:solidFill>
          <a:ln w="12700">
            <a:solidFill>
              <a:srgbClr val="FFFFFF">
                <a:alpha val="0"/>
              </a:srgbClr>
            </a:solidFill>
            <a:prstDash val="solid"/>
          </a:ln>
        </p:spPr>
      </p:sp>
      <p:sp>
        <p:nvSpPr>
          <p:cNvPr id="3" name="element_24e1f3f38056218e5bfc0c72a2b03237"/>
          <p:cNvSpPr txBox="1"/>
          <p:nvPr/>
        </p:nvSpPr>
        <p:spPr>
          <a:xfrm>
            <a:off x="853419" y="445770"/>
            <a:ext cx="5852014" cy="342900"/>
          </a:xfrm>
          <a:prstGeom prst="rect">
            <a:avLst/>
          </a:prstGeom>
          <a:noFill/>
          <a:ln/>
        </p:spPr>
        <p:txBody>
          <a:bodyPr wrap="square" lIns="0" tIns="0" rIns="0" bIns="0" rtlCol="0" anchor="t">
            <a:normAutofit/>
          </a:bodyPr>
          <a:lstStyle/>
          <a:p>
            <a:pPr algn="l" indent="0" marL="0">
              <a:lnSpc>
                <a:spcPct val="120000"/>
              </a:lnSpc>
              <a:buNone/>
            </a:pPr>
            <a:r>
              <a:rPr lang="en-US" sz="1500" b="1" spc="130" kern="0" dirty="0">
                <a:solidFill>
                  <a:srgbClr val="B44A2D"/>
                </a:solidFill>
                <a:latin typeface="JetBrains Mono Variable" pitchFamily="34" charset="0"/>
                <a:ea typeface="JetBrains Mono Variable" pitchFamily="34" charset="-122"/>
                <a:cs typeface="JetBrains Mono Variable" pitchFamily="34" charset="-120"/>
              </a:rPr>
              <a:t>CLOSE / 07</a:t>
            </a:r>
            <a:endParaRPr lang="en-US" sz="1500" dirty="0"/>
          </a:p>
        </p:txBody>
      </p:sp>
      <p:sp>
        <p:nvSpPr>
          <p:cNvPr id="4" name="element_c3be615b346f27107ba2557275104525"/>
          <p:cNvSpPr txBox="1"/>
          <p:nvPr/>
        </p:nvSpPr>
        <p:spPr>
          <a:xfrm>
            <a:off x="853419" y="1028700"/>
            <a:ext cx="9265688" cy="1371600"/>
          </a:xfrm>
          <a:prstGeom prst="rect">
            <a:avLst/>
          </a:prstGeom>
          <a:noFill/>
          <a:ln/>
        </p:spPr>
        <p:txBody>
          <a:bodyPr wrap="square" lIns="0" tIns="0" rIns="0" bIns="0" rtlCol="0" anchor="t">
            <a:normAutofit/>
          </a:bodyPr>
          <a:lstStyle/>
          <a:p>
            <a:pPr algn="l" indent="0" marL="0">
              <a:lnSpc>
                <a:spcPct val="104000"/>
              </a:lnSpc>
              <a:buNone/>
            </a:pPr>
            <a:r>
              <a:rPr lang="en-US" sz="3800" b="1" spc="-80" kern="0" dirty="0">
                <a:solidFill>
                  <a:srgbClr val="26221D"/>
                </a:solidFill>
                <a:latin typeface="Georgia" pitchFamily="34" charset="0"/>
                <a:ea typeface="Georgia" pitchFamily="34" charset="-122"/>
                <a:cs typeface="Georgia" pitchFamily="34" charset="-120"/>
              </a:rPr>
              <a:t>Create an editable, reviewable presentation from this idea</a:t>
            </a:r>
            <a:endParaRPr lang="en-US" sz="3800" dirty="0"/>
          </a:p>
        </p:txBody>
      </p:sp>
      <p:sp>
        <p:nvSpPr>
          <p:cNvPr id="5" name="element_dff8dfcff8880133afa9cb16d3da967a"/>
          <p:cNvSpPr txBox="1"/>
          <p:nvPr/>
        </p:nvSpPr>
        <p:spPr>
          <a:xfrm>
            <a:off x="853419" y="2743200"/>
            <a:ext cx="8046519" cy="1371600"/>
          </a:xfrm>
          <a:prstGeom prst="rect">
            <a:avLst/>
          </a:prstGeom>
          <a:noFill/>
          <a:ln/>
        </p:spPr>
        <p:txBody>
          <a:bodyPr wrap="square" lIns="0" tIns="0" rIns="0" bIns="0" rtlCol="0" anchor="t">
            <a:normAutofit/>
          </a:bodyPr>
          <a:lstStyle/>
          <a:p>
            <a:pPr algn="l" indent="0" marL="0">
              <a:lnSpc>
                <a:spcPct val="135000"/>
              </a:lnSpc>
              <a:buNone/>
            </a:pPr>
            <a:r>
              <a:rPr lang="en-US" sz="1900" dirty="0">
                <a:solidFill>
                  <a:srgbClr val="756B61"/>
                </a:solidFill>
                <a:latin typeface="Geist Variable" pitchFamily="34" charset="0"/>
                <a:ea typeface="Geist Variable" pitchFamily="34" charset="-122"/>
                <a:cs typeface="Geist Variable" pitchFamily="34" charset="-120"/>
              </a:rPr>
              <a:t>Invite Decision-makers described in the brief to align on the outcome, the first action, and the evidence that will guide the next decision.</a:t>
            </a:r>
            <a:endParaRPr lang="en-US" sz="1900" dirty="0"/>
          </a:p>
        </p:txBody>
      </p:sp>
      <p:sp>
        <p:nvSpPr>
          <p:cNvPr id="6" name="element_0f10a1c59a64388de3d0d1bad8c48ca1"/>
          <p:cNvSpPr txBox="1"/>
          <p:nvPr/>
        </p:nvSpPr>
        <p:spPr>
          <a:xfrm>
            <a:off x="853419" y="4937760"/>
            <a:ext cx="3047924" cy="548640"/>
          </a:xfrm>
          <a:prstGeom prst="rect">
            <a:avLst/>
          </a:prstGeom>
          <a:noFill/>
          <a:ln/>
        </p:spPr>
        <p:txBody>
          <a:bodyPr wrap="square" lIns="0" tIns="0" rIns="0" bIns="0" rtlCol="0" anchor="t">
            <a:normAutofit/>
          </a:bodyPr>
          <a:lstStyle/>
          <a:p>
            <a:pPr algn="l" indent="0" marL="0">
              <a:lnSpc>
                <a:spcPct val="120000"/>
              </a:lnSpc>
              <a:buNone/>
            </a:pPr>
            <a:r>
              <a:rPr lang="en-US" sz="1600" dirty="0">
                <a:solidFill>
                  <a:srgbClr val="26221D"/>
                </a:solidFill>
                <a:latin typeface="Geist Variable" pitchFamily="34" charset="0"/>
                <a:ea typeface="Geist Variable" pitchFamily="34" charset="-122"/>
                <a:cs typeface="Geist Variable" pitchFamily="34" charset="-120"/>
              </a:rPr>
              <a:t>•  Agree the outcome</a:t>
            </a:r>
            <a:endParaRPr lang="en-US" sz="1600" dirty="0"/>
          </a:p>
        </p:txBody>
      </p:sp>
      <p:sp>
        <p:nvSpPr>
          <p:cNvPr id="7" name="element_072d4698f031cf6f39895c0f7b8a7563"/>
          <p:cNvSpPr txBox="1"/>
          <p:nvPr/>
        </p:nvSpPr>
        <p:spPr>
          <a:xfrm>
            <a:off x="4267093" y="4937760"/>
            <a:ext cx="3047924" cy="548640"/>
          </a:xfrm>
          <a:prstGeom prst="rect">
            <a:avLst/>
          </a:prstGeom>
          <a:noFill/>
          <a:ln/>
        </p:spPr>
        <p:txBody>
          <a:bodyPr wrap="square" lIns="0" tIns="0" rIns="0" bIns="0" rtlCol="0" anchor="t">
            <a:normAutofit/>
          </a:bodyPr>
          <a:lstStyle/>
          <a:p>
            <a:pPr algn="l" indent="0" marL="0">
              <a:lnSpc>
                <a:spcPct val="120000"/>
              </a:lnSpc>
              <a:buNone/>
            </a:pPr>
            <a:r>
              <a:rPr lang="en-US" sz="1600" dirty="0">
                <a:solidFill>
                  <a:srgbClr val="26221D"/>
                </a:solidFill>
                <a:latin typeface="Geist Variable" pitchFamily="34" charset="0"/>
                <a:ea typeface="Geist Variable" pitchFamily="34" charset="-122"/>
                <a:cs typeface="Geist Variable" pitchFamily="34" charset="-120"/>
              </a:rPr>
              <a:t>•  Name the owner</a:t>
            </a:r>
            <a:endParaRPr lang="en-US" sz="1600" dirty="0"/>
          </a:p>
        </p:txBody>
      </p:sp>
      <p:sp>
        <p:nvSpPr>
          <p:cNvPr id="8" name="element_d6e1c9c6f3742f1f1dac3d0fb64f32fb"/>
          <p:cNvSpPr txBox="1"/>
          <p:nvPr/>
        </p:nvSpPr>
        <p:spPr>
          <a:xfrm>
            <a:off x="7680768" y="4937760"/>
            <a:ext cx="3047924" cy="548640"/>
          </a:xfrm>
          <a:prstGeom prst="rect">
            <a:avLst/>
          </a:prstGeom>
          <a:noFill/>
          <a:ln/>
        </p:spPr>
        <p:txBody>
          <a:bodyPr wrap="square" lIns="0" tIns="0" rIns="0" bIns="0" rtlCol="0" anchor="t">
            <a:normAutofit/>
          </a:bodyPr>
          <a:lstStyle/>
          <a:p>
            <a:pPr algn="l" indent="0" marL="0">
              <a:lnSpc>
                <a:spcPct val="120000"/>
              </a:lnSpc>
              <a:buNone/>
            </a:pPr>
            <a:r>
              <a:rPr lang="en-US" sz="1600" dirty="0">
                <a:solidFill>
                  <a:srgbClr val="26221D"/>
                </a:solidFill>
                <a:latin typeface="Geist Variable" pitchFamily="34" charset="0"/>
                <a:ea typeface="Geist Variable" pitchFamily="34" charset="-122"/>
                <a:cs typeface="Geist Variable" pitchFamily="34" charset="-120"/>
              </a:rPr>
              <a:t>•  Set the next checkpoint</a:t>
            </a:r>
            <a:endParaRPr lang="en-US" sz="1600" dirty="0"/>
          </a:p>
        </p:txBody>
      </p:sp>
      <p:sp>
        <p:nvSpPr>
          <p:cNvPr id="9" name="element_fe3c00a9f241223de61f222d1a8ff3ce"/>
          <p:cNvSpPr txBox="1"/>
          <p:nvPr/>
        </p:nvSpPr>
        <p:spPr>
          <a:xfrm>
            <a:off x="853419" y="6377940"/>
            <a:ext cx="8778021" cy="240030"/>
          </a:xfrm>
          <a:prstGeom prst="rect">
            <a:avLst/>
          </a:prstGeom>
          <a:noFill/>
          <a:ln/>
        </p:spPr>
        <p:txBody>
          <a:bodyPr wrap="square" lIns="0" tIns="0" rIns="0" bIns="0" rtlCol="0" anchor="t">
            <a:normAutofit/>
          </a:bodyPr>
          <a:lstStyle/>
          <a:p>
            <a:pPr algn="l" indent="0" marL="0">
              <a:lnSpc>
                <a:spcPct val="120000"/>
              </a:lnSpc>
              <a:buNone/>
            </a:pPr>
            <a:r>
              <a:rPr lang="en-US" sz="1000" spc="110" kern="0" dirty="0">
                <a:solidFill>
                  <a:srgbClr val="756B61"/>
                </a:solidFill>
                <a:latin typeface="JetBrains Mono Variable" pitchFamily="34" charset="0"/>
                <a:ea typeface="JetBrains Mono Variable" pitchFamily="34" charset="-122"/>
                <a:cs typeface="JetBrains Mono Variable" pitchFamily="34" charset="-120"/>
              </a:rPr>
              <a:t>NODESLIDE  ·  SOURCE-AWARE  ·  EDITABLE</a:t>
            </a:r>
            <a:endParaRPr lang="en-US" sz="1000" dirty="0"/>
          </a:p>
        </p:txBody>
      </p:sp>
      <p:sp>
        <p:nvSpPr>
          <p:cNvPr id="10" name="element_9cdbc6f1daf78659b1f132c185a67edd"/>
          <p:cNvSpPr txBox="1"/>
          <p:nvPr/>
        </p:nvSpPr>
        <p:spPr>
          <a:xfrm>
            <a:off x="10728692" y="6309360"/>
            <a:ext cx="731502" cy="342900"/>
          </a:xfrm>
          <a:prstGeom prst="rect">
            <a:avLst/>
          </a:prstGeom>
          <a:noFill/>
          <a:ln/>
        </p:spPr>
        <p:txBody>
          <a:bodyPr wrap="square" lIns="0" tIns="0" rIns="0" bIns="0" rtlCol="0" anchor="t">
            <a:normAutofit/>
          </a:bodyPr>
          <a:lstStyle/>
          <a:p>
            <a:pPr algn="r" indent="0" marL="0">
              <a:lnSpc>
                <a:spcPct val="120000"/>
              </a:lnSpc>
              <a:buNone/>
            </a:pPr>
            <a:r>
              <a:rPr lang="en-US" sz="1300" b="1" dirty="0">
                <a:solidFill>
                  <a:srgbClr val="B44A2D"/>
                </a:solidFill>
                <a:latin typeface="JetBrains Mono Variable" pitchFamily="34" charset="0"/>
                <a:ea typeface="JetBrains Mono Variable" pitchFamily="34" charset="-122"/>
                <a:cs typeface="JetBrains Mono Variable" pitchFamily="34" charset="-120"/>
              </a:rPr>
              <a:t>07</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Georg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Geist Variable"/>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Slides>
  <Notes>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Arial</vt:lpstr>
      <vt:lpstr>Calibri</vt:lpstr>
      <vt:lpstr>Office Theme</vt:lpstr>
      <vt:lpstr>Slide 1</vt:lpstr>
      <vt:lpstr>Slide 2</vt:lpstr>
      <vt:lpstr>Slide 3</vt:lpstr>
      <vt:lpstr>Slide 4</vt:lpstr>
      <vt:lpstr>Slide 5</vt:lpstr>
      <vt:lpstr>Slide 6</vt:lpstr>
      <vt:lpstr>Slide 7</vt:lpstr>
    </vt:vector>
  </TitlesOfParts>
  <Company>Parity Studio</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Create a seven-slide Q2 operating review for executives choosing two…</dc:title>
  <dc:subject>Create an editable, reviewable presentation from this idea</dc:subject>
  <dc:creator>NodeSlide</dc:creator>
  <cp:lastModifiedBy>NodeSlide</cp:lastModifiedBy>
  <cp:revision>1</cp:revision>
  <dcterms:created xsi:type="dcterms:W3CDTF">2026-07-21T23:55:53Z</dcterms:created>
  <dcterms:modified xsi:type="dcterms:W3CDTF">2026-07-21T23:55:53Z</dcterms:modified>
</cp:coreProperties>
</file>