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Initial Investment</c:v>
                  </c:pt>
                  <c:pt idx="1">
                    <c:v>Year 3 Revenue</c:v>
                  </c:pt>
                  <c:pt idx="2">
                    <c:v>Year 3 EBITDA Margin</c:v>
                  </c:pt>
                  <c:pt idx="3">
                    <c:v>Exit Multiple</c:v>
                  </c:pt>
                  <c:pt idx="4">
                    <c:v>IRR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22</c:v>
                </c:pt>
                <c:pt idx="3">
                  <c:v>8</c:v>
                </c:pt>
                <c:pt idx="4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Initial Investment</c:v>
                  </c:pt>
                  <c:pt idx="1">
                    <c:v>Year 3 Revenue</c:v>
                  </c:pt>
                  <c:pt idx="2">
                    <c:v>Exit Value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-12</c:v>
                </c:pt>
                <c:pt idx="1">
                  <c:v>18</c:v>
                </c:pt>
                <c:pt idx="2">
                  <c:v>144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</c:v>
                  </c:pt>
                  <c:pt idx="1">
                    <c:v>Upside</c:v>
                  </c:pt>
                  <c:pt idx="2">
                    <c:v>Downside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31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orient. Keep the spoken transition focused on “Regional Expansion Requires $12M Initial Investment”
Evidence note: Content is based on the supplied creation brief. Illustrative examples are not independently verified; replace them with measured evidence before external publication.
NodeSlide sources
[source_5ebb1ce33151146ff314d55e9c134539]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[source_e76ad60c0177e55f8481cb148e17a28f]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“Key Assumptions Drive the Underwriting Model”
Evidence note: Content is based on the supplied creation brief. Illustrative examples are not independently verified; replace them with measured evidence before external publication.
NodeSlide sources
[source_5ebb1ce33151146ff314d55e9c134539]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[source_e76ad60c0177e55f8481cb148e17a28f]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“Sources and Uses of Capital”
Evidence note: Content is based on the supplied creation brief. Illustrative examples are not independently verified; replace them with measured evidence before external publication.
NodeSlide sources
[source_5ebb1ce33151146ff314d55e9c134539]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[source_e76ad60c0177e55f8481cb148e17a28f]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“IRR Calculation”
Evidence note: Content is based on the supplied creation brief. Illustrative examples are not independently verified; replace them with measured evidence before external publication.
NodeSlide sources
[source_5ebb1ce33151146ff314d55e9c134539]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[source_e76ad60c0177e55f8481cb148e17a28f]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“Image Evidence Slot”
Evidence note: Content is based on the supplied creation brief. Illustrative examples are not independently verified; replace them with measured evidence before external publication.
NodeSlide sources
[source_5ebb1ce33151146ff314d55e9c134539]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[source_e76ad60c0177e55f8481cb148e17a28f]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“Base, Upside, and Downside Scenarios”
Evidence note: Content is based on the supplied creation brief. Illustrative examples are not independently verified; replace them with measured evidence before external publication.
NodeSlide sources
[source_5ebb1ce33151146ff314d55e9c134539]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[source_e76ad60c0177e55f8481cb148e17a28f]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Keep the spoken transition focused on “Underwrite the Expansion with Caution”
Evidence note: Content is based on the supplied creation brief. Illustrative examples are not independently verified; replace them with measured evidence before external publication.
NodeSlide sources
[source_5ebb1ce33151146ff314d55e9c134539]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[source_e76ad60c0177e55f8481cb148e17a28f]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72742d1c3040ad6cf7f210e6adb3296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d7a301c6447e0d6a598cddb9d95a40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ORIENT</a:t>
            </a:r>
            <a:endParaRPr lang="en-US" sz="1500" dirty="0"/>
          </a:p>
        </p:txBody>
      </p:sp>
      <p:sp>
        <p:nvSpPr>
          <p:cNvPr id="4" name="element_790f1df2a0ef7ece183c4eabc88dcc10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Expansion Requires $12M Initial Investment</a:t>
            </a:r>
            <a:endParaRPr lang="en-US" sz="4800" dirty="0"/>
          </a:p>
        </p:txBody>
      </p:sp>
      <p:sp>
        <p:nvSpPr>
          <p:cNvPr id="5" name="element_9748f9b10ba12666b36a1c657924e2d5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committee must decide whether to underwrite a regional expansion based on modeled assumptions. The central tension is whether the upside scenario justifies the downside risk.</a:t>
            </a:r>
            <a:endParaRPr lang="en-US" sz="1900" dirty="0"/>
          </a:p>
        </p:txBody>
      </p:sp>
      <p:sp>
        <p:nvSpPr>
          <p:cNvPr id="6" name="element_d7d587432e1530c535a341da052328a0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Initial investment: $12M (assumption)</a:t>
            </a:r>
            <a:endParaRPr lang="en-US" sz="1600" dirty="0"/>
          </a:p>
        </p:txBody>
      </p:sp>
      <p:sp>
        <p:nvSpPr>
          <p:cNvPr id="7" name="element_dcb9541b53119bf81da78837b2f5a1fc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Year 3 revenue: $18M base, $24M upside, $13M downside (assumptions)</a:t>
            </a:r>
            <a:endParaRPr lang="en-US" sz="1600" dirty="0"/>
          </a:p>
        </p:txBody>
      </p:sp>
      <p:sp>
        <p:nvSpPr>
          <p:cNvPr id="8" name="element_bc2d886c6c4d1669b3ffb6f8924e9d48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Year 3 EBITDA margin: 22% base, 27% upside, 14% downside (assumptions)</a:t>
            </a:r>
            <a:endParaRPr lang="en-US" sz="1600" dirty="0"/>
          </a:p>
        </p:txBody>
      </p:sp>
      <p:sp>
        <p:nvSpPr>
          <p:cNvPr id="9" name="element_f6c25464f03c2c3aab8c8ae7f7dec63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d81d4a74db7e1db084b7eeb799f700d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cebf576beeaa65130c3f90f522b4141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8c782b715da2e4b09bf57b0790da086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5fd57cde6f2fe1365566020b212396a3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Assumptions Drive the Underwriting Model</a:t>
            </a:r>
            <a:endParaRPr lang="en-US" sz="3800" dirty="0"/>
          </a:p>
        </p:txBody>
      </p:sp>
      <p:sp>
        <p:nvSpPr>
          <p:cNvPr id="5" name="element_95c5e19d3b8aed0f9e8c8c5a6a1b43d4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All values are assumptions from the supplied underwriting.csv. The table below summarizes the base, upside, and downside scenarios.</a:t>
            </a:r>
            <a:endParaRPr lang="en-US" sz="1900" dirty="0"/>
          </a:p>
        </p:txBody>
      </p:sp>
      <p:sp>
        <p:nvSpPr>
          <p:cNvPr id="6" name="element_6d473d4a454483b6b860d0fb5ae729ca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Exit multiple: 8x base, 9x upside, 6x downside (assumptions)</a:t>
            </a:r>
            <a:endParaRPr lang="en-US" sz="1700" dirty="0"/>
          </a:p>
        </p:txBody>
      </p:sp>
      <p:sp>
        <p:nvSpPr>
          <p:cNvPr id="7" name="element_3f1f6752ba88734b42ddba5ba151c296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IRR: 19% base, 31% upside, 7% downside (assumptions)</a:t>
            </a:r>
            <a:endParaRPr lang="en-US" sz="1700" dirty="0"/>
          </a:p>
        </p:txBody>
      </p:sp>
      <p:sp>
        <p:nvSpPr>
          <p:cNvPr id="8" name="element_42b8d30a57306de41c57cbd3e6d3e125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Every modeled value is an assumption, not an observed outcome.</a:t>
            </a:r>
            <a:endParaRPr lang="en-US" sz="1700" dirty="0"/>
          </a:p>
        </p:txBody>
      </p:sp>
      <p:graphicFrame>
        <p:nvGraphicFramePr>
          <p:cNvPr id="9" name="element_f55193892fb7a668d26a928d4a1f5e7a" descr=""/>
          <p:cNvGraphicFramePr/>
          <p:nvPr/>
        </p:nvGraphicFramePr>
        <p:xfrm>
          <a:off x="4876678" y="2754173"/>
          <a:ext cx="6583515" cy="34070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98854aeb3eb533f38957d47df1e7c92d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60584dcfaf14461bb73f437c8f5466d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a593a458efc01e06688542edf19f604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369e44ec4fd514204ccc99633c4d77d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bcd2d8481ceb93b1c2882a6388e82004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and Uses of Capital</a:t>
            </a:r>
            <a:endParaRPr lang="en-US" sz="3800" dirty="0"/>
          </a:p>
        </p:txBody>
      </p:sp>
      <p:sp>
        <p:nvSpPr>
          <p:cNvPr id="5" name="element_f496501dbc6180b309f3bb240c07705e"/>
          <p:cNvSpPr txBox="1"/>
          <p:nvPr/>
        </p:nvSpPr>
        <p:spPr>
          <a:xfrm>
            <a:off x="7680768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waterfall chart shows the modeled flow of capital from initial investment to exit value. All values are assumptions.</a:t>
            </a:r>
            <a:endParaRPr lang="en-US" sz="1900" dirty="0"/>
          </a:p>
        </p:txBody>
      </p:sp>
      <p:sp>
        <p:nvSpPr>
          <p:cNvPr id="6" name="element_a8b38e52ddb7cd90a39e4e4eccc027bd"/>
          <p:cNvSpPr txBox="1"/>
          <p:nvPr/>
        </p:nvSpPr>
        <p:spPr>
          <a:xfrm>
            <a:off x="7680768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Initial investment: $12M (assumption)</a:t>
            </a:r>
            <a:endParaRPr lang="en-US" sz="1700" dirty="0"/>
          </a:p>
        </p:txBody>
      </p:sp>
      <p:sp>
        <p:nvSpPr>
          <p:cNvPr id="7" name="element_4ef36c98530243ded0cc23559c3609bc"/>
          <p:cNvSpPr txBox="1"/>
          <p:nvPr/>
        </p:nvSpPr>
        <p:spPr>
          <a:xfrm>
            <a:off x="7680768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Year 3 revenue: $18M base (assumption)</a:t>
            </a:r>
            <a:endParaRPr lang="en-US" sz="1700" dirty="0"/>
          </a:p>
        </p:txBody>
      </p:sp>
      <p:sp>
        <p:nvSpPr>
          <p:cNvPr id="8" name="element_6bb881d881707cbcfc7ec904f605eb46"/>
          <p:cNvSpPr txBox="1"/>
          <p:nvPr/>
        </p:nvSpPr>
        <p:spPr>
          <a:xfrm>
            <a:off x="7680768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Exit value: $18M * 8x = $144M (assumption)</a:t>
            </a:r>
            <a:endParaRPr lang="en-US" sz="1700" dirty="0"/>
          </a:p>
        </p:txBody>
      </p:sp>
      <p:graphicFrame>
        <p:nvGraphicFramePr>
          <p:cNvPr id="9" name="element_aea9bc29744ddec36d17f6f4b446ba84" descr=""/>
          <p:cNvGraphicFramePr/>
          <p:nvPr/>
        </p:nvGraphicFramePr>
        <p:xfrm>
          <a:off x="975336" y="2880360"/>
          <a:ext cx="6095848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3949bef42021b74a0b6e06cde2cf1aaa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817235e3144ce73c4c5150232771a09e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2c8bfd0f490515f644033df74c2c58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0427aa24a972b45928f42d0e1be39e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e64fd85509a4e36614bc149764b93f12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 Calculation</a:t>
            </a:r>
            <a:endParaRPr lang="en-US" sz="3800" dirty="0"/>
          </a:p>
        </p:txBody>
      </p:sp>
      <p:sp>
        <p:nvSpPr>
          <p:cNvPr id="5" name="element_e7d6592ef2cdb9d29291e7b8e24da457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internal rate of return (IRR) is calculated based on the modeled cash flows. All inputs are assumptions.</a:t>
            </a:r>
            <a:endParaRPr lang="en-US" sz="1900" dirty="0"/>
          </a:p>
        </p:txBody>
      </p:sp>
      <p:sp>
        <p:nvSpPr>
          <p:cNvPr id="6" name="element_07bdaadc6f53c890869da937102857e7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Initial investment: $12M (assumption)</a:t>
            </a:r>
            <a:endParaRPr lang="en-US" sz="1700" dirty="0"/>
          </a:p>
        </p:txBody>
      </p:sp>
      <p:sp>
        <p:nvSpPr>
          <p:cNvPr id="7" name="element_8f3d3e2660b109b420532a7b042d6c11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Exit value: $144M (assumption)</a:t>
            </a:r>
            <a:endParaRPr lang="en-US" sz="1700" dirty="0"/>
          </a:p>
        </p:txBody>
      </p:sp>
      <p:sp>
        <p:nvSpPr>
          <p:cNvPr id="8" name="element_f045c50399d50f432aa517c53b09c6a8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IRR: 19% base (assumption)</a:t>
            </a:r>
            <a:endParaRPr lang="en-US" sz="1700" dirty="0"/>
          </a:p>
        </p:txBody>
      </p:sp>
      <p:sp>
        <p:nvSpPr>
          <p:cNvPr id="9" name="element_4d010547568ffaf326fa19e2c241d618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IRR = (Exit Value / Initial Investment)^(1/3) - 1</a:t>
            </a:r>
            <a:endParaRPr lang="en-US" sz="3000" dirty="0"/>
          </a:p>
        </p:txBody>
      </p:sp>
      <p:sp>
        <p:nvSpPr>
          <p:cNvPr id="10" name="element_86c05f9379ea6ac11278cf90a50edd4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0cb5de777bfa447b944fd93dbf53662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7ea44f08e98624b304cedcac869325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abecc04a3de3c35648c50a218e6060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564cad44cb8607773e49748a5e01315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Evidence Slot</a:t>
            </a:r>
            <a:endParaRPr lang="en-US" sz="3800" dirty="0"/>
          </a:p>
        </p:txBody>
      </p:sp>
      <p:sp>
        <p:nvSpPr>
          <p:cNvPr id="5" name="element_aa52b70016db1febf7899eea02fb646a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No captured image was supplied. This slide reserves an explicitly labeled replacement slot for image evidence.</a:t>
            </a:r>
            <a:endParaRPr lang="en-US" sz="1900" dirty="0"/>
          </a:p>
        </p:txBody>
      </p:sp>
      <p:sp>
        <p:nvSpPr>
          <p:cNvPr id="6" name="element_74e04ce69e18917c9d3c4e644208bc3b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Image placeholder: replace with licensed image asset.</a:t>
            </a:r>
            <a:endParaRPr lang="en-US" sz="1700" dirty="0"/>
          </a:p>
        </p:txBody>
      </p:sp>
      <p:sp>
        <p:nvSpPr>
          <p:cNvPr id="7" name="element_c8c039a33d080cc6b03f11a2bd6b7299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Alt text: Regional expansion map or facility image.</a:t>
            </a:r>
            <a:endParaRPr lang="en-US" sz="1700" dirty="0"/>
          </a:p>
        </p:txBody>
      </p:sp>
      <p:sp>
        <p:nvSpPr>
          <p:cNvPr id="8" name="element_31186f915715fb1be948634cc434ef09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Credit: To be supplied by the committee.</a:t>
            </a:r>
            <a:endParaRPr lang="en-US" sz="1700" dirty="0"/>
          </a:p>
        </p:txBody>
      </p:sp>
      <p:sp>
        <p:nvSpPr>
          <p:cNvPr id="9" name="element_c1a6914e4394610e1061331e7e9cb900:fallback-shape"/>
          <p:cNvSpPr/>
          <p:nvPr/>
        </p:nvSpPr>
        <p:spPr>
          <a:xfrm>
            <a:off x="6461598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c1a6914e4394610e1061331e7e9cb900:fallback-label"/>
          <p:cNvSpPr/>
          <p:nvPr/>
        </p:nvSpPr>
        <p:spPr>
          <a:xfrm>
            <a:off x="6461598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Regional expansion map or facility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To be supplied by the committee</a:t>
            </a:r>
            <a:endParaRPr lang="en-US" sz="1400" dirty="0"/>
          </a:p>
        </p:txBody>
      </p:sp>
      <p:sp>
        <p:nvSpPr>
          <p:cNvPr id="11" name="element_9870da176988996e707578a6e77dae92"/>
          <p:cNvSpPr txBox="1"/>
          <p:nvPr/>
        </p:nvSpPr>
        <p:spPr>
          <a:xfrm>
            <a:off x="6705432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 before external use · To be supplied by the committee</a:t>
            </a:r>
            <a:endParaRPr lang="en-US" sz="1400" dirty="0"/>
          </a:p>
        </p:txBody>
      </p:sp>
      <p:sp>
        <p:nvSpPr>
          <p:cNvPr id="12" name="element_ff4b2abb2d7a1d9e757c9b8fbbc5f86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8bb56a9a92cfa41cf140347dbcf38b5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5f557d35e2039b29f501b4f8c91abde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3d13b5163a0e9bebe088c452d07286b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be3ea900bbed81822dd1047b21df8dcb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Base, Upside, and Downside Scenarios</a:t>
            </a:r>
            <a:endParaRPr lang="en-US" sz="3800" dirty="0"/>
          </a:p>
        </p:txBody>
      </p:sp>
      <p:sp>
        <p:nvSpPr>
          <p:cNvPr id="5" name="element_641593efdb3eb78346178644e91b4b5c"/>
          <p:cNvSpPr txBox="1"/>
          <p:nvPr/>
        </p:nvSpPr>
        <p:spPr>
          <a:xfrm>
            <a:off x="7680768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table below compares the key assumptions across scenarios. Sensitivity analysis shows the impact of changes in revenue and exit multiple.</a:t>
            </a:r>
            <a:endParaRPr lang="en-US" sz="1900" dirty="0"/>
          </a:p>
        </p:txBody>
      </p:sp>
      <p:sp>
        <p:nvSpPr>
          <p:cNvPr id="6" name="element_6e90688031fb49a35ea6d6f7bafb6b83"/>
          <p:cNvSpPr txBox="1"/>
          <p:nvPr/>
        </p:nvSpPr>
        <p:spPr>
          <a:xfrm>
            <a:off x="7680768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Base: $18M revenue, 8x exit multiple, 19% IRR (assumptions)</a:t>
            </a:r>
            <a:endParaRPr lang="en-US" sz="1700" dirty="0"/>
          </a:p>
        </p:txBody>
      </p:sp>
      <p:sp>
        <p:nvSpPr>
          <p:cNvPr id="7" name="element_723da4cab8e0676eaa89be952a82ea0f"/>
          <p:cNvSpPr txBox="1"/>
          <p:nvPr/>
        </p:nvSpPr>
        <p:spPr>
          <a:xfrm>
            <a:off x="7680768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Upside: $24M revenue, 9x exit multiple, 31% IRR (assumptions)</a:t>
            </a:r>
            <a:endParaRPr lang="en-US" sz="1700" dirty="0"/>
          </a:p>
        </p:txBody>
      </p:sp>
      <p:sp>
        <p:nvSpPr>
          <p:cNvPr id="8" name="element_63d34d78745398cc2861c62a37ed4fda"/>
          <p:cNvSpPr txBox="1"/>
          <p:nvPr/>
        </p:nvSpPr>
        <p:spPr>
          <a:xfrm>
            <a:off x="7680768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Downside: $13M revenue, 6x exit multiple, 7% IRR (assumptions)</a:t>
            </a:r>
            <a:endParaRPr lang="en-US" sz="1700" dirty="0"/>
          </a:p>
        </p:txBody>
      </p:sp>
      <p:graphicFrame>
        <p:nvGraphicFramePr>
          <p:cNvPr id="9" name="element_21cdc746780f5c03e109595cd5e756e9" descr=""/>
          <p:cNvGraphicFramePr/>
          <p:nvPr/>
        </p:nvGraphicFramePr>
        <p:xfrm>
          <a:off x="975336" y="2880360"/>
          <a:ext cx="6095848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d24cea096c07ef1c3b03005abf74685b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01338ba40eb926a40f493307e895c4fd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9c37cca4339c44d37f3a2851f42a6e4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acd5c9fd10ccf6a6fcd9cdf5759d4c5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4" name="element_29124a3d98cf1d47956dd65300d5f388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Underwrite the Expansion with Caution</a:t>
            </a:r>
            <a:endParaRPr lang="en-US" sz="3800" dirty="0"/>
          </a:p>
        </p:txBody>
      </p:sp>
      <p:sp>
        <p:nvSpPr>
          <p:cNvPr id="5" name="element_cf3d793515ec62a10219c5e2fbf78525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committee should underwrite the regional expansion, but with caution given the downside risk. The owner is the CFO, and the next checkpoint is a follow-up meeting in 30 days.</a:t>
            </a:r>
            <a:endParaRPr lang="en-US" sz="1900" dirty="0"/>
          </a:p>
        </p:txBody>
      </p:sp>
      <p:sp>
        <p:nvSpPr>
          <p:cNvPr id="6" name="element_bceab2774ea5560e1f0b9303ffc8de46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Recommendation: Underwrite the expansion.</a:t>
            </a:r>
            <a:endParaRPr lang="en-US" sz="1600" dirty="0"/>
          </a:p>
        </p:txBody>
      </p:sp>
      <p:sp>
        <p:nvSpPr>
          <p:cNvPr id="7" name="element_d3cf4093b56836621c1ba3d4005d87fe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Owner: CFO</a:t>
            </a:r>
            <a:endParaRPr lang="en-US" sz="1600" dirty="0"/>
          </a:p>
        </p:txBody>
      </p:sp>
      <p:sp>
        <p:nvSpPr>
          <p:cNvPr id="8" name="element_ee164c37d4226fbb786b2e67db25f107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Next checkpoint: Follow-up meeting in 30 days.</a:t>
            </a:r>
            <a:endParaRPr lang="en-US" sz="1600" dirty="0"/>
          </a:p>
        </p:txBody>
      </p:sp>
      <p:sp>
        <p:nvSpPr>
          <p:cNvPr id="9" name="element_7a94eee36d50e03e3cfcb6ffbe03e63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965b6fd2c103c206c717e01935b5882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investment-committee underwriting deck for a reg…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2026-07-21T23:56:04Z</dcterms:created>
  <dcterms:modified xsi:type="dcterms:W3CDTF">2026-07-21T23:56:04Z</dcterms:modified>
</cp:coreProperties>
</file>