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Paid Workspaces</c:v>
                  </c:pt>
                  <c:pt idx="1">
                    <c:v>Monthly Active Operators</c:v>
                  </c:pt>
                  <c:pt idx="2">
                    <c:v>Weekly Workflows</c:v>
                  </c:pt>
                  <c:pt idx="3">
                    <c:v>Net Revenue Retention</c:v>
                  </c:pt>
                  <c:pt idx="4">
                    <c:v>Median Setup Time</c:v>
                  </c:pt>
                </c:lvl>
              </c:multiLvlStrCache>
            </c:multiLvlStrRef>
          </c:cat>
          <c:val>
            <c:numRef>
              <c:f>Sheet1!$B$2:$B$6</c:f>
              <c:numCache>
                <c:formatCode>General</c:formatCode>
                <c:ptCount val="5"/>
                <c:pt idx="0">
                  <c:v>84</c:v>
                </c:pt>
                <c:pt idx="1">
                  <c:v>1260</c:v>
                </c:pt>
                <c:pt idx="2">
                  <c:v>18400</c:v>
                </c:pt>
                <c:pt idx="3">
                  <c:v>118</c:v>
                </c:pt>
                <c:pt idx="4">
                  <c:v>19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S1</c:v>
                  </c:pt>
                  <c:pt idx="1">
                    <c:v>S2</c:v>
                  </c:pt>
                  <c:pt idx="2">
                    <c:v>S3</c:v>
                  </c:pt>
                </c:lvl>
              </c:multiLvlStrCache>
            </c:multiLvlStrRef>
          </c:cat>
          <c:val>
            <c:numRef>
              <c:f>Sheet1!$B$2:$B$4</c:f>
              <c:numCache>
                <c:formatCode>General</c:formatCode>
                <c:ptCount val="3"/>
                <c:pt idx="0">
                  <c:v>1</c:v>
                </c:pt>
                <c:pt idx="1">
                  <c:v>1</c:v>
                </c:pt>
                <c:pt idx="2">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Opening / 01.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[source_8e50c91b168eba2dc0de3334c5e5073d]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 cinematic minimal direction: fewer words, larger visual centers, deliberate scale changes, one memorable visual climax, and quiet transition beats. Keep all evidence honest and editable.
Disclaimer: Internal working material
[source_db66d06ca3b24060f5754b2f2c0805a4]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[source_18af0a503b7650b9d22d46fe313201c8]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Context / 02. Keep the spoken transition focused on “The cost of waiting is usually hidden in repeated work.”
Evidence note: Content is based on the supplied creation brief. Illustrative examples are not independently verified; replace them with measured evidence before external publication.
NodeSlide sources
[source_8e50c91b168eba2dc0de3334c5e5073d]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 cinematic minimal direction: fewer words, larger visual centers, deliberate scale changes, one memorable visual climax, and quiet transition beats. Keep all evidence honest and editable.
Disclaimer: Internal working material
[source_db66d06ca3b24060f5754b2f2c0805a4]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[source_18af0a503b7650b9d22d46fe313201c8]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Insight / 03. Keep the spoken transition focused on “A better outcome starts with a sharper point of view.”
Evidence note: Content is based on the supplied creation brief. Illustrative examples are not independently verified; replace them with measured evidence before external publication.
NodeSlide sources
[source_8e50c91b168eba2dc0de3334c5e5073d]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 cinematic minimal direction: fewer words, larger visual centers, deliberate scale changes, one memorable visual climax, and quiet transition beats. Keep all evidence honest and editable.
Disclaimer: Internal working material
[source_db66d06ca3b24060f5754b2f2c0805a4]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[source_18af0a503b7650b9d22d46fe313201c8]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Approach / 04. Keep the spoken transition focused on “The uploaded values remain an editable chart.”
Evidence note: Content is based on the supplied creation brief. Illustrative examples are not independently verified; replace them with measured evidence before external publication.
NodeSlide sources
[source_8e50c91b168eba2dc0de3334c5e5073d]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 cinematic minimal direction: fewer words, larger visual centers, deliberate scale changes, one memorable visual climax, and quiet transition beats. Keep all evidence honest and editable.
Disclaimer: Internal working material
[source_db66d06ca3b24060f5754b2f2c0805a4]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[source_18af0a503b7650b9d22d46fe313201c8]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 05. Keep the spoken transition focused on “Define proof before asking for commitment.”
Evidence note: Content is based on the supplied creation brief. Illustrative examples are not independently verified; replace them with measured evidence before external publication.
NodeSlide sources
[source_8e50c91b168eba2dc0de3334c5e5073d]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 cinematic minimal direction: fewer words, larger visual centers, deliberate scale changes, one memorable visual climax, and quiet transition beats. Keep all evidence honest and editable.
Disclaimer: Internal working material
[source_db66d06ca3b24060f5754b2f2c0805a4]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[source_18af0a503b7650b9d22d46fe313201c8]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Delivery / 06. Keep the spoken transition focused on “Start narrow, learn quickly, and preserve room to adapt.”
Evidence note: Content is based on the supplied creation brief. Illustrative examples are not independently verified; replace them with measured evidence before external publication.
NodeSlide sources
[source_8e50c91b168eba2dc0de3334c5e5073d]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 cinematic minimal direction: fewer words, larger visual centers, deliberate scale changes, one memorable visual climax, and quiet transition beats. Keep all evidence honest and editable.
Disclaimer: Internal working material
[source_db66d06ca3b24060f5754b2f2c0805a4]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[source_18af0a503b7650b9d22d46fe313201c8]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Close / 07.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[source_8e50c91b168eba2dc0de3334c5e5073d]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 cinematic minimal direction: fewer words, larger visual centers, deliberate scale changes, one memorable visual climax, and quiet transition beats. Keep all evidence honest and editable.
Disclaimer: Internal working material
[source_db66d06ca3b24060f5754b2f2c0805a4]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[source_18af0a503b7650b9d22d46fe313201c8]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8a6e3f2ddb3ed6c4c96424e360f538c6"/>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f979ad8b032e62f16adbeefeb6a9d8b5"/>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OPENING / 01</a:t>
            </a:r>
            <a:endParaRPr lang="en-US" sz="1500" dirty="0"/>
          </a:p>
        </p:txBody>
      </p:sp>
      <p:sp>
        <p:nvSpPr>
          <p:cNvPr id="4" name="element_a56cc494d637638e045a094c08fc44e6"/>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4800" dirty="0"/>
          </a:p>
        </p:txBody>
      </p:sp>
      <p:sp>
        <p:nvSpPr>
          <p:cNvPr id="5" name="element_83cfb1b0d246212a7f6fd5d8a2655593"/>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 focused narrative for Decision-makers described in the brief, built from the supplied brief and kept editable from first draft onward.</a:t>
            </a:r>
            <a:endParaRPr lang="en-US" sz="1900" dirty="0"/>
          </a:p>
        </p:txBody>
      </p:sp>
      <p:sp>
        <p:nvSpPr>
          <p:cNvPr id="6" name="element_5cc7c3462121447a0f38ae1bfe065368"/>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 coherent 6–8 slide narrative</a:t>
            </a:r>
            <a:endParaRPr lang="en-US" sz="1600" dirty="0"/>
          </a:p>
        </p:txBody>
      </p:sp>
      <p:sp>
        <p:nvSpPr>
          <p:cNvPr id="7" name="element_050e46c5ccbf322ac20237e8e7938c07"/>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Structured chart, formula, and image primitives where relevant</a:t>
            </a:r>
            <a:endParaRPr lang="en-US" sz="1600" dirty="0"/>
          </a:p>
        </p:txBody>
      </p:sp>
      <p:sp>
        <p:nvSpPr>
          <p:cNvPr id="8" name="element_db56309e4509e3108a677eb8e1140269"/>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Validation passes before presentation or export</a:t>
            </a:r>
            <a:endParaRPr lang="en-US" sz="1600" dirty="0"/>
          </a:p>
        </p:txBody>
      </p:sp>
      <p:sp>
        <p:nvSpPr>
          <p:cNvPr id="9" name="element_f60d30ae5918b60cda4c48d3ead352ca"/>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0afe35b55873eb9f4dc4b3aa50957b75"/>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85f1a5bb352d670be58b115773dfc519"/>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e3fb5af7a21e4806fac54627e8afdd2d"/>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CONTEXT / 02</a:t>
            </a:r>
            <a:endParaRPr lang="en-US" sz="1500" dirty="0"/>
          </a:p>
        </p:txBody>
      </p:sp>
      <p:sp>
        <p:nvSpPr>
          <p:cNvPr id="4" name="element_ba5d1aa96fc70d734341c4ac1aa5e374"/>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The cost of waiting is usually hidden in repeated work.</a:t>
            </a:r>
            <a:endParaRPr lang="en-US" sz="3800" dirty="0"/>
          </a:p>
        </p:txBody>
      </p:sp>
      <p:sp>
        <p:nvSpPr>
          <p:cNvPr id="5" name="element_7d82fd41646c7d11d241b75b5bd354c8"/>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Frame the current reality for Decision-makers described in the brief: what is fragmented today, why it matters now, and where momentum is being lost.</a:t>
            </a:r>
            <a:endParaRPr lang="en-US" sz="1700" dirty="0"/>
          </a:p>
        </p:txBody>
      </p:sp>
      <p:sp>
        <p:nvSpPr>
          <p:cNvPr id="6" name="element_1e82948594fa324323ae430baea994c6"/>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Name the friction</a:t>
            </a:r>
            <a:endParaRPr lang="en-US" sz="1700" dirty="0"/>
          </a:p>
        </p:txBody>
      </p:sp>
      <p:sp>
        <p:nvSpPr>
          <p:cNvPr id="7" name="element_66c266cc489b7ccd51041171eb9548e3"/>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Expose the consequence</a:t>
            </a:r>
            <a:endParaRPr lang="en-US" sz="1700" dirty="0"/>
          </a:p>
        </p:txBody>
      </p:sp>
      <p:sp>
        <p:nvSpPr>
          <p:cNvPr id="8" name="element_4b71874d2a7d735941b69284912cc067"/>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Create urgency without hype</a:t>
            </a:r>
            <a:endParaRPr lang="en-US" sz="1700" dirty="0"/>
          </a:p>
        </p:txBody>
      </p:sp>
      <p:sp>
        <p:nvSpPr>
          <p:cNvPr id="9" name="element_1bdae2dbb4631f929c7e2eae85168532"/>
          <p:cNvSpPr/>
          <p:nvPr/>
        </p:nvSpPr>
        <p:spPr>
          <a:xfrm>
            <a:off x="7019978" y="4375404"/>
            <a:ext cx="243834" cy="164592"/>
          </a:xfrm>
          <a:prstGeom prst="line">
            <a:avLst/>
          </a:prstGeom>
          <a:noFill/>
          <a:ln w="25400">
            <a:solidFill>
              <a:srgbClr val="7566A8"/>
            </a:solidFill>
            <a:prstDash val="solid"/>
            <a:tailEnd type="triangle"/>
          </a:ln>
        </p:spPr>
      </p:sp>
      <p:sp>
        <p:nvSpPr>
          <p:cNvPr id="10" name="element_b7d98ab1c0a71d41b706339383cf4a56"/>
          <p:cNvSpPr/>
          <p:nvPr/>
        </p:nvSpPr>
        <p:spPr>
          <a:xfrm>
            <a:off x="9194977" y="4375404"/>
            <a:ext cx="243834" cy="164592"/>
          </a:xfrm>
          <a:prstGeom prst="line">
            <a:avLst/>
          </a:prstGeom>
          <a:noFill/>
          <a:ln w="25400">
            <a:solidFill>
              <a:srgbClr val="7566A8"/>
            </a:solidFill>
            <a:prstDash val="solid"/>
            <a:tailEnd type="triangle"/>
          </a:ln>
        </p:spPr>
      </p:sp>
      <p:sp>
        <p:nvSpPr>
          <p:cNvPr id="11" name="element_8157cd2dcfc05d28585d23a25d6fb612"/>
          <p:cNvSpPr/>
          <p:nvPr/>
        </p:nvSpPr>
        <p:spPr>
          <a:xfrm>
            <a:off x="5045753" y="3939235"/>
            <a:ext cx="2018506" cy="1036930"/>
          </a:xfrm>
          <a:prstGeom prst="roundRect">
            <a:avLst/>
          </a:prstGeom>
          <a:solidFill>
            <a:srgbClr val="F2DED3"/>
          </a:solidFill>
          <a:ln w="12700">
            <a:solidFill>
              <a:srgbClr val="DED7CC"/>
            </a:solidFill>
            <a:prstDash val="solid"/>
          </a:ln>
        </p:spPr>
      </p:sp>
      <p:sp>
        <p:nvSpPr>
          <p:cNvPr id="12" name="element_8157cd2dcfc05d28585d23a25d6fb612:text"/>
          <p:cNvSpPr txBox="1"/>
          <p:nvPr/>
        </p:nvSpPr>
        <p:spPr>
          <a:xfrm>
            <a:off x="5045753"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Friction</a:t>
            </a:r>
            <a:endParaRPr lang="en-US" sz="1600" dirty="0"/>
          </a:p>
        </p:txBody>
      </p:sp>
      <p:sp>
        <p:nvSpPr>
          <p:cNvPr id="13" name="element_8ca04bcd930b15dd5db3a6f1d3a36963"/>
          <p:cNvSpPr/>
          <p:nvPr/>
        </p:nvSpPr>
        <p:spPr>
          <a:xfrm>
            <a:off x="7219532" y="3939235"/>
            <a:ext cx="2018506" cy="1036930"/>
          </a:xfrm>
          <a:prstGeom prst="roundRect">
            <a:avLst/>
          </a:prstGeom>
          <a:solidFill>
            <a:srgbClr val="F2DED3"/>
          </a:solidFill>
          <a:ln w="12700">
            <a:solidFill>
              <a:srgbClr val="DED7CC"/>
            </a:solidFill>
            <a:prstDash val="solid"/>
          </a:ln>
        </p:spPr>
      </p:sp>
      <p:sp>
        <p:nvSpPr>
          <p:cNvPr id="14" name="element_8ca04bcd930b15dd5db3a6f1d3a36963:text"/>
          <p:cNvSpPr txBox="1"/>
          <p:nvPr/>
        </p:nvSpPr>
        <p:spPr>
          <a:xfrm>
            <a:off x="7219532"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Consequence</a:t>
            </a:r>
            <a:endParaRPr lang="en-US" sz="1600" dirty="0"/>
          </a:p>
        </p:txBody>
      </p:sp>
      <p:sp>
        <p:nvSpPr>
          <p:cNvPr id="15" name="element_8e66ddd46ea18cd885198abbb17cbb65"/>
          <p:cNvSpPr/>
          <p:nvPr/>
        </p:nvSpPr>
        <p:spPr>
          <a:xfrm>
            <a:off x="9394530" y="3939235"/>
            <a:ext cx="2018506" cy="1036930"/>
          </a:xfrm>
          <a:prstGeom prst="roundRect">
            <a:avLst/>
          </a:prstGeom>
          <a:solidFill>
            <a:srgbClr val="E5E9D6"/>
          </a:solidFill>
          <a:ln w="12700">
            <a:solidFill>
              <a:srgbClr val="DED7CC"/>
            </a:solidFill>
            <a:prstDash val="solid"/>
          </a:ln>
        </p:spPr>
      </p:sp>
      <p:sp>
        <p:nvSpPr>
          <p:cNvPr id="16" name="element_8e66ddd46ea18cd885198abbb17cbb65:text"/>
          <p:cNvSpPr txBox="1"/>
          <p:nvPr/>
        </p:nvSpPr>
        <p:spPr>
          <a:xfrm>
            <a:off x="9394530"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Decision window</a:t>
            </a:r>
            <a:endParaRPr lang="en-US" sz="1600" dirty="0"/>
          </a:p>
        </p:txBody>
      </p:sp>
      <p:sp>
        <p:nvSpPr>
          <p:cNvPr id="17" name="element_e8e4f76a971f424dd6faa418e46941d0"/>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8" name="element_5fce5a6a42f5ab72fc4792a12ba94843"/>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f1b8e469f18cac2bfc1818c315e17583"/>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43c4bc496c7a5dcd5f4e5cd390a50c9b"/>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INSIGHT / 03</a:t>
            </a:r>
            <a:endParaRPr lang="en-US" sz="1500" dirty="0"/>
          </a:p>
        </p:txBody>
      </p:sp>
      <p:sp>
        <p:nvSpPr>
          <p:cNvPr id="4" name="element_cfe9fe7adefd6d401dc359eadf10bdae"/>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 better outcome starts with a sharper point of view.</a:t>
            </a:r>
            <a:endParaRPr lang="en-US" sz="3800" dirty="0"/>
          </a:p>
        </p:txBody>
      </p:sp>
      <p:sp>
        <p:nvSpPr>
          <p:cNvPr id="5" name="element_35e95bf5517df585a43e8335a351c369"/>
          <p:cNvSpPr txBox="1"/>
          <p:nvPr/>
        </p:nvSpPr>
        <p:spPr>
          <a:xfrm>
            <a:off x="1706837" y="2743200"/>
            <a:ext cx="9631439" cy="12344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Create an evidence-led seven-slide Series A roadshow for early-stage enterprise software investors deciding whether RelayOS merits diligence. Use only the attached operating metrics and product facts. Show the workflow problem, product transformation, tractio…</a:t>
            </a:r>
            <a:endParaRPr lang="en-US" sz="1900" dirty="0"/>
          </a:p>
        </p:txBody>
      </p:sp>
      <p:sp>
        <p:nvSpPr>
          <p:cNvPr id="6" name="element_a5dbb032ee9e4129d6f50697ba71a3bb"/>
          <p:cNvSpPr txBox="1"/>
          <p:nvPr/>
        </p:nvSpPr>
        <p:spPr>
          <a:xfrm>
            <a:off x="8168436"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c0ac3cbf1218b69199a77cba978c5559"/>
          <p:cNvSpPr txBox="1"/>
          <p:nvPr/>
        </p:nvSpPr>
        <p:spPr>
          <a:xfrm>
            <a:off x="4632844"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2b77e10d6177c88a291500aeeb01c128"/>
          <p:cNvSpPr txBox="1"/>
          <p:nvPr/>
        </p:nvSpPr>
        <p:spPr>
          <a:xfrm>
            <a:off x="1097253"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a1a86b6e1ed80df2ff733fe4b75328db"/>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6614d8cef3e5058f54dbc29e286909d3"/>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ccf37ef553c7241d1032234ecb05504d"/>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ecae0a4fc04d866ea67080d1302b95b6"/>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APPROACH / 04</a:t>
            </a:r>
            <a:endParaRPr lang="en-US" sz="1500" dirty="0"/>
          </a:p>
        </p:txBody>
      </p:sp>
      <p:sp>
        <p:nvSpPr>
          <p:cNvPr id="4" name="element_e7454ee951bf63307a8b8fef84c4ef86"/>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The uploaded values remain an editable chart.</a:t>
            </a:r>
            <a:endParaRPr lang="en-US" sz="3800" dirty="0"/>
          </a:p>
        </p:txBody>
      </p:sp>
      <p:sp>
        <p:nvSpPr>
          <p:cNvPr id="5" name="element_37cdda541e4173899709f98530c0c01d"/>
          <p:cNvSpPr txBox="1"/>
          <p:nvPr/>
        </p:nvSpPr>
        <p:spPr>
          <a:xfrm>
            <a:off x="853419" y="2743200"/>
            <a:ext cx="365750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Labels and values stay in the canonical deck spec for direct editing, validation, and native export.</a:t>
            </a:r>
            <a:endParaRPr lang="en-US" sz="1900" dirty="0"/>
          </a:p>
        </p:txBody>
      </p:sp>
      <p:sp>
        <p:nvSpPr>
          <p:cNvPr id="6" name="element_d0b36eff7fb834665339d8d57363f650"/>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Data-bound bars</a:t>
            </a:r>
            <a:endParaRPr lang="en-US" sz="1700" dirty="0"/>
          </a:p>
        </p:txBody>
      </p:sp>
      <p:sp>
        <p:nvSpPr>
          <p:cNvPr id="7" name="element_86367ae0ae1df30fcf1c4f73c47e4149"/>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Source-linked values</a:t>
            </a:r>
            <a:endParaRPr lang="en-US" sz="1700" dirty="0"/>
          </a:p>
        </p:txBody>
      </p:sp>
      <p:sp>
        <p:nvSpPr>
          <p:cNvPr id="8" name="element_4e8ed1fda6da24f8438957b423fc8468"/>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Editable labels</a:t>
            </a:r>
            <a:endParaRPr lang="en-US" sz="1700" dirty="0"/>
          </a:p>
        </p:txBody>
      </p:sp>
      <p:graphicFrame>
        <p:nvGraphicFramePr>
          <p:cNvPr id="9" name="element_29a07261b572b10a3228104f02810251" descr=""/>
          <p:cNvGraphicFramePr/>
          <p:nvPr/>
        </p:nvGraphicFramePr>
        <p:xfrm>
          <a:off x="5120512" y="2880360"/>
          <a:ext cx="6095848" cy="3154680"/>
        </p:xfrm>
        <a:graphic xmlns:a="http://schemas.openxmlformats.org/drawingml/2006/main">
          <a:graphicData uri="http://schemas.openxmlformats.org/drawingml/2006/chart">
            <c:chart xmlns:c="http://schemas.openxmlformats.org/drawingml/2006/chart" r:id="rId1"/>
          </a:graphicData>
        </a:graphic>
      </p:graphicFrame>
      <p:sp>
        <p:nvSpPr>
          <p:cNvPr id="10" name="element_f968fd77ad9aa63d485132ac22f9dab1"/>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df584ea082fb8f70993b3b28fa598bf8"/>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e180e90f4fe23cb5dbd15cb0af989638"/>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b8e50c59cd16f60d1f277d2905af3227"/>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 / 05</a:t>
            </a:r>
            <a:endParaRPr lang="en-US" sz="1500" dirty="0"/>
          </a:p>
        </p:txBody>
      </p:sp>
      <p:sp>
        <p:nvSpPr>
          <p:cNvPr id="4" name="element_3b3a3bce294085b998021b8a824efc3e"/>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Define proof before asking for commitment.</a:t>
            </a:r>
            <a:endParaRPr lang="en-US" sz="3800" dirty="0"/>
          </a:p>
        </p:txBody>
      </p:sp>
      <p:sp>
        <p:nvSpPr>
          <p:cNvPr id="5" name="element_65c6fbf28a507a176877b408cef4d699"/>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Use the brief’s success criteria as explicit evaluation signals, with assumptions clearly separated from measured evidence.</a:t>
            </a:r>
            <a:endParaRPr lang="en-US" sz="1900" dirty="0"/>
          </a:p>
        </p:txBody>
      </p:sp>
      <p:sp>
        <p:nvSpPr>
          <p:cNvPr id="6" name="element_2af5f1dd4c2fc2c35f975c592e43e25e"/>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cfd538f101e17e91c82efda2abb1440b"/>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ea77c2c4a3b4daf616ecfdf6273673c1"/>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2c01c7ed06ef35469ee2c808a80a1550"/>
          <p:cNvSpPr txBox="1"/>
          <p:nvPr/>
        </p:nvSpPr>
        <p:spPr>
          <a:xfrm>
            <a:off x="6661542" y="2770632"/>
            <a:ext cx="4476790" cy="1110996"/>
          </a:xfrm>
          <a:prstGeom prst="rect">
            <a:avLst/>
          </a:prstGeom>
          <a:noFill/>
          <a:ln/>
        </p:spPr>
        <p:txBody>
          <a:bodyPr wrap="square" lIns="254000" tIns="254000" rIns="254000" bIns="254000" rtlCol="0" anchor="t">
            <a:normAutofit/>
          </a:bodyPr>
          <a:lstStyle/>
          <a:p>
            <a:pPr algn="l" indent="0" marL="0">
              <a:lnSpc>
                <a:spcPct val="100000"/>
              </a:lnSpc>
              <a:buNone/>
            </a:pPr>
            <a:r>
              <a:rPr lang="en-US" sz="4300" b="1" dirty="0">
                <a:solidFill>
                  <a:srgbClr val="34452C"/>
                </a:solidFill>
                <a:latin typeface="JetBrains Mono Variable" pitchFamily="34" charset="0"/>
                <a:ea typeface="JetBrains Mono Variable" pitchFamily="34" charset="-122"/>
                <a:cs typeface="JetBrains Mono Variable" pitchFamily="34" charset="-120"/>
              </a:rPr>
              <a:t>3 signals</a:t>
            </a:r>
            <a:endParaRPr lang="en-US" sz="4300" dirty="0"/>
          </a:p>
        </p:txBody>
      </p:sp>
      <p:sp>
        <p:nvSpPr>
          <p:cNvPr id="10" name="element_8d587f9ca2bb721dfa48e3253aeeeef6"/>
          <p:cNvSpPr txBox="1"/>
          <p:nvPr/>
        </p:nvSpPr>
        <p:spPr>
          <a:xfrm>
            <a:off x="7193100" y="39776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agreed measures of a successful outcome</a:t>
            </a:r>
            <a:endParaRPr lang="en-US" sz="1500" dirty="0"/>
          </a:p>
        </p:txBody>
      </p:sp>
      <p:graphicFrame>
        <p:nvGraphicFramePr>
          <p:cNvPr id="11" name="element_ed192a7c19b78ab3a28e0b798cfd6108" descr=""/>
          <p:cNvGraphicFramePr/>
          <p:nvPr/>
        </p:nvGraphicFramePr>
        <p:xfrm>
          <a:off x="6271408" y="4753966"/>
          <a:ext cx="5135142" cy="1259129"/>
        </p:xfrm>
        <a:graphic xmlns:a="http://schemas.openxmlformats.org/drawingml/2006/main">
          <a:graphicData uri="http://schemas.openxmlformats.org/drawingml/2006/chart">
            <c:chart xmlns:c="http://schemas.openxmlformats.org/drawingml/2006/chart" r:id="rId1"/>
          </a:graphicData>
        </a:graphic>
      </p:graphicFrame>
      <p:sp>
        <p:nvSpPr>
          <p:cNvPr id="12" name="element_479fb8b7ccd243d2b9da01a660355762"/>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14e4814d74a4bd39562049625bec059b"/>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ce331975038515bc8fcf961c1430f297"/>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e6af5d35676817dc98c96c46ba878d9d"/>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DELIVERY / 06</a:t>
            </a:r>
            <a:endParaRPr lang="en-US" sz="1500" dirty="0"/>
          </a:p>
        </p:txBody>
      </p:sp>
      <p:sp>
        <p:nvSpPr>
          <p:cNvPr id="4" name="element_78630d096bb902119391a0e9cb8f5339"/>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Start narrow, learn quickly, and preserve room to adapt.</a:t>
            </a:r>
            <a:endParaRPr lang="en-US" sz="3800" dirty="0"/>
          </a:p>
        </p:txBody>
      </p:sp>
      <p:sp>
        <p:nvSpPr>
          <p:cNvPr id="5" name="element_85319a04f93351e7612980a9a1e3ad6f"/>
          <p:cNvSpPr txBox="1"/>
          <p:nvPr/>
        </p:nvSpPr>
        <p:spPr>
          <a:xfrm>
            <a:off x="6339682" y="2743200"/>
            <a:ext cx="4876678"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Sequence the work into a focused launch, an evidence review, and a deliberate scale decision with named ownership at every step.</a:t>
            </a:r>
            <a:endParaRPr lang="en-US" sz="1900" dirty="0"/>
          </a:p>
        </p:txBody>
      </p:sp>
      <p:sp>
        <p:nvSpPr>
          <p:cNvPr id="6" name="element_74d97a0027d47391ffaac2ee83d1a513"/>
          <p:cNvSpPr txBox="1"/>
          <p:nvPr/>
        </p:nvSpPr>
        <p:spPr>
          <a:xfrm>
            <a:off x="6339682" y="42519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Launch the smallest credible move</a:t>
            </a:r>
            <a:endParaRPr lang="en-US" sz="1700" dirty="0"/>
          </a:p>
        </p:txBody>
      </p:sp>
      <p:sp>
        <p:nvSpPr>
          <p:cNvPr id="7" name="element_058169c17b08bd730389172ee07f196f"/>
          <p:cNvSpPr txBox="1"/>
          <p:nvPr/>
        </p:nvSpPr>
        <p:spPr>
          <a:xfrm>
            <a:off x="6339682" y="49377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Review evidence with stakeholders</a:t>
            </a:r>
            <a:endParaRPr lang="en-US" sz="1700" dirty="0"/>
          </a:p>
        </p:txBody>
      </p:sp>
      <p:sp>
        <p:nvSpPr>
          <p:cNvPr id="8" name="element_5fc11ed2b2d34cd3a2486297c74f8a3e"/>
          <p:cNvSpPr txBox="1"/>
          <p:nvPr/>
        </p:nvSpPr>
        <p:spPr>
          <a:xfrm>
            <a:off x="6339682" y="56235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Scale what earns confidence</a:t>
            </a:r>
            <a:endParaRPr lang="en-US" sz="1700" dirty="0"/>
          </a:p>
        </p:txBody>
      </p:sp>
      <p:sp>
        <p:nvSpPr>
          <p:cNvPr id="9" name="element_c29d5a08453937c9906dc9309c1583e1:fallback-shape"/>
          <p:cNvSpPr/>
          <p:nvPr/>
        </p:nvSpPr>
        <p:spPr>
          <a:xfrm>
            <a:off x="731502" y="2674620"/>
            <a:ext cx="4754761" cy="2606040"/>
          </a:xfrm>
          <a:prstGeom prst="roundRect">
            <a:avLst/>
          </a:prstGeom>
          <a:solidFill>
            <a:srgbClr val="F2DED3"/>
          </a:solidFill>
          <a:ln w="19050">
            <a:solidFill>
              <a:srgbClr val="DED7CC"/>
            </a:solidFill>
            <a:prstDash val="dash"/>
          </a:ln>
        </p:spPr>
      </p:sp>
      <p:sp>
        <p:nvSpPr>
          <p:cNvPr id="10" name="element_c29d5a08453937c9906dc9309c1583e1:fallback-label"/>
          <p:cNvSpPr/>
          <p:nvPr/>
        </p:nvSpPr>
        <p:spPr>
          <a:xfrm>
            <a:off x="731502"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Structured evidence map derived from the supplied brief</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1" name="element_94d1cae48b0a534f0ce5a135616478a9"/>
          <p:cNvSpPr txBox="1"/>
          <p:nvPr/>
        </p:nvSpPr>
        <p:spPr>
          <a:xfrm>
            <a:off x="975336"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2" name="element_c7cfd2b6a524720dc1e2dd3387f19127"/>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0c00f0e4bbd4aff9a8bb3040068db18a"/>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6839ace05e72799d9f2a08912e17b9f9"/>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0b7a19cb8629fd3123e368690afcaa38"/>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CLOSE / 07</a:t>
            </a:r>
            <a:endParaRPr lang="en-US" sz="1500" dirty="0"/>
          </a:p>
        </p:txBody>
      </p:sp>
      <p:sp>
        <p:nvSpPr>
          <p:cNvPr id="4" name="element_a9aa32c6d1d9006ba174a2ef5f97bdc8"/>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3800" dirty="0"/>
          </a:p>
        </p:txBody>
      </p:sp>
      <p:sp>
        <p:nvSpPr>
          <p:cNvPr id="5" name="element_8431a15891465bcb684e6688933bc1dd"/>
          <p:cNvSpPr txBox="1"/>
          <p:nvPr/>
        </p:nvSpPr>
        <p:spPr>
          <a:xfrm>
            <a:off x="853419" y="2743200"/>
            <a:ext cx="804651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Invite Decision-makers described in the brief to align on the outcome, the first action, and the evidence that will guide the next decision.</a:t>
            </a:r>
            <a:endParaRPr lang="en-US" sz="1900" dirty="0"/>
          </a:p>
        </p:txBody>
      </p:sp>
      <p:sp>
        <p:nvSpPr>
          <p:cNvPr id="6" name="element_81d200a84a1d4f48b0cbff1e9ed740c6"/>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Agree the outcome</a:t>
            </a:r>
            <a:endParaRPr lang="en-US" sz="1600" dirty="0"/>
          </a:p>
        </p:txBody>
      </p:sp>
      <p:sp>
        <p:nvSpPr>
          <p:cNvPr id="7" name="element_614a775d1ed31d3e0643b15eaf9f2c4b"/>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Name the owner</a:t>
            </a:r>
            <a:endParaRPr lang="en-US" sz="1600" dirty="0"/>
          </a:p>
        </p:txBody>
      </p:sp>
      <p:sp>
        <p:nvSpPr>
          <p:cNvPr id="8" name="element_573e36cf9ea3dae00e3ef04d8e06c695"/>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Set the next checkpoint</a:t>
            </a:r>
            <a:endParaRPr lang="en-US" sz="1600" dirty="0"/>
          </a:p>
        </p:txBody>
      </p:sp>
      <p:sp>
        <p:nvSpPr>
          <p:cNvPr id="9" name="element_7b73df777423a644aa8c928e68d83176"/>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243dc94e13d3e8b7b90cadaffd494495"/>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an evidence-led seven-slide Series A roadshow for early-stage…</dc:title>
  <dc:subject>Create an editable, reviewable presentation from this idea</dc:subject>
  <dc:creator>NodeSlide</dc:creator>
  <cp:lastModifiedBy>NodeSlide</cp:lastModifiedBy>
  <cp:revision>1</cp:revision>
  <dcterms:created xsi:type="dcterms:W3CDTF">2026-07-21T23:50:55Z</dcterms:created>
  <dcterms:modified xsi:type="dcterms:W3CDTF">2026-07-21T23:50:55Z</dcterms:modified>
</cp:coreProperties>
</file>