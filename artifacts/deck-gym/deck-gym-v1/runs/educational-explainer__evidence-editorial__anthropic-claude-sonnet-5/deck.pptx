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Passage 1</c:v>
                  </c:pt>
                  <c:pt idx="1">
                    <c:v>Passage 2</c:v>
                  </c:pt>
                  <c:pt idx="2">
                    <c:v>Passage 3</c:v>
                  </c:pt>
                  <c:pt idx="3">
                    <c:v>Passage 4</c:v>
                  </c:pt>
                </c:lvl>
              </c:multiLvlStrCache>
            </c:multiLvlStrRef>
          </c:cat>
          <c:val>
            <c:numRef>
              <c:f>Sheet1!$B$2:$B$5</c:f>
              <c:numCache>
                <c:formatCode>General</c:formatCode>
                <c:ptCount val="4"/>
                <c:pt idx="0">
                  <c:v>92</c:v>
                </c:pt>
                <c:pt idx="1">
                  <c:v>78</c:v>
                </c:pt>
                <c:pt idx="2">
                  <c:v>45</c:v>
                </c:pt>
                <c:pt idx="3">
                  <c:v>30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“A fluent answer is not the same as a correct one”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“Indexing turns approved documents into a searchable library”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“Four stages turn a query into a checked answer”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“Not every retrieved passage is actually useful”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“Following a single question through the pipeline”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“Turning 'grounded' into a number you can track”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“RAG reduces risk, it does not remove it — decide with that in mind”
Evidence note: Content is based on the supplied creation brief. Illustrative examples are not independently verified; replace them with measured evidence before external publication.
NodeSlide sources
[source_04eb981f33c9b62fee259793717a8d73]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[source_58102d6ee13e312477fc4cac79767dff]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f82c4971cf840c87efeef2458031b8a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f6f7d59278ee4672dcc3b450965a0d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025cb12897ab05c2684280e5c6007593"/>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A fluent answer is not the same as a correct one</a:t>
            </a:r>
            <a:endParaRPr lang="en-US" sz="4800" dirty="0"/>
          </a:p>
        </p:txBody>
      </p:sp>
      <p:sp>
        <p:nvSpPr>
          <p:cNvPr id="5" name="element_f64f04e6f908ee502459222e4660cec3"/>
          <p:cNvSpPr txBox="1"/>
          <p:nvPr/>
        </p:nvSpPr>
        <p:spPr>
          <a:xfrm>
            <a:off x="853419" y="3291840"/>
            <a:ext cx="4754761" cy="1172718"/>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Language models trained only on memory generate plausible-sounding text from patterns learned during training. They have no built-in step that checks a claim against a current, approved source, so a wrong answer can sound just as confident as a right one. This is the core problem RAG is designed to address.</a:t>
            </a:r>
            <a:endParaRPr lang="en-US" sz="1900" dirty="0"/>
          </a:p>
        </p:txBody>
      </p:sp>
      <p:sp>
        <p:nvSpPr>
          <p:cNvPr id="6" name="element_adb6a1d076276fb8ef253bcf41722180"/>
          <p:cNvSpPr txBox="1"/>
          <p:nvPr/>
        </p:nvSpPr>
        <p:spPr>
          <a:xfrm>
            <a:off x="853419" y="4601718"/>
            <a:ext cx="4754761" cy="59184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Memory-only models answer from trained patterns, not verified sources</a:t>
            </a:r>
            <a:endParaRPr lang="en-US" sz="1700" dirty="0"/>
          </a:p>
        </p:txBody>
      </p:sp>
      <p:sp>
        <p:nvSpPr>
          <p:cNvPr id="7" name="element_e4f470f427847499f9df00645f142480"/>
          <p:cNvSpPr txBox="1"/>
          <p:nvPr/>
        </p:nvSpPr>
        <p:spPr>
          <a:xfrm>
            <a:off x="853419" y="5262143"/>
            <a:ext cx="4754761" cy="59184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Confidence in tone does not indicate accuracy</a:t>
            </a:r>
            <a:endParaRPr lang="en-US" sz="1700" dirty="0"/>
          </a:p>
        </p:txBody>
      </p:sp>
      <p:sp>
        <p:nvSpPr>
          <p:cNvPr id="8" name="element_d4ab354174a7face63d8ebf052c44cce"/>
          <p:cNvSpPr txBox="1"/>
          <p:nvPr/>
        </p:nvSpPr>
        <p:spPr>
          <a:xfrm>
            <a:off x="853419" y="5923255"/>
            <a:ext cx="4754761" cy="59184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Product decisions built on unchecked answers carry hidden risk</a:t>
            </a:r>
            <a:endParaRPr lang="en-US" sz="1700" dirty="0"/>
          </a:p>
        </p:txBody>
      </p:sp>
      <p:sp>
        <p:nvSpPr>
          <p:cNvPr id="9" name="element_da9088918e429d731e6674f3ffe74ef9: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da9088918e429d731e6674f3ffe74ef9: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depiction of a confident but factually unsupported AI answer with no cited source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 no licensed image supplied for this deck</a:t>
            </a:r>
            <a:endParaRPr lang="en-US" sz="1400" dirty="0"/>
          </a:p>
        </p:txBody>
      </p:sp>
      <p:sp>
        <p:nvSpPr>
          <p:cNvPr id="11" name="element_2e954e654d91f0fb8fc71ce448fa9818"/>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Illustrative placeholder — no licensed image supplied for this deck</a:t>
            </a:r>
            <a:endParaRPr lang="en-US" sz="1400" dirty="0"/>
          </a:p>
        </p:txBody>
      </p:sp>
      <p:sp>
        <p:nvSpPr>
          <p:cNvPr id="12" name="element_b40482fe56d4ed099e61ad4f3d340f5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708b6e703a0dcb979806ae2c272ed9c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5925647d98c8a14ff8fc83bff4538834"/>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86a0ba174b84e6bd781d91e5becb975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2127b63687dd8a76c899c76876911e6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Indexing turns approved documents into a searchable library</a:t>
            </a:r>
            <a:endParaRPr lang="en-US" sz="3800" dirty="0"/>
          </a:p>
        </p:txBody>
      </p:sp>
      <p:sp>
        <p:nvSpPr>
          <p:cNvPr id="5" name="element_e6eec0cf9b142b0c9b3260cb125877d9"/>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Indexing is the preparation stage: approved documents are broken into passages and stored in a form a computer can search quickly, similar to building a detailed card catalog for a library. Nothing is generated yet — this stage only organizes trusted material so it can be found later.</a:t>
            </a:r>
            <a:endParaRPr lang="en-US" sz="1900" dirty="0"/>
          </a:p>
        </p:txBody>
      </p:sp>
      <p:sp>
        <p:nvSpPr>
          <p:cNvPr id="6" name="element_10fd5ba601ff21da3a6251453ab4808b"/>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Indexing = organizing approved documents for fast search</a:t>
            </a:r>
            <a:endParaRPr lang="en-US" sz="1700" dirty="0"/>
          </a:p>
        </p:txBody>
      </p:sp>
      <p:sp>
        <p:nvSpPr>
          <p:cNvPr id="7" name="element_419951401605ff66199f8dce63bbdb7b"/>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No answers are produced at this stage, only preparation</a:t>
            </a:r>
            <a:endParaRPr lang="en-US" sz="1700" dirty="0"/>
          </a:p>
        </p:txBody>
      </p:sp>
      <p:sp>
        <p:nvSpPr>
          <p:cNvPr id="8" name="element_c3100c016f91a13baf358e367e6cc29c"/>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Only documents your organization approves should enter the index</a:t>
            </a:r>
            <a:endParaRPr lang="en-US" sz="1700" dirty="0"/>
          </a:p>
        </p:txBody>
      </p:sp>
      <p:sp>
        <p:nvSpPr>
          <p:cNvPr id="9" name="element_b0c2d729ad1d40069419bdc4c9035de2"/>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99cfc7c5d70f74662e79a1a576e2b0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2a1dd34c3d466d81fb5a4ef3175c28a3"/>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045e43f03b645a4f08b299f27277b96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880434388630c7e6fa9c14f044e99b6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Four stages turn a query into a checked answer</a:t>
            </a:r>
            <a:endParaRPr lang="en-US" sz="3800" dirty="0"/>
          </a:p>
        </p:txBody>
      </p:sp>
      <p:sp>
        <p:nvSpPr>
          <p:cNvPr id="5" name="element_bb91793f9bdf6492fccbb96e72948ddd"/>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full RAG pipeline runs in a fixed order: index the approved documents, retrieve passages relevant to the query, generate an answer grounded in those passages, and evaluate whether the generated claims are actually supported by the retrieved text. Each stage depends on the one before it.</a:t>
            </a:r>
            <a:endParaRPr lang="en-US" sz="1700" dirty="0"/>
          </a:p>
        </p:txBody>
      </p:sp>
      <p:sp>
        <p:nvSpPr>
          <p:cNvPr id="6" name="element_8124efcbec8c05c5eb0724dcd88f1744"/>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Retrieval depends on a good index; generation depends on good retrieval</a:t>
            </a:r>
            <a:endParaRPr lang="en-US" sz="1700" dirty="0"/>
          </a:p>
        </p:txBody>
      </p:sp>
      <p:sp>
        <p:nvSpPr>
          <p:cNvPr id="7" name="element_6241d7b67dfb5ecb74c615b1ce4aaa8a"/>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Evaluation is the safety check most memory-only systems skip</a:t>
            </a:r>
            <a:endParaRPr lang="en-US" sz="1700" dirty="0"/>
          </a:p>
        </p:txBody>
      </p:sp>
      <p:sp>
        <p:nvSpPr>
          <p:cNvPr id="8" name="element_2d62317cc051a0d55fa1e1023c07e131"/>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This is the same definition used in the RAG evidence supplied for this deck</a:t>
            </a:r>
            <a:endParaRPr lang="en-US" sz="1700" dirty="0"/>
          </a:p>
        </p:txBody>
      </p:sp>
      <p:sp>
        <p:nvSpPr>
          <p:cNvPr id="9" name="element_cce2d3a580b92583ce6851a016afd0b6"/>
          <p:cNvSpPr/>
          <p:nvPr/>
        </p:nvSpPr>
        <p:spPr>
          <a:xfrm>
            <a:off x="4927883" y="3775329"/>
            <a:ext cx="243834" cy="164592"/>
          </a:xfrm>
          <a:prstGeom prst="line">
            <a:avLst/>
          </a:prstGeom>
          <a:noFill/>
          <a:ln w="25400">
            <a:solidFill>
              <a:srgbClr val="7566A8"/>
            </a:solidFill>
            <a:prstDash val="solid"/>
            <a:tailEnd type="triangle"/>
          </a:ln>
        </p:spPr>
      </p:sp>
      <p:sp>
        <p:nvSpPr>
          <p:cNvPr id="10" name="element_99a14a6aa85a8223a9fc4ddb0e44b09a"/>
          <p:cNvSpPr/>
          <p:nvPr/>
        </p:nvSpPr>
        <p:spPr>
          <a:xfrm>
            <a:off x="2752885" y="3775329"/>
            <a:ext cx="243834" cy="164592"/>
          </a:xfrm>
          <a:prstGeom prst="line">
            <a:avLst/>
          </a:prstGeom>
          <a:noFill/>
          <a:ln w="25400">
            <a:solidFill>
              <a:srgbClr val="7566A8"/>
            </a:solidFill>
            <a:prstDash val="solid"/>
            <a:tailEnd type="triangle"/>
          </a:ln>
        </p:spPr>
      </p:sp>
      <p:sp>
        <p:nvSpPr>
          <p:cNvPr id="11" name="element_111834a6a10a1af6f01cd4468de42ef4"/>
          <p:cNvSpPr/>
          <p:nvPr/>
        </p:nvSpPr>
        <p:spPr>
          <a:xfrm>
            <a:off x="2654132" y="4375404"/>
            <a:ext cx="2615119" cy="164592"/>
          </a:xfrm>
          <a:prstGeom prst="line">
            <a:avLst/>
          </a:prstGeom>
          <a:noFill/>
          <a:ln w="25400">
            <a:solidFill>
              <a:srgbClr val="7566A8"/>
            </a:solidFill>
            <a:prstDash val="solid"/>
            <a:tailEnd type="triangle"/>
          </a:ln>
        </p:spPr>
      </p:sp>
      <p:sp>
        <p:nvSpPr>
          <p:cNvPr id="12" name="element_ff55db5d3daf48f04238f5499fac0c54"/>
          <p:cNvSpPr/>
          <p:nvPr/>
        </p:nvSpPr>
        <p:spPr>
          <a:xfrm>
            <a:off x="5202196" y="3377565"/>
            <a:ext cx="1868987" cy="960120"/>
          </a:xfrm>
          <a:prstGeom prst="roundRect">
            <a:avLst/>
          </a:prstGeom>
          <a:solidFill>
            <a:srgbClr val="F2DED3"/>
          </a:solidFill>
          <a:ln w="12700">
            <a:solidFill>
              <a:srgbClr val="DED7CC"/>
            </a:solidFill>
            <a:prstDash val="solid"/>
          </a:ln>
        </p:spPr>
      </p:sp>
      <p:sp>
        <p:nvSpPr>
          <p:cNvPr id="13" name="element_ff55db5d3daf48f04238f5499fac0c54:text"/>
          <p:cNvSpPr txBox="1"/>
          <p:nvPr/>
        </p:nvSpPr>
        <p:spPr>
          <a:xfrm>
            <a:off x="5202196"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Index approved documents</a:t>
            </a:r>
            <a:endParaRPr lang="en-US" sz="1600" dirty="0"/>
          </a:p>
        </p:txBody>
      </p:sp>
      <p:sp>
        <p:nvSpPr>
          <p:cNvPr id="14" name="element_c1af11d4bee1b912fc8775b0cec10fae"/>
          <p:cNvSpPr/>
          <p:nvPr/>
        </p:nvSpPr>
        <p:spPr>
          <a:xfrm>
            <a:off x="3028417" y="3377565"/>
            <a:ext cx="1868987" cy="960120"/>
          </a:xfrm>
          <a:prstGeom prst="roundRect">
            <a:avLst/>
          </a:prstGeom>
          <a:solidFill>
            <a:srgbClr val="F2DED3"/>
          </a:solidFill>
          <a:ln w="12700">
            <a:solidFill>
              <a:srgbClr val="DED7CC"/>
            </a:solidFill>
            <a:prstDash val="solid"/>
          </a:ln>
        </p:spPr>
      </p:sp>
      <p:sp>
        <p:nvSpPr>
          <p:cNvPr id="15" name="element_c1af11d4bee1b912fc8775b0cec10fae:text"/>
          <p:cNvSpPr txBox="1"/>
          <p:nvPr/>
        </p:nvSpPr>
        <p:spPr>
          <a:xfrm>
            <a:off x="3028417"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relevant passages</a:t>
            </a:r>
            <a:endParaRPr lang="en-US" sz="1600" dirty="0"/>
          </a:p>
        </p:txBody>
      </p:sp>
      <p:sp>
        <p:nvSpPr>
          <p:cNvPr id="16" name="element_3e2ca986b78bf4c2fa65bc243ef92ccf"/>
          <p:cNvSpPr/>
          <p:nvPr/>
        </p:nvSpPr>
        <p:spPr>
          <a:xfrm>
            <a:off x="853419" y="3377565"/>
            <a:ext cx="1868987" cy="960120"/>
          </a:xfrm>
          <a:prstGeom prst="roundRect">
            <a:avLst/>
          </a:prstGeom>
          <a:solidFill>
            <a:srgbClr val="F2DED3"/>
          </a:solidFill>
          <a:ln w="12700">
            <a:solidFill>
              <a:srgbClr val="DED7CC"/>
            </a:solidFill>
            <a:prstDash val="solid"/>
          </a:ln>
        </p:spPr>
      </p:sp>
      <p:sp>
        <p:nvSpPr>
          <p:cNvPr id="17" name="element_3e2ca986b78bf4c2fa65bc243ef92ccf:text"/>
          <p:cNvSpPr txBox="1"/>
          <p:nvPr/>
        </p:nvSpPr>
        <p:spPr>
          <a:xfrm>
            <a:off x="853419"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Generate grounded answer</a:t>
            </a:r>
            <a:endParaRPr lang="en-US" sz="1600" dirty="0"/>
          </a:p>
        </p:txBody>
      </p:sp>
      <p:sp>
        <p:nvSpPr>
          <p:cNvPr id="18" name="element_e091db8944b9901cf18e26a94ec94d27"/>
          <p:cNvSpPr/>
          <p:nvPr/>
        </p:nvSpPr>
        <p:spPr>
          <a:xfrm>
            <a:off x="5202196" y="4577715"/>
            <a:ext cx="1868987" cy="960120"/>
          </a:xfrm>
          <a:prstGeom prst="roundRect">
            <a:avLst/>
          </a:prstGeom>
          <a:solidFill>
            <a:srgbClr val="E5E9D6"/>
          </a:solidFill>
          <a:ln w="25400">
            <a:solidFill>
              <a:srgbClr val="B44A2D"/>
            </a:solidFill>
            <a:prstDash val="solid"/>
          </a:ln>
        </p:spPr>
      </p:sp>
      <p:sp>
        <p:nvSpPr>
          <p:cNvPr id="19" name="element_e091db8944b9901cf18e26a94ec94d27:text"/>
          <p:cNvSpPr txBox="1"/>
          <p:nvPr/>
        </p:nvSpPr>
        <p:spPr>
          <a:xfrm>
            <a:off x="5202196" y="457771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Evaluate claim support</a:t>
            </a:r>
            <a:endParaRPr lang="en-US" sz="1600" dirty="0"/>
          </a:p>
        </p:txBody>
      </p:sp>
      <p:sp>
        <p:nvSpPr>
          <p:cNvPr id="20" name="element_d6ac0c348ae423543d540e1a42c3f24a"/>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1" name="element_d5ce935052ff54a4d1809d2f5e1f366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8ad4d49bf83d5a727f897eb9a7c5226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3625d2b703042fa008358624c52bca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daac0393c983dd24afd1c1d415cd014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Not every retrieved passage is actually useful</a:t>
            </a:r>
            <a:endParaRPr lang="en-US" sz="3800" dirty="0"/>
          </a:p>
        </p:txBody>
      </p:sp>
      <p:sp>
        <p:nvSpPr>
          <p:cNvPr id="5" name="element_4491f399705eaeda41766b78d55d40a9"/>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Retrieval ranks passages by estimated relevance to the query, but ranking is imperfect: some retrieved passages are highly relevant while others are marginal or off-topic. This illustrative example shows a typical relevance spread for one query — the shape, not the exact numbers, is the point.</a:t>
            </a:r>
            <a:endParaRPr lang="en-US" sz="1900" dirty="0"/>
          </a:p>
        </p:txBody>
      </p:sp>
      <p:sp>
        <p:nvSpPr>
          <p:cNvPr id="6" name="element_59fa3b11ed44440157c08779b1dec540"/>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Higher relevance score does not guarantee the passage answers the query</a:t>
            </a:r>
            <a:endParaRPr lang="en-US" sz="1700" dirty="0"/>
          </a:p>
        </p:txBody>
      </p:sp>
      <p:sp>
        <p:nvSpPr>
          <p:cNvPr id="7" name="element_7fe05fa733e8fd7ba97edb3c23fc8d11"/>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Low-relevance passages can still be passed to the generator</a:t>
            </a:r>
            <a:endParaRPr lang="en-US" sz="1700" dirty="0"/>
          </a:p>
        </p:txBody>
      </p:sp>
      <p:sp>
        <p:nvSpPr>
          <p:cNvPr id="8" name="element_9e3dc3494d4a4cc1cb65fa0b1f4be30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This is illustrative, not measured from a specific production system</a:t>
            </a:r>
            <a:endParaRPr lang="en-US" sz="1700" dirty="0"/>
          </a:p>
        </p:txBody>
      </p:sp>
      <p:graphicFrame>
        <p:nvGraphicFramePr>
          <p:cNvPr id="9" name="element_611f007311c63436f8d4130cef92d750"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6148027429c1bae629ba7aebb75f67e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017eeb659931d203cac9438ca28ed9c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5d24b0ca36063fecb56785728ca6cdad"/>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0d6b2b5ebeb1017182c1f1efd9233d61"/>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264c0317390c3c63f13b313f6d960eaf"/>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Following a single question through the pipeline</a:t>
            </a:r>
            <a:endParaRPr lang="en-US" sz="3800" dirty="0"/>
          </a:p>
        </p:txBody>
      </p:sp>
      <p:sp>
        <p:nvSpPr>
          <p:cNvPr id="5" name="element_e396932bb68644c72586b36ddd022a92"/>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Zooming into one query makes the abstract pipeline concrete: a user asks a question, the system searches the index, fetches the top passages, drafts an answer using only those passages, and checks the draft against the same passages before returning it.</a:t>
            </a:r>
            <a:endParaRPr lang="en-US" sz="1700" dirty="0"/>
          </a:p>
        </p:txBody>
      </p:sp>
      <p:sp>
        <p:nvSpPr>
          <p:cNvPr id="6" name="element_38520f527d45b91c8370ffff7f2a58fa"/>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Each step happens in milliseconds to seconds, in strict sequence</a:t>
            </a:r>
            <a:endParaRPr lang="en-US" sz="1700" dirty="0"/>
          </a:p>
        </p:txBody>
      </p:sp>
      <p:sp>
        <p:nvSpPr>
          <p:cNvPr id="7" name="element_e5cfcfb2427f934b0009e5254f8a3339"/>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The check step is what separates RAG from a plain chatbot reply</a:t>
            </a:r>
            <a:endParaRPr lang="en-US" sz="1700" dirty="0"/>
          </a:p>
        </p:txBody>
      </p:sp>
      <p:sp>
        <p:nvSpPr>
          <p:cNvPr id="8" name="element_f61e72d8aecaa6b88228b24a4a4df802"/>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If the check fails, a well-designed system flags or withholds the answer</a:t>
            </a:r>
            <a:endParaRPr lang="en-US" sz="1700" dirty="0"/>
          </a:p>
        </p:txBody>
      </p:sp>
      <p:sp>
        <p:nvSpPr>
          <p:cNvPr id="9" name="element_68bb948adb9a1ac3a0f29da03aba3b65"/>
          <p:cNvSpPr/>
          <p:nvPr/>
        </p:nvSpPr>
        <p:spPr>
          <a:xfrm>
            <a:off x="6477448" y="3775329"/>
            <a:ext cx="243834" cy="164592"/>
          </a:xfrm>
          <a:prstGeom prst="line">
            <a:avLst/>
          </a:prstGeom>
          <a:noFill/>
          <a:ln w="25400">
            <a:solidFill>
              <a:srgbClr val="7566A8"/>
            </a:solidFill>
            <a:prstDash val="solid"/>
            <a:tailEnd type="triangle"/>
          </a:ln>
        </p:spPr>
      </p:sp>
      <p:sp>
        <p:nvSpPr>
          <p:cNvPr id="10" name="element_57fde77d8a5df31621529873433652c1"/>
          <p:cNvSpPr/>
          <p:nvPr/>
        </p:nvSpPr>
        <p:spPr>
          <a:xfrm>
            <a:off x="8107477" y="3775329"/>
            <a:ext cx="243834" cy="164592"/>
          </a:xfrm>
          <a:prstGeom prst="line">
            <a:avLst/>
          </a:prstGeom>
          <a:noFill/>
          <a:ln w="25400">
            <a:solidFill>
              <a:srgbClr val="7566A8"/>
            </a:solidFill>
            <a:prstDash val="solid"/>
            <a:tailEnd type="triangle"/>
          </a:ln>
        </p:spPr>
      </p:sp>
      <p:sp>
        <p:nvSpPr>
          <p:cNvPr id="11" name="element_ad5408c235531606be4824168b424cd0"/>
          <p:cNvSpPr/>
          <p:nvPr/>
        </p:nvSpPr>
        <p:spPr>
          <a:xfrm>
            <a:off x="9738726" y="3775329"/>
            <a:ext cx="243834" cy="164592"/>
          </a:xfrm>
          <a:prstGeom prst="line">
            <a:avLst/>
          </a:prstGeom>
          <a:noFill/>
          <a:ln w="25400">
            <a:solidFill>
              <a:srgbClr val="7566A8"/>
            </a:solidFill>
            <a:prstDash val="solid"/>
            <a:tailEnd type="triangle"/>
          </a:ln>
        </p:spPr>
      </p:sp>
      <p:sp>
        <p:nvSpPr>
          <p:cNvPr id="12" name="element_2efa8225011bcdef6eac705a0b45f308"/>
          <p:cNvSpPr/>
          <p:nvPr/>
        </p:nvSpPr>
        <p:spPr>
          <a:xfrm>
            <a:off x="6356750" y="4375404"/>
            <a:ext cx="3744070" cy="164592"/>
          </a:xfrm>
          <a:prstGeom prst="line">
            <a:avLst/>
          </a:prstGeom>
          <a:noFill/>
          <a:ln w="25400">
            <a:solidFill>
              <a:srgbClr val="7566A8"/>
            </a:solidFill>
            <a:prstDash val="solid"/>
            <a:tailEnd type="triangle"/>
          </a:ln>
        </p:spPr>
      </p:sp>
      <p:sp>
        <p:nvSpPr>
          <p:cNvPr id="13" name="element_f3369839e0703e0bcef5c19b2faf044f"/>
          <p:cNvSpPr/>
          <p:nvPr/>
        </p:nvSpPr>
        <p:spPr>
          <a:xfrm>
            <a:off x="5067454" y="3339160"/>
            <a:ext cx="1432573" cy="1036930"/>
          </a:xfrm>
          <a:prstGeom prst="roundRect">
            <a:avLst/>
          </a:prstGeom>
          <a:solidFill>
            <a:srgbClr val="E5E9D6"/>
          </a:solidFill>
          <a:ln w="12700">
            <a:solidFill>
              <a:srgbClr val="DED7CC"/>
            </a:solidFill>
            <a:prstDash val="solid"/>
          </a:ln>
        </p:spPr>
      </p:sp>
      <p:sp>
        <p:nvSpPr>
          <p:cNvPr id="14" name="element_f3369839e0703e0bcef5c19b2faf044f:text"/>
          <p:cNvSpPr txBox="1"/>
          <p:nvPr/>
        </p:nvSpPr>
        <p:spPr>
          <a:xfrm>
            <a:off x="5067454"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User asks question</a:t>
            </a:r>
            <a:endParaRPr lang="en-US" sz="1600" dirty="0"/>
          </a:p>
        </p:txBody>
      </p:sp>
      <p:sp>
        <p:nvSpPr>
          <p:cNvPr id="15" name="element_b453d8381abef033c8e17cec43e662a9"/>
          <p:cNvSpPr/>
          <p:nvPr/>
        </p:nvSpPr>
        <p:spPr>
          <a:xfrm>
            <a:off x="6698703" y="3339160"/>
            <a:ext cx="1432573" cy="1036930"/>
          </a:xfrm>
          <a:prstGeom prst="roundRect">
            <a:avLst/>
          </a:prstGeom>
          <a:solidFill>
            <a:srgbClr val="F2DED3"/>
          </a:solidFill>
          <a:ln w="12700">
            <a:solidFill>
              <a:srgbClr val="DED7CC"/>
            </a:solidFill>
            <a:prstDash val="solid"/>
          </a:ln>
        </p:spPr>
      </p:sp>
      <p:sp>
        <p:nvSpPr>
          <p:cNvPr id="16" name="element_b453d8381abef033c8e17cec43e662a9:text"/>
          <p:cNvSpPr txBox="1"/>
          <p:nvPr/>
        </p:nvSpPr>
        <p:spPr>
          <a:xfrm>
            <a:off x="6698703"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Search the index</a:t>
            </a:r>
            <a:endParaRPr lang="en-US" sz="1600" dirty="0"/>
          </a:p>
        </p:txBody>
      </p:sp>
      <p:sp>
        <p:nvSpPr>
          <p:cNvPr id="17" name="element_78b181e54c3a5dccc473c7126678d4c3"/>
          <p:cNvSpPr/>
          <p:nvPr/>
        </p:nvSpPr>
        <p:spPr>
          <a:xfrm>
            <a:off x="8328732" y="3339160"/>
            <a:ext cx="1432573" cy="1036930"/>
          </a:xfrm>
          <a:prstGeom prst="roundRect">
            <a:avLst/>
          </a:prstGeom>
          <a:solidFill>
            <a:srgbClr val="F2DED3"/>
          </a:solidFill>
          <a:ln w="12700">
            <a:solidFill>
              <a:srgbClr val="DED7CC"/>
            </a:solidFill>
            <a:prstDash val="solid"/>
          </a:ln>
        </p:spPr>
      </p:sp>
      <p:sp>
        <p:nvSpPr>
          <p:cNvPr id="18" name="element_78b181e54c3a5dccc473c7126678d4c3:text"/>
          <p:cNvSpPr txBox="1"/>
          <p:nvPr/>
        </p:nvSpPr>
        <p:spPr>
          <a:xfrm>
            <a:off x="8328732"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Fetch top passages</a:t>
            </a:r>
            <a:endParaRPr lang="en-US" sz="1600" dirty="0"/>
          </a:p>
        </p:txBody>
      </p:sp>
      <p:sp>
        <p:nvSpPr>
          <p:cNvPr id="19" name="element_878154a313df3c28eb96fe43e2e05b04"/>
          <p:cNvSpPr/>
          <p:nvPr/>
        </p:nvSpPr>
        <p:spPr>
          <a:xfrm>
            <a:off x="9959981" y="3339160"/>
            <a:ext cx="1432573" cy="1036930"/>
          </a:xfrm>
          <a:prstGeom prst="roundRect">
            <a:avLst/>
          </a:prstGeom>
          <a:solidFill>
            <a:srgbClr val="F2DED3"/>
          </a:solidFill>
          <a:ln w="12700">
            <a:solidFill>
              <a:srgbClr val="DED7CC"/>
            </a:solidFill>
            <a:prstDash val="solid"/>
          </a:ln>
        </p:spPr>
      </p:sp>
      <p:sp>
        <p:nvSpPr>
          <p:cNvPr id="20" name="element_878154a313df3c28eb96fe43e2e05b04:text"/>
          <p:cNvSpPr txBox="1"/>
          <p:nvPr/>
        </p:nvSpPr>
        <p:spPr>
          <a:xfrm>
            <a:off x="9959981"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Draft grounded answer</a:t>
            </a:r>
            <a:endParaRPr lang="en-US" sz="1600" dirty="0"/>
          </a:p>
        </p:txBody>
      </p:sp>
      <p:sp>
        <p:nvSpPr>
          <p:cNvPr id="21" name="element_f923c9cdf597581d041a60f381f32fd9"/>
          <p:cNvSpPr/>
          <p:nvPr/>
        </p:nvSpPr>
        <p:spPr>
          <a:xfrm>
            <a:off x="5067454" y="4539310"/>
            <a:ext cx="1432573" cy="1036930"/>
          </a:xfrm>
          <a:prstGeom prst="roundRect">
            <a:avLst/>
          </a:prstGeom>
          <a:solidFill>
            <a:srgbClr val="E5E9D6"/>
          </a:solidFill>
          <a:ln w="25400">
            <a:solidFill>
              <a:srgbClr val="B44A2D"/>
            </a:solidFill>
            <a:prstDash val="solid"/>
          </a:ln>
        </p:spPr>
      </p:sp>
      <p:sp>
        <p:nvSpPr>
          <p:cNvPr id="22" name="element_f923c9cdf597581d041a60f381f32fd9:text"/>
          <p:cNvSpPr txBox="1"/>
          <p:nvPr/>
        </p:nvSpPr>
        <p:spPr>
          <a:xfrm>
            <a:off x="5067454"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Check claims vs. passages</a:t>
            </a:r>
            <a:endParaRPr lang="en-US" sz="1600" dirty="0"/>
          </a:p>
        </p:txBody>
      </p:sp>
      <p:sp>
        <p:nvSpPr>
          <p:cNvPr id="23" name="element_5cb4738c6708eb68c8d771a8015a24f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3ce16c66c263d7cf14c5e9c32a9ecbf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5d0e82fd1e307dfbcf652d48b0b0654b"/>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056facf60f630962466e0872d5fd68f"/>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731bb843410ea2faf76afb52279df6b5"/>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Turning 'grounded' into a number you can track</a:t>
            </a:r>
            <a:endParaRPr lang="en-US" sz="3800" dirty="0"/>
          </a:p>
        </p:txBody>
      </p:sp>
      <p:sp>
        <p:nvSpPr>
          <p:cNvPr id="5" name="element_ea7352e61c6940b4ef0242fe4cd17d4e"/>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claim is 'supported' when it can be traced back to a specific passage the system actually retrieved. The support rate gives product teams a single, trackable metric for how often the generator's claims are backed by real evidence rather than invented from memory.</a:t>
            </a:r>
            <a:endParaRPr lang="en-US" sz="1900" dirty="0"/>
          </a:p>
        </p:txBody>
      </p:sp>
      <p:sp>
        <p:nvSpPr>
          <p:cNvPr id="6" name="element_49b12135aa34a4e937a7eca8fa1aceca"/>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Support rate is a proxy for trustworthiness, not a guarantee of truth</a:t>
            </a:r>
            <a:endParaRPr lang="en-US" sz="1700" dirty="0"/>
          </a:p>
        </p:txBody>
      </p:sp>
      <p:sp>
        <p:nvSpPr>
          <p:cNvPr id="7" name="element_4d28f1e828e43ea4b71fb41d8146ec6b"/>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Track this metric per release to catch grounding regressions early</a:t>
            </a:r>
            <a:endParaRPr lang="en-US" sz="1700" dirty="0"/>
          </a:p>
        </p:txBody>
      </p:sp>
      <p:sp>
        <p:nvSpPr>
          <p:cNvPr id="8" name="element_a26d8f3ad10d5af2aff4d7c8c6eb9034"/>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Low support rate signals a retrieval or generation problem, not just a generation one</a:t>
            </a:r>
            <a:endParaRPr lang="en-US" sz="1700" dirty="0"/>
          </a:p>
        </p:txBody>
      </p:sp>
      <p:sp>
        <p:nvSpPr>
          <p:cNvPr id="9" name="element_0a37287ede19ea0d23dc22156a2ce4c1"/>
          <p:cNvSpPr txBox="1"/>
          <p:nvPr/>
        </p:nvSpPr>
        <p:spPr>
          <a:xfrm>
            <a:off x="975336"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Support Rate (%) = (Supported Claims ÷ Total Claims) × 100</a:t>
            </a:r>
            <a:endParaRPr lang="en-US" sz="3000" dirty="0"/>
          </a:p>
        </p:txBody>
      </p:sp>
      <p:sp>
        <p:nvSpPr>
          <p:cNvPr id="10" name="element_e1c92974e58dd49562db5f6f030a34af"/>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a8f543f82b15d19926bcfb882dfe8ba"/>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2daf15dea1740130a4ae15861b54ba1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f6591547e4ddc4b77c477d18d0337e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a201dd10ff5b3eeb8718d7986df5878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RAG reduces risk, it does not remove it — decide with that in mind</a:t>
            </a:r>
            <a:endParaRPr lang="en-US" sz="3800" dirty="0"/>
          </a:p>
        </p:txBody>
      </p:sp>
      <p:sp>
        <p:nvSpPr>
          <p:cNvPr id="5" name="element_3d96be97eaf5e06eb0d3cc8b4f487d54"/>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Retrieval does not guarantee truth: it can return irrelevant evidence, and a generator can still misread supported passages. RAG is worth its added complexity when answers must cite current, approved sources and errors are costly — and less worth it for stable, low-stakes, well-memorized facts.</a:t>
            </a:r>
            <a:endParaRPr lang="en-US" sz="1900" dirty="0"/>
          </a:p>
        </p:txBody>
      </p:sp>
      <p:sp>
        <p:nvSpPr>
          <p:cNvPr id="6" name="element_a1d8146812238285af21caae44a0804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Use RAG when: sources change often, citations are required, mistakes are costly</a:t>
            </a:r>
            <a:endParaRPr lang="en-US" sz="1600" dirty="0"/>
          </a:p>
        </p:txBody>
      </p:sp>
      <p:sp>
        <p:nvSpPr>
          <p:cNvPr id="7" name="element_4d4b56d8a9ea4c5e05e240f94603a1e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Skip or simplify RAG when: facts are stable and low-risk, latency budget is tight</a:t>
            </a:r>
            <a:endParaRPr lang="en-US" sz="1600" dirty="0"/>
          </a:p>
        </p:txBody>
      </p:sp>
      <p:sp>
        <p:nvSpPr>
          <p:cNvPr id="8" name="element_acf5e01c2a278c9dc2e289e4da0df72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Owner action: assign someone to monitor support rate at the next release checkpoint</a:t>
            </a:r>
            <a:endParaRPr lang="en-US" sz="1600" dirty="0"/>
          </a:p>
        </p:txBody>
      </p:sp>
      <p:sp>
        <p:nvSpPr>
          <p:cNvPr id="9" name="element_655022017bf70527bd8ae1bee3e5626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c92033e70f5271e2938151e755541e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educational explainer for non-specialist product…</dc:title>
  <dc:subject>Create an editable, reviewable presentation from this idea</dc:subject>
  <dc:creator>NodeSlide</dc:creator>
  <cp:lastModifiedBy>NodeSlide</cp:lastModifiedBy>
  <cp:revision>1</cp:revision>
  <dcterms:created xsi:type="dcterms:W3CDTF">2026-07-21T23:59:03Z</dcterms:created>
  <dcterms:modified xsi:type="dcterms:W3CDTF">2026-07-21T23:59:03Z</dcterms:modified>
</cp:coreProperties>
</file>