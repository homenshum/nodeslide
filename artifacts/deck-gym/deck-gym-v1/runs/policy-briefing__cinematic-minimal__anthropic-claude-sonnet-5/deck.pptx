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Signal</c:v>
                </c:pt>
              </c:strCache>
            </c:strRef>
          </c:tx>
          <c:spPr>
            <a:solidFill>
              <a:srgbClr val="B44A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S1</c:v>
                  </c:pt>
                  <c:pt idx="1">
                    <c:v>S2</c:v>
                  </c:pt>
                  <c:pt idx="2">
                    <c:v>S3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56B61"/>
                </a:solidFill>
                <a:latin typeface="JetBrains Mono Variable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DED3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Opening / 01.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[source_132907483c495d487545e9a255ee61a8]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[source_427eda4fda9a4e2d8632d5e47ebcbbd5]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Context / 02. Keep the spoken transition focused on “The cost of waiting is usually hidden in repeated work.”
Evidence note: Content is based on the supplied creation brief. Illustrative examples are not independently verified; replace them with measured evidence before external publication.
NodeSlide sources
[source_132907483c495d487545e9a255ee61a8]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[source_427eda4fda9a4e2d8632d5e47ebcbbd5]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Insight / 03. Keep the spoken transition focused on “A better outcome starts with a sharper point of view.”
Evidence note: Content is based on the supplied creation brief. Illustrative examples are not independently verified; replace them with measured evidence before external publication.
NodeSlide sources
[source_132907483c495d487545e9a255ee61a8]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[source_427eda4fda9a4e2d8632d5e47ebcbbd5]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Approach / 04. Keep the spoken transition focused on “Turn the idea into a sequence people can understand and own.”
Evidence note: Content is based on the supplied creation brief. Illustrative examples are not independently verified; replace them with measured evidence before external publication.
NodeSlide sources
[source_132907483c495d487545e9a255ee61a8]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[source_427eda4fda9a4e2d8632d5e47ebcbbd5]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Evidence / 05. Keep the spoken transition focused on “Define proof before asking for commitment.”
Evidence note: Content is based on the supplied creation brief. Illustrative examples are not independently verified; replace them with measured evidence before external publication.
NodeSlide sources
[source_132907483c495d487545e9a255ee61a8]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[source_427eda4fda9a4e2d8632d5e47ebcbbd5]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Delivery / 06. Keep the spoken transition focused on “Start narrow, learn quickly, and preserve room to adapt.”
Evidence note: Content is based on the supplied creation brief. Illustrative examples are not independently verified; replace them with measured evidence before external publication.
NodeSlide sources
[source_132907483c495d487545e9a255ee61a8]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[source_427eda4fda9a4e2d8632d5e47ebcbbd5]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Narrative role: Close / 07. Keep the spoken transition focused on “Create an editable, reviewable presentation from this idea”
Evidence note: Content is based on the supplied creation brief. Illustrative examples are not independently verified; replace them with measured evidence before external publication.
NodeSlide sources
[source_132907483c495d487545e9a255ee61a8] Create a seven-slide policy briefing for city council members choosin… — creation brief
Citation: Create a seven-slide policy briefing for city council members choosing a phased heat-resilience package. Show the evidence baseline, affected stakeholders, intervention options, implementation timeline, trade-offs, funding sequence, and recommendation. Use the supplied program facts without claiming measured health outcomes. Include an editable evidence map, stakeholder map, timeline, and trade-off comparison. Design direction: Use a cinematic minimal direction: fewer words, larger visual centers, deliberate scale changes, one memorable visual climax, and quiet transition beats. Keep all evidence honest and editable.
Disclaimer: Internal working material
[source_427eda4fda9a4e2d8632d5e47ebcbbd5] heat-options.json
Citation: Uploaded file: heat-options.json
[{"option":"cool_roofs","annual_cost_musd":6.2,"implementation_years":3,"coverage_percent":18},{"option":"tree_canopy","annual_cost_musd":4.8,"implementation_years":8,"coverage_percent":11},{"option":"resilience_centers","annual_cost_musd":3.1,"implementation_years":2,"sites":14}]
Disclaimer: User supplied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377fd1eaee9a9b34fc5d8e1efa2a7bc1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96642bb20ea293a1d82d7e0d7a5e470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OPENING / 01</a:t>
            </a:r>
            <a:endParaRPr lang="en-US" sz="1500" dirty="0"/>
          </a:p>
        </p:txBody>
      </p:sp>
      <p:sp>
        <p:nvSpPr>
          <p:cNvPr id="4" name="element_47269a6206a3e12a126c3aff74c5aa89"/>
          <p:cNvSpPr txBox="1"/>
          <p:nvPr/>
        </p:nvSpPr>
        <p:spPr>
          <a:xfrm>
            <a:off x="853419" y="1028700"/>
            <a:ext cx="9631439" cy="1851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4800" dirty="0"/>
          </a:p>
        </p:txBody>
      </p:sp>
      <p:sp>
        <p:nvSpPr>
          <p:cNvPr id="5" name="element_b54854dcecdddbf7e192ce4460e5da6d"/>
          <p:cNvSpPr txBox="1"/>
          <p:nvPr/>
        </p:nvSpPr>
        <p:spPr>
          <a:xfrm>
            <a:off x="853419" y="3291840"/>
            <a:ext cx="8046519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 focused narrative for Decision-makers described in the brief, built from the supplied brief and kept editable from first draft onward.</a:t>
            </a:r>
            <a:endParaRPr lang="en-US" sz="1900" dirty="0"/>
          </a:p>
        </p:txBody>
      </p:sp>
      <p:sp>
        <p:nvSpPr>
          <p:cNvPr id="6" name="element_140e9201d87904d96d4d703f47a1d8d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 coherent 6–8 slide narrative</a:t>
            </a:r>
            <a:endParaRPr lang="en-US" sz="1600" dirty="0"/>
          </a:p>
        </p:txBody>
      </p:sp>
      <p:sp>
        <p:nvSpPr>
          <p:cNvPr id="7" name="element_1c92d6f36ea473d38bc3310268e04fc6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Structured chart, formula, and image primitives where relevant</a:t>
            </a:r>
            <a:endParaRPr lang="en-US" sz="1600" dirty="0"/>
          </a:p>
        </p:txBody>
      </p:sp>
      <p:sp>
        <p:nvSpPr>
          <p:cNvPr id="8" name="element_b17bab4df2a678e0effabd4e65204c88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Validation passes before presentation or export</a:t>
            </a:r>
            <a:endParaRPr lang="en-US" sz="1600" dirty="0"/>
          </a:p>
        </p:txBody>
      </p:sp>
      <p:sp>
        <p:nvSpPr>
          <p:cNvPr id="9" name="element_8c592b403dba0ddcf67f0776ec26df2c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f76ef6a77876b93b92328cdd051aa931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1097ac6018fbe31e328f7d90ecfdbb70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02bae4cd1d2a1b751b972ab7ec3933d6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CONTEXT / 02</a:t>
            </a:r>
            <a:endParaRPr lang="en-US" sz="1500" dirty="0"/>
          </a:p>
        </p:txBody>
      </p:sp>
      <p:sp>
        <p:nvSpPr>
          <p:cNvPr id="4" name="element_2c7da83c93fdf29c7f250123b2cc6c26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waiting is usually hidden in repeated work.</a:t>
            </a:r>
            <a:endParaRPr lang="en-US" sz="3800" dirty="0"/>
          </a:p>
        </p:txBody>
      </p:sp>
      <p:sp>
        <p:nvSpPr>
          <p:cNvPr id="5" name="element_8528f3cb106d2972111e2b5fa24e0910"/>
          <p:cNvSpPr txBox="1"/>
          <p:nvPr/>
        </p:nvSpPr>
        <p:spPr>
          <a:xfrm>
            <a:off x="853419" y="2606040"/>
            <a:ext cx="390134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Frame the current reality for Decision-makers described in the brief: what is fragmented today, why it matters now, and where momentum is being lost.</a:t>
            </a:r>
            <a:endParaRPr lang="en-US" sz="1700" dirty="0"/>
          </a:p>
        </p:txBody>
      </p:sp>
      <p:sp>
        <p:nvSpPr>
          <p:cNvPr id="6" name="element_86cc9291a191084ecb5706a82e311478"/>
          <p:cNvSpPr txBox="1"/>
          <p:nvPr/>
        </p:nvSpPr>
        <p:spPr>
          <a:xfrm>
            <a:off x="853419" y="42519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Name the friction</a:t>
            </a:r>
            <a:endParaRPr lang="en-US" sz="1700" dirty="0"/>
          </a:p>
        </p:txBody>
      </p:sp>
      <p:sp>
        <p:nvSpPr>
          <p:cNvPr id="7" name="element_cf795c49814a9ce748ebc27777a98654"/>
          <p:cNvSpPr txBox="1"/>
          <p:nvPr/>
        </p:nvSpPr>
        <p:spPr>
          <a:xfrm>
            <a:off x="853419" y="49377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Expose the consequence</a:t>
            </a:r>
            <a:endParaRPr lang="en-US" sz="1700" dirty="0"/>
          </a:p>
        </p:txBody>
      </p:sp>
      <p:sp>
        <p:nvSpPr>
          <p:cNvPr id="8" name="element_5fa5e42d54f49d490a3b466059d772c7"/>
          <p:cNvSpPr txBox="1"/>
          <p:nvPr/>
        </p:nvSpPr>
        <p:spPr>
          <a:xfrm>
            <a:off x="853419" y="5623560"/>
            <a:ext cx="3657509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Create urgency without hype</a:t>
            </a:r>
            <a:endParaRPr lang="en-US" sz="1700" dirty="0"/>
          </a:p>
        </p:txBody>
      </p:sp>
      <p:sp>
        <p:nvSpPr>
          <p:cNvPr id="9" name="element_928be65dac995651841b75be081ac782"/>
          <p:cNvSpPr/>
          <p:nvPr/>
        </p:nvSpPr>
        <p:spPr>
          <a:xfrm>
            <a:off x="7019978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0" name="element_7007ab21b0b5f267800523c70786fb19"/>
          <p:cNvSpPr/>
          <p:nvPr/>
        </p:nvSpPr>
        <p:spPr>
          <a:xfrm>
            <a:off x="9194977" y="4375404"/>
            <a:ext cx="243834" cy="164592"/>
          </a:xfrm>
          <a:prstGeom prst="line">
            <a:avLst/>
          </a:prstGeom>
          <a:noFill/>
          <a:ln w="25400">
            <a:solidFill>
              <a:srgbClr val="7566A8"/>
            </a:solidFill>
            <a:prstDash val="solid"/>
            <a:tailEnd type="triangle"/>
          </a:ln>
        </p:spPr>
      </p:sp>
      <p:sp>
        <p:nvSpPr>
          <p:cNvPr id="11" name="element_219d42f0d011531cd283922a2797e065"/>
          <p:cNvSpPr/>
          <p:nvPr/>
        </p:nvSpPr>
        <p:spPr>
          <a:xfrm>
            <a:off x="5045753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element_219d42f0d011531cd283922a2797e065:text"/>
          <p:cNvSpPr txBox="1"/>
          <p:nvPr/>
        </p:nvSpPr>
        <p:spPr>
          <a:xfrm>
            <a:off x="5045753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Friction</a:t>
            </a:r>
            <a:endParaRPr lang="en-US" sz="1600" dirty="0"/>
          </a:p>
        </p:txBody>
      </p:sp>
      <p:sp>
        <p:nvSpPr>
          <p:cNvPr id="13" name="element_3463b4963d34b7c2d8c9e37e5396a26a"/>
          <p:cNvSpPr/>
          <p:nvPr/>
        </p:nvSpPr>
        <p:spPr>
          <a:xfrm>
            <a:off x="7219532" y="3939235"/>
            <a:ext cx="2018506" cy="1036930"/>
          </a:xfrm>
          <a:prstGeom prst="roundRect">
            <a:avLst/>
          </a:prstGeom>
          <a:solidFill>
            <a:srgbClr val="F2DED3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4" name="element_3463b4963d34b7c2d8c9e37e5396a26a:text"/>
          <p:cNvSpPr txBox="1"/>
          <p:nvPr/>
        </p:nvSpPr>
        <p:spPr>
          <a:xfrm>
            <a:off x="7219532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Consequence</a:t>
            </a:r>
            <a:endParaRPr lang="en-US" sz="1600" dirty="0"/>
          </a:p>
        </p:txBody>
      </p:sp>
      <p:sp>
        <p:nvSpPr>
          <p:cNvPr id="15" name="element_aa73a108421d2f6960732e180f55ef7e"/>
          <p:cNvSpPr/>
          <p:nvPr/>
        </p:nvSpPr>
        <p:spPr>
          <a:xfrm>
            <a:off x="9394530" y="3939235"/>
            <a:ext cx="2018506" cy="1036930"/>
          </a:xfrm>
          <a:prstGeom prst="roundRect">
            <a:avLst/>
          </a:prstGeom>
          <a:solidFill>
            <a:srgbClr val="E5E9D6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element_aa73a108421d2f6960732e180f55ef7e:text"/>
          <p:cNvSpPr txBox="1"/>
          <p:nvPr/>
        </p:nvSpPr>
        <p:spPr>
          <a:xfrm>
            <a:off x="9394530" y="3939235"/>
            <a:ext cx="2018506" cy="103693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Decision window</a:t>
            </a:r>
            <a:endParaRPr lang="en-US" sz="1600" dirty="0"/>
          </a:p>
        </p:txBody>
      </p:sp>
      <p:sp>
        <p:nvSpPr>
          <p:cNvPr id="17" name="element_2608f6aca05b7a60236569613aa875d0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8" name="element_71ae1be1a7fcbbf2a8c32ff0411e7a4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1f9ed58a897559f85272b3ca1f061e2"/>
          <p:cNvSpPr/>
          <p:nvPr/>
        </p:nvSpPr>
        <p:spPr>
          <a:xfrm>
            <a:off x="11667452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cdbaa280c5959475c0881b7bed658425"/>
          <p:cNvSpPr txBox="1"/>
          <p:nvPr/>
        </p:nvSpPr>
        <p:spPr>
          <a:xfrm>
            <a:off x="5486263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INSIGHT / 03</a:t>
            </a:r>
            <a:endParaRPr lang="en-US" sz="1500" dirty="0"/>
          </a:p>
        </p:txBody>
      </p:sp>
      <p:sp>
        <p:nvSpPr>
          <p:cNvPr id="4" name="element_da6101176f8d90d800a6c762b38a30db"/>
          <p:cNvSpPr txBox="1"/>
          <p:nvPr/>
        </p:nvSpPr>
        <p:spPr>
          <a:xfrm>
            <a:off x="2072588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outcome starts with a sharper point of view.</a:t>
            </a:r>
            <a:endParaRPr lang="en-US" sz="3800" dirty="0"/>
          </a:p>
        </p:txBody>
      </p:sp>
      <p:sp>
        <p:nvSpPr>
          <p:cNvPr id="5" name="element_7da894dbee410838295669804148a6fc"/>
          <p:cNvSpPr txBox="1"/>
          <p:nvPr/>
        </p:nvSpPr>
        <p:spPr>
          <a:xfrm>
            <a:off x="1706837" y="2743200"/>
            <a:ext cx="96314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Create a seven-slide policy briefing for city council members choosing a phased heat-resilience package. Show the evidence baseline, affected stakeholders, intervention options, implementation timeline, trade-offs, funding sequence, and recommendation. Use th…</a:t>
            </a:r>
            <a:endParaRPr lang="en-US" sz="1900" dirty="0"/>
          </a:p>
        </p:txBody>
      </p:sp>
      <p:sp>
        <p:nvSpPr>
          <p:cNvPr id="6" name="element_a27b434481c93ef91b9a359e80f4912d"/>
          <p:cNvSpPr txBox="1"/>
          <p:nvPr/>
        </p:nvSpPr>
        <p:spPr>
          <a:xfrm>
            <a:off x="8168436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24f382c4956498969aa3e46246668810"/>
          <p:cNvSpPr txBox="1"/>
          <p:nvPr/>
        </p:nvSpPr>
        <p:spPr>
          <a:xfrm>
            <a:off x="4632844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1ac172d34dd033504d0fe96d6236a606"/>
          <p:cNvSpPr txBox="1"/>
          <p:nvPr/>
        </p:nvSpPr>
        <p:spPr>
          <a:xfrm>
            <a:off x="1097253" y="4251960"/>
            <a:ext cx="316984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8ffb658bffd9010da3531b9e33e3e0fd"/>
          <p:cNvSpPr txBox="1"/>
          <p:nvPr/>
        </p:nvSpPr>
        <p:spPr>
          <a:xfrm>
            <a:off x="2560256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488a108e1d9dd7ed4d3a39c7ac4e4b7e"/>
          <p:cNvSpPr txBox="1"/>
          <p:nvPr/>
        </p:nvSpPr>
        <p:spPr>
          <a:xfrm>
            <a:off x="73150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3eef5e60498c2cf4e58aed12663867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e13224266bb3be2790d3730195892472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APPROACH / 04</a:t>
            </a:r>
            <a:endParaRPr lang="en-US" sz="1500" dirty="0"/>
          </a:p>
        </p:txBody>
      </p:sp>
      <p:sp>
        <p:nvSpPr>
          <p:cNvPr id="4" name="element_8d9823c8d0529528338b93d561ab8a7b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the idea into a sequence people can understand and own.</a:t>
            </a:r>
            <a:endParaRPr lang="en-US" sz="3800" dirty="0"/>
          </a:p>
        </p:txBody>
      </p:sp>
      <p:sp>
        <p:nvSpPr>
          <p:cNvPr id="5" name="element_ed48b8d9630e94211123e82bd304c372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Connect intent, action, and feedback in one visible operating path so the audience can see both the destination and the mechanics.</a:t>
            </a:r>
            <a:endParaRPr lang="en-US" sz="1900" dirty="0"/>
          </a:p>
        </p:txBody>
      </p:sp>
      <p:sp>
        <p:nvSpPr>
          <p:cNvPr id="6" name="element_3308810bc50c479753aa08ff0735b26b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Align on intent</a:t>
            </a:r>
            <a:endParaRPr lang="en-US" sz="1700" dirty="0"/>
          </a:p>
        </p:txBody>
      </p:sp>
      <p:sp>
        <p:nvSpPr>
          <p:cNvPr id="7" name="element_a62fb6d36521f0a6c80c1b84ddcf221f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Execute the critical moves</a:t>
            </a:r>
            <a:endParaRPr lang="en-US" sz="1700" dirty="0"/>
          </a:p>
        </p:txBody>
      </p:sp>
      <p:sp>
        <p:nvSpPr>
          <p:cNvPr id="8" name="element_2a7bd71d95c913de514c6937a4384bc4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Review measurable outcomes</a:t>
            </a:r>
            <a:endParaRPr lang="en-US" sz="1700" dirty="0"/>
          </a:p>
        </p:txBody>
      </p:sp>
      <p:sp>
        <p:nvSpPr>
          <p:cNvPr id="9" name="element_445af0eab012426da566a7a31b1bff89"/>
          <p:cNvSpPr txBox="1"/>
          <p:nvPr/>
        </p:nvSpPr>
        <p:spPr>
          <a:xfrm>
            <a:off x="6461598" y="2880360"/>
            <a:ext cx="4754761" cy="1645920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accepted change = proposal ∩ authorized scope</a:t>
            </a:r>
            <a:endParaRPr lang="en-US" sz="3000" dirty="0"/>
          </a:p>
        </p:txBody>
      </p:sp>
      <p:sp>
        <p:nvSpPr>
          <p:cNvPr id="10" name="element_8ea24d60d9804d6b1650ca907532bbc3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1" name="element_80513200cd955e7d4b5af775004dddce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8765f87a138d99cfaa9e3a2e738dded1"/>
          <p:cNvSpPr/>
          <p:nvPr/>
        </p:nvSpPr>
        <p:spPr>
          <a:xfrm>
            <a:off x="853419" y="377190"/>
            <a:ext cx="10484858" cy="6858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99af0d51b13f6e95ae02eb9fac3099a"/>
          <p:cNvSpPr txBox="1"/>
          <p:nvPr/>
        </p:nvSpPr>
        <p:spPr>
          <a:xfrm>
            <a:off x="1706837" y="514350"/>
            <a:ext cx="877802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EVIDENCE / 05</a:t>
            </a:r>
            <a:endParaRPr lang="en-US" sz="1500" dirty="0"/>
          </a:p>
        </p:txBody>
      </p:sp>
      <p:sp>
        <p:nvSpPr>
          <p:cNvPr id="4" name="element_f960fa405c7a220c9043fea3e756f48b"/>
          <p:cNvSpPr txBox="1"/>
          <p:nvPr/>
        </p:nvSpPr>
        <p:spPr>
          <a:xfrm>
            <a:off x="1706837" y="1028700"/>
            <a:ext cx="8778021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proof before asking for commitment.</a:t>
            </a:r>
            <a:endParaRPr lang="en-US" sz="3800" dirty="0"/>
          </a:p>
        </p:txBody>
      </p:sp>
      <p:sp>
        <p:nvSpPr>
          <p:cNvPr id="5" name="element_3d8732931bb85c3df01f2af0307e35f2"/>
          <p:cNvSpPr txBox="1"/>
          <p:nvPr/>
        </p:nvSpPr>
        <p:spPr>
          <a:xfrm>
            <a:off x="853419" y="2743200"/>
            <a:ext cx="475476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Use the brief’s success criteria as explicit evaluation signals, with assumptions clearly separated from measured evidence.</a:t>
            </a:r>
            <a:endParaRPr lang="en-US" sz="1900" dirty="0"/>
          </a:p>
        </p:txBody>
      </p:sp>
      <p:sp>
        <p:nvSpPr>
          <p:cNvPr id="6" name="element_ecbab65bb76be968546c275faff050a9"/>
          <p:cNvSpPr txBox="1"/>
          <p:nvPr/>
        </p:nvSpPr>
        <p:spPr>
          <a:xfrm>
            <a:off x="853419" y="42519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A coherent 6–8 slide narrative</a:t>
            </a:r>
            <a:endParaRPr lang="en-US" sz="1700" dirty="0"/>
          </a:p>
        </p:txBody>
      </p:sp>
      <p:sp>
        <p:nvSpPr>
          <p:cNvPr id="7" name="element_95f664540c9884df17ff46581adb58b1"/>
          <p:cNvSpPr txBox="1"/>
          <p:nvPr/>
        </p:nvSpPr>
        <p:spPr>
          <a:xfrm>
            <a:off x="853419" y="49377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Structured chart, formula, and image primitives where relevant</a:t>
            </a:r>
            <a:endParaRPr lang="en-US" sz="1700" dirty="0"/>
          </a:p>
        </p:txBody>
      </p:sp>
      <p:sp>
        <p:nvSpPr>
          <p:cNvPr id="8" name="element_f2c02f5d2ffbb1dcd483e1b2a35d37f2"/>
          <p:cNvSpPr txBox="1"/>
          <p:nvPr/>
        </p:nvSpPr>
        <p:spPr>
          <a:xfrm>
            <a:off x="853419" y="5623560"/>
            <a:ext cx="4754761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Validation passes before presentation or export</a:t>
            </a:r>
            <a:endParaRPr lang="en-US" sz="1700" dirty="0"/>
          </a:p>
        </p:txBody>
      </p:sp>
      <p:sp>
        <p:nvSpPr>
          <p:cNvPr id="9" name="element_d9571eeb2cdc7b71afe25d382dfbc313"/>
          <p:cNvSpPr txBox="1"/>
          <p:nvPr/>
        </p:nvSpPr>
        <p:spPr>
          <a:xfrm>
            <a:off x="6661542" y="2770632"/>
            <a:ext cx="4476790" cy="1110996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300" b="1" dirty="0">
                <a:solidFill>
                  <a:srgbClr val="34452C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3 signals</a:t>
            </a:r>
            <a:endParaRPr lang="en-US" sz="4300" dirty="0"/>
          </a:p>
        </p:txBody>
      </p:sp>
      <p:sp>
        <p:nvSpPr>
          <p:cNvPr id="10" name="element_daec060a83fbcea9e7d21e8e76051231"/>
          <p:cNvSpPr txBox="1"/>
          <p:nvPr/>
        </p:nvSpPr>
        <p:spPr>
          <a:xfrm>
            <a:off x="7193100" y="3977640"/>
            <a:ext cx="3535592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agreed measures of a successful outcome</a:t>
            </a:r>
            <a:endParaRPr lang="en-US" sz="1500" dirty="0"/>
          </a:p>
        </p:txBody>
      </p:sp>
      <p:graphicFrame>
        <p:nvGraphicFramePr>
          <p:cNvPr id="11" name="element_622d5dafa7168e21f7a2a5d18b37122f" descr=""/>
          <p:cNvGraphicFramePr/>
          <p:nvPr/>
        </p:nvGraphicFramePr>
        <p:xfrm>
          <a:off x="6271408" y="4753966"/>
          <a:ext cx="5135142" cy="125912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element_c882e30ef6aa5a72f71396c8d61cdaa2"/>
          <p:cNvSpPr txBox="1"/>
          <p:nvPr/>
        </p:nvSpPr>
        <p:spPr>
          <a:xfrm>
            <a:off x="2682173" y="6377940"/>
            <a:ext cx="6827349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82228c9fd7a1c3ed42ed51163c544374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f307f22c1c4674de7aeff1afd30f8380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5adc639da42cd2101a120fc332e245cc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DELIVERY / 06</a:t>
            </a:r>
            <a:endParaRPr lang="en-US" sz="1500" dirty="0"/>
          </a:p>
        </p:txBody>
      </p:sp>
      <p:sp>
        <p:nvSpPr>
          <p:cNvPr id="4" name="element_0c4714e997317e1b88646a2b425d43a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narrow, learn quickly, and preserve room to adapt.</a:t>
            </a:r>
            <a:endParaRPr lang="en-US" sz="3800" dirty="0"/>
          </a:p>
        </p:txBody>
      </p:sp>
      <p:sp>
        <p:nvSpPr>
          <p:cNvPr id="5" name="element_2fa6b2cbfe8f86f30e5452511a81ae7b"/>
          <p:cNvSpPr txBox="1"/>
          <p:nvPr/>
        </p:nvSpPr>
        <p:spPr>
          <a:xfrm>
            <a:off x="6339682" y="2743200"/>
            <a:ext cx="487667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Sequence the work into a focused launch, an evidence review, and a deliberate scale decision with named ownership at every step.</a:t>
            </a:r>
            <a:endParaRPr lang="en-US" sz="1900" dirty="0"/>
          </a:p>
        </p:txBody>
      </p:sp>
      <p:sp>
        <p:nvSpPr>
          <p:cNvPr id="6" name="element_c1033368e0c50089ecc90fbe1934704e"/>
          <p:cNvSpPr txBox="1"/>
          <p:nvPr/>
        </p:nvSpPr>
        <p:spPr>
          <a:xfrm>
            <a:off x="6339682" y="42519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01  Launch the smallest credible move</a:t>
            </a:r>
            <a:endParaRPr lang="en-US" sz="1700" dirty="0"/>
          </a:p>
        </p:txBody>
      </p:sp>
      <p:sp>
        <p:nvSpPr>
          <p:cNvPr id="7" name="element_948fa0fda680e4ed59a5831a49639723"/>
          <p:cNvSpPr txBox="1"/>
          <p:nvPr/>
        </p:nvSpPr>
        <p:spPr>
          <a:xfrm>
            <a:off x="6339682" y="49377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02  Review evidence with stakeholders</a:t>
            </a:r>
            <a:endParaRPr lang="en-US" sz="1700" dirty="0"/>
          </a:p>
        </p:txBody>
      </p:sp>
      <p:sp>
        <p:nvSpPr>
          <p:cNvPr id="8" name="element_c4efd442dc67a777b543a37a63de7fd8"/>
          <p:cNvSpPr txBox="1"/>
          <p:nvPr/>
        </p:nvSpPr>
        <p:spPr>
          <a:xfrm>
            <a:off x="6339682" y="5623560"/>
            <a:ext cx="487667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03  Scale what earns confidence</a:t>
            </a:r>
            <a:endParaRPr lang="en-US" sz="1700" dirty="0"/>
          </a:p>
        </p:txBody>
      </p:sp>
      <p:sp>
        <p:nvSpPr>
          <p:cNvPr id="9" name="element_e71cf566a3bc3e1ecd1b702159e2cc32:fallback-shape"/>
          <p:cNvSpPr/>
          <p:nvPr/>
        </p:nvSpPr>
        <p:spPr>
          <a:xfrm>
            <a:off x="731502" y="2674620"/>
            <a:ext cx="4754761" cy="2606040"/>
          </a:xfrm>
          <a:prstGeom prst="roundRect">
            <a:avLst/>
          </a:prstGeom>
          <a:solidFill>
            <a:srgbClr val="F2DED3"/>
          </a:solidFill>
          <a:ln w="19050">
            <a:solidFill>
              <a:srgbClr val="DED7CC"/>
            </a:solidFill>
            <a:prstDash val="dash"/>
          </a:ln>
        </p:spPr>
      </p:sp>
      <p:sp>
        <p:nvSpPr>
          <p:cNvPr id="10" name="element_e71cf566a3bc3e1ecd1b702159e2cc32:fallback-label"/>
          <p:cNvSpPr/>
          <p:nvPr/>
        </p:nvSpPr>
        <p:spPr>
          <a:xfrm>
            <a:off x="731502" y="2674620"/>
            <a:ext cx="4754761" cy="26060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Structured evidence map derived from the supplied brief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Replace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1" name="element_66724a08b4733642acdda8ada286b3fd"/>
          <p:cNvSpPr txBox="1"/>
          <p:nvPr/>
        </p:nvSpPr>
        <p:spPr>
          <a:xfrm>
            <a:off x="975336" y="5417820"/>
            <a:ext cx="4267093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The visual is illustrative and remains replaceable as an image object.</a:t>
            </a:r>
            <a:endParaRPr lang="en-US" sz="1400" dirty="0"/>
          </a:p>
        </p:txBody>
      </p:sp>
      <p:sp>
        <p:nvSpPr>
          <p:cNvPr id="12" name="element_a272a6bd2b296bbbee80df51efd1f4a2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3" name="element_77569354d89f04b843de7fb004988519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_c80c68b8db911a8305fbdb7db91be7a7"/>
          <p:cNvSpPr/>
          <p:nvPr/>
        </p:nvSpPr>
        <p:spPr>
          <a:xfrm>
            <a:off x="426709" y="445770"/>
            <a:ext cx="121917" cy="5692140"/>
          </a:xfrm>
          <a:prstGeom prst="roundRect">
            <a:avLst/>
          </a:prstGeom>
          <a:solidFill>
            <a:srgbClr val="B44A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element_70f57a3dfab3a58ab2aec68bd9e309ce"/>
          <p:cNvSpPr txBox="1"/>
          <p:nvPr/>
        </p:nvSpPr>
        <p:spPr>
          <a:xfrm>
            <a:off x="853419" y="445770"/>
            <a:ext cx="585201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130" kern="0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CLOSE / 07</a:t>
            </a:r>
            <a:endParaRPr lang="en-US" sz="1500" dirty="0"/>
          </a:p>
        </p:txBody>
      </p:sp>
      <p:sp>
        <p:nvSpPr>
          <p:cNvPr id="4" name="element_5ab26f4c345f9722d75b55a5fde97d10"/>
          <p:cNvSpPr txBox="1"/>
          <p:nvPr/>
        </p:nvSpPr>
        <p:spPr>
          <a:xfrm>
            <a:off x="853419" y="1028700"/>
            <a:ext cx="9265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00" b="1" spc="-80" kern="0" dirty="0">
                <a:solidFill>
                  <a:srgbClr val="2622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an editable, reviewable presentation from this idea</a:t>
            </a:r>
            <a:endParaRPr lang="en-US" sz="3800" dirty="0"/>
          </a:p>
        </p:txBody>
      </p:sp>
      <p:sp>
        <p:nvSpPr>
          <p:cNvPr id="5" name="element_6025ed82c7225d489a96836c88b1fc38"/>
          <p:cNvSpPr txBox="1"/>
          <p:nvPr/>
        </p:nvSpPr>
        <p:spPr>
          <a:xfrm>
            <a:off x="853419" y="2743200"/>
            <a:ext cx="804651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756B61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Invite Decision-makers described in the brief to align on the outcome, the first action, and the evidence that will guide the next decision.</a:t>
            </a:r>
            <a:endParaRPr lang="en-US" sz="1900" dirty="0"/>
          </a:p>
        </p:txBody>
      </p:sp>
      <p:sp>
        <p:nvSpPr>
          <p:cNvPr id="6" name="element_6a942defa3dd97e67043e63eca85debd"/>
          <p:cNvSpPr txBox="1"/>
          <p:nvPr/>
        </p:nvSpPr>
        <p:spPr>
          <a:xfrm>
            <a:off x="853419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Agree the outcome</a:t>
            </a:r>
            <a:endParaRPr lang="en-US" sz="1600" dirty="0"/>
          </a:p>
        </p:txBody>
      </p:sp>
      <p:sp>
        <p:nvSpPr>
          <p:cNvPr id="7" name="element_0983fc775591c820b3a3113ba7f60d88"/>
          <p:cNvSpPr txBox="1"/>
          <p:nvPr/>
        </p:nvSpPr>
        <p:spPr>
          <a:xfrm>
            <a:off x="4267093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Name the owner</a:t>
            </a:r>
            <a:endParaRPr lang="en-US" sz="1600" dirty="0"/>
          </a:p>
        </p:txBody>
      </p:sp>
      <p:sp>
        <p:nvSpPr>
          <p:cNvPr id="8" name="element_d2f88cd880a2b3a1ff3dbf3e741e59c4"/>
          <p:cNvSpPr txBox="1"/>
          <p:nvPr/>
        </p:nvSpPr>
        <p:spPr>
          <a:xfrm>
            <a:off x="7680768" y="4937760"/>
            <a:ext cx="30479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6221D"/>
                </a:solidFill>
                <a:latin typeface="Geist Variable" pitchFamily="34" charset="0"/>
                <a:ea typeface="Geist Variable" pitchFamily="34" charset="-122"/>
                <a:cs typeface="Geist Variable" pitchFamily="34" charset="-120"/>
              </a:rPr>
              <a:t>•  Set the next checkpoint</a:t>
            </a:r>
            <a:endParaRPr lang="en-US" sz="1600" dirty="0"/>
          </a:p>
        </p:txBody>
      </p:sp>
      <p:sp>
        <p:nvSpPr>
          <p:cNvPr id="9" name="element_c01844e4fda5b6d7cd119144fed683ed"/>
          <p:cNvSpPr txBox="1"/>
          <p:nvPr/>
        </p:nvSpPr>
        <p:spPr>
          <a:xfrm>
            <a:off x="853419" y="6377940"/>
            <a:ext cx="8778021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spc="110" kern="0" dirty="0">
                <a:solidFill>
                  <a:srgbClr val="756B61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NODESLIDE  ·  SOURCE-AWARE  ·  EDITABLE</a:t>
            </a:r>
            <a:endParaRPr lang="en-US" sz="1000" dirty="0"/>
          </a:p>
        </p:txBody>
      </p:sp>
      <p:sp>
        <p:nvSpPr>
          <p:cNvPr id="10" name="element_ca51e690f5f1286d90ff9e00e54f43d7"/>
          <p:cNvSpPr txBox="1"/>
          <p:nvPr/>
        </p:nvSpPr>
        <p:spPr>
          <a:xfrm>
            <a:off x="10728692" y="6309360"/>
            <a:ext cx="7315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B44A2D"/>
                </a:solidFill>
                <a:latin typeface="JetBrains Mono Variable" pitchFamily="34" charset="0"/>
                <a:ea typeface="JetBrains Mono Variable" pitchFamily="34" charset="-122"/>
                <a:cs typeface="JetBrains Mono Variable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ist Variabl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Parity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a seven-slide policy briefing for city council members choosin…</dc:title>
  <dc:subject>Create an editable, reviewable presentation from this idea</dc:subject>
  <dc:creator>NodeSlide</dc:creator>
  <cp:lastModifiedBy>NodeSlide</cp:lastModifiedBy>
  <cp:revision>1</cp:revision>
  <dcterms:created xsi:type="dcterms:W3CDTF">2026-07-22T00:00:24Z</dcterms:created>
  <dcterms:modified xsi:type="dcterms:W3CDTF">2026-07-22T00:00:24Z</dcterms:modified>
</cp:coreProperties>
</file>