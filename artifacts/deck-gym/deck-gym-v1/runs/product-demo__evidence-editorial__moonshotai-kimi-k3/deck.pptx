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Brief Submitted</c:v>
                  </c:pt>
                  <c:pt idx="1">
                    <c:v>Structured Draft</c:v>
                  </c:pt>
                  <c:pt idx="2">
                    <c:v>Validation</c:v>
                  </c:pt>
                  <c:pt idx="3">
                    <c:v>Human Accept</c:v>
                  </c:pt>
                  <c:pt idx="4">
                    <c:v>PPTX Export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31</c:v>
                </c:pt>
                <c:pt idx="2">
                  <c:v>34</c:v>
                </c:pt>
                <c:pt idx="3">
                  <c:v>52</c:v>
                </c:pt>
                <c:pt idx="4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Orient. Keep the spoken transition focused on “AI can draft fast, but leaders need to inspect before they accept”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Build. Keep the spoken transition focused on “From brief to export in five inspectable stages”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“58 seconds end-to-end with validation at 34s”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“Validation overhead is 5.2% of total cycle time”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“Screenshot evidence slot reserved and labeled honestly”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Prove. Keep the spoken transition focused on “Structured review replaces opaque generation”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Decide. Keep the spoken transition focused on “Accept the traceable workflow or iterate on the draft”
Evidence note: Content is based on the supplied creation brief. Illustrative examples are not independently verified; replace them with measured evidence before external publication.
NodeSlide sources
[source_35e80972c043d5329b08a8b6f41233fd] Create a seven-slide product demo for product leaders evaluating revi… — creation brief
Citation: Create a seven-slide product demo for product leaders evaluating reviewable AI presentation generation. Show the initial brief, structured draft, validation, review-before-accept, trace receipt, editable export, and final decision. Use the supplied journey timestamps. Include a large screenshot or explicit screenshot placeholder with numbered callouts, a before/after comparison, an editable interaction flow, and a trace waterfall. Never claim a screenshot was captured when it was not supplied. Design direction: Use an evidence-led editorial direction: restrained surface treatment, decisive hierarchy, visible provenance, and an inspectable visual argument on every proof slide. Avoid card grids and decorative dashboards.
Disclaimer: Internal working material
[source_b078fbec7066d6b7232ce6165412f4cb] journey.csv
Citation: Uploaded file: journey.csv
stage,elapsed_seconds,status
brief_submitted,0,complete
structured_draft,31,complete
validation,34,complete
human_accept,52,complete
pptx_export,58,complete
Disclaimer: User supplied
[source_9094b410fc942f5a7c28a18947334768] evidence-note.md
Citation: Uploaded file: evidence-note.md
No browser screenshot is included in this frozen evidence pack. The deck must reserve and label the screenshot proof honestly rather than fabricating one.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d65a7a599f6c3263067370141ef8ec1d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eb62867af10d52cf3443b9c84d9e92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ORIENT</a:t>
            </a:r>
            <a:endParaRPr lang="en-US" sz="1500" dirty="0"/>
          </a:p>
        </p:txBody>
      </p:sp>
      <p:sp>
        <p:nvSpPr>
          <p:cNvPr id="4" name="element_da61bdf55a0f9da6d7e924040a19a490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can draft fast, but leaders need to inspect before they accept</a:t>
            </a:r>
            <a:endParaRPr lang="en-US" sz="4800" dirty="0"/>
          </a:p>
        </p:txBody>
      </p:sp>
      <p:sp>
        <p:nvSpPr>
          <p:cNvPr id="5" name="element_2406fee266ef9d1b42c6198dadc19d56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Product teams evaluating AI presentation tools face a core tension: generation speed means little without structured review, validation, and an audit trail. This demo walks through a complete reviewable workflow using real journey timestamps.</a:t>
            </a:r>
            <a:endParaRPr lang="en-US" sz="1900" dirty="0"/>
          </a:p>
        </p:txBody>
      </p:sp>
      <p:sp>
        <p:nvSpPr>
          <p:cNvPr id="6" name="element_e0a69c42050a9c6e4bfd5030c5ccd372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Audience: product leaders evaluating reviewable AI generation</a:t>
            </a:r>
            <a:endParaRPr lang="en-US" sz="1600" dirty="0"/>
          </a:p>
        </p:txBody>
      </p:sp>
      <p:sp>
        <p:nvSpPr>
          <p:cNvPr id="7" name="element_a342cd03f95cfef0d4dcf69a60a5b093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Central promise: every artifact is editable and traceable before acceptance</a:t>
            </a:r>
            <a:endParaRPr lang="en-US" sz="1600" dirty="0"/>
          </a:p>
        </p:txBody>
      </p:sp>
      <p:sp>
        <p:nvSpPr>
          <p:cNvPr id="8" name="element_d1296be8c741bcbe3a4d4962f0856827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Evidence base: supplied journey timestamps and honest placeholder labeling</a:t>
            </a:r>
            <a:endParaRPr lang="en-US" sz="1600" dirty="0"/>
          </a:p>
        </p:txBody>
      </p:sp>
      <p:sp>
        <p:nvSpPr>
          <p:cNvPr id="9" name="element_41e9fc7befcf4eb215666f1076ca0b3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8cd5a00281e5f36398496e45e16d3b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934e09c16e1acb50a59b52ff47b0792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a358d0f698a72c7e6147b1de1514263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BUILD</a:t>
            </a:r>
            <a:endParaRPr lang="en-US" sz="1500" dirty="0"/>
          </a:p>
        </p:txBody>
      </p:sp>
      <p:sp>
        <p:nvSpPr>
          <p:cNvPr id="4" name="element_0c389087c80aabd35617d2f9a18ea5a5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brief to export in five inspectable stages</a:t>
            </a:r>
            <a:endParaRPr lang="en-US" sz="3800" dirty="0"/>
          </a:p>
        </p:txBody>
      </p:sp>
      <p:sp>
        <p:nvSpPr>
          <p:cNvPr id="5" name="element_195c7bd237e1214d66ac61939fb8e74a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workflow enforces structure at every step. Each stage produces an artifact that can be reviewed, validated, or rejected before the next begins. The diagram below is fully editable.</a:t>
            </a:r>
            <a:endParaRPr lang="en-US" sz="1700" dirty="0"/>
          </a:p>
        </p:txBody>
      </p:sp>
      <p:sp>
        <p:nvSpPr>
          <p:cNvPr id="6" name="element_cfc15288d32c11022f6aef875ef4385e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Brief submission triggers structured draft generation</a:t>
            </a:r>
            <a:endParaRPr lang="en-US" sz="1700" dirty="0"/>
          </a:p>
        </p:txBody>
      </p:sp>
      <p:sp>
        <p:nvSpPr>
          <p:cNvPr id="7" name="element_2bcfe2a24750699fd1a50a95876e5d93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Validation runs before any human review gate</a:t>
            </a:r>
            <a:endParaRPr lang="en-US" sz="1700" dirty="0"/>
          </a:p>
        </p:txBody>
      </p:sp>
      <p:sp>
        <p:nvSpPr>
          <p:cNvPr id="8" name="element_421a178834ac2a5ea1501cf210a73a63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Export only proceeds after explicit human acceptance</a:t>
            </a:r>
            <a:endParaRPr lang="en-US" sz="1700" dirty="0"/>
          </a:p>
        </p:txBody>
      </p:sp>
      <p:sp>
        <p:nvSpPr>
          <p:cNvPr id="9" name="element_c187270652a5bf582152784dae2666fa"/>
          <p:cNvSpPr/>
          <p:nvPr/>
        </p:nvSpPr>
        <p:spPr>
          <a:xfrm>
            <a:off x="6477448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2060b5c38c97b2fa21c9ac8cf5534795"/>
          <p:cNvSpPr/>
          <p:nvPr/>
        </p:nvSpPr>
        <p:spPr>
          <a:xfrm>
            <a:off x="8107477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e8cff222ba0d48eea64c3774bac9777e"/>
          <p:cNvSpPr/>
          <p:nvPr/>
        </p:nvSpPr>
        <p:spPr>
          <a:xfrm>
            <a:off x="9738726" y="3775329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2" name="element_de136414218239e918357c3543a330fc"/>
          <p:cNvSpPr/>
          <p:nvPr/>
        </p:nvSpPr>
        <p:spPr>
          <a:xfrm>
            <a:off x="6356750" y="4375404"/>
            <a:ext cx="3744070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3" name="element_8eb7d161502b8426e895edc2c65e4da3"/>
          <p:cNvSpPr/>
          <p:nvPr/>
        </p:nvSpPr>
        <p:spPr>
          <a:xfrm>
            <a:off x="5067454" y="3339160"/>
            <a:ext cx="1432573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8eb7d161502b8426e895edc2c65e4da3:text"/>
          <p:cNvSpPr txBox="1"/>
          <p:nvPr/>
        </p:nvSpPr>
        <p:spPr>
          <a:xfrm>
            <a:off x="5067454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Brief Submitted</a:t>
            </a:r>
            <a:endParaRPr lang="en-US" sz="1600" dirty="0"/>
          </a:p>
        </p:txBody>
      </p:sp>
      <p:sp>
        <p:nvSpPr>
          <p:cNvPr id="15" name="element_48ad5297322fd67f154f6de2ee0202fe"/>
          <p:cNvSpPr/>
          <p:nvPr/>
        </p:nvSpPr>
        <p:spPr>
          <a:xfrm>
            <a:off x="6698703" y="3339160"/>
            <a:ext cx="1432573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48ad5297322fd67f154f6de2ee0202fe:text"/>
          <p:cNvSpPr txBox="1"/>
          <p:nvPr/>
        </p:nvSpPr>
        <p:spPr>
          <a:xfrm>
            <a:off x="6698703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Draft</a:t>
            </a:r>
            <a:endParaRPr lang="en-US" sz="1600" dirty="0"/>
          </a:p>
        </p:txBody>
      </p:sp>
      <p:sp>
        <p:nvSpPr>
          <p:cNvPr id="17" name="element_5abc8ddc45128f8d39b74b9125e83a5e"/>
          <p:cNvSpPr/>
          <p:nvPr/>
        </p:nvSpPr>
        <p:spPr>
          <a:xfrm>
            <a:off x="8328732" y="3339160"/>
            <a:ext cx="1432573" cy="103693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18" name="element_5abc8ddc45128f8d39b74b9125e83a5e:text"/>
          <p:cNvSpPr txBox="1"/>
          <p:nvPr/>
        </p:nvSpPr>
        <p:spPr>
          <a:xfrm>
            <a:off x="8328732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9" name="element_51c226d077ccd73f7756f6c057ac88a7"/>
          <p:cNvSpPr/>
          <p:nvPr/>
        </p:nvSpPr>
        <p:spPr>
          <a:xfrm>
            <a:off x="9959981" y="3339160"/>
            <a:ext cx="1432573" cy="1036930"/>
          </a:xfrm>
          <a:prstGeom prst="roundRect">
            <a:avLst/>
          </a:prstGeom>
          <a:solidFill>
            <a:srgbClr val="E5E9D6"/>
          </a:solidFill>
          <a:ln w="25400">
            <a:solidFill>
              <a:srgbClr val="B44A2D"/>
            </a:solidFill>
            <a:prstDash val="solid"/>
          </a:ln>
        </p:spPr>
      </p:sp>
      <p:sp>
        <p:nvSpPr>
          <p:cNvPr id="20" name="element_51c226d077ccd73f7756f6c057ac88a7:text"/>
          <p:cNvSpPr txBox="1"/>
          <p:nvPr/>
        </p:nvSpPr>
        <p:spPr>
          <a:xfrm>
            <a:off x="9959981" y="333916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21" name="element_241c9769370b978d6394a62fb0e215a4"/>
          <p:cNvSpPr/>
          <p:nvPr/>
        </p:nvSpPr>
        <p:spPr>
          <a:xfrm>
            <a:off x="5067454" y="4539310"/>
            <a:ext cx="1432573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2" name="element_241c9769370b978d6394a62fb0e215a4:text"/>
          <p:cNvSpPr txBox="1"/>
          <p:nvPr/>
        </p:nvSpPr>
        <p:spPr>
          <a:xfrm>
            <a:off x="5067454" y="4539310"/>
            <a:ext cx="1432573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PPTX Export</a:t>
            </a:r>
            <a:endParaRPr lang="en-US" sz="1600" dirty="0"/>
          </a:p>
        </p:txBody>
      </p:sp>
      <p:sp>
        <p:nvSpPr>
          <p:cNvPr id="23" name="element_06a7788d1c208317eb2d9c1498500795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4" name="element_6e2722d6e863060f11247726942772a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87f5cab132202990af7e63e7614d016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39da6e290c6df2fe9f6092ebff0faa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c09b0ebc0906304f30835fe712cefeb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 seconds end-to-end with validation at 34s</a:t>
            </a:r>
            <a:endParaRPr lang="en-US" sz="3800" dirty="0"/>
          </a:p>
        </p:txBody>
      </p:sp>
      <p:sp>
        <p:nvSpPr>
          <p:cNvPr id="5" name="element_d4aec39b59b1b1f8bf18545c2e8c4a22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Timestamps from the supplied journey data show elapsed time at each stage. Validation completes 3 seconds after draft generation. Human review adds 18 seconds. Export follows 6 seconds after acceptance.</a:t>
            </a:r>
            <a:endParaRPr lang="en-US" sz="1900" dirty="0"/>
          </a:p>
        </p:txBody>
      </p:sp>
      <p:sp>
        <p:nvSpPr>
          <p:cNvPr id="6" name="element_a4890b20871aef6f40adb82e3bf056ae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Draft generation: 31 seconds from brief submission</a:t>
            </a:r>
            <a:endParaRPr lang="en-US" sz="1700" dirty="0"/>
          </a:p>
        </p:txBody>
      </p:sp>
      <p:sp>
        <p:nvSpPr>
          <p:cNvPr id="7" name="element_ed6373d56eaf22d2be432e020dc5dcb3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Validation: 3 seconds after draft completes</a:t>
            </a:r>
            <a:endParaRPr lang="en-US" sz="1700" dirty="0"/>
          </a:p>
        </p:txBody>
      </p:sp>
      <p:sp>
        <p:nvSpPr>
          <p:cNvPr id="8" name="element_ed8324a33b15ab9419422eaed22ff8f7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Human review to export: 24 seconds total</a:t>
            </a:r>
            <a:endParaRPr lang="en-US" sz="1700" dirty="0"/>
          </a:p>
        </p:txBody>
      </p:sp>
      <p:sp>
        <p:nvSpPr>
          <p:cNvPr id="9" name="element_8bc358f7c2fe72c65b67fc60d7bfa559"/>
          <p:cNvSpPr txBox="1"/>
          <p:nvPr/>
        </p:nvSpPr>
        <p:spPr>
          <a:xfrm>
            <a:off x="1219170" y="2811780"/>
            <a:ext cx="4145176" cy="10287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58s</a:t>
            </a:r>
            <a:endParaRPr lang="en-US" sz="4300" dirty="0"/>
          </a:p>
        </p:txBody>
      </p:sp>
      <p:sp>
        <p:nvSpPr>
          <p:cNvPr id="10" name="element_a824e4442f27c4c968770715caa5c1be"/>
          <p:cNvSpPr txBox="1"/>
          <p:nvPr/>
        </p:nvSpPr>
        <p:spPr>
          <a:xfrm>
            <a:off x="1463003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Total elapsed time</a:t>
            </a:r>
            <a:endParaRPr lang="en-US" sz="1500" dirty="0"/>
          </a:p>
        </p:txBody>
      </p:sp>
      <p:graphicFrame>
        <p:nvGraphicFramePr>
          <p:cNvPr id="11" name="element_e55ca6921ddd49776ad1ffcb94b57116" descr=""/>
          <p:cNvGraphicFramePr/>
          <p:nvPr/>
        </p:nvGraphicFramePr>
        <p:xfrm>
          <a:off x="975336" y="4800600"/>
          <a:ext cx="4754761" cy="11658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828161cc77fbcc4a63f9332cb8fb036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464d23ae08b9a356db13d50ad99ed478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2de30a905ee9f926d209bfc5cd37018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f39e11b22f3a981e6f1d5a5deae15b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d9384d0134ce0acf6eb2c142ff2e34ee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overhead is 5.2% of total cycle time</a:t>
            </a:r>
            <a:endParaRPr lang="en-US" sz="3800" dirty="0"/>
          </a:p>
        </p:txBody>
      </p:sp>
      <p:sp>
        <p:nvSpPr>
          <p:cNvPr id="5" name="element_936b0b7ccef1317bf563beac1ab78c66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validation stage adds minimal latency while ensuring structural integrity. The formula below computes validation overhead as a percentage of total elapsed time using supplied timestamps.</a:t>
            </a:r>
            <a:endParaRPr lang="en-US" sz="1900" dirty="0"/>
          </a:p>
        </p:txBody>
      </p:sp>
      <p:sp>
        <p:nvSpPr>
          <p:cNvPr id="6" name="element_b0ed6c647c7925328303073b254f9e3e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Validation duration: 3 seconds (34s minus 31s)</a:t>
            </a:r>
            <a:endParaRPr lang="en-US" sz="1700" dirty="0"/>
          </a:p>
        </p:txBody>
      </p:sp>
      <p:sp>
        <p:nvSpPr>
          <p:cNvPr id="7" name="element_7c64e921eb864692fbd67ce7e0e8a29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Total cycle: 58 seconds</a:t>
            </a:r>
            <a:endParaRPr lang="en-US" sz="1700" dirty="0"/>
          </a:p>
        </p:txBody>
      </p:sp>
      <p:sp>
        <p:nvSpPr>
          <p:cNvPr id="8" name="element_350d5ca9db9abee268f767ae67e9e65c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Overhead ratio confirms validation is not a bottleneck</a:t>
            </a:r>
            <a:endParaRPr lang="en-US" sz="1700" dirty="0"/>
          </a:p>
        </p:txBody>
      </p:sp>
      <p:sp>
        <p:nvSpPr>
          <p:cNvPr id="9" name="element_45e1f8544db827ed9022bab85dc629ab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Overhead % = (34 − 31) / 58 × 100 = 5.2%</a:t>
            </a:r>
            <a:endParaRPr lang="en-US" sz="3000" dirty="0"/>
          </a:p>
        </p:txBody>
      </p:sp>
      <p:sp>
        <p:nvSpPr>
          <p:cNvPr id="10" name="element_0a2f486d29ec6cce8519f0262313996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dbf5623c2e1149219626eaa34d33e2a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0c7e3429ac18d3f6cfa742464e8e37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82ac46fee13021267299c3bab6a58d1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0bfa3ef93ed0951a30d4447b67dd7d56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 evidence slot reserved and labeled honestly</a:t>
            </a:r>
            <a:endParaRPr lang="en-US" sz="3800" dirty="0"/>
          </a:p>
        </p:txBody>
      </p:sp>
      <p:sp>
        <p:nvSpPr>
          <p:cNvPr id="5" name="element_990a8f0416586fe88d8a3a0739b3f4b9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 browser screenshot was captured in the frozen evidence pack. This slide reserves a clearly labeled placeholder for visual proof. Replace this slot with a captured screenshot showing the review interface before presenting to stakeholders.</a:t>
            </a:r>
            <a:endParaRPr lang="en-US" sz="1900" dirty="0"/>
          </a:p>
        </p:txBody>
      </p:sp>
      <p:sp>
        <p:nvSpPr>
          <p:cNvPr id="6" name="element_c98249b61514c9bf05d6afa5e287126d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Status: placeholder, not captured evidence</a:t>
            </a:r>
            <a:endParaRPr lang="en-US" sz="1700" dirty="0"/>
          </a:p>
        </p:txBody>
      </p:sp>
      <p:sp>
        <p:nvSpPr>
          <p:cNvPr id="7" name="element_6e2f4a6d603e2b22095808ff5c52807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Intended content: review-before-accept interface with numbered callouts</a:t>
            </a:r>
            <a:endParaRPr lang="en-US" sz="1700" dirty="0"/>
          </a:p>
        </p:txBody>
      </p:sp>
      <p:sp>
        <p:nvSpPr>
          <p:cNvPr id="8" name="element_68d24499f5ac9096db2bb89136c18b5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Action required: capture and replace before external presentation</a:t>
            </a:r>
            <a:endParaRPr lang="en-US" sz="1700" dirty="0"/>
          </a:p>
        </p:txBody>
      </p:sp>
      <p:sp>
        <p:nvSpPr>
          <p:cNvPr id="9" name="element_f1ce4403754fbec5f20a2107d97726bd:fallback-shape"/>
          <p:cNvSpPr/>
          <p:nvPr/>
        </p:nvSpPr>
        <p:spPr>
          <a:xfrm>
            <a:off x="6461598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f1ce4403754fbec5f20a2107d97726bd:fallback-label"/>
          <p:cNvSpPr/>
          <p:nvPr/>
        </p:nvSpPr>
        <p:spPr>
          <a:xfrm>
            <a:off x="6461598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for review interface screenshot with numbered callouts showing validation status, edit controls, and accept button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Placeholder — no screenshot supplied in evidence pack</a:t>
            </a:r>
            <a:endParaRPr lang="en-US" sz="1400" dirty="0"/>
          </a:p>
        </p:txBody>
      </p:sp>
      <p:sp>
        <p:nvSpPr>
          <p:cNvPr id="11" name="element_e4dcedee581bd13bd04f51f4e28c9f6a"/>
          <p:cNvSpPr txBox="1"/>
          <p:nvPr/>
        </p:nvSpPr>
        <p:spPr>
          <a:xfrm>
            <a:off x="6705432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with captured screenshot of the review interface showing trace receipt and edit controls</a:t>
            </a:r>
            <a:endParaRPr lang="en-US" sz="1400" dirty="0"/>
          </a:p>
        </p:txBody>
      </p:sp>
      <p:sp>
        <p:nvSpPr>
          <p:cNvPr id="12" name="element_58e39ea863ce8e5a8d07385f7b082e7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03788009cc314be5cbe77360577be0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47b0c1d26440df82f04bc45f17e4229d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b415529dd9554dea9087dfab4d41be4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PROVE</a:t>
            </a:r>
            <a:endParaRPr lang="en-US" sz="1500" dirty="0"/>
          </a:p>
        </p:txBody>
      </p:sp>
      <p:sp>
        <p:nvSpPr>
          <p:cNvPr id="4" name="element_e3061eeaa036054eecc49c77365c3b6a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review replaces opaque generation</a:t>
            </a:r>
            <a:endParaRPr lang="en-US" sz="3800" dirty="0"/>
          </a:p>
        </p:txBody>
      </p:sp>
      <p:sp>
        <p:nvSpPr>
          <p:cNvPr id="5" name="element_9fe4cab59468cd005da38e6157b4e98f"/>
          <p:cNvSpPr txBox="1"/>
          <p:nvPr/>
        </p:nvSpPr>
        <p:spPr>
          <a:xfrm>
            <a:off x="6583515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Traditional AI generation produces output with no inspection layer. The reviewable workflow inserts validation, human gates, and trace receipts between draft and export, making every decision auditable.</a:t>
            </a:r>
            <a:endParaRPr lang="en-US" sz="1900" dirty="0"/>
          </a:p>
        </p:txBody>
      </p:sp>
      <p:sp>
        <p:nvSpPr>
          <p:cNvPr id="6" name="element_897867772dca17b972b8d99777cdf863"/>
          <p:cNvSpPr txBox="1"/>
          <p:nvPr/>
        </p:nvSpPr>
        <p:spPr>
          <a:xfrm>
            <a:off x="6583515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Before: prompt to output with no intermediate artifacts or validation</a:t>
            </a:r>
            <a:endParaRPr lang="en-US" sz="1700" dirty="0"/>
          </a:p>
        </p:txBody>
      </p:sp>
      <p:sp>
        <p:nvSpPr>
          <p:cNvPr id="7" name="element_217f32359ac30f0b2ba11e633ab83585"/>
          <p:cNvSpPr txBox="1"/>
          <p:nvPr/>
        </p:nvSpPr>
        <p:spPr>
          <a:xfrm>
            <a:off x="6583515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After: five staged artifacts with timestamps, validation, and human acceptance</a:t>
            </a:r>
            <a:endParaRPr lang="en-US" sz="1700" dirty="0"/>
          </a:p>
        </p:txBody>
      </p:sp>
      <p:sp>
        <p:nvSpPr>
          <p:cNvPr id="8" name="element_c455def95ec687ae209288181c47fd0f"/>
          <p:cNvSpPr txBox="1"/>
          <p:nvPr/>
        </p:nvSpPr>
        <p:spPr>
          <a:xfrm>
            <a:off x="6583515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Key difference: every stage is editable and reversible before export</a:t>
            </a:r>
            <a:endParaRPr lang="en-US" sz="1700" dirty="0"/>
          </a:p>
        </p:txBody>
      </p:sp>
      <p:sp>
        <p:nvSpPr>
          <p:cNvPr id="9" name="element_025664bb313ecfb7dced018d06bd6766"/>
          <p:cNvSpPr txBox="1"/>
          <p:nvPr/>
        </p:nvSpPr>
        <p:spPr>
          <a:xfrm>
            <a:off x="1219170" y="2811780"/>
            <a:ext cx="4145176" cy="137160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</a:t>
            </a:r>
            <a:endParaRPr lang="en-US" sz="5600" dirty="0"/>
          </a:p>
        </p:txBody>
      </p:sp>
      <p:sp>
        <p:nvSpPr>
          <p:cNvPr id="10" name="element_0b9661fb4a18926cf91dab554d0d1251"/>
          <p:cNvSpPr txBox="1"/>
          <p:nvPr/>
        </p:nvSpPr>
        <p:spPr>
          <a:xfrm>
            <a:off x="1463003" y="43205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Inspectable stages vs. 0 in opaque generation</a:t>
            </a:r>
            <a:endParaRPr lang="en-US" sz="1500" dirty="0"/>
          </a:p>
        </p:txBody>
      </p:sp>
      <p:sp>
        <p:nvSpPr>
          <p:cNvPr id="11" name="element_111e60c1622ad21181f2ba090a7a61fe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c8f933d9c24825528599e1c626ba2f8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a8ef653bd020cec91f2e0695d044057b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f3d4f73042d264f51c04a2bc2133a86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DECIDE</a:t>
            </a:r>
            <a:endParaRPr lang="en-US" sz="1500" dirty="0"/>
          </a:p>
        </p:txBody>
      </p:sp>
      <p:sp>
        <p:nvSpPr>
          <p:cNvPr id="4" name="element_16a1dc970f2358d5727e7622d634c8f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 the traceable workflow or iterate on the draft</a:t>
            </a:r>
            <a:endParaRPr lang="en-US" sz="3800" dirty="0"/>
          </a:p>
        </p:txBody>
      </p:sp>
      <p:sp>
        <p:nvSpPr>
          <p:cNvPr id="5" name="element_76bfa470da70496252e5cb2c83f7bd57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Product leaders now have a complete view of the reviewable generation workflow. The evidence shows 58-second cycles with full traceability and honest placeholder labeling. The decision: adopt this pattern for evaluation or request iteration on specific stages.</a:t>
            </a:r>
            <a:endParaRPr lang="en-US" sz="1900" dirty="0"/>
          </a:p>
        </p:txBody>
      </p:sp>
      <p:sp>
        <p:nvSpPr>
          <p:cNvPr id="6" name="element_169fe7a3a70b201bbe2e427d47075c38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Evidence reviewed: timestamps, validation formula, flow diagram, placeholder status</a:t>
            </a:r>
            <a:endParaRPr lang="en-US" sz="1600" dirty="0"/>
          </a:p>
        </p:txBody>
      </p:sp>
      <p:sp>
        <p:nvSpPr>
          <p:cNvPr id="7" name="element_53bf3000386af7c2f43a81bb64b1e5e7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Next checkpoint: capture screenshot proof and re-run validation</a:t>
            </a:r>
            <a:endParaRPr lang="en-US" sz="1600" dirty="0"/>
          </a:p>
        </p:txBody>
      </p:sp>
      <p:sp>
        <p:nvSpPr>
          <p:cNvPr id="8" name="element_cd2ffc10342d51446e1d41355d0b0646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Owner: product leader evaluating reviewable AI generation tools</a:t>
            </a:r>
            <a:endParaRPr lang="en-US" sz="1600" dirty="0"/>
          </a:p>
        </p:txBody>
      </p:sp>
      <p:sp>
        <p:nvSpPr>
          <p:cNvPr id="9" name="element_595ea203abc99377fd201daaa5fe4f7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3da5a8dcf86a3e4a70cfaa4762507be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product demo for product leaders evaluating revi…</dc:title>
  <dc:subject>Create an editable, reviewable presentation from this idea</dc:subject>
  <dc:creator>NodeSlide</dc:creator>
  <cp:lastModifiedBy>NodeSlide</cp:lastModifiedBy>
  <cp:revision>1</cp:revision>
  <dcterms:created xsi:type="dcterms:W3CDTF">2026-07-21T23:53:42Z</dcterms:created>
  <dcterms:modified xsi:type="dcterms:W3CDTF">2026-07-21T23:53:42Z</dcterms:modified>
</cp:coreProperties>
</file>