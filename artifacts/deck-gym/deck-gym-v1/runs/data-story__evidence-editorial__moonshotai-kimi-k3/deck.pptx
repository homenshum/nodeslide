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[source_d2bc7339cc1e3ba083a810ade069d0f8]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an evidence-led editorial direction: restrained surface treatment, decisive hierarchy, visible provenance, and an inspectable visual argument on every proof slide. Avoid card grids and decorative dashboards.
Disclaimer: Internal working material
[source_954964e7ceec96b72818a9f437e6a0b7]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[source_d2bc7339cc1e3ba083a810ade069d0f8]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an evidence-led editorial direction: restrained surface treatment, decisive hierarchy, visible provenance, and an inspectable visual argument on every proof slide. Avoid card grids and decorative dashboards.
Disclaimer: Internal working material
[source_954964e7ceec96b72818a9f437e6a0b7]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[source_d2bc7339cc1e3ba083a810ade069d0f8]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an evidence-led editorial direction: restrained surface treatment, decisive hierarchy, visible provenance, and an inspectable visual argument on every proof slide. Avoid card grids and decorative dashboards.
Disclaimer: Internal working material
[source_954964e7ceec96b72818a9f437e6a0b7]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[source_d2bc7339cc1e3ba083a810ade069d0f8]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an evidence-led editorial direction: restrained surface treatment, decisive hierarchy, visible provenance, and an inspectable visual argument on every proof slide. Avoid card grids and decorative dashboards.
Disclaimer: Internal working material
[source_954964e7ceec96b72818a9f437e6a0b7]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[source_d2bc7339cc1e3ba083a810ade069d0f8]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an evidence-led editorial direction: restrained surface treatment, decisive hierarchy, visible provenance, and an inspectable visual argument on every proof slide. Avoid card grids and decorative dashboards.
Disclaimer: Internal working material
[source_954964e7ceec96b72818a9f437e6a0b7]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[source_d2bc7339cc1e3ba083a810ade069d0f8]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an evidence-led editorial direction: restrained surface treatment, decisive hierarchy, visible provenance, and an inspectable visual argument on every proof slide. Avoid card grids and decorative dashboards.
Disclaimer: Internal working material
[source_954964e7ceec96b72818a9f437e6a0b7]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[source_d2bc7339cc1e3ba083a810ade069d0f8]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an evidence-led editorial direction: restrained surface treatment, decisive hierarchy, visible provenance, and an inspectable visual argument on every proof slide. Avoid card grids and decorative dashboards.
Disclaimer: Internal working material
[source_954964e7ceec96b72818a9f437e6a0b7]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d0a8c703180d476ecb5e35bcf7efda10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8c17101a0b4a7bab109f102701ef35ab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4" name="element_b09a6051d3e08eaa6364759797e17044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4800" dirty="0"/>
          </a:p>
        </p:txBody>
      </p:sp>
      <p:sp>
        <p:nvSpPr>
          <p:cNvPr id="5" name="element_48ac12c2b7a5fedbdac5395a6e670c1f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Decision-makers described in the brief, built from the supplied brief and kept editable from first draft onward.</a:t>
            </a:r>
            <a:endParaRPr lang="en-US" sz="1900" dirty="0"/>
          </a:p>
        </p:txBody>
      </p:sp>
      <p:sp>
        <p:nvSpPr>
          <p:cNvPr id="6" name="element_33fcdea47c53c61e611536b886185705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 coherent 6–8 slide narrative</a:t>
            </a:r>
            <a:endParaRPr lang="en-US" sz="1600" dirty="0"/>
          </a:p>
        </p:txBody>
      </p:sp>
      <p:sp>
        <p:nvSpPr>
          <p:cNvPr id="7" name="element_89adb96d8938a041aaeced4667045529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Structured chart, formula, and image primitives where relevant</a:t>
            </a:r>
            <a:endParaRPr lang="en-US" sz="1600" dirty="0"/>
          </a:p>
        </p:txBody>
      </p:sp>
      <p:sp>
        <p:nvSpPr>
          <p:cNvPr id="8" name="element_babb53d6cd5eb12b3eaa594a9114528e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Validation passes before presentation or export</a:t>
            </a:r>
            <a:endParaRPr lang="en-US" sz="1600" dirty="0"/>
          </a:p>
        </p:txBody>
      </p:sp>
      <p:sp>
        <p:nvSpPr>
          <p:cNvPr id="9" name="element_be87cc0078ff43b9ba24a495475e15c8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b9efdb16f01d05ddf527adf8db6c1ebd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ec94abeab5ef00471420d91586aa3323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c17eaa8d7f3f1e31651cd60ba368b5b3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e33e43ddaab8c4537e43ce13b2bbcb05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5" name="element_7f30b55c3e6d69d06521ddda4e0ce08b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700" dirty="0"/>
          </a:p>
        </p:txBody>
      </p:sp>
      <p:sp>
        <p:nvSpPr>
          <p:cNvPr id="6" name="element_05fa6a974a304e7deda9ec7b11d1ac6f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7" name="element_b2daf466a5c2917ea25a90635d309028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8" name="element_870d6fe1edd4e85e92273d2d8682cc39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9" name="element_9d2ef047c3baa86466ed14aab8ca6473"/>
          <p:cNvSpPr/>
          <p:nvPr/>
        </p:nvSpPr>
        <p:spPr>
          <a:xfrm>
            <a:off x="7019978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ae13fed8bc9736d52545ae38eefdb9b2"/>
          <p:cNvSpPr/>
          <p:nvPr/>
        </p:nvSpPr>
        <p:spPr>
          <a:xfrm>
            <a:off x="9194977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8b76eaf211e8168a3f2bbe0504076c50"/>
          <p:cNvSpPr/>
          <p:nvPr/>
        </p:nvSpPr>
        <p:spPr>
          <a:xfrm>
            <a:off x="5045753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8b76eaf211e8168a3f2bbe0504076c50:text"/>
          <p:cNvSpPr txBox="1"/>
          <p:nvPr/>
        </p:nvSpPr>
        <p:spPr>
          <a:xfrm>
            <a:off x="5045753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600" dirty="0"/>
          </a:p>
        </p:txBody>
      </p:sp>
      <p:sp>
        <p:nvSpPr>
          <p:cNvPr id="13" name="element_e52e81e1c7a9da4ebc4e758be8ffb0c4"/>
          <p:cNvSpPr/>
          <p:nvPr/>
        </p:nvSpPr>
        <p:spPr>
          <a:xfrm>
            <a:off x="7219532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e52e81e1c7a9da4ebc4e758be8ffb0c4:text"/>
          <p:cNvSpPr txBox="1"/>
          <p:nvPr/>
        </p:nvSpPr>
        <p:spPr>
          <a:xfrm>
            <a:off x="7219532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5" name="element_06c732efd744d6a4f9cb7e3d697ae64c"/>
          <p:cNvSpPr/>
          <p:nvPr/>
        </p:nvSpPr>
        <p:spPr>
          <a:xfrm>
            <a:off x="9394530" y="3939235"/>
            <a:ext cx="2018506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06c732efd744d6a4f9cb7e3d697ae64c:text"/>
          <p:cNvSpPr txBox="1"/>
          <p:nvPr/>
        </p:nvSpPr>
        <p:spPr>
          <a:xfrm>
            <a:off x="9394530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600" dirty="0"/>
          </a:p>
        </p:txBody>
      </p:sp>
      <p:sp>
        <p:nvSpPr>
          <p:cNvPr id="17" name="element_ec7695605a9f425635a19ec107e3e4ef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23a6159808a5136bbf44133ad69d232c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7b41304eea930d39eb3bb441e6efaf31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b67d0d9754cfe85e8fec6c048239e13e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ef0dd25e779a72dff7c76c8aefc254fe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5" name="element_a906d238ee63edd2be6e03d95728dc69"/>
          <p:cNvSpPr txBox="1"/>
          <p:nvPr/>
        </p:nvSpPr>
        <p:spPr>
          <a:xfrm>
            <a:off x="1706837" y="2743200"/>
            <a:ext cx="96314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 seven-slide data story for city mobility planners deciding where transit recovery needs intervention. Use the monthly ridership series exactly. Build a cumulative narrative from system recovery to route divergence, weekend weakness, service reliabili…</a:t>
            </a:r>
            <a:endParaRPr lang="en-US" sz="1900" dirty="0"/>
          </a:p>
        </p:txBody>
      </p:sp>
      <p:sp>
        <p:nvSpPr>
          <p:cNvPr id="6" name="element_8789fdbc8bedc714be553cfa9a721e21"/>
          <p:cNvSpPr txBox="1"/>
          <p:nvPr/>
        </p:nvSpPr>
        <p:spPr>
          <a:xfrm>
            <a:off x="8168436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0c9608d44fdf960f4977a935bd18480a"/>
          <p:cNvSpPr txBox="1"/>
          <p:nvPr/>
        </p:nvSpPr>
        <p:spPr>
          <a:xfrm>
            <a:off x="4632844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38bda89d14f3cdbec86e1738bacf54e7"/>
          <p:cNvSpPr txBox="1"/>
          <p:nvPr/>
        </p:nvSpPr>
        <p:spPr>
          <a:xfrm>
            <a:off x="1097253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e3dbdc1ae5ded9bfc69a4e3468ccc75c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a4e783b80f2fca2596cea1a6fedc4730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5e6f4b55f25ef69d436c0c99a4717e98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6c8cd73c198777764dd426522fc9774f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f5319bfc174ab7f3cf299f4cd095242d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5" name="element_14a2dee1a64fea55dfbac4f8bcafd957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6" name="element_ab708056d53406bd344bf405f68888d3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7" name="element_934d203c7052f4723a0ba5813d08eef3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8" name="element_6c1cfa1a60fdb1a35487cd1d609b0559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9" name="element_5b73727ee72f949904a30e79d9a660b4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accepted change = proposal ∩ authorized scope</a:t>
            </a:r>
            <a:endParaRPr lang="en-US" sz="3000" dirty="0"/>
          </a:p>
        </p:txBody>
      </p:sp>
      <p:sp>
        <p:nvSpPr>
          <p:cNvPr id="10" name="element_536fb72852d5e5e929533fd9a12abf40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f2bf097609293e1c7c4017ccd39e05b7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bbd00cdc4441630622b9a3310465679a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656a0a790193fe9e0a4db27b768908b8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4" name="element_6fe3a85d3787027ea61ff603368e29cc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5" name="element_f127cefd233e632a11d05c970df9e9a7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6" name="element_8cd16ed7d11dcdf9b5b3228dd7eaa026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5b282dc1dd327e06de8aa4830dedc4ab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9d960bfa6773b7dae46b3b8e8a138097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95898509616f23000637d804e2b29ccd"/>
          <p:cNvSpPr txBox="1"/>
          <p:nvPr/>
        </p:nvSpPr>
        <p:spPr>
          <a:xfrm>
            <a:off x="6661542" y="2770632"/>
            <a:ext cx="4476790" cy="1110996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0" name="element_8e19ae2cd862d456b74d0ee3ed297e9f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graphicFrame>
        <p:nvGraphicFramePr>
          <p:cNvPr id="11" name="element_dd8972bee3f41783370b7e3703588d10" descr=""/>
          <p:cNvGraphicFramePr/>
          <p:nvPr/>
        </p:nvGraphicFramePr>
        <p:xfrm>
          <a:off x="6271408" y="4753966"/>
          <a:ext cx="5135142" cy="1259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lement_c290e01b6620b54220ad1f9434aa3a2d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9dcac73cfe13dd323bc71f5e858d3b0e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63aa1f278d7f865e9534a4271bbf9725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04ffcf24aafc0c09e24d3f6581ef780d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86a18bfe0e3c59e4c855714323c222d8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5" name="element_42f7e494b5073daeb4b834dc431cc19c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6" name="element_8bf8d21616bb1c4da936d48447101272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7" name="element_d6358848fec5d2a88da9fa2ed8055fc5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8" name="element_16cf66db65c8def686879d82f7e75d1d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9" name="element_402ccc340520b92a4d8f577f66e7dee1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402ccc340520b92a4d8f577f66e7dee1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evidence map derived from the supplied brief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1" name="element_a51739ef44c660eadde9ee0d47610b5d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2" name="element_1d792c757ff748a82277a9496f1d9f84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3464cf28b14323ab29b4ffda6851a79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102593af60e1fd63f0cf58ee43426124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207a47a93e019f16bcfc0317bdb1292a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85c5ae775906ceb6d5a87f255d46812b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3800" dirty="0"/>
          </a:p>
        </p:txBody>
      </p:sp>
      <p:sp>
        <p:nvSpPr>
          <p:cNvPr id="5" name="element_cb058da09df81272b2f16ed115d2f438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Decision-makers described in the brief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6" name="element_db2e7ed9633e5c0eec20d4afa8110b31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7" name="element_8691dbe40ad6c3eb931c1aa999e48435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8" name="element_f61d64ea1c0375eea67c7c9036167442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9" name="element_f12c69ece6fe68b93126263bb4d98b45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8e46ea6dc3680348b93a57321181cd41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seven-slide data story for city mobility planners deciding w…</dc:title>
  <dc:subject>Create an editable, reviewable presentation from this idea</dc:subject>
  <dc:creator>NodeSlide</dc:creator>
  <cp:lastModifiedBy>NodeSlide</cp:lastModifiedBy>
  <cp:revision>1</cp:revision>
  <dcterms:created xsi:type="dcterms:W3CDTF">2026-07-21T23:56:51Z</dcterms:created>
  <dcterms:modified xsi:type="dcterms:W3CDTF">2026-07-21T23:56:51Z</dcterms:modified>
</cp:coreProperties>
</file>