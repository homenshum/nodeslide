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Week 1</c:v>
                  </c:pt>
                  <c:pt idx="1">
                    <c:v>Week 2</c:v>
                  </c:pt>
                  <c:pt idx="2">
                    <c:v>Week 3</c:v>
                  </c:pt>
                  <c:pt idx="3">
                    <c:v>Week 4</c:v>
                  </c:pt>
                  <c:pt idx="4">
                    <c:v>Week 5</c:v>
                  </c:pt>
                </c:lvl>
              </c:multiLvlStrCache>
            </c:multiLvlStrRef>
          </c:cat>
          <c:val>
            <c:numRef>
              <c:f>Sheet1!$B$2:$B$6</c:f>
              <c:numCache>
                <c:formatCode>General</c:formatCode>
                <c:ptCount val="5"/>
                <c:pt idx="0">
                  <c:v>62</c:v>
                </c:pt>
                <c:pt idx="1">
                  <c:v>71</c:v>
                </c:pt>
                <c:pt idx="2">
                  <c:v>78</c:v>
                </c:pt>
                <c:pt idx="3">
                  <c:v>85</c:v>
                </c:pt>
                <c:pt idx="4">
                  <c:v>90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“A confident answer is not the same as a supported one”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“Index, retrieve, generate — grounding is a pipeline, not a feature toggle”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“Think of RAG as a research assistant who checks the filing cabinet before writing”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“Grounding only counts if you measure it”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“Make support inspectable with one editable formula”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“RAG grounds answers in your documents — including their flaws”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“Use RAG when answers must be current, sourced, and checkable”
Evidence note: Content is based on the supplied creation brief. Illustrative examples are not independently verified; replace them with measured evidence before external publication.
NodeSlide sources
[source_e9850bcac67810d471ca3bf6fd7fc30a] Create a seven-slide educational explainer for non-specialist product… — creation brief
Citation: Create a seven-slide educational explainer for non-specialist product managers learning when retrieval-augmented generation helps. Progress from the failure of memory-only answers through indexing, retrieval, grounded generation, evaluation, limitations, and a practical decision checklist. Include a progressive editable diagram, a simple timeline of one query, an analogy, and a final summary. Keep technical terms defined in plain language. Design direction: Use an evidence-led editorial direction: restrained surface treatment, decisive hierarchy, visible provenance, and an inspectable visual argument on every proof slide. Avoid card grids and decorative dashboards.
Disclaimer: Internal working material
[source_e7c473c85483941f4b2f7144bc4ea635] rag-facts.md
Citation: Uploaded file: rag-facts.md
The benchmark definition is: index approved documents, retrieve passages relevant to a query, provide those passages to the generator, and evaluate whether claims are supported by the retrieved text. Retrieval does not guarantee truth and can return irrelevant evidence.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314525cefa65c81d8b5eeb87542bc24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66f7fb2b1db1ee8afb895413de86f1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918df6ed7c461fdb1175b8665996eaaa"/>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A confident answer is not the same as a supported one</a:t>
            </a:r>
            <a:endParaRPr lang="en-US" sz="4800" dirty="0"/>
          </a:p>
        </p:txBody>
      </p:sp>
      <p:sp>
        <p:nvSpPr>
          <p:cNvPr id="5" name="element_2dfd20e3f75201c6f94c045aa2da0648"/>
          <p:cNvSpPr txBox="1"/>
          <p:nvPr/>
        </p:nvSpPr>
        <p:spPr>
          <a:xfrm>
            <a:off x="853419" y="3291840"/>
            <a:ext cx="4754761"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language model answers from patterns absorbed during training. It has no built-in way to check your current documents, so it can produce fluent text that is outdated, unsourced, or wrong — with no visible provenance for a reviewer to inspect.</a:t>
            </a:r>
            <a:endParaRPr lang="en-US" sz="1900" dirty="0"/>
          </a:p>
        </p:txBody>
      </p:sp>
      <p:sp>
        <p:nvSpPr>
          <p:cNvPr id="6" name="element_07ef00fe066f681006d60b5af2ad88a5"/>
          <p:cNvSpPr txBox="1"/>
          <p:nvPr/>
        </p:nvSpPr>
        <p:spPr>
          <a:xfrm>
            <a:off x="853419" y="4594860"/>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Memory-only: the model relies solely on what it learned in training.</a:t>
            </a:r>
            <a:endParaRPr lang="en-US" sz="1700" dirty="0"/>
          </a:p>
        </p:txBody>
      </p:sp>
      <p:sp>
        <p:nvSpPr>
          <p:cNvPr id="7" name="element_34bcb0b29729d45860c38b6f3513e98b"/>
          <p:cNvSpPr txBox="1"/>
          <p:nvPr/>
        </p:nvSpPr>
        <p:spPr>
          <a:xfrm>
            <a:off x="853419" y="5258029"/>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Hallucination: plausible-sounding text with no supporting source.</a:t>
            </a:r>
            <a:endParaRPr lang="en-US" sz="1700" dirty="0"/>
          </a:p>
        </p:txBody>
      </p:sp>
      <p:sp>
        <p:nvSpPr>
          <p:cNvPr id="8" name="element_cb9c33f3060473189fd8c564f5f4b75e"/>
          <p:cNvSpPr txBox="1"/>
          <p:nvPr/>
        </p:nvSpPr>
        <p:spPr>
          <a:xfrm>
            <a:off x="853419" y="5920511"/>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Provenance gap: no passage a reviewer can open and verify.</a:t>
            </a:r>
            <a:endParaRPr lang="en-US" sz="1700" dirty="0"/>
          </a:p>
        </p:txBody>
      </p:sp>
      <p:sp>
        <p:nvSpPr>
          <p:cNvPr id="9" name="element_b1e348acdd56b383ced2cdb78f5436c0"/>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0</a:t>
            </a:r>
            <a:endParaRPr lang="en-US" sz="5600" dirty="0"/>
          </a:p>
        </p:txBody>
      </p:sp>
      <p:sp>
        <p:nvSpPr>
          <p:cNvPr id="10" name="element_763df25b738677e2c5c774b2598c39bd"/>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source passages attached to a memory-only answer</a:t>
            </a:r>
            <a:endParaRPr lang="en-US" sz="1500" dirty="0"/>
          </a:p>
        </p:txBody>
      </p:sp>
      <p:sp>
        <p:nvSpPr>
          <p:cNvPr id="11" name="element_5eb5588eb6bba73e4477ba9b0f5135c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e58f4a4097b07bfe3859222c34d8cf4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5b8dc5876b09ea96d9c2511847487949"/>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d824d704797324e42ba973d446bc074"/>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bee2b7b3d94c31606df7ff2e034e63f0"/>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Index, retrieve, generate — grounding is a pipeline, not a feature toggle</a:t>
            </a:r>
            <a:endParaRPr lang="en-US" sz="3800" dirty="0"/>
          </a:p>
        </p:txBody>
      </p:sp>
      <p:sp>
        <p:nvSpPr>
          <p:cNvPr id="5" name="element_fb56c79d88cf5d6a1429e5c629105f29"/>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Retrieval-augmented generation (RAG) adds a lookup stage. Per the supplied benchmark definition: index approved documents, retrieve passages relevant to a query, provide those passages to the generator, and evaluate whether claims are supported by the retrieved text.</a:t>
            </a:r>
            <a:endParaRPr lang="en-US" sz="1700" dirty="0"/>
          </a:p>
        </p:txBody>
      </p:sp>
      <p:sp>
        <p:nvSpPr>
          <p:cNvPr id="6" name="element_e225d31bf19941eb35d0cd1527fb5003"/>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Indexing: splitting approved documents into searchable passages.</a:t>
            </a:r>
            <a:endParaRPr lang="en-US" sz="1700" dirty="0"/>
          </a:p>
        </p:txBody>
      </p:sp>
      <p:sp>
        <p:nvSpPr>
          <p:cNvPr id="7" name="element_08a66cda3498c913bab3e167398606e5"/>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Retrieval: fetching the passages most relevant to the question.</a:t>
            </a:r>
            <a:endParaRPr lang="en-US" sz="1700" dirty="0"/>
          </a:p>
        </p:txBody>
      </p:sp>
      <p:sp>
        <p:nvSpPr>
          <p:cNvPr id="8" name="element_f7add9f5b0389e383b0a2fc9828a304a"/>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Grounded generation: the model writes using those passages as evidence.</a:t>
            </a:r>
            <a:endParaRPr lang="en-US" sz="1700" dirty="0"/>
          </a:p>
        </p:txBody>
      </p:sp>
      <p:sp>
        <p:nvSpPr>
          <p:cNvPr id="9" name="element_ff40a4e3f38a96caa91db57f1c1848aa"/>
          <p:cNvSpPr/>
          <p:nvPr/>
        </p:nvSpPr>
        <p:spPr>
          <a:xfrm>
            <a:off x="6477448" y="3775329"/>
            <a:ext cx="243834" cy="164592"/>
          </a:xfrm>
          <a:prstGeom prst="line">
            <a:avLst/>
          </a:prstGeom>
          <a:noFill/>
          <a:ln w="25400">
            <a:solidFill>
              <a:srgbClr val="7566A8"/>
            </a:solidFill>
            <a:prstDash val="solid"/>
            <a:tailEnd type="triangle"/>
          </a:ln>
        </p:spPr>
      </p:sp>
      <p:sp>
        <p:nvSpPr>
          <p:cNvPr id="10" name="element_d503d95cad609bb10f533d72105c0a01"/>
          <p:cNvSpPr/>
          <p:nvPr/>
        </p:nvSpPr>
        <p:spPr>
          <a:xfrm>
            <a:off x="8107477" y="3775329"/>
            <a:ext cx="243834" cy="164592"/>
          </a:xfrm>
          <a:prstGeom prst="line">
            <a:avLst/>
          </a:prstGeom>
          <a:noFill/>
          <a:ln w="25400">
            <a:solidFill>
              <a:srgbClr val="7566A8"/>
            </a:solidFill>
            <a:prstDash val="solid"/>
            <a:tailEnd type="triangle"/>
          </a:ln>
        </p:spPr>
      </p:sp>
      <p:sp>
        <p:nvSpPr>
          <p:cNvPr id="11" name="element_c8137984b17dab4f25b54f4673c64806"/>
          <p:cNvSpPr/>
          <p:nvPr/>
        </p:nvSpPr>
        <p:spPr>
          <a:xfrm>
            <a:off x="9738726" y="3775329"/>
            <a:ext cx="243834" cy="164592"/>
          </a:xfrm>
          <a:prstGeom prst="line">
            <a:avLst/>
          </a:prstGeom>
          <a:noFill/>
          <a:ln w="25400">
            <a:solidFill>
              <a:srgbClr val="7566A8"/>
            </a:solidFill>
            <a:prstDash val="solid"/>
            <a:tailEnd type="triangle"/>
          </a:ln>
        </p:spPr>
      </p:sp>
      <p:sp>
        <p:nvSpPr>
          <p:cNvPr id="12" name="element_e37d292cc99c6534b30de12c6048300d"/>
          <p:cNvSpPr/>
          <p:nvPr/>
        </p:nvSpPr>
        <p:spPr>
          <a:xfrm>
            <a:off x="6356750" y="4375404"/>
            <a:ext cx="3744070" cy="164592"/>
          </a:xfrm>
          <a:prstGeom prst="line">
            <a:avLst/>
          </a:prstGeom>
          <a:noFill/>
          <a:ln w="25400">
            <a:solidFill>
              <a:srgbClr val="7566A8"/>
            </a:solidFill>
            <a:prstDash val="solid"/>
            <a:tailEnd type="triangle"/>
          </a:ln>
        </p:spPr>
      </p:sp>
      <p:sp>
        <p:nvSpPr>
          <p:cNvPr id="13" name="element_e51b8ef2868edbcbdc974daa1aa927c6"/>
          <p:cNvSpPr/>
          <p:nvPr/>
        </p:nvSpPr>
        <p:spPr>
          <a:xfrm>
            <a:off x="5067454" y="3339160"/>
            <a:ext cx="1432573" cy="1036930"/>
          </a:xfrm>
          <a:prstGeom prst="roundRect">
            <a:avLst/>
          </a:prstGeom>
          <a:solidFill>
            <a:srgbClr val="F2DED3"/>
          </a:solidFill>
          <a:ln w="12700">
            <a:solidFill>
              <a:srgbClr val="DED7CC"/>
            </a:solidFill>
            <a:prstDash val="solid"/>
          </a:ln>
        </p:spPr>
      </p:sp>
      <p:sp>
        <p:nvSpPr>
          <p:cNvPr id="14" name="element_e51b8ef2868edbcbdc974daa1aa927c6:text"/>
          <p:cNvSpPr txBox="1"/>
          <p:nvPr/>
        </p:nvSpPr>
        <p:spPr>
          <a:xfrm>
            <a:off x="5067454"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Approved documents</a:t>
            </a:r>
            <a:endParaRPr lang="en-US" sz="1600" dirty="0"/>
          </a:p>
        </p:txBody>
      </p:sp>
      <p:sp>
        <p:nvSpPr>
          <p:cNvPr id="15" name="element_77cb6e60821eea66abe00b19764c4a35"/>
          <p:cNvSpPr/>
          <p:nvPr/>
        </p:nvSpPr>
        <p:spPr>
          <a:xfrm>
            <a:off x="6698703" y="3339160"/>
            <a:ext cx="1432573" cy="1036930"/>
          </a:xfrm>
          <a:prstGeom prst="roundRect">
            <a:avLst/>
          </a:prstGeom>
          <a:solidFill>
            <a:srgbClr val="F2DED3"/>
          </a:solidFill>
          <a:ln w="12700">
            <a:solidFill>
              <a:srgbClr val="DED7CC"/>
            </a:solidFill>
            <a:prstDash val="solid"/>
          </a:ln>
        </p:spPr>
      </p:sp>
      <p:sp>
        <p:nvSpPr>
          <p:cNvPr id="16" name="element_77cb6e60821eea66abe00b19764c4a35:text"/>
          <p:cNvSpPr txBox="1"/>
          <p:nvPr/>
        </p:nvSpPr>
        <p:spPr>
          <a:xfrm>
            <a:off x="6698703"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Index passages</a:t>
            </a:r>
            <a:endParaRPr lang="en-US" sz="1600" dirty="0"/>
          </a:p>
        </p:txBody>
      </p:sp>
      <p:sp>
        <p:nvSpPr>
          <p:cNvPr id="17" name="element_ba12200526dcd4e51a458dd3e3875a05"/>
          <p:cNvSpPr/>
          <p:nvPr/>
        </p:nvSpPr>
        <p:spPr>
          <a:xfrm>
            <a:off x="8328732" y="3339160"/>
            <a:ext cx="1432573" cy="1036930"/>
          </a:xfrm>
          <a:prstGeom prst="roundRect">
            <a:avLst/>
          </a:prstGeom>
          <a:solidFill>
            <a:srgbClr val="F2DED3"/>
          </a:solidFill>
          <a:ln w="12700">
            <a:solidFill>
              <a:srgbClr val="DED7CC"/>
            </a:solidFill>
            <a:prstDash val="solid"/>
          </a:ln>
        </p:spPr>
      </p:sp>
      <p:sp>
        <p:nvSpPr>
          <p:cNvPr id="18" name="element_ba12200526dcd4e51a458dd3e3875a05:text"/>
          <p:cNvSpPr txBox="1"/>
          <p:nvPr/>
        </p:nvSpPr>
        <p:spPr>
          <a:xfrm>
            <a:off x="8328732"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Retrieve relevant passages</a:t>
            </a:r>
            <a:endParaRPr lang="en-US" sz="1600" dirty="0"/>
          </a:p>
        </p:txBody>
      </p:sp>
      <p:sp>
        <p:nvSpPr>
          <p:cNvPr id="19" name="element_80272717a61e9813e4d427e8825cb202"/>
          <p:cNvSpPr/>
          <p:nvPr/>
        </p:nvSpPr>
        <p:spPr>
          <a:xfrm>
            <a:off x="9959981" y="3339160"/>
            <a:ext cx="1432573" cy="1036930"/>
          </a:xfrm>
          <a:prstGeom prst="roundRect">
            <a:avLst/>
          </a:prstGeom>
          <a:solidFill>
            <a:srgbClr val="F2DED3"/>
          </a:solidFill>
          <a:ln w="12700">
            <a:solidFill>
              <a:srgbClr val="DED7CC"/>
            </a:solidFill>
            <a:prstDash val="solid"/>
          </a:ln>
        </p:spPr>
      </p:sp>
      <p:sp>
        <p:nvSpPr>
          <p:cNvPr id="20" name="element_80272717a61e9813e4d427e8825cb202:text"/>
          <p:cNvSpPr txBox="1"/>
          <p:nvPr/>
        </p:nvSpPr>
        <p:spPr>
          <a:xfrm>
            <a:off x="9959981"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Generate grounded answer</a:t>
            </a:r>
            <a:endParaRPr lang="en-US" sz="1600" dirty="0"/>
          </a:p>
        </p:txBody>
      </p:sp>
      <p:sp>
        <p:nvSpPr>
          <p:cNvPr id="21" name="element_e3b7e2020449d84d0c374c9abf7695ac"/>
          <p:cNvSpPr/>
          <p:nvPr/>
        </p:nvSpPr>
        <p:spPr>
          <a:xfrm>
            <a:off x="5067454" y="4539310"/>
            <a:ext cx="1432573" cy="1036930"/>
          </a:xfrm>
          <a:prstGeom prst="roundRect">
            <a:avLst/>
          </a:prstGeom>
          <a:solidFill>
            <a:srgbClr val="E5E9D6"/>
          </a:solidFill>
          <a:ln w="25400">
            <a:solidFill>
              <a:srgbClr val="B44A2D"/>
            </a:solidFill>
            <a:prstDash val="solid"/>
          </a:ln>
        </p:spPr>
      </p:sp>
      <p:sp>
        <p:nvSpPr>
          <p:cNvPr id="22" name="element_e3b7e2020449d84d0c374c9abf7695ac:text"/>
          <p:cNvSpPr txBox="1"/>
          <p:nvPr/>
        </p:nvSpPr>
        <p:spPr>
          <a:xfrm>
            <a:off x="5067454"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Evaluate support</a:t>
            </a:r>
            <a:endParaRPr lang="en-US" sz="1600" dirty="0"/>
          </a:p>
        </p:txBody>
      </p:sp>
      <p:sp>
        <p:nvSpPr>
          <p:cNvPr id="23" name="element_702233fa07454535844e95b95b930cbe"/>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4" name="element_99ca93cc29cde6cdf5a585e4d4940fb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a492e4353a2a497f3087956c988595d8"/>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e020854f1576f60738e9686dce623cdf"/>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d985e7259d9b3662af72b70a203c0afb"/>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Think of RAG as a research assistant who checks the filing cabinet before writing</a:t>
            </a:r>
            <a:endParaRPr lang="en-US" sz="3800" dirty="0"/>
          </a:p>
        </p:txBody>
      </p:sp>
      <p:sp>
        <p:nvSpPr>
          <p:cNvPr id="5" name="element_f38798d8565b23d130c8d0701fff4e2e"/>
          <p:cNvSpPr txBox="1"/>
          <p:nvPr/>
        </p:nvSpPr>
        <p:spPr>
          <a:xfrm>
            <a:off x="7436934"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Analogy: a memory-only model is a colleague answering from recollection; RAG is one who first pulls the right folder and quotes from it. The timeline below follows a single question through the system — timings are illustrative, not measured.</a:t>
            </a:r>
            <a:endParaRPr lang="en-US" sz="1700" dirty="0"/>
          </a:p>
        </p:txBody>
      </p:sp>
      <p:sp>
        <p:nvSpPr>
          <p:cNvPr id="6" name="element_f867f29f9693336203821efbf36b8e0f"/>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The question is matched against the indexed passages, not the whole internet.</a:t>
            </a:r>
            <a:endParaRPr lang="en-US" sz="1700" dirty="0"/>
          </a:p>
        </p:txBody>
      </p:sp>
      <p:sp>
        <p:nvSpPr>
          <p:cNvPr id="7" name="element_516ca5d0bf3188d854ec4d6a283f0191"/>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Only the retrieved passages are shown to the generator as evidence.</a:t>
            </a:r>
            <a:endParaRPr lang="en-US" sz="1700" dirty="0"/>
          </a:p>
        </p:txBody>
      </p:sp>
      <p:sp>
        <p:nvSpPr>
          <p:cNvPr id="8" name="element_05b5be7eede5f710964b86521bb034a6"/>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The answer can cite exactly which passages it used.</a:t>
            </a:r>
            <a:endParaRPr lang="en-US" sz="1700" dirty="0"/>
          </a:p>
        </p:txBody>
      </p:sp>
      <p:sp>
        <p:nvSpPr>
          <p:cNvPr id="9" name="element_9a93e906c82c9937c74093f31b5e8856"/>
          <p:cNvSpPr/>
          <p:nvPr/>
        </p:nvSpPr>
        <p:spPr>
          <a:xfrm>
            <a:off x="5470414" y="3775329"/>
            <a:ext cx="243834" cy="164592"/>
          </a:xfrm>
          <a:prstGeom prst="line">
            <a:avLst/>
          </a:prstGeom>
          <a:noFill/>
          <a:ln w="25400">
            <a:solidFill>
              <a:srgbClr val="7566A8"/>
            </a:solidFill>
            <a:prstDash val="solid"/>
            <a:tailEnd type="triangle"/>
          </a:ln>
        </p:spPr>
      </p:sp>
      <p:sp>
        <p:nvSpPr>
          <p:cNvPr id="10" name="element_8ec91126188d59f1e525275b71b57683"/>
          <p:cNvSpPr/>
          <p:nvPr/>
        </p:nvSpPr>
        <p:spPr>
          <a:xfrm>
            <a:off x="3840384" y="3775329"/>
            <a:ext cx="243834" cy="164592"/>
          </a:xfrm>
          <a:prstGeom prst="line">
            <a:avLst/>
          </a:prstGeom>
          <a:noFill/>
          <a:ln w="25400">
            <a:solidFill>
              <a:srgbClr val="7566A8"/>
            </a:solidFill>
            <a:prstDash val="solid"/>
            <a:tailEnd type="triangle"/>
          </a:ln>
        </p:spPr>
      </p:sp>
      <p:sp>
        <p:nvSpPr>
          <p:cNvPr id="11" name="element_572f66a2f3d91ae1d9a42340932ba648"/>
          <p:cNvSpPr/>
          <p:nvPr/>
        </p:nvSpPr>
        <p:spPr>
          <a:xfrm>
            <a:off x="2209135" y="3775329"/>
            <a:ext cx="243834" cy="164592"/>
          </a:xfrm>
          <a:prstGeom prst="line">
            <a:avLst/>
          </a:prstGeom>
          <a:noFill/>
          <a:ln w="25400">
            <a:solidFill>
              <a:srgbClr val="7566A8"/>
            </a:solidFill>
            <a:prstDash val="solid"/>
            <a:tailEnd type="triangle"/>
          </a:ln>
        </p:spPr>
      </p:sp>
      <p:sp>
        <p:nvSpPr>
          <p:cNvPr id="12" name="element_380f3ae0ab9e8bcf22713ea160b3b057"/>
          <p:cNvSpPr/>
          <p:nvPr/>
        </p:nvSpPr>
        <p:spPr>
          <a:xfrm>
            <a:off x="2090876" y="4375404"/>
            <a:ext cx="3744070" cy="164592"/>
          </a:xfrm>
          <a:prstGeom prst="line">
            <a:avLst/>
          </a:prstGeom>
          <a:noFill/>
          <a:ln w="25400">
            <a:solidFill>
              <a:srgbClr val="7566A8"/>
            </a:solidFill>
            <a:prstDash val="solid"/>
            <a:tailEnd type="triangle"/>
          </a:ln>
        </p:spPr>
      </p:sp>
      <p:sp>
        <p:nvSpPr>
          <p:cNvPr id="13" name="element_e29987c3e48cbf31d46bf545fb4b37bc"/>
          <p:cNvSpPr/>
          <p:nvPr/>
        </p:nvSpPr>
        <p:spPr>
          <a:xfrm>
            <a:off x="5744727" y="3377565"/>
            <a:ext cx="1326456" cy="960120"/>
          </a:xfrm>
          <a:prstGeom prst="roundRect">
            <a:avLst/>
          </a:prstGeom>
          <a:solidFill>
            <a:srgbClr val="E5E9D6"/>
          </a:solidFill>
          <a:ln w="12700">
            <a:solidFill>
              <a:srgbClr val="DED7CC"/>
            </a:solidFill>
            <a:prstDash val="solid"/>
          </a:ln>
        </p:spPr>
      </p:sp>
      <p:sp>
        <p:nvSpPr>
          <p:cNvPr id="14" name="element_e29987c3e48cbf31d46bf545fb4b37bc:text"/>
          <p:cNvSpPr txBox="1"/>
          <p:nvPr/>
        </p:nvSpPr>
        <p:spPr>
          <a:xfrm>
            <a:off x="5744727"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User asks question</a:t>
            </a:r>
            <a:endParaRPr lang="en-US" sz="1600" dirty="0"/>
          </a:p>
        </p:txBody>
      </p:sp>
      <p:sp>
        <p:nvSpPr>
          <p:cNvPr id="15" name="element_431f59fff7955c10e5ec130f1ed2ecaa"/>
          <p:cNvSpPr/>
          <p:nvPr/>
        </p:nvSpPr>
        <p:spPr>
          <a:xfrm>
            <a:off x="4113478" y="3377565"/>
            <a:ext cx="1326456" cy="960120"/>
          </a:xfrm>
          <a:prstGeom prst="roundRect">
            <a:avLst/>
          </a:prstGeom>
          <a:solidFill>
            <a:srgbClr val="E5E9D6"/>
          </a:solidFill>
          <a:ln w="12700">
            <a:solidFill>
              <a:srgbClr val="DED7CC"/>
            </a:solidFill>
            <a:prstDash val="solid"/>
          </a:ln>
        </p:spPr>
      </p:sp>
      <p:sp>
        <p:nvSpPr>
          <p:cNvPr id="16" name="element_431f59fff7955c10e5ec130f1ed2ecaa:text"/>
          <p:cNvSpPr txBox="1"/>
          <p:nvPr/>
        </p:nvSpPr>
        <p:spPr>
          <a:xfrm>
            <a:off x="4113478"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Query matched to index</a:t>
            </a:r>
            <a:endParaRPr lang="en-US" sz="1600" dirty="0"/>
          </a:p>
        </p:txBody>
      </p:sp>
      <p:sp>
        <p:nvSpPr>
          <p:cNvPr id="17" name="element_d2f2efce7ccec72d99c88e2ac98c3619"/>
          <p:cNvSpPr/>
          <p:nvPr/>
        </p:nvSpPr>
        <p:spPr>
          <a:xfrm>
            <a:off x="2483448" y="3377565"/>
            <a:ext cx="1326456" cy="960120"/>
          </a:xfrm>
          <a:prstGeom prst="roundRect">
            <a:avLst/>
          </a:prstGeom>
          <a:solidFill>
            <a:srgbClr val="E5E9D6"/>
          </a:solidFill>
          <a:ln w="12700">
            <a:solidFill>
              <a:srgbClr val="DED7CC"/>
            </a:solidFill>
            <a:prstDash val="solid"/>
          </a:ln>
        </p:spPr>
      </p:sp>
      <p:sp>
        <p:nvSpPr>
          <p:cNvPr id="18" name="element_d2f2efce7ccec72d99c88e2ac98c3619:text"/>
          <p:cNvSpPr txBox="1"/>
          <p:nvPr/>
        </p:nvSpPr>
        <p:spPr>
          <a:xfrm>
            <a:off x="2483448"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Top passages retrieved</a:t>
            </a:r>
            <a:endParaRPr lang="en-US" sz="1600" dirty="0"/>
          </a:p>
        </p:txBody>
      </p:sp>
      <p:sp>
        <p:nvSpPr>
          <p:cNvPr id="19" name="element_36a3ffc0d22d44d50261b72bd6e1f747"/>
          <p:cNvSpPr/>
          <p:nvPr/>
        </p:nvSpPr>
        <p:spPr>
          <a:xfrm>
            <a:off x="852199" y="3377565"/>
            <a:ext cx="1326456" cy="960120"/>
          </a:xfrm>
          <a:prstGeom prst="roundRect">
            <a:avLst/>
          </a:prstGeom>
          <a:solidFill>
            <a:srgbClr val="E5E9D6"/>
          </a:solidFill>
          <a:ln w="12700">
            <a:solidFill>
              <a:srgbClr val="DED7CC"/>
            </a:solidFill>
            <a:prstDash val="solid"/>
          </a:ln>
        </p:spPr>
      </p:sp>
      <p:sp>
        <p:nvSpPr>
          <p:cNvPr id="20" name="element_36a3ffc0d22d44d50261b72bd6e1f747:text"/>
          <p:cNvSpPr txBox="1"/>
          <p:nvPr/>
        </p:nvSpPr>
        <p:spPr>
          <a:xfrm>
            <a:off x="852199" y="337756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Answer drafted with citations</a:t>
            </a:r>
            <a:endParaRPr lang="en-US" sz="1600" dirty="0"/>
          </a:p>
        </p:txBody>
      </p:sp>
      <p:sp>
        <p:nvSpPr>
          <p:cNvPr id="21" name="element_ef43855277b493d8fc16b935e8e6fdd2"/>
          <p:cNvSpPr/>
          <p:nvPr/>
        </p:nvSpPr>
        <p:spPr>
          <a:xfrm>
            <a:off x="5744727" y="4577715"/>
            <a:ext cx="1326456" cy="960120"/>
          </a:xfrm>
          <a:prstGeom prst="roundRect">
            <a:avLst/>
          </a:prstGeom>
          <a:solidFill>
            <a:srgbClr val="E5E9D6"/>
          </a:solidFill>
          <a:ln w="12700">
            <a:solidFill>
              <a:srgbClr val="DED7CC"/>
            </a:solidFill>
            <a:prstDash val="solid"/>
          </a:ln>
        </p:spPr>
      </p:sp>
      <p:sp>
        <p:nvSpPr>
          <p:cNvPr id="22" name="element_ef43855277b493d8fc16b935e8e6fdd2:text"/>
          <p:cNvSpPr txBox="1"/>
          <p:nvPr/>
        </p:nvSpPr>
        <p:spPr>
          <a:xfrm>
            <a:off x="5744727" y="4577715"/>
            <a:ext cx="1326456"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Support checked</a:t>
            </a:r>
            <a:endParaRPr lang="en-US" sz="1600" dirty="0"/>
          </a:p>
        </p:txBody>
      </p:sp>
      <p:sp>
        <p:nvSpPr>
          <p:cNvPr id="23" name="element_1b05d705c4ff981f52e094f76a2424bb"/>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4" name="element_72fd52683901cb6fd3caf0ebf88b7a7a"/>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548ab60ed4501152b16c818465b8c0a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3aee755fd7a67af8cb6af8f1c6d21b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32cfff75532b74c5c41b86d8f2ce723a"/>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Grounding only counts if you measure it</a:t>
            </a:r>
            <a:endParaRPr lang="en-US" sz="3800" dirty="0"/>
          </a:p>
        </p:txBody>
      </p:sp>
      <p:sp>
        <p:nvSpPr>
          <p:cNvPr id="5" name="element_d3f771ba03fab245beed1f492fb0cbdd"/>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benchmark definition requires evaluating whether claims are supported by the retrieved text. The chart below is an illustrative example of how a team might track claim-support rates across weekly evaluation runs — these values are a constructed example, not measured results.</a:t>
            </a:r>
            <a:endParaRPr lang="en-US" sz="1900" dirty="0"/>
          </a:p>
        </p:txBody>
      </p:sp>
      <p:sp>
        <p:nvSpPr>
          <p:cNvPr id="6" name="element_53009a8de4026bee7a01508a118f25eb"/>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Claim support: each factual statement is checked against retrieved passages.</a:t>
            </a:r>
            <a:endParaRPr lang="en-US" sz="1700" dirty="0"/>
          </a:p>
        </p:txBody>
      </p:sp>
      <p:sp>
        <p:nvSpPr>
          <p:cNvPr id="7" name="element_f6b619f69b24f080792696e235cad746"/>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Unsupported claims are flagged for review instead of shipped silently.</a:t>
            </a:r>
            <a:endParaRPr lang="en-US" sz="1700" dirty="0"/>
          </a:p>
        </p:txBody>
      </p:sp>
      <p:sp>
        <p:nvSpPr>
          <p:cNvPr id="8" name="element_90d2d6147ed87104dc95a1fb2222af0b"/>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Illustrative data — replace with your own evaluation runs.</a:t>
            </a:r>
            <a:endParaRPr lang="en-US" sz="1700" dirty="0"/>
          </a:p>
        </p:txBody>
      </p:sp>
      <p:graphicFrame>
        <p:nvGraphicFramePr>
          <p:cNvPr id="9" name="element_432479894a03aa78541d9821c9456e30"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52881e76d3cec404403680ced840cd4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6226155269595a6f5a82ec884175450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f877f7f02c5f99b1bda90fdc93f787db"/>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afd6202b91a38a85dd1ce9431acb47aa"/>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217e91b2194644d588dadf5614850c35"/>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Make support inspectable with one editable formula</a:t>
            </a:r>
            <a:endParaRPr lang="en-US" sz="3800" dirty="0"/>
          </a:p>
        </p:txBody>
      </p:sp>
      <p:sp>
        <p:nvSpPr>
          <p:cNvPr id="5" name="element_ad0335779b3f18f0b460c3ccac2733cf"/>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minimal evaluation metric: of all factual claims in an answer, what fraction are supported by the retrieved passages? The sample values below are illustrative assumptions you can edit, not measured results.</a:t>
            </a:r>
            <a:endParaRPr lang="en-US" sz="1900" dirty="0"/>
          </a:p>
        </p:txBody>
      </p:sp>
      <p:sp>
        <p:nvSpPr>
          <p:cNvPr id="6" name="element_c2d47dc33925ecc2b240bdc0bad44478"/>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Count every factual claim in the generated answer.</a:t>
            </a:r>
            <a:endParaRPr lang="en-US" sz="1700" dirty="0"/>
          </a:p>
        </p:txBody>
      </p:sp>
      <p:sp>
        <p:nvSpPr>
          <p:cNvPr id="7" name="element_2ea468084802b1faad75f859c4aad2f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Mark a claim supported only if a retrieved passage backs it.</a:t>
            </a:r>
            <a:endParaRPr lang="en-US" sz="1700" dirty="0"/>
          </a:p>
        </p:txBody>
      </p:sp>
      <p:sp>
        <p:nvSpPr>
          <p:cNvPr id="8" name="element_7313d80d689c4e77714b84095591f27c"/>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Track the score over time to catch regressions.</a:t>
            </a:r>
            <a:endParaRPr lang="en-US" sz="1700" dirty="0"/>
          </a:p>
        </p:txBody>
      </p:sp>
      <p:sp>
        <p:nvSpPr>
          <p:cNvPr id="9" name="element_dc873be9f3ec2635059ec4117920d3c2"/>
          <p:cNvSpPr txBox="1"/>
          <p:nvPr/>
        </p:nvSpPr>
        <p:spPr>
          <a:xfrm>
            <a:off x="6271408" y="2814523"/>
            <a:ext cx="5135142" cy="1777594"/>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Groundedness = supported claims ÷ total claims</a:t>
            </a:r>
            <a:endParaRPr lang="en-US" sz="3000" dirty="0"/>
          </a:p>
        </p:txBody>
      </p:sp>
      <p:sp>
        <p:nvSpPr>
          <p:cNvPr id="10" name="element_a81c4f12b2f479480e3c4bd674f4fb4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3bc006a2f94c85e999a301b5c7831a2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2db3a5079eac1a791be46d113591f2b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52ed63abd1949fabf1107e8b928767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30ef4af627913fc15291d69e75a697c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RAG grounds answers in your documents — including their flaws</a:t>
            </a:r>
            <a:endParaRPr lang="en-US" sz="3800" dirty="0"/>
          </a:p>
        </p:txBody>
      </p:sp>
      <p:sp>
        <p:nvSpPr>
          <p:cNvPr id="5" name="element_2a3a96e85fa08b07e376a5e9eb64874d"/>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Per the supplied facts: retrieval does not guarantee truth and can return irrelevant evidence. If the index is stale, biased, or the retriever fetches the wrong passage, the generated answer will be confidently grounded in bad material.</a:t>
            </a:r>
            <a:endParaRPr lang="en-US" sz="1900" dirty="0"/>
          </a:p>
        </p:txBody>
      </p:sp>
      <p:sp>
        <p:nvSpPr>
          <p:cNvPr id="6" name="element_41b2599556eee35bcfb7ebaa442522df"/>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Irrelevant retrieval: the wrong passage can still be quoted fluently.</a:t>
            </a:r>
            <a:endParaRPr lang="en-US" sz="1700" dirty="0"/>
          </a:p>
        </p:txBody>
      </p:sp>
      <p:sp>
        <p:nvSpPr>
          <p:cNvPr id="7" name="element_648f3ab544035c2663bc54c9611267d2"/>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Garbage in, garbage out: grounding inherits document quality.</a:t>
            </a:r>
            <a:endParaRPr lang="en-US" sz="1700" dirty="0"/>
          </a:p>
        </p:txBody>
      </p:sp>
      <p:sp>
        <p:nvSpPr>
          <p:cNvPr id="8" name="element_0c94f4dbda4ae916a48a57328b1e4549"/>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Human review stays necessary for high-stakes decisions.</a:t>
            </a:r>
            <a:endParaRPr lang="en-US" sz="1700" dirty="0"/>
          </a:p>
        </p:txBody>
      </p:sp>
      <p:sp>
        <p:nvSpPr>
          <p:cNvPr id="9" name="element_4bff258d30b1989fd78398929dd28f53: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4bff258d30b1989fd78398929dd28f53: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placeholder: a reviewer comparing a generated answer against retrieved source passages, flagging one irrelevant passage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no licensed image supplied; replace with a sourced photo or screenshot of your retrieval review workflow</a:t>
            </a:r>
            <a:endParaRPr lang="en-US" sz="1400" dirty="0"/>
          </a:p>
        </p:txBody>
      </p:sp>
      <p:sp>
        <p:nvSpPr>
          <p:cNvPr id="11" name="element_f37da97f1fec1c104b3ac7d82bda25bc"/>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 no licensed image supplied; replace with a sourced photo or screenshot of your retrieval review workflow</a:t>
            </a:r>
            <a:endParaRPr lang="en-US" sz="1400" dirty="0"/>
          </a:p>
        </p:txBody>
      </p:sp>
      <p:sp>
        <p:nvSpPr>
          <p:cNvPr id="12" name="element_7d5806b3836ab1855b4f1787f45e506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d6811af09d7d213309db59d3b3824fbf"/>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bc8eb9e3fd3611cde1dcad0a76ecc77a"/>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15667e8048cc745732b13a629565cbc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06eae7bdd31a091d0f4de4c32db7601e"/>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Use RAG when answers must be current, sourced, and checkable</a:t>
            </a:r>
            <a:endParaRPr lang="en-US" sz="3800" dirty="0"/>
          </a:p>
        </p:txBody>
      </p:sp>
      <p:sp>
        <p:nvSpPr>
          <p:cNvPr id="5" name="element_b92cf5ceb00a781d0c44960d2d86c7a5"/>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Summary: memory-only models fail silently; RAG adds indexing, retrieval, and grounded generation; evaluation measures whether claims are supported; and retrieval never guarantees truth. Decide with the checklist below.</a:t>
            </a:r>
            <a:endParaRPr lang="en-US" sz="1900" dirty="0"/>
          </a:p>
        </p:txBody>
      </p:sp>
      <p:sp>
        <p:nvSpPr>
          <p:cNvPr id="6" name="element_a0b269d3a927769996eaae936d3c7657"/>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Do answers depend on your current, approved documents? If yes, RAG helps.</a:t>
            </a:r>
            <a:endParaRPr lang="en-US" sz="1700" dirty="0"/>
          </a:p>
        </p:txBody>
      </p:sp>
      <p:sp>
        <p:nvSpPr>
          <p:cNvPr id="7" name="element_aa0fabafd4ae31aa582396a17ee2835e"/>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Must reviewers verify sources? RAG provides inspectable provenance.</a:t>
            </a:r>
            <a:endParaRPr lang="en-US" sz="1700" dirty="0"/>
          </a:p>
        </p:txBody>
      </p:sp>
      <p:sp>
        <p:nvSpPr>
          <p:cNvPr id="8" name="element_a045551053570a1d1ed4927c29d2d776"/>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Can you run claim-support evaluation? If not, fix that before launch.</a:t>
            </a:r>
            <a:endParaRPr lang="en-US" sz="1700" dirty="0"/>
          </a:p>
        </p:txBody>
      </p:sp>
      <p:sp>
        <p:nvSpPr>
          <p:cNvPr id="9" name="element_326131959989c283cfc191482934c055"/>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3</a:t>
            </a:r>
            <a:endParaRPr lang="en-US" sz="5600" dirty="0"/>
          </a:p>
        </p:txBody>
      </p:sp>
      <p:sp>
        <p:nvSpPr>
          <p:cNvPr id="10" name="element_22ffbfb25149a47ce40ac42483cf086c"/>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checks to pass before choosing RAG</a:t>
            </a:r>
            <a:endParaRPr lang="en-US" sz="1500" dirty="0"/>
          </a:p>
        </p:txBody>
      </p:sp>
      <p:sp>
        <p:nvSpPr>
          <p:cNvPr id="11" name="element_9c734031abc742f04d8653a9b198ff5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7cae8bc71c430485eef972b5d8632f2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educational explainer for non-specialist product…</dc:title>
  <dc:subject>Create an editable, reviewable presentation from this idea</dc:subject>
  <dc:creator>NodeSlide</dc:creator>
  <cp:lastModifiedBy>NodeSlide</cp:lastModifiedBy>
  <cp:revision>1</cp:revision>
  <dcterms:created xsi:type="dcterms:W3CDTF">2026-07-21T23:58:46Z</dcterms:created>
  <dcterms:modified xsi:type="dcterms:W3CDTF">2026-07-21T23:58:46Z</dcterms:modified>
</cp:coreProperties>
</file>