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Deterministic Templates</c:v>
                  </c:pt>
                  <c:pt idx="1">
                    <c:v>General Model</c:v>
                  </c:pt>
                  <c:pt idx="2">
                    <c:v>Specialized Harness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74</c:v>
                </c:pt>
                <c:pt idx="2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“Three deck‑generation strategies under review”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“Quality vs. turnaround time”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[source_29507c0bbd0ada95658e240724ae55e7]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“End‑to‑end process of the model‑specialized agent”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[source_29507c0bbd0ada95658e240724ae55e7]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“Key risks and mitigation actions”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[source_29507c0bbd0ada95658e240724ae55e7]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“Quantifying expected board impact”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[source_29507c0bbd0ada95658e240724ae55e7]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“Adopt the model‑specialized agent harness”
Evidence note: Content is based on the supplied creation brief. Illustrative examples are not independently verified; replace them with measured evidence before external publication.
NodeSlide sources
[source_942c07c38e02b96d4fa1cf234b6761d8]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[source_29507c0bbd0ada95658e240724ae55e7]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5a8ce6421648796fd1191cdbb90def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0e2f8dda8bf880ed641056b04ea578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bd8bd52f3fc39c3913c4f46c506a6487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deck‑generation strategies under review</a:t>
            </a:r>
            <a:endParaRPr lang="en-US" sz="4800" dirty="0"/>
          </a:p>
        </p:txBody>
      </p:sp>
      <p:sp>
        <p:nvSpPr>
          <p:cNvPr id="5" name="element_d3db84359a5cfd1b2e836061b98e6880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Product leaders need to choose a method that balances quality and speed for board‑ready decks.</a:t>
            </a:r>
            <a:endParaRPr lang="en-US" sz="1900" dirty="0"/>
          </a:p>
        </p:txBody>
      </p:sp>
      <p:sp>
        <p:nvSpPr>
          <p:cNvPr id="6" name="element_6f62667d0f65a25696f208c521bc9d2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Deterministic templates: 62/100 quality, 20 s</a:t>
            </a:r>
            <a:endParaRPr lang="en-US" sz="1600" dirty="0"/>
          </a:p>
        </p:txBody>
      </p:sp>
      <p:sp>
        <p:nvSpPr>
          <p:cNvPr id="7" name="element_f8aacdce8c71c2e9fc4be901fd7e395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Single general model: 74/100 quality, 95 s</a:t>
            </a:r>
            <a:endParaRPr lang="en-US" sz="1600" dirty="0"/>
          </a:p>
        </p:txBody>
      </p:sp>
      <p:sp>
        <p:nvSpPr>
          <p:cNvPr id="8" name="element_47a67303c699b4ac33ae3ed88754c3f0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Model‑specialized agent harness: 86/100 quality, 130 s</a:t>
            </a:r>
            <a:endParaRPr lang="en-US" sz="1600" dirty="0"/>
          </a:p>
        </p:txBody>
      </p:sp>
      <p:sp>
        <p:nvSpPr>
          <p:cNvPr id="9" name="element_762d6c7446daba14cf8b8c7da9a5714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cb15194b65833840e777817aa6d6f3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038219a97295e64d266e9c18c5ef1e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e14a69d89cf7ed0008549d9d754a97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e14a20f10d0afd77a7acdc2bf74b3ca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vs. turnaround time</a:t>
            </a:r>
            <a:endParaRPr lang="en-US" sz="3800" dirty="0"/>
          </a:p>
        </p:txBody>
      </p:sp>
      <p:sp>
        <p:nvSpPr>
          <p:cNvPr id="5" name="element_939cc39884c56b296b7b9b952a67451e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side‑by‑side view shows the specialized harness delivers the highest quality, albeit with longer runtime.</a:t>
            </a:r>
            <a:endParaRPr lang="en-US" sz="1900" dirty="0"/>
          </a:p>
        </p:txBody>
      </p:sp>
      <p:sp>
        <p:nvSpPr>
          <p:cNvPr id="6" name="element_1070be5d8a03dfa9a47391bcaa186409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Context</a:t>
            </a:r>
            <a:endParaRPr lang="en-US" sz="1700" dirty="0"/>
          </a:p>
        </p:txBody>
      </p:sp>
      <p:sp>
        <p:nvSpPr>
          <p:cNvPr id="7" name="element_f1515d9133d3777a0202fb9f079b4491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</a:t>
            </a:r>
            <a:endParaRPr lang="en-US" sz="1700" dirty="0"/>
          </a:p>
        </p:txBody>
      </p:sp>
      <p:sp>
        <p:nvSpPr>
          <p:cNvPr id="8" name="element_09c0792bb4db30ce22d9e9c8dba59762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Outcome</a:t>
            </a:r>
            <a:endParaRPr lang="en-US" sz="1700" dirty="0"/>
          </a:p>
        </p:txBody>
      </p:sp>
      <p:graphicFrame>
        <p:nvGraphicFramePr>
          <p:cNvPr id="9" name="element_92a9dc8d8904b7e8fd1c9c569c2713c2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ab21716a8f7cbf5fcaefc95227cecc5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3289824eaa545085632ef16be81678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047f970932e8e7305953be22b7890fd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76684893602c0ae29996fba2ae1509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079d064f2c73d8f5eb3145161f7e5fb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End‑to‑end process of the model‑specialized agent</a:t>
            </a:r>
            <a:endParaRPr lang="en-US" sz="3800" dirty="0"/>
          </a:p>
        </p:txBody>
      </p:sp>
      <p:sp>
        <p:nvSpPr>
          <p:cNvPr id="5" name="element_5cd196173b73d4d25c7ed92ef407bc02"/>
          <p:cNvSpPr txBox="1"/>
          <p:nvPr/>
        </p:nvSpPr>
        <p:spPr>
          <a:xfrm>
            <a:off x="7436934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harness automates prompt engineering, model fine‑tuning, and output validation to produce board‑ready decks.</a:t>
            </a:r>
            <a:endParaRPr lang="en-US" sz="1700" dirty="0"/>
          </a:p>
        </p:txBody>
      </p:sp>
      <p:sp>
        <p:nvSpPr>
          <p:cNvPr id="6" name="element_60a3a684a26808c591d809e9e875feaa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Context</a:t>
            </a:r>
            <a:endParaRPr lang="en-US" sz="1700" dirty="0"/>
          </a:p>
        </p:txBody>
      </p:sp>
      <p:sp>
        <p:nvSpPr>
          <p:cNvPr id="7" name="element_195e941af4eab6d4a77284842427de32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</a:t>
            </a:r>
            <a:endParaRPr lang="en-US" sz="1700" dirty="0"/>
          </a:p>
        </p:txBody>
      </p:sp>
      <p:sp>
        <p:nvSpPr>
          <p:cNvPr id="8" name="element_a29c0b3dde4438a7c64e008286a02a2a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Outcome</a:t>
            </a:r>
            <a:endParaRPr lang="en-US" sz="1700" dirty="0"/>
          </a:p>
        </p:txBody>
      </p:sp>
      <p:sp>
        <p:nvSpPr>
          <p:cNvPr id="9" name="element_2f447e8fd68e885cfc8f62e5521253ba"/>
          <p:cNvSpPr/>
          <p:nvPr/>
        </p:nvSpPr>
        <p:spPr>
          <a:xfrm>
            <a:off x="5470414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b80df7dfa5cded5de3aafcdfa91cbe46"/>
          <p:cNvSpPr/>
          <p:nvPr/>
        </p:nvSpPr>
        <p:spPr>
          <a:xfrm>
            <a:off x="3840384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b7e024e5ae97eedad22bc1cc14d2b68d"/>
          <p:cNvSpPr/>
          <p:nvPr/>
        </p:nvSpPr>
        <p:spPr>
          <a:xfrm>
            <a:off x="2209135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d94c45031a0f1480eb57e6b110b59295"/>
          <p:cNvSpPr/>
          <p:nvPr/>
        </p:nvSpPr>
        <p:spPr>
          <a:xfrm>
            <a:off x="2209135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520f3815bac45169f0c2480b3423cea7"/>
          <p:cNvSpPr/>
          <p:nvPr/>
        </p:nvSpPr>
        <p:spPr>
          <a:xfrm>
            <a:off x="2090876" y="4375404"/>
            <a:ext cx="374407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4" name="element_8b83052575c089d729b7ff6c87663930"/>
          <p:cNvSpPr/>
          <p:nvPr/>
        </p:nvSpPr>
        <p:spPr>
          <a:xfrm>
            <a:off x="5744727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8b83052575c089d729b7ff6c87663930:text"/>
          <p:cNvSpPr txBox="1"/>
          <p:nvPr/>
        </p:nvSpPr>
        <p:spPr>
          <a:xfrm>
            <a:off x="5744727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Input Requirements</a:t>
            </a:r>
            <a:endParaRPr lang="en-US" sz="1600" dirty="0"/>
          </a:p>
        </p:txBody>
      </p:sp>
      <p:sp>
        <p:nvSpPr>
          <p:cNvPr id="16" name="element_736e90664fa24040b168a57dc655e325"/>
          <p:cNvSpPr/>
          <p:nvPr/>
        </p:nvSpPr>
        <p:spPr>
          <a:xfrm>
            <a:off x="4113478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736e90664fa24040b168a57dc655e325:text"/>
          <p:cNvSpPr txBox="1"/>
          <p:nvPr/>
        </p:nvSpPr>
        <p:spPr>
          <a:xfrm>
            <a:off x="4113478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Agent‑Driven Prompt Engineering</a:t>
            </a:r>
            <a:endParaRPr lang="en-US" sz="1600" dirty="0"/>
          </a:p>
        </p:txBody>
      </p:sp>
      <p:sp>
        <p:nvSpPr>
          <p:cNvPr id="18" name="element_73e8ab5d39b10a8fb69ab3ac81e04952"/>
          <p:cNvSpPr/>
          <p:nvPr/>
        </p:nvSpPr>
        <p:spPr>
          <a:xfrm>
            <a:off x="2483448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73e8ab5d39b10a8fb69ab3ac81e04952:text"/>
          <p:cNvSpPr txBox="1"/>
          <p:nvPr/>
        </p:nvSpPr>
        <p:spPr>
          <a:xfrm>
            <a:off x="2483448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Model‑Specialized Generation</a:t>
            </a:r>
            <a:endParaRPr lang="en-US" sz="1600" dirty="0"/>
          </a:p>
        </p:txBody>
      </p:sp>
      <p:sp>
        <p:nvSpPr>
          <p:cNvPr id="20" name="element_6856ee34b260d374514b9c95ba18e52f"/>
          <p:cNvSpPr/>
          <p:nvPr/>
        </p:nvSpPr>
        <p:spPr>
          <a:xfrm>
            <a:off x="852199" y="3377565"/>
            <a:ext cx="1326456" cy="96012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21" name="element_6856ee34b260d374514b9c95ba18e52f:text"/>
          <p:cNvSpPr txBox="1"/>
          <p:nvPr/>
        </p:nvSpPr>
        <p:spPr>
          <a:xfrm>
            <a:off x="852199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Quality Review Loop</a:t>
            </a:r>
            <a:endParaRPr lang="en-US" sz="1600" dirty="0"/>
          </a:p>
        </p:txBody>
      </p:sp>
      <p:sp>
        <p:nvSpPr>
          <p:cNvPr id="22" name="element_3f6ea933d25e712cdb5b73421003daef"/>
          <p:cNvSpPr/>
          <p:nvPr/>
        </p:nvSpPr>
        <p:spPr>
          <a:xfrm>
            <a:off x="5744727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3" name="element_3f6ea933d25e712cdb5b73421003daef:text"/>
          <p:cNvSpPr txBox="1"/>
          <p:nvPr/>
        </p:nvSpPr>
        <p:spPr>
          <a:xfrm>
            <a:off x="5744727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Final Deck Output</a:t>
            </a:r>
            <a:endParaRPr lang="en-US" sz="1600" dirty="0"/>
          </a:p>
        </p:txBody>
      </p:sp>
      <p:sp>
        <p:nvSpPr>
          <p:cNvPr id="24" name="element_2f1f5688e2e7cff23d4b9880e500e8de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5" name="element_48ce0f0751aaa4dc3ffa9feac03c62e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8c2dd68e69b09f4f936ccb5115b710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194eb62307d82dfd562ca5a838e816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7e21fda1e59befc7665c5a28e84ac48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and mitigation actions</a:t>
            </a:r>
            <a:endParaRPr lang="en-US" sz="3800" dirty="0"/>
          </a:p>
        </p:txBody>
      </p:sp>
      <p:sp>
        <p:nvSpPr>
          <p:cNvPr id="5" name="element_f25409e6b1ec80b8cdbd8c825b0c361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Evaluates likelihood vs impact for adopting each strategy.</a:t>
            </a:r>
            <a:endParaRPr lang="en-US" sz="1700" dirty="0"/>
          </a:p>
        </p:txBody>
      </p:sp>
      <p:sp>
        <p:nvSpPr>
          <p:cNvPr id="6" name="element_4bb81e32feb33d861b1c708e03f133cd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Context</a:t>
            </a:r>
            <a:endParaRPr lang="en-US" sz="1700" dirty="0"/>
          </a:p>
        </p:txBody>
      </p:sp>
      <p:sp>
        <p:nvSpPr>
          <p:cNvPr id="7" name="element_a25234b0ae7743408a3f21ccc9e2ba0b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</a:t>
            </a:r>
            <a:endParaRPr lang="en-US" sz="1700" dirty="0"/>
          </a:p>
        </p:txBody>
      </p:sp>
      <p:sp>
        <p:nvSpPr>
          <p:cNvPr id="8" name="element_1e4e8eddfaf8106956480e60603c4fc3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Outcome</a:t>
            </a:r>
            <a:endParaRPr lang="en-US" sz="1700" dirty="0"/>
          </a:p>
        </p:txBody>
      </p:sp>
      <p:sp>
        <p:nvSpPr>
          <p:cNvPr id="9" name="element_16de63e425ca6e43df4b6532b7c3d032"/>
          <p:cNvSpPr/>
          <p:nvPr/>
        </p:nvSpPr>
        <p:spPr>
          <a:xfrm>
            <a:off x="8089190" y="3832250"/>
            <a:ext cx="28040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782195ac662db1350211f722f29dcb33"/>
          <p:cNvSpPr/>
          <p:nvPr/>
        </p:nvSpPr>
        <p:spPr>
          <a:xfrm>
            <a:off x="8089190" y="4918558"/>
            <a:ext cx="28040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d7eb3c2b65e9891996874f960c09e09b"/>
          <p:cNvSpPr/>
          <p:nvPr/>
        </p:nvSpPr>
        <p:spPr>
          <a:xfrm>
            <a:off x="5120512" y="2948940"/>
            <a:ext cx="6217765" cy="845591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d7eb3c2b65e9891996874f960c09e09b:text"/>
          <p:cNvSpPr txBox="1"/>
          <p:nvPr/>
        </p:nvSpPr>
        <p:spPr>
          <a:xfrm>
            <a:off x="5120512" y="2948940"/>
            <a:ext cx="6217765" cy="845591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Low Quality Risk</a:t>
            </a:r>
            <a:endParaRPr lang="en-US" sz="1600" dirty="0"/>
          </a:p>
        </p:txBody>
      </p:sp>
      <p:sp>
        <p:nvSpPr>
          <p:cNvPr id="13" name="element_003d71cc28bf066d5d09b674814df3b2"/>
          <p:cNvSpPr/>
          <p:nvPr/>
        </p:nvSpPr>
        <p:spPr>
          <a:xfrm>
            <a:off x="5120512" y="4034561"/>
            <a:ext cx="6217765" cy="845591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003d71cc28bf066d5d09b674814df3b2:text"/>
          <p:cNvSpPr txBox="1"/>
          <p:nvPr/>
        </p:nvSpPr>
        <p:spPr>
          <a:xfrm>
            <a:off x="5120512" y="4034561"/>
            <a:ext cx="6217765" cy="845591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Delay Risk</a:t>
            </a:r>
            <a:endParaRPr lang="en-US" sz="1600" dirty="0"/>
          </a:p>
        </p:txBody>
      </p:sp>
      <p:sp>
        <p:nvSpPr>
          <p:cNvPr id="15" name="element_b706436dc164ceac7de40905c2078269"/>
          <p:cNvSpPr/>
          <p:nvPr/>
        </p:nvSpPr>
        <p:spPr>
          <a:xfrm>
            <a:off x="5120512" y="5120869"/>
            <a:ext cx="6217765" cy="845591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b706436dc164ceac7de40905c2078269:text"/>
          <p:cNvSpPr txBox="1"/>
          <p:nvPr/>
        </p:nvSpPr>
        <p:spPr>
          <a:xfrm>
            <a:off x="5120512" y="5120869"/>
            <a:ext cx="6217765" cy="845591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Complexity Risk</a:t>
            </a:r>
            <a:endParaRPr lang="en-US" sz="1600" dirty="0"/>
          </a:p>
        </p:txBody>
      </p:sp>
      <p:sp>
        <p:nvSpPr>
          <p:cNvPr id="17" name="element_33bc549544d9641f38b1605e8895319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72e883864cd2dfcdc333d2c7de202cf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ee74c037a1ffae7f43d2e431205b59c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bb6cbd7e6e3b650c118b187e687ab97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42c03d1c076903f363030c35c490b27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Quantifying expected board impact</a:t>
            </a:r>
            <a:endParaRPr lang="en-US" sz="3800" dirty="0"/>
          </a:p>
        </p:txBody>
      </p:sp>
      <p:sp>
        <p:nvSpPr>
          <p:cNvPr id="5" name="element_1a4954eaabe853c1c7293100b4a8027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Combines quality score with time penalty to estimate overall value.</a:t>
            </a:r>
            <a:endParaRPr lang="en-US" sz="1900" dirty="0"/>
          </a:p>
        </p:txBody>
      </p:sp>
      <p:sp>
        <p:nvSpPr>
          <p:cNvPr id="6" name="element_7283740927e04c22b2c92724b10da9f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Context</a:t>
            </a:r>
            <a:endParaRPr lang="en-US" sz="1700" dirty="0"/>
          </a:p>
        </p:txBody>
      </p:sp>
      <p:sp>
        <p:nvSpPr>
          <p:cNvPr id="7" name="element_d11b05116a64f3d36703fea5901c462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</a:t>
            </a:r>
            <a:endParaRPr lang="en-US" sz="1700" dirty="0"/>
          </a:p>
        </p:txBody>
      </p:sp>
      <p:sp>
        <p:nvSpPr>
          <p:cNvPr id="8" name="element_c2f04f5c62ee3665aee9a65b44b6ed8a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Outcome</a:t>
            </a:r>
            <a:endParaRPr lang="en-US" sz="1700" dirty="0"/>
          </a:p>
        </p:txBody>
      </p:sp>
      <p:sp>
        <p:nvSpPr>
          <p:cNvPr id="9" name="element_6475461f026947c836bd7181bd1d0b42"/>
          <p:cNvSpPr txBox="1"/>
          <p:nvPr/>
        </p:nvSpPr>
        <p:spPr>
          <a:xfrm>
            <a:off x="6271408" y="2814523"/>
            <a:ext cx="5135142" cy="1777594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 = Q ÷ (T/60)</a:t>
            </a:r>
            <a:endParaRPr lang="en-US" sz="3000" dirty="0"/>
          </a:p>
        </p:txBody>
      </p:sp>
      <p:sp>
        <p:nvSpPr>
          <p:cNvPr id="10" name="element_83e008516d54001eff10c192fb509ea1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349b96823f40514a0d941b93d3f7a9f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014a4630613f7f3d2c1e2fce7a736a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db24fc389182173545a5aa046d3c03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b96474203b3e09acf376d2e104e9c45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the model‑specialized agent harness</a:t>
            </a:r>
            <a:endParaRPr lang="en-US" sz="3800" dirty="0"/>
          </a:p>
        </p:txBody>
      </p:sp>
      <p:sp>
        <p:nvSpPr>
          <p:cNvPr id="5" name="element_9299e96659758c824740bde581b3c521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It delivers the highest quality and aligns with strategic goals; next steps: pilot, training, rollout.</a:t>
            </a:r>
            <a:endParaRPr lang="en-US" sz="1900" dirty="0"/>
          </a:p>
        </p:txBody>
      </p:sp>
      <p:sp>
        <p:nvSpPr>
          <p:cNvPr id="6" name="element_130c6314c3d597e81df4310978a103c1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Context</a:t>
            </a:r>
            <a:endParaRPr lang="en-US" sz="1700" dirty="0"/>
          </a:p>
        </p:txBody>
      </p:sp>
      <p:sp>
        <p:nvSpPr>
          <p:cNvPr id="7" name="element_2d8aef089eeb1726c6a53187778760eb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</a:t>
            </a:r>
            <a:endParaRPr lang="en-US" sz="1700" dirty="0"/>
          </a:p>
        </p:txBody>
      </p:sp>
      <p:sp>
        <p:nvSpPr>
          <p:cNvPr id="8" name="element_1b66b1fedfcff0670075f31e13b16909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Outcome</a:t>
            </a:r>
            <a:endParaRPr lang="en-US" sz="1700" dirty="0"/>
          </a:p>
        </p:txBody>
      </p:sp>
      <p:sp>
        <p:nvSpPr>
          <p:cNvPr id="9" name="element_7d6db23f949df5eb302053194bb476c4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7d6db23f949df5eb302053194bb476c4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Illustration of a specialized AI agent generating a board deck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placeholder</a:t>
            </a:r>
            <a:endParaRPr lang="en-US" sz="1400" dirty="0"/>
          </a:p>
        </p:txBody>
      </p:sp>
      <p:sp>
        <p:nvSpPr>
          <p:cNvPr id="11" name="element_58d0fca125c34455ea7dd01ef7f3835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NodeSlide placeholder</a:t>
            </a:r>
            <a:endParaRPr lang="en-US" sz="1400" dirty="0"/>
          </a:p>
        </p:txBody>
      </p:sp>
      <p:sp>
        <p:nvSpPr>
          <p:cNvPr id="12" name="element_33e21a80882fef3367f1d4ea2fe972b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b051334c4215442bc103f01bea3b82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6-slide evidence-led board deck for product leaders comparin…</dc:title>
  <dc:subject>Create an editable, reviewable presentation from this idea</dc:subject>
  <dc:creator>NodeSlide</dc:creator>
  <cp:lastModifiedBy>NodeSlide</cp:lastModifiedBy>
  <cp:revision>1</cp:revision>
  <dcterms:created xsi:type="dcterms:W3CDTF">2026-07-22T01:12:35Z</dcterms:created>
  <dcterms:modified xsi:type="dcterms:W3CDTF">2026-07-22T01:12:35Z</dcterms:modified>
</cp:coreProperties>
</file>