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Trial 1</c:v>
                  </c:pt>
                  <c:pt idx="1">
                    <c:v>Trial 2</c:v>
                  </c:pt>
                  <c:pt idx="2">
                    <c:v>Trial 3</c:v>
                  </c:pt>
                  <c:pt idx="3">
                    <c:v>Trial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15.2</c:v>
                </c:pt>
                <c:pt idx="2">
                  <c:v>18.8</c:v>
                </c:pt>
                <c:pt idx="3">
                  <c:v>22.1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Introduction. Keep the spoken transition focused on “Evaluating Quality-Cost Dynamics”
Evidence note: Content is based on the supplied creation brief. Illustrative examples are not independently verified; replace them with measured evidence before external publication.
NodeSlide sources
[source_358c9f2d132eca5d4a3527442b14e23c]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[source_42ab398a55850660c6ee8d920a6243b2]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Process. Keep the spoken transition focused on “The Benchmarking Lifecycle”
Evidence note: Content is based on the supplied creation brief. Illustrative examples are not independently verified; replace them with measured evidence before external publication.
NodeSlide sources
[source_358c9f2d132eca5d4a3527442b14e23c]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[source_42ab398a55850660c6ee8d920a6243b2]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Proof. Keep the spoken transition focused on “Quality-Cost Metric Formula”
Evidence note: Content is based on the supplied creation brief. Illustrative examples are not independently verified; replace them with measured evidence before external publication.
NodeSlide sources
[source_358c9f2d132eca5d4a3527442b14e23c]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[source_42ab398a55850660c6ee8d920a6243b2]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Proof. Keep the spoken transition focused on “Latency vs. Cost Impact”
Evidence note: Content is based on the supplied creation brief. Illustrative examples are not independently verified; replace them with measured evidence before external publication.
NodeSlide sources
[source_358c9f2d132eca5d4a3527442b14e23c]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[source_42ab398a55850660c6ee8d920a6243b2]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Architecture. Keep the spoken transition focused on “Benchmark Infrastructure”
Evidence note: Content is based on the supplied creation brief. Illustrative examples are not independently verified; replace them with measured evidence before external publication.
NodeSlide sources
[source_358c9f2d132eca5d4a3527442b14e23c]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[source_42ab398a55850660c6ee8d920a6243b2]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Decision. Keep the spoken transition focused on “Implementation Roadmap”
Evidence note: Content is based on the supplied creation brief. Illustrative examples are not independently verified; replace them with measured evidence before external publication.
NodeSlide sources
[source_358c9f2d132eca5d4a3527442b14e23c]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[source_42ab398a55850660c6ee8d920a6243b2]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82395b3076239269c1604657fbeffa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478085d6040c640ca1de7b29010a2f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4" name="element_3df727975beedce17a1b08669c6c9d41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Quality-Cost Dynamics</a:t>
            </a:r>
            <a:endParaRPr lang="en-US" sz="4800" dirty="0"/>
          </a:p>
        </p:txBody>
      </p:sp>
      <p:sp>
        <p:nvSpPr>
          <p:cNvPr id="5" name="element_a67b93f73ca9fad2734a1253bb348d2f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Establishing a deterministic benchmark for performance evaluation using the ArtifactSpec equation validator v1.</a:t>
            </a:r>
            <a:endParaRPr lang="en-US" sz="1900" dirty="0"/>
          </a:p>
        </p:txBody>
      </p:sp>
      <p:sp>
        <p:nvSpPr>
          <p:cNvPr id="6" name="element_fe1cf0c0f5c338d8a3b503401e55c06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Objective: Quantify cost-quality relationships</a:t>
            </a:r>
            <a:endParaRPr lang="en-US" sz="1600" dirty="0"/>
          </a:p>
        </p:txBody>
      </p:sp>
      <p:sp>
        <p:nvSpPr>
          <p:cNvPr id="7" name="element_e01d9b9a76fcc097e8b957442487826b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Context: Deterministic fixture testing</a:t>
            </a:r>
            <a:endParaRPr lang="en-US" sz="1600" dirty="0"/>
          </a:p>
        </p:txBody>
      </p:sp>
      <p:sp>
        <p:nvSpPr>
          <p:cNvPr id="8" name="element_19a68c2e3622550fb8bc81926f02ba8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Framework: ArtifactSpec v1</a:t>
            </a:r>
            <a:endParaRPr lang="en-US" sz="1600" dirty="0"/>
          </a:p>
        </p:txBody>
      </p:sp>
      <p:sp>
        <p:nvSpPr>
          <p:cNvPr id="9" name="element_8f6e00c9d4da594c7d1ce6f1941aac5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391061fa33ffffd2a1bb729dcfaf496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1049c2b1d1918b9dc8e6a37bc46e88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e4af1639dcf0a825f2d9889ccca8ff0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PROCESS</a:t>
            </a:r>
            <a:endParaRPr lang="en-US" sz="1500" dirty="0"/>
          </a:p>
        </p:txBody>
      </p:sp>
      <p:sp>
        <p:nvSpPr>
          <p:cNvPr id="4" name="element_3f106c83d647d04d36e8166be364b092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Benchmarking Lifecycle</a:t>
            </a:r>
            <a:endParaRPr lang="en-US" sz="3800" dirty="0"/>
          </a:p>
        </p:txBody>
      </p:sp>
      <p:sp>
        <p:nvSpPr>
          <p:cNvPr id="5" name="element_d7f132b908c140176410c8744a89b0ac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structured approach to data ingestion and equation validation.</a:t>
            </a:r>
            <a:endParaRPr lang="en-US" sz="1700" dirty="0"/>
          </a:p>
        </p:txBody>
      </p:sp>
      <p:sp>
        <p:nvSpPr>
          <p:cNvPr id="6" name="element_61d4409dde38098e507c64807590ad52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Data Ingestion: Deterministic fixture input</a:t>
            </a:r>
            <a:endParaRPr lang="en-US" sz="1700" dirty="0"/>
          </a:p>
        </p:txBody>
      </p:sp>
      <p:sp>
        <p:nvSpPr>
          <p:cNvPr id="7" name="element_4afa500c980f40bf01a9c4619ec11f37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Processing: Weight application</a:t>
            </a:r>
            <a:endParaRPr lang="en-US" sz="1700" dirty="0"/>
          </a:p>
        </p:txBody>
      </p:sp>
      <p:sp>
        <p:nvSpPr>
          <p:cNvPr id="8" name="element_2491d8db36410469c9ad522e34485d84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Validation: ArtifactSpec compliance</a:t>
            </a:r>
            <a:endParaRPr lang="en-US" sz="1700" dirty="0"/>
          </a:p>
        </p:txBody>
      </p:sp>
      <p:sp>
        <p:nvSpPr>
          <p:cNvPr id="9" name="element_de03c203cd79de29a785aee72542587a"/>
          <p:cNvSpPr/>
          <p:nvPr/>
        </p:nvSpPr>
        <p:spPr>
          <a:xfrm>
            <a:off x="7019978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89e9336201656cb208564b0a436399cd"/>
          <p:cNvSpPr/>
          <p:nvPr/>
        </p:nvSpPr>
        <p:spPr>
          <a:xfrm>
            <a:off x="9194977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87acf6479935f2956986bb034515439c"/>
          <p:cNvSpPr/>
          <p:nvPr/>
        </p:nvSpPr>
        <p:spPr>
          <a:xfrm>
            <a:off x="6922445" y="4375404"/>
            <a:ext cx="261511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4829a01a22a466b73df47bf081f6f7ac"/>
          <p:cNvSpPr/>
          <p:nvPr/>
        </p:nvSpPr>
        <p:spPr>
          <a:xfrm>
            <a:off x="5045753" y="3339160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element_4829a01a22a466b73df47bf081f6f7ac:text"/>
          <p:cNvSpPr txBox="1"/>
          <p:nvPr/>
        </p:nvSpPr>
        <p:spPr>
          <a:xfrm>
            <a:off x="5045753" y="3339160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Input Fixture</a:t>
            </a:r>
            <a:endParaRPr lang="en-US" sz="1600" dirty="0"/>
          </a:p>
        </p:txBody>
      </p:sp>
      <p:sp>
        <p:nvSpPr>
          <p:cNvPr id="14" name="element_06ec7d49b21d036a391fc5d865a465b4"/>
          <p:cNvSpPr/>
          <p:nvPr/>
        </p:nvSpPr>
        <p:spPr>
          <a:xfrm>
            <a:off x="7219532" y="3339160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06ec7d49b21d036a391fc5d865a465b4:text"/>
          <p:cNvSpPr txBox="1"/>
          <p:nvPr/>
        </p:nvSpPr>
        <p:spPr>
          <a:xfrm>
            <a:off x="7219532" y="3339160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Weight Application</a:t>
            </a:r>
            <a:endParaRPr lang="en-US" sz="1600" dirty="0"/>
          </a:p>
        </p:txBody>
      </p:sp>
      <p:sp>
        <p:nvSpPr>
          <p:cNvPr id="16" name="element_dbb467e098d4cd8340944aa9b9eda65b"/>
          <p:cNvSpPr/>
          <p:nvPr/>
        </p:nvSpPr>
        <p:spPr>
          <a:xfrm>
            <a:off x="9394530" y="3339160"/>
            <a:ext cx="2018506" cy="103693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17" name="element_dbb467e098d4cd8340944aa9b9eda65b:text"/>
          <p:cNvSpPr txBox="1"/>
          <p:nvPr/>
        </p:nvSpPr>
        <p:spPr>
          <a:xfrm>
            <a:off x="9394530" y="3339160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Validator v1</a:t>
            </a:r>
            <a:endParaRPr lang="en-US" sz="1600" dirty="0"/>
          </a:p>
        </p:txBody>
      </p:sp>
      <p:sp>
        <p:nvSpPr>
          <p:cNvPr id="18" name="element_3b2e6c0e3b5cb68ecdab5482f914e8d4"/>
          <p:cNvSpPr/>
          <p:nvPr/>
        </p:nvSpPr>
        <p:spPr>
          <a:xfrm>
            <a:off x="5045753" y="4539310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3b2e6c0e3b5cb68ecdab5482f914e8d4:text"/>
          <p:cNvSpPr txBox="1"/>
          <p:nvPr/>
        </p:nvSpPr>
        <p:spPr>
          <a:xfrm>
            <a:off x="5045753" y="4539310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Benchmark Result</a:t>
            </a:r>
            <a:endParaRPr lang="en-US" sz="1600" dirty="0"/>
          </a:p>
        </p:txBody>
      </p:sp>
      <p:sp>
        <p:nvSpPr>
          <p:cNvPr id="20" name="element_ddc5fa93fe95a7d8a649046e9a0c08ef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91943a4a02c9b2f53c61aa6fda25be1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8d50c0b2a51f584353e409fb6c03aff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d3f1c223c2e3b7603aab572048d1fd1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PROOF</a:t>
            </a:r>
            <a:endParaRPr lang="en-US" sz="1500" dirty="0"/>
          </a:p>
        </p:txBody>
      </p:sp>
      <p:sp>
        <p:nvSpPr>
          <p:cNvPr id="4" name="element_36cdc22372bcca121a6c3578187dd533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Quality-Cost Metric Formula</a:t>
            </a:r>
            <a:endParaRPr lang="en-US" sz="3800" dirty="0"/>
          </a:p>
        </p:txBody>
      </p:sp>
      <p:sp>
        <p:nvSpPr>
          <p:cNvPr id="5" name="element_fe6f962acf29ed593ddf6ef057bb0247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derived equation used to calculate the weighted performance score.</a:t>
            </a:r>
            <a:endParaRPr lang="en-US" sz="1900" dirty="0"/>
          </a:p>
        </p:txBody>
      </p:sp>
      <p:sp>
        <p:nvSpPr>
          <p:cNvPr id="6" name="element_96985562c2621ec6493948af005012fd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Validated via ArtifactSpec v1</a:t>
            </a:r>
            <a:endParaRPr lang="en-US" sz="1700" dirty="0"/>
          </a:p>
        </p:txBody>
      </p:sp>
      <p:sp>
        <p:nvSpPr>
          <p:cNvPr id="7" name="element_7997993055da7d05bebf45a152be012a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Includes latency and cost variables</a:t>
            </a:r>
            <a:endParaRPr lang="en-US" sz="1700" dirty="0"/>
          </a:p>
        </p:txBody>
      </p:sp>
      <p:sp>
        <p:nvSpPr>
          <p:cNvPr id="8" name="element_f0c1ae58597ef95b1e0fc99750b045e0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Weight-adjusted for precision</a:t>
            </a:r>
            <a:endParaRPr lang="en-US" sz="1700" dirty="0"/>
          </a:p>
        </p:txBody>
      </p:sp>
      <p:sp>
        <p:nvSpPr>
          <p:cNvPr id="9" name="element_445af23ba5b4db4d9fd1b2119f673576"/>
          <p:cNvSpPr txBox="1"/>
          <p:nvPr/>
        </p:nvSpPr>
        <p:spPr>
          <a:xfrm>
            <a:off x="975336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Score = \frac{Q \cdot w_q}{C \cdot L}</a:t>
            </a:r>
            <a:endParaRPr lang="en-US" sz="3000" dirty="0"/>
          </a:p>
        </p:txBody>
      </p:sp>
      <p:sp>
        <p:nvSpPr>
          <p:cNvPr id="10" name="element_30b0ba2a4f33a5fa11058a61657b9668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866566e655808001920d406d3913919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ecdf5d034c40e66d7edb6238113b5b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2fcd5eacf1ad73e0a9395040d48e46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PROOF</a:t>
            </a:r>
            <a:endParaRPr lang="en-US" sz="1500" dirty="0"/>
          </a:p>
        </p:txBody>
      </p:sp>
      <p:sp>
        <p:nvSpPr>
          <p:cNvPr id="4" name="element_5c58b2acc4d3cba8c43feb41839a6a3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vs. Cost Impact</a:t>
            </a:r>
            <a:endParaRPr lang="en-US" sz="3800" dirty="0"/>
          </a:p>
        </p:txBody>
      </p:sp>
      <p:sp>
        <p:nvSpPr>
          <p:cNvPr id="5" name="element_bf995d3d54a6245233dcd8ddc422e1a8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Observed relationship between latency increases and cost efficiency.</a:t>
            </a:r>
            <a:endParaRPr lang="en-US" sz="1900" dirty="0"/>
          </a:p>
        </p:txBody>
      </p:sp>
      <p:sp>
        <p:nvSpPr>
          <p:cNvPr id="6" name="element_0a06f956298cd36b4340fb988cd34515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Data derived from deterministic fixture</a:t>
            </a:r>
            <a:endParaRPr lang="en-US" sz="1700" dirty="0"/>
          </a:p>
        </p:txBody>
      </p:sp>
      <p:sp>
        <p:nvSpPr>
          <p:cNvPr id="7" name="element_d9b6c888842b8ab4dd55273d12e4ad84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Correlation between L and C</a:t>
            </a:r>
            <a:endParaRPr lang="en-US" sz="1700" dirty="0"/>
          </a:p>
        </p:txBody>
      </p:sp>
      <p:sp>
        <p:nvSpPr>
          <p:cNvPr id="8" name="element_8b31010032d54d7d8864e76bb83afa3c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Weight-based scaling</a:t>
            </a:r>
            <a:endParaRPr lang="en-US" sz="1700" dirty="0"/>
          </a:p>
        </p:txBody>
      </p:sp>
      <p:graphicFrame>
        <p:nvGraphicFramePr>
          <p:cNvPr id="9" name="element_8b09d7934ed6142ed4dd4eab49315341" descr=""/>
          <p:cNvGraphicFramePr/>
          <p:nvPr/>
        </p:nvGraphicFramePr>
        <p:xfrm>
          <a:off x="5120512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5e95cf6e32482cc21f530fda1e3c60e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715623e0c16266569fab4a468bc0866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48bcc256a690dd821573a957f8d0eb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cffd8db6761a810c6e63fdc0d58e7d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4" name="element_85f6d2a1f7068d4ad1bc5dba0db5873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Infrastructure</a:t>
            </a:r>
            <a:endParaRPr lang="en-US" sz="3800" dirty="0"/>
          </a:p>
        </p:txBody>
      </p:sp>
      <p:sp>
        <p:nvSpPr>
          <p:cNvPr id="5" name="element_fcc96032d526ba1eab0628a1febb7bb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structural dependency of the evaluation environment.</a:t>
            </a:r>
            <a:endParaRPr lang="en-US" sz="1900" dirty="0"/>
          </a:p>
        </p:txBody>
      </p:sp>
      <p:sp>
        <p:nvSpPr>
          <p:cNvPr id="6" name="element_d3cbac3aef491cfd4b288898b834f137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Deterministic fixture layer</a:t>
            </a:r>
            <a:endParaRPr lang="en-US" sz="1700" dirty="0"/>
          </a:p>
        </p:txBody>
      </p:sp>
      <p:sp>
        <p:nvSpPr>
          <p:cNvPr id="7" name="element_aa01af1605a712f1a3e6626bde6aee49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Validator orchestration</a:t>
            </a:r>
            <a:endParaRPr lang="en-US" sz="1700" dirty="0"/>
          </a:p>
        </p:txBody>
      </p:sp>
      <p:sp>
        <p:nvSpPr>
          <p:cNvPr id="8" name="element_f3c77e6e9004df92817c374464b71b12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Metric output stream</a:t>
            </a:r>
            <a:endParaRPr lang="en-US" sz="1700" dirty="0"/>
          </a:p>
        </p:txBody>
      </p:sp>
      <p:sp>
        <p:nvSpPr>
          <p:cNvPr id="9" name="element_0e3b3c16a8e453150290a222a7409d45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0e3b3c16a8e453150290a222a7409d45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for system architecture diagram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Illustrative placeholder</a:t>
            </a:r>
            <a:endParaRPr lang="en-US" sz="1400" dirty="0"/>
          </a:p>
        </p:txBody>
      </p:sp>
      <p:sp>
        <p:nvSpPr>
          <p:cNvPr id="11" name="element_0bce555bc95aa0b5eaf5131326f3f5f8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Illustrative placeholder</a:t>
            </a:r>
            <a:endParaRPr lang="en-US" sz="1400" dirty="0"/>
          </a:p>
        </p:txBody>
      </p:sp>
      <p:sp>
        <p:nvSpPr>
          <p:cNvPr id="12" name="element_bbe08f0f1b1d043589cb74f7c3fbd93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7081228451b616766e9d4b1144f71d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0d64d231c1412510ff8826903a73e21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2c093e3c175cd7e4e4ae317c570a7ae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DECISION</a:t>
            </a:r>
            <a:endParaRPr lang="en-US" sz="1500" dirty="0"/>
          </a:p>
        </p:txBody>
      </p:sp>
      <p:sp>
        <p:nvSpPr>
          <p:cNvPr id="4" name="element_478f42e2ab50673868d1afce8ae4c52b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3800" dirty="0"/>
          </a:p>
        </p:txBody>
      </p:sp>
      <p:sp>
        <p:nvSpPr>
          <p:cNvPr id="5" name="element_5177b4b22136f0130cf57b15ed7a4387"/>
          <p:cNvSpPr txBox="1"/>
          <p:nvPr/>
        </p:nvSpPr>
        <p:spPr>
          <a:xfrm>
            <a:off x="3291758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Moving from pilot testing to full-scale deployment.</a:t>
            </a:r>
            <a:endParaRPr lang="en-US" sz="1900" dirty="0"/>
          </a:p>
        </p:txBody>
      </p:sp>
      <p:sp>
        <p:nvSpPr>
          <p:cNvPr id="6" name="element_8f14e291091ea9481d5970d4d86ce1b6"/>
          <p:cNvSpPr txBox="1"/>
          <p:nvPr/>
        </p:nvSpPr>
        <p:spPr>
          <a:xfrm>
            <a:off x="829035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Scale to larger datasets</a:t>
            </a:r>
            <a:endParaRPr lang="en-US" sz="1600" dirty="0"/>
          </a:p>
        </p:txBody>
      </p:sp>
      <p:sp>
        <p:nvSpPr>
          <p:cNvPr id="7" name="element_f90d3ec44fe6a31d4270ab081698a3f5"/>
          <p:cNvSpPr txBox="1"/>
          <p:nvPr/>
        </p:nvSpPr>
        <p:spPr>
          <a:xfrm>
            <a:off x="487667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Automate validation triggers</a:t>
            </a:r>
            <a:endParaRPr lang="en-US" sz="1600" dirty="0"/>
          </a:p>
        </p:txBody>
      </p:sp>
      <p:sp>
        <p:nvSpPr>
          <p:cNvPr id="8" name="element_fe38ac36399b1d77ca9ef8d3e04124ca"/>
          <p:cNvSpPr txBox="1"/>
          <p:nvPr/>
        </p:nvSpPr>
        <p:spPr>
          <a:xfrm>
            <a:off x="146300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Review results with stakeholders</a:t>
            </a:r>
            <a:endParaRPr lang="en-US" sz="1600" dirty="0"/>
          </a:p>
        </p:txBody>
      </p:sp>
      <p:sp>
        <p:nvSpPr>
          <p:cNvPr id="9" name="element_315b59f1b4dc0d09e0bc82f773de3275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1c0fd9b5ed671a4fb662d11dc2fe2ef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six-slide technical benchmark deck for equation</dc:title>
  <dc:subject>Create an editable, reviewable presentation from this idea</dc:subject>
  <dc:creator>NodeSlide</dc:creator>
  <cp:lastModifiedBy>NodeSlide</cp:lastModifiedBy>
  <cp:revision>1</cp:revision>
  <dcterms:created xsi:type="dcterms:W3CDTF">2026-07-22T08:04:11Z</dcterms:created>
  <dcterms:modified xsi:type="dcterms:W3CDTF">2026-07-22T08:04:11Z</dcterms:modified>
</cp:coreProperties>
</file>