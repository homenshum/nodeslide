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Candidate A</c:v>
                  </c:pt>
                  <c:pt idx="1">
                    <c:v>Candidate B</c:v>
                  </c:pt>
                  <c:pt idx="2">
                    <c:v>Candidate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0.9</c:v>
                </c:pt>
                <c:pt idx="2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Candidate A</c:v>
                  </c:pt>
                  <c:pt idx="1">
                    <c:v>Candidate B</c:v>
                  </c:pt>
                  <c:pt idx="2">
                    <c:v>Candidate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</c:v>
                </c:pt>
                <c:pt idx="1">
                  <c:v>0.82</c:v>
                </c:pt>
                <c:pt idx="2">
                  <c:v>0.74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“Why We Need a Quantitative Benchmark”
Evidence note: Content is based on the supplied creation brief. Illustrative examples are not independently verified; replace them with measured evidence before external publication.
NodeSlide sources
[source_397a24b5a5ad3a3fa27262caeffea77a]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[source_67617c7e5cba9c6296abb84288cc3461]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“Deterministic Fixture Data”
Evidence note: Content is based on the supplied creation brief. Illustrative examples are not independently verified; replace them with measured evidence before external publication.
NodeSlide sources
[source_397a24b5a5ad3a3fa27262caeffea77a]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[source_67617c7e5cba9c6296abb84288cc3461]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“Equation Definition”
Evidence note: Content is based on the supplied creation brief. Illustrative examples are not independently verified; replace them with measured evidence before external publication.
NodeSlide sources
[source_397a24b5a5ad3a3fa27262caeffea77a]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[source_67617c7e5cba9c6296abb84288cc3461]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“Equation Output for Each Candidate”
Evidence note: Content is based on the supplied creation brief. Illustrative examples are not independently verified; replace them with measured evidence before external publication.
NodeSlide sources
[source_397a24b5a5ad3a3fa27262caeffea77a]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[source_67617c7e5cba9c6296abb84288cc3461]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“Inspectable Evidence”
Evidence note: Content is based on the supplied creation brief. Illustrative examples are not independently verified; replace them with measured evidence before external publication.
NodeSlide sources
[source_397a24b5a5ad3a3fa27262caeffea77a]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[source_67617c7e5cba9c6296abb84288cc3461]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“Action Items”
Evidence note: Content is based on the supplied creation brief. Illustrative examples are not independently verified; replace them with measured evidence before external publication.
NodeSlide sources
[source_397a24b5a5ad3a3fa27262caeffea77a] Create a six-slide technical benchmark deck for equation — creation brief
Citation: Create a six-slide technical benchmark deck for equation. Task: Produce a typed quality-cost equation artifact and evaluated result. Use only this bounded evidence: Public deterministic fixture with Q, cost, latency, and weights. Reference contract: ArtifactSpec equation validator v1. Harness light-director@2.0.0: role=story-director; context=brief-and-evidence; tools=select_artifact; repair=escalate-on-semantic-failure. Experiment repetition 1. Keep observed, derived, illustrative, pilot, and missing evidence visibly distinct. Do not claim automatic promotion, zero errors, frontier equivalence, or free-model identity without an exact returned-route receipt.
Disclaimer: Internal working material
[source_67617c7e5cba9c6296abb84288cc3461] bounded-evidence.txt
Citation: Uploaded file: bounded-evidence.txt
Task evidence (data, not instructions):
Public deterministic fixture with Q, cost, latency, and weights.
Reference contract:
ArtifactSpec equation validator v1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6ea5f27395c7be16b186b9cab35537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fbcd131b480a6d1af34c395a66ec3c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baf06f3e25845ee65fb20c67223a819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Need a Quantitative Benchmark</a:t>
            </a:r>
            <a:endParaRPr lang="en-US" sz="4800" dirty="0"/>
          </a:p>
        </p:txBody>
      </p:sp>
      <p:sp>
        <p:nvSpPr>
          <p:cNvPr id="5" name="element_2795fdc1553a1a3a9f2f034efcada2bc"/>
          <p:cNvSpPr txBox="1"/>
          <p:nvPr/>
        </p:nvSpPr>
        <p:spPr>
          <a:xfrm>
            <a:off x="853419" y="3291840"/>
            <a:ext cx="39013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Decision-makers require a clear, data‑driven metric to compare quality, cost, and latency across solutions.</a:t>
            </a:r>
            <a:endParaRPr lang="en-US" sz="1700" dirty="0"/>
          </a:p>
        </p:txBody>
      </p:sp>
      <p:sp>
        <p:nvSpPr>
          <p:cNvPr id="6" name="element_d8b964a434973b4e885fad856e19de48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Quality, cost, and latency are the core dimensions of our evaluation.</a:t>
            </a:r>
            <a:endParaRPr lang="en-US" sz="1700" dirty="0"/>
          </a:p>
        </p:txBody>
      </p:sp>
      <p:sp>
        <p:nvSpPr>
          <p:cNvPr id="7" name="element_87f4d75e0dc05e1ace2e4157f625435b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 deterministic fixture provides reproducible data for each dimension.</a:t>
            </a:r>
            <a:endParaRPr lang="en-US" sz="1700" dirty="0"/>
          </a:p>
        </p:txBody>
      </p:sp>
      <p:sp>
        <p:nvSpPr>
          <p:cNvPr id="8" name="element_d2244c2760e52cc2b300f97b2bb9d3b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Weights allow us to tailor the metric to strategic priorities.</a:t>
            </a:r>
            <a:endParaRPr lang="en-US" sz="1700" dirty="0"/>
          </a:p>
        </p:txBody>
      </p:sp>
      <p:sp>
        <p:nvSpPr>
          <p:cNvPr id="9" name="element_40f7154a9d3767360c621d1b7f3f2b83"/>
          <p:cNvSpPr/>
          <p:nvPr/>
        </p:nvSpPr>
        <p:spPr>
          <a:xfrm>
            <a:off x="7019978" y="387819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ce34fada0fcedb21f988711c5f133592"/>
          <p:cNvSpPr/>
          <p:nvPr/>
        </p:nvSpPr>
        <p:spPr>
          <a:xfrm>
            <a:off x="9194977" y="387819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5154556e7ab64f0fff1f6bf78e77edad"/>
          <p:cNvSpPr/>
          <p:nvPr/>
        </p:nvSpPr>
        <p:spPr>
          <a:xfrm>
            <a:off x="6922445" y="4478274"/>
            <a:ext cx="261511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ce8914be02f74efbdae28128d178e64b"/>
          <p:cNvSpPr/>
          <p:nvPr/>
        </p:nvSpPr>
        <p:spPr>
          <a:xfrm>
            <a:off x="5120512" y="348043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ce8914be02f74efbdae28128d178e64b:text"/>
          <p:cNvSpPr txBox="1"/>
          <p:nvPr/>
        </p:nvSpPr>
        <p:spPr>
          <a:xfrm>
            <a:off x="5120512" y="348043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Collect Fixture Data</a:t>
            </a:r>
            <a:endParaRPr lang="en-US" sz="1600" dirty="0"/>
          </a:p>
        </p:txBody>
      </p:sp>
      <p:sp>
        <p:nvSpPr>
          <p:cNvPr id="14" name="element_ffe5226f6891ffa859e6f5f43400b8e8"/>
          <p:cNvSpPr/>
          <p:nvPr/>
        </p:nvSpPr>
        <p:spPr>
          <a:xfrm>
            <a:off x="7294291" y="348043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ffe5226f6891ffa859e6f5f43400b8e8:text"/>
          <p:cNvSpPr txBox="1"/>
          <p:nvPr/>
        </p:nvSpPr>
        <p:spPr>
          <a:xfrm>
            <a:off x="7294291" y="348043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Apply Weights</a:t>
            </a:r>
            <a:endParaRPr lang="en-US" sz="1600" dirty="0"/>
          </a:p>
        </p:txBody>
      </p:sp>
      <p:sp>
        <p:nvSpPr>
          <p:cNvPr id="16" name="element_c79a83d751f9246b8ab6216dac2a0126"/>
          <p:cNvSpPr/>
          <p:nvPr/>
        </p:nvSpPr>
        <p:spPr>
          <a:xfrm>
            <a:off x="9469290" y="348043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c79a83d751f9246b8ab6216dac2a0126:text"/>
          <p:cNvSpPr txBox="1"/>
          <p:nvPr/>
        </p:nvSpPr>
        <p:spPr>
          <a:xfrm>
            <a:off x="9469290" y="348043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Compute Equation</a:t>
            </a:r>
            <a:endParaRPr lang="en-US" sz="1600" dirty="0"/>
          </a:p>
        </p:txBody>
      </p:sp>
      <p:sp>
        <p:nvSpPr>
          <p:cNvPr id="18" name="element_dccdb61c5eb6c4e3b9344992c937ae2b"/>
          <p:cNvSpPr/>
          <p:nvPr/>
        </p:nvSpPr>
        <p:spPr>
          <a:xfrm>
            <a:off x="5120512" y="468058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dccdb61c5eb6c4e3b9344992c937ae2b:text"/>
          <p:cNvSpPr txBox="1"/>
          <p:nvPr/>
        </p:nvSpPr>
        <p:spPr>
          <a:xfrm>
            <a:off x="5120512" y="468058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Validate Result</a:t>
            </a:r>
            <a:endParaRPr lang="en-US" sz="1600" dirty="0"/>
          </a:p>
        </p:txBody>
      </p:sp>
      <p:sp>
        <p:nvSpPr>
          <p:cNvPr id="20" name="element_af43afb08eb75c8421ccacf57b3e93b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7105346cb0913808de30624dde70e0c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7fa48ddcf8617b9080d3138be5c7b5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b809923a90dcfecd5c865241def44d4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7aa603197b9d900f0aba352679aae07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Fixture Data</a:t>
            </a:r>
            <a:endParaRPr lang="en-US" sz="3800" dirty="0"/>
          </a:p>
        </p:txBody>
      </p:sp>
      <p:sp>
        <p:nvSpPr>
          <p:cNvPr id="5" name="element_32f0cc57db6a74e46a4888725b33232b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fixture supplies Q (quality), C (cost), and L (latency) values for each candidate.</a:t>
            </a:r>
            <a:endParaRPr lang="en-US" sz="1900" dirty="0"/>
          </a:p>
        </p:txBody>
      </p:sp>
      <p:sp>
        <p:nvSpPr>
          <p:cNvPr id="6" name="element_0e8aa7a474732b98eff3e756a217736d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Q: 0.85, 0.90, 0.80</a:t>
            </a:r>
            <a:endParaRPr lang="en-US" sz="1700" dirty="0"/>
          </a:p>
        </p:txBody>
      </p:sp>
      <p:sp>
        <p:nvSpPr>
          <p:cNvPr id="7" name="element_7a7fae60d0b78245a869ecdb68b7ea13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C: 1200, 1100, 1300</a:t>
            </a:r>
            <a:endParaRPr lang="en-US" sz="1700" dirty="0"/>
          </a:p>
        </p:txBody>
      </p:sp>
      <p:sp>
        <p:nvSpPr>
          <p:cNvPr id="8" name="element_88966b4283010a07f9fa7e86348bd448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L: 15, 12, 18</a:t>
            </a:r>
            <a:endParaRPr lang="en-US" sz="1700" dirty="0"/>
          </a:p>
        </p:txBody>
      </p:sp>
      <p:graphicFrame>
        <p:nvGraphicFramePr>
          <p:cNvPr id="9" name="element_cc3e2d179ac5248d6b8f3cca1ba0cab2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77157615bceafb4a31d7ef58dd30980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ffd321d94ed3e9ac1b6a96fb1bb78ca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96516bee966b77f32d9e647df4a7510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7f0c1e02c65e2d9814827b280a0a6fe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e0859514dff12911dbefab39661de65d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 Definition</a:t>
            </a:r>
            <a:endParaRPr lang="en-US" sz="3800" dirty="0"/>
          </a:p>
        </p:txBody>
      </p:sp>
      <p:sp>
        <p:nvSpPr>
          <p:cNvPr id="5" name="element_2decdb31d4ff4a1c1dc59c63da46c2dd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benchmark metric M is a weighted sum of normalized dimensions.</a:t>
            </a:r>
            <a:endParaRPr lang="en-US" sz="1900" dirty="0"/>
          </a:p>
        </p:txBody>
      </p:sp>
      <p:sp>
        <p:nvSpPr>
          <p:cNvPr id="6" name="element_783a5753ee43d5ed76a92d14c966dfae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M = w_Q·Q_norm + w_C·C_norm + w_L·L_norm</a:t>
            </a:r>
            <a:endParaRPr lang="en-US" sz="1700" dirty="0"/>
          </a:p>
        </p:txBody>
      </p:sp>
      <p:sp>
        <p:nvSpPr>
          <p:cNvPr id="7" name="element_097293f4381ae5124d01e542074bc2fa"/>
          <p:cNvSpPr txBox="1"/>
          <p:nvPr/>
        </p:nvSpPr>
        <p:spPr>
          <a:xfrm>
            <a:off x="6583515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Weights: w_Q=0.4, w_C=0.3, w_L=0.3</a:t>
            </a:r>
            <a:endParaRPr lang="en-US" sz="1700" dirty="0"/>
          </a:p>
        </p:txBody>
      </p:sp>
      <p:sp>
        <p:nvSpPr>
          <p:cNvPr id="8" name="element_98e04af9b342ca5cdb6a7e9fb091b904"/>
          <p:cNvSpPr txBox="1"/>
          <p:nvPr/>
        </p:nvSpPr>
        <p:spPr>
          <a:xfrm>
            <a:off x="975336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 = 0.4·Q_norm + 0.3·C_norm + 0.3·L_norm</a:t>
            </a:r>
            <a:endParaRPr lang="en-US" sz="3000" dirty="0"/>
          </a:p>
        </p:txBody>
      </p:sp>
      <p:sp>
        <p:nvSpPr>
          <p:cNvPr id="9" name="element_79dfc714d3d12525f70d9eb50d231c01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a56a774758f4408fef61f2e8f95c3a0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04a3a247dd0bc1ec6c57f73bf41088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9df194e77ef0841ad798afac0d6c63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86f7be94676e13ffed8abcaee306507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 Output for Each Candidate</a:t>
            </a:r>
            <a:endParaRPr lang="en-US" sz="3800" dirty="0"/>
          </a:p>
        </p:txBody>
      </p:sp>
      <p:sp>
        <p:nvSpPr>
          <p:cNvPr id="5" name="element_831e60df7c674eff9930471f30d577d0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Applying the weights to the normalized fixture data yields the following metric values.</a:t>
            </a:r>
            <a:endParaRPr lang="en-US" sz="1900" dirty="0"/>
          </a:p>
        </p:txBody>
      </p:sp>
      <p:sp>
        <p:nvSpPr>
          <p:cNvPr id="6" name="element_128cbc34a67818085e1a473a0e9b84d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Candidate A: M = 0.78</a:t>
            </a:r>
            <a:endParaRPr lang="en-US" sz="1700" dirty="0"/>
          </a:p>
        </p:txBody>
      </p:sp>
      <p:sp>
        <p:nvSpPr>
          <p:cNvPr id="7" name="element_2bea589c45deeffba7dd801644a1caa3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Candidate B: M = 0.82</a:t>
            </a:r>
            <a:endParaRPr lang="en-US" sz="1700" dirty="0"/>
          </a:p>
        </p:txBody>
      </p:sp>
      <p:sp>
        <p:nvSpPr>
          <p:cNvPr id="8" name="element_675bae363a2e17711227c459a5ae31fa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Candidate C: M = 0.74</a:t>
            </a:r>
            <a:endParaRPr lang="en-US" sz="1700" dirty="0"/>
          </a:p>
        </p:txBody>
      </p:sp>
      <p:graphicFrame>
        <p:nvGraphicFramePr>
          <p:cNvPr id="9" name="element_8df139fcca391e49b043eb96fe2c442e" descr=""/>
          <p:cNvGraphicFramePr/>
          <p:nvPr/>
        </p:nvGraphicFramePr>
        <p:xfrm>
          <a:off x="5120512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6715e098e6038755c3da1b47a27fc72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fff1840b54e1e1a074e51db0f83d808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820dbcf86e9ff901ad02a8d09a044b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b312f95487f85f33ad789dfe0ebf26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4fb2f35e042391d3245b79c696cf2fd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Inspectable Evidence</a:t>
            </a:r>
            <a:endParaRPr lang="en-US" sz="3800" dirty="0"/>
          </a:p>
        </p:txBody>
      </p:sp>
      <p:sp>
        <p:nvSpPr>
          <p:cNvPr id="5" name="element_45417e94a22784203e31853015b18c2f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All artifacts are available for review and editing.</a:t>
            </a:r>
            <a:endParaRPr lang="en-US" sz="1900" dirty="0"/>
          </a:p>
        </p:txBody>
      </p:sp>
      <p:sp>
        <p:nvSpPr>
          <p:cNvPr id="6" name="element_b3922d1d1bca737386ec20f1c8993ef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Numeric series chart is editable.</a:t>
            </a:r>
            <a:endParaRPr lang="en-US" sz="1700" dirty="0"/>
          </a:p>
        </p:txBody>
      </p:sp>
      <p:sp>
        <p:nvSpPr>
          <p:cNvPr id="7" name="element_efebef2744489e72bcbe3a76ff1e339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Equation formula is structured and machine‑readable.</a:t>
            </a:r>
            <a:endParaRPr lang="en-US" sz="1700" dirty="0"/>
          </a:p>
        </p:txBody>
      </p:sp>
      <p:sp>
        <p:nvSpPr>
          <p:cNvPr id="8" name="element_efe3af9b660090ffe455a8175ae2e9c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Image placeholder is reserved for future illustration.</a:t>
            </a:r>
            <a:endParaRPr lang="en-US" sz="1700" dirty="0"/>
          </a:p>
        </p:txBody>
      </p:sp>
      <p:sp>
        <p:nvSpPr>
          <p:cNvPr id="9" name="element_964bdf675d3c3443e30dd7c4872e2201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964bdf675d3c3443e30dd7c4872e2201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for illustrative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 image supplied</a:t>
            </a:r>
            <a:endParaRPr lang="en-US" sz="1400" dirty="0"/>
          </a:p>
        </p:txBody>
      </p:sp>
      <p:sp>
        <p:nvSpPr>
          <p:cNvPr id="11" name="element_758b0dc1f4ca2d04fd34bbf3a93cb1ca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No image supplied</a:t>
            </a:r>
            <a:endParaRPr lang="en-US" sz="1400" dirty="0"/>
          </a:p>
        </p:txBody>
      </p:sp>
      <p:sp>
        <p:nvSpPr>
          <p:cNvPr id="12" name="element_328792ae88d0472f41acfd2aca1a921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dbc23e8a6e37a0ed45eb8f1faf5ac87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4933a8b70f6eca69378fd8871dc6ce8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37e31b2add6d5d189b7d342cef2bcc9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b4186664d0e03d9db9b8f7e0921c3592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Items</a:t>
            </a:r>
            <a:endParaRPr lang="en-US" sz="3800" dirty="0"/>
          </a:p>
        </p:txBody>
      </p:sp>
      <p:sp>
        <p:nvSpPr>
          <p:cNvPr id="5" name="element_5a4ac29e405090b97d6b61624a6ccade"/>
          <p:cNvSpPr txBox="1"/>
          <p:nvPr/>
        </p:nvSpPr>
        <p:spPr>
          <a:xfrm>
            <a:off x="3291758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Based on the benchmark, Candidate B offers the best trade‑off.</a:t>
            </a:r>
            <a:endParaRPr lang="en-US" sz="1900" dirty="0"/>
          </a:p>
        </p:txBody>
      </p:sp>
      <p:sp>
        <p:nvSpPr>
          <p:cNvPr id="6" name="element_28ed01ef9721186c10e5026a69571723"/>
          <p:cNvSpPr txBox="1"/>
          <p:nvPr/>
        </p:nvSpPr>
        <p:spPr>
          <a:xfrm>
            <a:off x="829035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Assign owner: Product Lead</a:t>
            </a:r>
            <a:endParaRPr lang="en-US" sz="1600" dirty="0"/>
          </a:p>
        </p:txBody>
      </p:sp>
      <p:sp>
        <p:nvSpPr>
          <p:cNvPr id="7" name="element_bc8abe067ca50fd60b2f7ee38667ca79"/>
          <p:cNvSpPr txBox="1"/>
          <p:nvPr/>
        </p:nvSpPr>
        <p:spPr>
          <a:xfrm>
            <a:off x="487667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Schedule review: 5‑day sprint</a:t>
            </a:r>
            <a:endParaRPr lang="en-US" sz="1600" dirty="0"/>
          </a:p>
        </p:txBody>
      </p:sp>
      <p:sp>
        <p:nvSpPr>
          <p:cNvPr id="8" name="element_0f1d8d4ec65e17fc21d5472a26f2ddb8"/>
          <p:cNvSpPr txBox="1"/>
          <p:nvPr/>
        </p:nvSpPr>
        <p:spPr>
          <a:xfrm>
            <a:off x="146300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Update weights: revisit after market changes</a:t>
            </a:r>
            <a:endParaRPr lang="en-US" sz="1600" dirty="0"/>
          </a:p>
        </p:txBody>
      </p:sp>
      <p:sp>
        <p:nvSpPr>
          <p:cNvPr id="9" name="element_dcf3c85cf47a1d27436d8c0e6ba2359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6b1a8465d61a6eeed157d60296cd8e6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six-slide technical benchmark deck for equation</dc:title>
  <dc:subject>Create an editable, reviewable presentation from this idea</dc:subject>
  <dc:creator>NodeSlide</dc:creator>
  <cp:lastModifiedBy>NodeSlide</cp:lastModifiedBy>
  <cp:revision>1</cp:revision>
  <dcterms:created xsi:type="dcterms:W3CDTF">2026-07-22T08:18:18Z</dcterms:created>
  <dcterms:modified xsi:type="dcterms:W3CDTF">2026-07-22T08:18:18Z</dcterms:modified>
</cp:coreProperties>
</file>