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Lst>
  <p:notesMasterIdLst>
    <p:notesMasterId r:id="rId7"/>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notesMaster" Target="notesMasters/notesMaster1.xml"/><Relationship Id="rId8" Type="http://schemas.openxmlformats.org/officeDocument/2006/relationships/presProps" Target="presProps.xml"/><Relationship Id="rId9" Type="http://schemas.openxmlformats.org/officeDocument/2006/relationships/viewProps" Target="viewProps.xml"/><Relationship Id="rId10" Type="http://schemas.openxmlformats.org/officeDocument/2006/relationships/theme" Target="theme/theme1.xml"/><Relationship Id="rId1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an AI-narrated prototype of my backend interview answer. I built NodeVideo because generating FFmpeg was never the hard problem. Trust was. A model can understand intent and propose an edit, but frame math, encoding, and approval state must remain reviewable and reproducible.
Evidence pointers: docs/architecture.md:5-18; docs/architecture.md:64-71
Approved claim: A language model is useful for understanding creator intent and proposing an edit, but exact media execution needs a reviewable and reproducible boundary.
NodeSlide sources
[source_97ce4e955557a2fc407d11a31dea35d1] NodeVideo Expression Loop — trust through typed execution — creation brief
Citation: Create exactly 5 slides. Explain NodeVideo's architecture and its most important design tradeoff.
Disclaimer: Internal working material
[source_2f12c55c49e2a7204feb0a32c4aafee9] docs/architecture.md:5-18
Citation: docs/architecture.md:5-18
Disclaimer: No license or usage terms were provided in the source record.
[source_82b6a518117455a2cfd26869ddd553ce] docs/architecture.md:64-71
Citation: docs/architecture.md:64-71
Disclaimer: No license or usage terms were provided in the source record.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architecture has three planes. NodeAgent owns intent, tool selection, retry policy, and explanation. Convex owns durable jobs, leases, checkpoints, versions, and approvals. Deterministic tools compile a typed EditPlan into fixed media operations. The web app controls the work; media workers execute it.
Evidence pointers: docs/architecture.md:36-71; docs/architecture.md:149-161
Approved claim: NodeAgent owns intent and orchestration, Convex owns durable coordination, and fixed tools compile typed plans into media outputs.
NodeSlide sources
[source_57742106bb21d3cfb96f0d68093b00e4] docs/architecture.md:36-71
Citation: docs/architecture.md:36-71
Disclaimer: No license or usage terms were provided in the source record.
[source_41b69527f9ee9ff0f2d1512b87af5193] docs/architecture.md:149-161
Citation: docs/architecture.md:149-161
Disclaimer: No license or usage terms were provided in the source record.
[source_97ce4e955557a2fc407d11a31dea35d1] NodeVideo Expression Loop — trust through typed execution — creation brief
Citation: Create exactly 5 slides. Explain NodeVideo's architecture and its most important design tradeoff.
Disclaimer: Internal working material
[source_8d827908303c7a98694967fa7505e9c2] Brief success criteria
Citation: Preserve the approved five-part explanation exactly; Keep planning and execution boundaries visually explicit; Include failed proof and honest non-success states
Disclaimer: Internal working material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request moves from brief to model proposal, then through approval to a hash-bound plan. Only then does fixed code perform cuts, crops, captions, and encoding. The plan cannot carry shell commands or an arbitrary FFmpeg graph. Durable state records what was proposed, accepted, and executed, so runs can replay or recover.
Evidence pointers: docs/architecture.md:149-161; convex/caseflow.ts:462-561; convex/lib/durability.ts:78-203; src/lib/browser-edit-plan-compiler.ts:399-543; scripts/workers/edit-plan-renderer.mjs:5-80
Approved claim: Requests move from brief to proposal to approval, then a hash-bound plan drives deterministic rendering and receipts.
NodeSlide sources
[source_41b69527f9ee9ff0f2d1512b87af5193] docs/architecture.md:149-161
Citation: docs/architecture.md:149-161
Disclaimer: No license or usage terms were provided in the source record.
[source_4e7d4247fbd4d9f1b98f92fb3b5af828] convex/caseflow.ts:462-561
Citation: convex/caseflow.ts:462-561
Disclaimer: No license or usage terms were provided in the source record.
[source_67972c5891350b3f9b2c3a185c3d88ba] convex/lib/durability.ts:78-203
Citation: convex/lib/durability.ts:78-203
Disclaimer: No license or usage terms were provided in the source record.
[source_dc18695b601bdec6c4b281fbd7cc90b2] src/lib/browser-edit-plan-compiler.ts:399-543
Citation: src/lib/browser-edit-plan-compiler.ts:399-543
Disclaimer: No license or usage terms were provided in the source record.
[source_e231299a324dfb87d9bab2f74b2daef8] scripts/workers/edit-plan-renderer.mjs:5-80
Citation: scripts/workers/edit-plan-renderer.mjs:5-80
Disclaimer: No license or usage terms were provided in the source record.
[source_97ce4e955557a2fc407d11a31dea35d1] NodeVideo Expression Loop — trust through typed execution — creation brief
Citation: Create exactly 5 slides. Explain NodeVideo's architecture and its most important design tradeoff.
Disclaimer: Internal working material
[source_8d827908303c7a98694967fa7505e9c2] Brief success criteria
Citation: Preserve the approved five-part explanation exactly; Keep planning and execution boundaries visually explicit; Include failed proof and honest non-success states
Disclaimer: Internal working material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tradeoff is deliberate: less model freedom for more inspectability. New creative operations require versioned types and deterministic implementations. In return, stale proposals are rejected, concurrent workers are fenced by leases, digest mismatches fail closed, and interrupted review resumes from a checkpoint instead of silently mutating the timeline.
Evidence pointers: convex/caseflow.ts:246-396; convex/caseflow.ts:462-561; tests/unit/browser-ffmpeg.test.ts:118-180
Approved claim: NodeVideo trades unconstrained model flexibility for inspectability, reproducibility, bounded concurrency, and safer approval.
NodeSlide sources
[source_5879f130d0233c5a5227ecd871ce3eb5] convex/caseflow.ts:246-396
Citation: convex/caseflow.ts:246-396
Disclaimer: No license or usage terms were provided in the source record.
[source_4e7d4247fbd4d9f1b98f92fb3b5af828] convex/caseflow.ts:462-561
Citation: convex/caseflow.ts:462-561
Disclaimer: No license or usage terms were provided in the source record.
[source_9f9dcb253609675c8fac24da49c804fa] tests/unit/browser-ffmpeg.test.ts:118-180
Citation: tests/unit/browser-ffmpeg.test.ts:118-180
Disclaimer: No license or usage terms were provided in the source record.
[source_97ce4e955557a2fc407d11a31dea35d1] NodeVideo Expression Loop — trust through typed execution — creation brief
Citation: Create exactly 5 slides. Explain NodeVideo's architecture and its most important design tradeoff.
Disclaimer: Internal working material
[source_8d827908303c7a98694967fa7505e9c2] Brief success criteria
Citation: Preserve the approved five-part explanation exactly; Keep planning and execution boundaries visually explicit; Include failed proof and honest non-success states
Disclaimer: Internal working material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proof includes failure. Twenty-two targeted reliability tests pass. One integrated edit matched source identity on five of five phrases, but only one of five assigned cut boundaries met the timing gate, so the strict editorial verdict failed. That is the lesson: trustworthy agents need bounded state, explicit approval, deterministic execution, and honest non-success states. NodeVideo helps me say it; NodeSlide helps me show it.
Evidence pointers: targeted-test-receipt.json; docs/strict-editorial-audit.md:8-45
Approved claim: Current evidence proves bounded orchestration and deterministic mechanics, while honestly withholding generalized quality claims.
NodeSlide sources
[source_cc586b04fb1cb7cdae3aabc76a5651fd] targeted-test-receipt.json
Citation: targeted-test-receipt.json
Disclaimer: No license or usage terms were provided in the source record.
[source_6d2fe119ec807faf7ded89e067b15b74] docs/strict-editorial-audit.md:8-45
Citation: docs/strict-editorial-audit.md:8-45
Disclaimer: No license or usage terms were provided in the source record.
[source_97ce4e955557a2fc407d11a31dea35d1] NodeVideo Expression Loop — trust through typed execution — creation brief
Citation: Create exactly 5 slides. Explain NodeVideo's architecture and its most important design tradeoff.
Disclaimer: Internal working material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7F4ED"/>
        </a:solidFill>
      </p:bgPr>
    </p:bg>
    <p:spTree>
      <p:nvGrpSpPr>
        <p:cNvPr id="1" name=""/>
        <p:cNvGrpSpPr/>
        <p:nvPr/>
      </p:nvGrpSpPr>
      <p:grpSpPr>
        <a:xfrm>
          <a:off x="0" y="0"/>
          <a:ext cx="0" cy="0"/>
          <a:chOff x="0" y="0"/>
          <a:chExt cx="0" cy="0"/>
        </a:xfrm>
      </p:grpSpPr>
      <p:sp>
        <p:nvSpPr>
          <p:cNvPr id="2" name="nodeslide-slide-id:slide_f269bbae2dbad59c0634bca207bd9ab5"/>
          <p:cNvSpPr/>
          <p:nvPr/>
        </p:nvSpPr>
        <p:spPr>
          <a:xfrm>
            <a:off x="0" y="0"/>
            <a:ext cx="914" cy="914"/>
          </a:xfrm>
          <a:prstGeom prst="rect">
            <a:avLst/>
          </a:prstGeom>
          <a:solidFill>
            <a:srgbClr val="FFFFFF">
              <a:alpha val="0"/>
            </a:srgbClr>
          </a:solidFill>
          <a:ln w="12700">
            <a:solidFill>
              <a:srgbClr val="FFFFFF">
                <a:alpha val="0"/>
              </a:srgbClr>
            </a:solidFill>
            <a:prstDash val="solid"/>
          </a:ln>
        </p:spPr>
      </p:sp>
      <p:sp>
        <p:nvSpPr>
          <p:cNvPr id="3" name="element_1931227366258134060941f447dc5e90"/>
          <p:cNvSpPr txBox="1"/>
          <p:nvPr/>
        </p:nvSpPr>
        <p:spPr>
          <a:xfrm>
            <a:off x="853419" y="2185645"/>
            <a:ext cx="10484858" cy="2487397"/>
          </a:xfrm>
          <a:prstGeom prst="rect">
            <a:avLst/>
          </a:prstGeom>
          <a:noFill/>
          <a:ln/>
        </p:spPr>
        <p:txBody>
          <a:bodyPr wrap="square" lIns="0" tIns="0" rIns="0" bIns="0" rtlCol="0" anchor="t">
            <a:normAutofit/>
          </a:bodyPr>
          <a:lstStyle/>
          <a:p>
            <a:pPr algn="l" indent="0" marL="0">
              <a:lnSpc>
                <a:spcPct val="102000"/>
              </a:lnSpc>
              <a:buNone/>
            </a:pPr>
            <a:r>
              <a:rPr lang="en-US" sz="6400" b="1" spc="-120" kern="0" dirty="0">
                <a:solidFill>
                  <a:srgbClr val="26221D"/>
                </a:solidFill>
                <a:latin typeface="Georgia" pitchFamily="34" charset="0"/>
                <a:ea typeface="Georgia" pitchFamily="34" charset="-122"/>
                <a:cs typeface="Georgia" pitchFamily="34" charset="-120"/>
              </a:rPr>
              <a:t>The model may propose. Media output must reproduce.</a:t>
            </a:r>
            <a:endParaRPr lang="en-US" sz="6400" dirty="0"/>
          </a:p>
        </p:txBody>
      </p:sp>
      <p:sp>
        <p:nvSpPr>
          <p:cNvPr id="4" name="element_99b002b0ab7754651ebe74f14a967515"/>
          <p:cNvSpPr/>
          <p:nvPr/>
        </p:nvSpPr>
        <p:spPr>
          <a:xfrm>
            <a:off x="853419" y="4809515"/>
            <a:ext cx="1463003" cy="68580"/>
          </a:xfrm>
          <a:prstGeom prst="roundRect">
            <a:avLst/>
          </a:prstGeom>
          <a:solidFill>
            <a:srgbClr val="B44A2D"/>
          </a:solidFill>
          <a:ln w="12700">
            <a:solidFill>
              <a:srgbClr val="FFFFFF">
                <a:alpha val="0"/>
              </a:srgbClr>
            </a:solidFill>
            <a:prstDash val="solid"/>
          </a:ln>
        </p:spPr>
      </p:sp>
      <p:sp>
        <p:nvSpPr>
          <p:cNvPr id="5" name="element_2c3610c6b61e377ff2e54913b0f0eda7"/>
          <p:cNvSpPr txBox="1"/>
          <p:nvPr/>
        </p:nvSpPr>
        <p:spPr>
          <a:xfrm>
            <a:off x="853419" y="411480"/>
            <a:ext cx="4876678" cy="480060"/>
          </a:xfrm>
          <a:prstGeom prst="rect">
            <a:avLst/>
          </a:prstGeom>
          <a:noFill/>
          <a:ln/>
        </p:spPr>
        <p:txBody>
          <a:bodyPr wrap="square" lIns="0" tIns="0" rIns="0" bIns="0" rtlCol="0" anchor="t">
            <a:normAutofit/>
          </a:bodyPr>
          <a:lstStyle/>
          <a:p>
            <a:pPr algn="l" indent="0" marL="0">
              <a:lnSpc>
                <a:spcPct val="120000"/>
              </a:lnSpc>
              <a:buNone/>
            </a:pPr>
            <a:r>
              <a:rPr lang="en-US" sz="1500" b="1" spc="130" kern="0" dirty="0">
                <a:solidFill>
                  <a:srgbClr val="B44A2D"/>
                </a:solidFill>
                <a:latin typeface="JetBrains Mono Variable" pitchFamily="34" charset="0"/>
                <a:ea typeface="JetBrains Mono Variable" pitchFamily="34" charset="-122"/>
                <a:cs typeface="JetBrains Mono Variable" pitchFamily="34" charset="-120"/>
              </a:rPr>
              <a:t>01 / PROBLEM</a:t>
            </a:r>
            <a:endParaRPr lang="en-US" sz="1500" dirty="0"/>
          </a:p>
        </p:txBody>
      </p:sp>
      <p:sp>
        <p:nvSpPr>
          <p:cNvPr id="6" name="element_dab057918cbd8cf4106f9656bbd001ec"/>
          <p:cNvSpPr/>
          <p:nvPr/>
        </p:nvSpPr>
        <p:spPr>
          <a:xfrm>
            <a:off x="9326647" y="329184"/>
            <a:ext cx="146300" cy="685800"/>
          </a:xfrm>
          <a:prstGeom prst="roundRect">
            <a:avLst/>
          </a:prstGeom>
          <a:solidFill>
            <a:srgbClr val="34452C">
              <a:alpha val="34000"/>
            </a:srgbClr>
          </a:solidFill>
          <a:ln w="12700">
            <a:solidFill>
              <a:srgbClr val="FFFFFF">
                <a:alpha val="0"/>
              </a:srgbClr>
            </a:solidFill>
            <a:prstDash val="solid"/>
          </a:ln>
        </p:spPr>
      </p:sp>
      <p:sp>
        <p:nvSpPr>
          <p:cNvPr id="7" name="element_868c4cfe1837d4426eb304669f122024"/>
          <p:cNvSpPr/>
          <p:nvPr/>
        </p:nvSpPr>
        <p:spPr>
          <a:xfrm>
            <a:off x="10155682" y="329184"/>
            <a:ext cx="146300" cy="685800"/>
          </a:xfrm>
          <a:prstGeom prst="roundRect">
            <a:avLst/>
          </a:prstGeom>
          <a:solidFill>
            <a:srgbClr val="34452C">
              <a:alpha val="34000"/>
            </a:srgbClr>
          </a:solidFill>
          <a:ln w="12700">
            <a:solidFill>
              <a:srgbClr val="FFFFFF">
                <a:alpha val="0"/>
              </a:srgbClr>
            </a:solidFill>
            <a:prstDash val="solid"/>
          </a:ln>
        </p:spPr>
      </p:sp>
      <p:sp>
        <p:nvSpPr>
          <p:cNvPr id="8" name="element_032e80e1e06ebeb410b77f113311044e"/>
          <p:cNvSpPr/>
          <p:nvPr/>
        </p:nvSpPr>
        <p:spPr>
          <a:xfrm>
            <a:off x="9472947" y="850392"/>
            <a:ext cx="682735" cy="68580"/>
          </a:xfrm>
          <a:prstGeom prst="roundRect">
            <a:avLst/>
          </a:prstGeom>
          <a:solidFill>
            <a:srgbClr val="F2DED3">
              <a:alpha val="49000"/>
            </a:srgbClr>
          </a:solidFill>
          <a:ln w="12700">
            <a:solidFill>
              <a:srgbClr val="FFFFFF">
                <a:alpha val="0"/>
              </a:srgbClr>
            </a:solidFill>
            <a:prstDash val="solid"/>
          </a:ln>
        </p:spPr>
      </p:sp>
      <p:sp>
        <p:nvSpPr>
          <p:cNvPr id="9" name="element_f4df41b0554d70e15dc29f294ff92b86"/>
          <p:cNvSpPr/>
          <p:nvPr/>
        </p:nvSpPr>
        <p:spPr>
          <a:xfrm>
            <a:off x="8095286" y="1138428"/>
            <a:ext cx="3340524" cy="68580"/>
          </a:xfrm>
          <a:prstGeom prst="roundRect">
            <a:avLst/>
          </a:prstGeom>
          <a:solidFill>
            <a:srgbClr val="F2DED3">
              <a:alpha val="30000"/>
            </a:srgbClr>
          </a:solidFill>
          <a:ln w="12700">
            <a:solidFill>
              <a:srgbClr val="FFFFFF">
                <a:alpha val="0"/>
              </a:srgbClr>
            </a:solidFill>
            <a:prstDash val="solid"/>
          </a:ln>
        </p:spPr>
      </p:sp>
      <p:sp>
        <p:nvSpPr>
          <p:cNvPr id="10" name="element_9cbfbfd4f2cc666c2b5d783a0f0b3338"/>
          <p:cNvSpPr/>
          <p:nvPr/>
        </p:nvSpPr>
        <p:spPr>
          <a:xfrm>
            <a:off x="8709747" y="768096"/>
            <a:ext cx="268217" cy="150876"/>
          </a:xfrm>
          <a:prstGeom prst="roundRect">
            <a:avLst/>
          </a:prstGeom>
          <a:solidFill>
            <a:srgbClr val="B44A2D">
              <a:alpha val="34000"/>
            </a:srgbClr>
          </a:solidFill>
          <a:ln w="12700">
            <a:solidFill>
              <a:srgbClr val="FFFFFF">
                <a:alpha val="0"/>
              </a:srgbClr>
            </a:solidFill>
            <a:prstDash val="solid"/>
          </a:ln>
        </p:spPr>
      </p:sp>
      <p:sp>
        <p:nvSpPr>
          <p:cNvPr id="11" name="element_1760c4bcb204edf6351c0df7777d9c1d"/>
          <p:cNvSpPr txBox="1"/>
          <p:nvPr/>
        </p:nvSpPr>
        <p:spPr>
          <a:xfrm>
            <a:off x="853419" y="6377940"/>
            <a:ext cx="8778021" cy="240030"/>
          </a:xfrm>
          <a:prstGeom prst="rect">
            <a:avLst/>
          </a:prstGeom>
          <a:noFill/>
          <a:ln/>
        </p:spPr>
        <p:txBody>
          <a:bodyPr wrap="square" lIns="0" tIns="0" rIns="0" bIns="0" rtlCol="0" anchor="t">
            <a:normAutofit/>
          </a:bodyPr>
          <a:lstStyle/>
          <a:p>
            <a:pPr algn="l" indent="0" marL="0">
              <a:lnSpc>
                <a:spcPct val="120000"/>
              </a:lnSpc>
              <a:buNone/>
            </a:pPr>
            <a:r>
              <a:rPr lang="en-US" sz="1000" spc="110" kern="0" dirty="0">
                <a:solidFill>
                  <a:srgbClr val="756B61"/>
                </a:solidFill>
                <a:latin typeface="JetBrains Mono Variable" pitchFamily="34" charset="0"/>
                <a:ea typeface="JetBrains Mono Variable" pitchFamily="34" charset="-122"/>
                <a:cs typeface="JetBrains Mono Variable" pitchFamily="34" charset="-120"/>
              </a:rPr>
              <a:t>NODESLIDE  ·  SOURCE-AWARE  ·  EDITABLE</a:t>
            </a:r>
            <a:endParaRPr lang="en-US" sz="1000" dirty="0"/>
          </a:p>
        </p:txBody>
      </p:sp>
      <p:sp>
        <p:nvSpPr>
          <p:cNvPr id="12" name="element_0b5dbdfa5f06e26cb77d1a051721cf4d"/>
          <p:cNvSpPr txBox="1"/>
          <p:nvPr/>
        </p:nvSpPr>
        <p:spPr>
          <a:xfrm>
            <a:off x="10728692" y="6309360"/>
            <a:ext cx="731502" cy="342900"/>
          </a:xfrm>
          <a:prstGeom prst="rect">
            <a:avLst/>
          </a:prstGeom>
          <a:noFill/>
          <a:ln/>
        </p:spPr>
        <p:txBody>
          <a:bodyPr wrap="square" lIns="0" tIns="0" rIns="0" bIns="0" rtlCol="0" anchor="t">
            <a:normAutofit/>
          </a:bodyPr>
          <a:lstStyle/>
          <a:p>
            <a:pPr algn="r" indent="0" marL="0">
              <a:lnSpc>
                <a:spcPct val="120000"/>
              </a:lnSpc>
              <a:buNone/>
            </a:pPr>
            <a:r>
              <a:rPr lang="en-US" sz="1300" b="1" dirty="0">
                <a:solidFill>
                  <a:srgbClr val="B44A2D"/>
                </a:solidFill>
                <a:latin typeface="JetBrains Mono Variable" pitchFamily="34" charset="0"/>
                <a:ea typeface="JetBrains Mono Variable" pitchFamily="34" charset="-122"/>
                <a:cs typeface="JetBrains Mono Variable" pitchFamily="34" charset="-120"/>
              </a:rPr>
              <a:t>01</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4ED"/>
        </a:solidFill>
      </p:bgPr>
    </p:bg>
    <p:spTree>
      <p:nvGrpSpPr>
        <p:cNvPr id="1" name=""/>
        <p:cNvGrpSpPr/>
        <p:nvPr/>
      </p:nvGrpSpPr>
      <p:grpSpPr>
        <a:xfrm>
          <a:off x="0" y="0"/>
          <a:ext cx="0" cy="0"/>
          <a:chOff x="0" y="0"/>
          <a:chExt cx="0" cy="0"/>
        </a:xfrm>
      </p:grpSpPr>
      <p:sp>
        <p:nvSpPr>
          <p:cNvPr id="2" name="nodeslide-slide-id:slide_c63ce95ac251ecfdcc4b0d650c339353"/>
          <p:cNvSpPr/>
          <p:nvPr/>
        </p:nvSpPr>
        <p:spPr>
          <a:xfrm>
            <a:off x="0" y="0"/>
            <a:ext cx="914" cy="914"/>
          </a:xfrm>
          <a:prstGeom prst="rect">
            <a:avLst/>
          </a:prstGeom>
          <a:solidFill>
            <a:srgbClr val="FFFFFF">
              <a:alpha val="0"/>
            </a:srgbClr>
          </a:solidFill>
          <a:ln w="12700">
            <a:solidFill>
              <a:srgbClr val="FFFFFF">
                <a:alpha val="0"/>
              </a:srgbClr>
            </a:solidFill>
            <a:prstDash val="solid"/>
          </a:ln>
        </p:spPr>
      </p:sp>
      <p:sp>
        <p:nvSpPr>
          <p:cNvPr id="3" name="element_5481e57bf21e3a8f376e93d336d71396"/>
          <p:cNvSpPr txBox="1"/>
          <p:nvPr/>
        </p:nvSpPr>
        <p:spPr>
          <a:xfrm>
            <a:off x="853419" y="445770"/>
            <a:ext cx="4876678" cy="480060"/>
          </a:xfrm>
          <a:prstGeom prst="rect">
            <a:avLst/>
          </a:prstGeom>
          <a:noFill/>
          <a:ln/>
        </p:spPr>
        <p:txBody>
          <a:bodyPr wrap="square" lIns="0" tIns="0" rIns="0" bIns="0" rtlCol="0" anchor="t">
            <a:normAutofit/>
          </a:bodyPr>
          <a:lstStyle/>
          <a:p>
            <a:pPr algn="l" indent="0" marL="0">
              <a:lnSpc>
                <a:spcPct val="120000"/>
              </a:lnSpc>
              <a:buNone/>
            </a:pPr>
            <a:r>
              <a:rPr lang="en-US" sz="1500" b="1" spc="130" kern="0" dirty="0">
                <a:solidFill>
                  <a:srgbClr val="B44A2D"/>
                </a:solidFill>
                <a:latin typeface="JetBrains Mono Variable" pitchFamily="34" charset="0"/>
                <a:ea typeface="JetBrains Mono Variable" pitchFamily="34" charset="-122"/>
                <a:cs typeface="JetBrains Mono Variable" pitchFamily="34" charset="-120"/>
              </a:rPr>
              <a:t>02 / SYSTEM BOUNDARY</a:t>
            </a:r>
            <a:endParaRPr lang="en-US" sz="1500" dirty="0"/>
          </a:p>
        </p:txBody>
      </p:sp>
      <p:sp>
        <p:nvSpPr>
          <p:cNvPr id="4" name="element_7da865af0f4807cea24ad87803b9a7db"/>
          <p:cNvSpPr txBox="1"/>
          <p:nvPr/>
        </p:nvSpPr>
        <p:spPr>
          <a:xfrm>
            <a:off x="1706837" y="1097280"/>
            <a:ext cx="8778021" cy="411480"/>
          </a:xfrm>
          <a:prstGeom prst="rect">
            <a:avLst/>
          </a:prstGeom>
          <a:noFill/>
          <a:ln/>
        </p:spPr>
        <p:txBody>
          <a:bodyPr wrap="square" lIns="0" tIns="0" rIns="0" bIns="0" rtlCol="0" anchor="t">
            <a:normAutofit/>
          </a:bodyPr>
          <a:lstStyle/>
          <a:p>
            <a:pPr algn="ctr" indent="0" marL="0">
              <a:lnSpc>
                <a:spcPct val="110000"/>
              </a:lnSpc>
              <a:buNone/>
            </a:pPr>
            <a:r>
              <a:rPr lang="en-US" sz="2400" dirty="0">
                <a:solidFill>
                  <a:srgbClr val="756B61"/>
                </a:solidFill>
                <a:latin typeface="Geist Variable" pitchFamily="34" charset="0"/>
                <a:ea typeface="Geist Variable" pitchFamily="34" charset="-122"/>
                <a:cs typeface="Geist Variable" pitchFamily="34" charset="-120"/>
              </a:rPr>
              <a:t>Intent, state, execution — one typed handoff.</a:t>
            </a:r>
            <a:endParaRPr lang="en-US" sz="2400" dirty="0"/>
          </a:p>
        </p:txBody>
      </p:sp>
      <p:sp>
        <p:nvSpPr>
          <p:cNvPr id="5" name="element_f49d5a5ea460bf48395805d6093839a8"/>
          <p:cNvSpPr/>
          <p:nvPr/>
        </p:nvSpPr>
        <p:spPr>
          <a:xfrm>
            <a:off x="1463003" y="1680210"/>
            <a:ext cx="9265688" cy="2125980"/>
          </a:xfrm>
          <a:prstGeom prst="roundRect">
            <a:avLst/>
          </a:prstGeom>
          <a:solidFill>
            <a:srgbClr val="F2DED3">
              <a:alpha val="50000"/>
            </a:srgbClr>
          </a:solidFill>
          <a:ln w="12700">
            <a:solidFill>
              <a:srgbClr val="FFFFFF">
                <a:alpha val="0"/>
              </a:srgbClr>
            </a:solidFill>
            <a:prstDash val="solid"/>
          </a:ln>
        </p:spPr>
      </p:sp>
      <p:sp>
        <p:nvSpPr>
          <p:cNvPr id="6" name="element_d583fbbf5eefd460ee75398353ba8936"/>
          <p:cNvSpPr txBox="1"/>
          <p:nvPr/>
        </p:nvSpPr>
        <p:spPr>
          <a:xfrm>
            <a:off x="2438339" y="1920240"/>
            <a:ext cx="7315017" cy="1508760"/>
          </a:xfrm>
          <a:prstGeom prst="rect">
            <a:avLst/>
          </a:prstGeom>
          <a:noFill/>
          <a:ln/>
        </p:spPr>
        <p:txBody>
          <a:bodyPr wrap="square" lIns="254000" tIns="254000" rIns="254000" bIns="254000" rtlCol="0" anchor="t">
            <a:normAutofit/>
          </a:bodyPr>
          <a:lstStyle/>
          <a:p>
            <a:pPr algn="l" indent="0" marL="0">
              <a:lnSpc>
                <a:spcPct val="100000"/>
              </a:lnSpc>
              <a:buNone/>
            </a:pPr>
            <a:r>
              <a:rPr lang="en-US" sz="4600" b="1" dirty="0">
                <a:solidFill>
                  <a:srgbClr val="34452C"/>
                </a:solidFill>
                <a:latin typeface="JetBrains Mono Variable" pitchFamily="34" charset="0"/>
                <a:ea typeface="JetBrains Mono Variable" pitchFamily="34" charset="-122"/>
                <a:cs typeface="JetBrains Mono Variable" pitchFamily="34" charset="-120"/>
              </a:rPr>
              <a:t>3</a:t>
            </a:r>
            <a:endParaRPr lang="en-US" sz="4600" dirty="0"/>
          </a:p>
        </p:txBody>
      </p:sp>
      <p:sp>
        <p:nvSpPr>
          <p:cNvPr id="7" name="element_722fd177805eba1ca4f09b67872fac16"/>
          <p:cNvSpPr txBox="1"/>
          <p:nvPr/>
        </p:nvSpPr>
        <p:spPr>
          <a:xfrm>
            <a:off x="1706837" y="3566160"/>
            <a:ext cx="8778021" cy="548640"/>
          </a:xfrm>
          <a:prstGeom prst="rect">
            <a:avLst/>
          </a:prstGeom>
          <a:noFill/>
          <a:ln/>
        </p:spPr>
        <p:txBody>
          <a:bodyPr wrap="square" lIns="0" tIns="0" rIns="0" bIns="0" rtlCol="0" anchor="t">
            <a:normAutofit/>
          </a:bodyPr>
          <a:lstStyle/>
          <a:p>
            <a:pPr algn="ctr" indent="0" marL="0">
              <a:lnSpc>
                <a:spcPct val="125000"/>
              </a:lnSpc>
              <a:buNone/>
            </a:pPr>
            <a:r>
              <a:rPr lang="en-US" sz="1600" dirty="0">
                <a:solidFill>
                  <a:srgbClr val="756B61"/>
                </a:solidFill>
                <a:latin typeface="Geist Variable" pitchFamily="34" charset="0"/>
                <a:ea typeface="Geist Variable" pitchFamily="34" charset="-122"/>
                <a:cs typeface="Geist Variable" pitchFamily="34" charset="-120"/>
              </a:rPr>
              <a:t>planes · one typed handoff</a:t>
            </a:r>
            <a:endParaRPr lang="en-US" sz="1600" dirty="0"/>
          </a:p>
        </p:txBody>
      </p:sp>
      <p:sp>
        <p:nvSpPr>
          <p:cNvPr id="8" name="element_c167fe9938b9ae4c95803b7c0ca9c000"/>
          <p:cNvSpPr txBox="1"/>
          <p:nvPr/>
        </p:nvSpPr>
        <p:spPr>
          <a:xfrm>
            <a:off x="853419" y="4389120"/>
            <a:ext cx="9631439" cy="1165860"/>
          </a:xfrm>
          <a:prstGeom prst="rect">
            <a:avLst/>
          </a:prstGeom>
          <a:noFill/>
          <a:ln/>
        </p:spPr>
        <p:txBody>
          <a:bodyPr wrap="square" lIns="0" tIns="0" rIns="0" bIns="0" rtlCol="0" anchor="t">
            <a:normAutofit/>
          </a:bodyPr>
          <a:lstStyle/>
          <a:p>
            <a:pPr algn="l" indent="0" marL="0">
              <a:lnSpc>
                <a:spcPct val="135000"/>
              </a:lnSpc>
              <a:buNone/>
            </a:pPr>
            <a:r>
              <a:rPr lang="en-US" sz="1800" dirty="0">
                <a:solidFill>
                  <a:srgbClr val="756B61"/>
                </a:solidFill>
                <a:latin typeface="Geist Variable" pitchFamily="34" charset="0"/>
                <a:ea typeface="Geist Variable" pitchFamily="34" charset="-122"/>
                <a:cs typeface="Geist Variable" pitchFamily="34" charset="-120"/>
              </a:rPr>
              <a:t>EDIT PLAN → FIXED MEDIA TOOLS</a:t>
            </a:r>
            <a:endParaRPr lang="en-US" sz="1800" dirty="0"/>
          </a:p>
        </p:txBody>
      </p:sp>
      <p:sp>
        <p:nvSpPr>
          <p:cNvPr id="9" name="element_6df30e8a35569ffe8c23f9dc245d35b5"/>
          <p:cNvSpPr txBox="1"/>
          <p:nvPr/>
        </p:nvSpPr>
        <p:spPr>
          <a:xfrm>
            <a:off x="853419" y="5692140"/>
            <a:ext cx="9631439" cy="213284"/>
          </a:xfrm>
          <a:prstGeom prst="rect">
            <a:avLst/>
          </a:prstGeom>
          <a:noFill/>
          <a:ln/>
        </p:spPr>
        <p:txBody>
          <a:bodyPr wrap="square" lIns="0" tIns="0" rIns="0" bIns="0" rtlCol="0" anchor="t">
            <a:normAutofit/>
          </a:bodyPr>
          <a:lstStyle/>
          <a:p>
            <a:pPr algn="l" indent="0" marL="0">
              <a:lnSpc>
                <a:spcPct val="120000"/>
              </a:lnSpc>
              <a:buNone/>
            </a:pPr>
            <a:r>
              <a:rPr lang="en-US" sz="1400" dirty="0">
                <a:solidFill>
                  <a:srgbClr val="26221D"/>
                </a:solidFill>
                <a:latin typeface="Geist Variable" pitchFamily="34" charset="0"/>
                <a:ea typeface="Geist Variable" pitchFamily="34" charset="-122"/>
                <a:cs typeface="Geist Variable" pitchFamily="34" charset="-120"/>
              </a:rPr>
              <a:t>01  NODEAGENT → CONVEX WORKFLOW</a:t>
            </a:r>
            <a:endParaRPr lang="en-US" sz="1400" dirty="0"/>
          </a:p>
        </p:txBody>
      </p:sp>
      <p:sp>
        <p:nvSpPr>
          <p:cNvPr id="10" name="element_c3f18e2118e2d452f8da5cfa351fd81c"/>
          <p:cNvSpPr/>
          <p:nvPr/>
        </p:nvSpPr>
        <p:spPr>
          <a:xfrm>
            <a:off x="9198634" y="329184"/>
            <a:ext cx="146300" cy="836676"/>
          </a:xfrm>
          <a:prstGeom prst="roundRect">
            <a:avLst/>
          </a:prstGeom>
          <a:solidFill>
            <a:srgbClr val="34452C">
              <a:alpha val="49000"/>
            </a:srgbClr>
          </a:solidFill>
          <a:ln w="12700">
            <a:solidFill>
              <a:srgbClr val="FFFFFF">
                <a:alpha val="0"/>
              </a:srgbClr>
            </a:solidFill>
            <a:prstDash val="solid"/>
          </a:ln>
        </p:spPr>
      </p:sp>
      <p:sp>
        <p:nvSpPr>
          <p:cNvPr id="11" name="element_c766d020eaaf6a2e2673af2b56cd7356"/>
          <p:cNvSpPr/>
          <p:nvPr/>
        </p:nvSpPr>
        <p:spPr>
          <a:xfrm>
            <a:off x="10283695" y="329184"/>
            <a:ext cx="146300" cy="836676"/>
          </a:xfrm>
          <a:prstGeom prst="roundRect">
            <a:avLst/>
          </a:prstGeom>
          <a:solidFill>
            <a:srgbClr val="34452C">
              <a:alpha val="49000"/>
            </a:srgbClr>
          </a:solidFill>
          <a:ln w="12700">
            <a:solidFill>
              <a:srgbClr val="FFFFFF">
                <a:alpha val="0"/>
              </a:srgbClr>
            </a:solidFill>
            <a:prstDash val="solid"/>
          </a:ln>
        </p:spPr>
      </p:sp>
      <p:sp>
        <p:nvSpPr>
          <p:cNvPr id="12" name="element_c1b9673685b32789f0be276c9eb8f3b5"/>
          <p:cNvSpPr/>
          <p:nvPr/>
        </p:nvSpPr>
        <p:spPr>
          <a:xfrm>
            <a:off x="9344934" y="850392"/>
            <a:ext cx="938761" cy="68580"/>
          </a:xfrm>
          <a:prstGeom prst="roundRect">
            <a:avLst/>
          </a:prstGeom>
          <a:solidFill>
            <a:srgbClr val="F2DED3">
              <a:alpha val="56000"/>
            </a:srgbClr>
          </a:solidFill>
          <a:ln w="12700">
            <a:solidFill>
              <a:srgbClr val="FFFFFF">
                <a:alpha val="0"/>
              </a:srgbClr>
            </a:solidFill>
            <a:prstDash val="solid"/>
          </a:ln>
        </p:spPr>
      </p:sp>
      <p:sp>
        <p:nvSpPr>
          <p:cNvPr id="13" name="element_257759ebc2373ff9f0c9e8e120f02d51"/>
          <p:cNvSpPr/>
          <p:nvPr/>
        </p:nvSpPr>
        <p:spPr>
          <a:xfrm>
            <a:off x="8095286" y="507492"/>
            <a:ext cx="585201" cy="68580"/>
          </a:xfrm>
          <a:prstGeom prst="roundRect">
            <a:avLst/>
          </a:prstGeom>
          <a:solidFill>
            <a:srgbClr val="F2DED3">
              <a:alpha val="38000"/>
            </a:srgbClr>
          </a:solidFill>
          <a:ln w="12700">
            <a:solidFill>
              <a:srgbClr val="FFFFFF">
                <a:alpha val="0"/>
              </a:srgbClr>
            </a:solidFill>
            <a:prstDash val="solid"/>
          </a:ln>
        </p:spPr>
      </p:sp>
      <p:sp>
        <p:nvSpPr>
          <p:cNvPr id="14" name="element_fe46b7462ef2439d3bf7e2bb4c63c4a2"/>
          <p:cNvSpPr/>
          <p:nvPr/>
        </p:nvSpPr>
        <p:spPr>
          <a:xfrm>
            <a:off x="8400078" y="630936"/>
            <a:ext cx="585201" cy="68580"/>
          </a:xfrm>
          <a:prstGeom prst="roundRect">
            <a:avLst/>
          </a:prstGeom>
          <a:solidFill>
            <a:srgbClr val="F2DED3">
              <a:alpha val="50000"/>
            </a:srgbClr>
          </a:solidFill>
          <a:ln w="12700">
            <a:solidFill>
              <a:srgbClr val="FFFFFF">
                <a:alpha val="0"/>
              </a:srgbClr>
            </a:solidFill>
            <a:prstDash val="solid"/>
          </a:ln>
        </p:spPr>
      </p:sp>
      <p:sp>
        <p:nvSpPr>
          <p:cNvPr id="15" name="element_c342a7c89088c0b787b092328048e197"/>
          <p:cNvSpPr/>
          <p:nvPr/>
        </p:nvSpPr>
        <p:spPr>
          <a:xfrm>
            <a:off x="8704870" y="754380"/>
            <a:ext cx="585201" cy="68580"/>
          </a:xfrm>
          <a:prstGeom prst="roundRect">
            <a:avLst/>
          </a:prstGeom>
          <a:solidFill>
            <a:srgbClr val="F2DED3">
              <a:alpha val="62000"/>
            </a:srgbClr>
          </a:solidFill>
          <a:ln w="12700">
            <a:solidFill>
              <a:srgbClr val="FFFFFF">
                <a:alpha val="0"/>
              </a:srgbClr>
            </a:solidFill>
            <a:prstDash val="solid"/>
          </a:ln>
        </p:spPr>
      </p:sp>
      <p:sp>
        <p:nvSpPr>
          <p:cNvPr id="16" name="element_ba554cd32f3202aaf121b819638c812a"/>
          <p:cNvSpPr/>
          <p:nvPr/>
        </p:nvSpPr>
        <p:spPr>
          <a:xfrm>
            <a:off x="9226675" y="768096"/>
            <a:ext cx="268217" cy="150876"/>
          </a:xfrm>
          <a:prstGeom prst="roundRect">
            <a:avLst/>
          </a:prstGeom>
          <a:solidFill>
            <a:srgbClr val="B44A2D">
              <a:alpha val="49000"/>
            </a:srgbClr>
          </a:solidFill>
          <a:ln w="12700">
            <a:solidFill>
              <a:srgbClr val="FFFFFF">
                <a:alpha val="0"/>
              </a:srgbClr>
            </a:solidFill>
            <a:prstDash val="solid"/>
          </a:ln>
        </p:spPr>
      </p:sp>
      <p:sp>
        <p:nvSpPr>
          <p:cNvPr id="17" name="element_f6faca313db79efab7d6dffc9dc34b2b"/>
          <p:cNvSpPr txBox="1"/>
          <p:nvPr/>
        </p:nvSpPr>
        <p:spPr>
          <a:xfrm>
            <a:off x="853419" y="6377940"/>
            <a:ext cx="8778021" cy="240030"/>
          </a:xfrm>
          <a:prstGeom prst="rect">
            <a:avLst/>
          </a:prstGeom>
          <a:noFill/>
          <a:ln/>
        </p:spPr>
        <p:txBody>
          <a:bodyPr wrap="square" lIns="0" tIns="0" rIns="0" bIns="0" rtlCol="0" anchor="t">
            <a:normAutofit/>
          </a:bodyPr>
          <a:lstStyle/>
          <a:p>
            <a:pPr algn="l" indent="0" marL="0">
              <a:lnSpc>
                <a:spcPct val="120000"/>
              </a:lnSpc>
              <a:buNone/>
            </a:pPr>
            <a:r>
              <a:rPr lang="en-US" sz="1000" spc="110" kern="0" dirty="0">
                <a:solidFill>
                  <a:srgbClr val="756B61"/>
                </a:solidFill>
                <a:latin typeface="JetBrains Mono Variable" pitchFamily="34" charset="0"/>
                <a:ea typeface="JetBrains Mono Variable" pitchFamily="34" charset="-122"/>
                <a:cs typeface="JetBrains Mono Variable" pitchFamily="34" charset="-120"/>
              </a:rPr>
              <a:t>NODESLIDE  ·  SOURCE-AWARE  ·  EDITABLE</a:t>
            </a:r>
            <a:endParaRPr lang="en-US" sz="1000" dirty="0"/>
          </a:p>
        </p:txBody>
      </p:sp>
      <p:sp>
        <p:nvSpPr>
          <p:cNvPr id="18" name="element_0fe9029f885227f8ba3b2bfaf14acf8b"/>
          <p:cNvSpPr txBox="1"/>
          <p:nvPr/>
        </p:nvSpPr>
        <p:spPr>
          <a:xfrm>
            <a:off x="10728692" y="6309360"/>
            <a:ext cx="731502" cy="342900"/>
          </a:xfrm>
          <a:prstGeom prst="rect">
            <a:avLst/>
          </a:prstGeom>
          <a:noFill/>
          <a:ln/>
        </p:spPr>
        <p:txBody>
          <a:bodyPr wrap="square" lIns="0" tIns="0" rIns="0" bIns="0" rtlCol="0" anchor="t">
            <a:normAutofit/>
          </a:bodyPr>
          <a:lstStyle/>
          <a:p>
            <a:pPr algn="r" indent="0" marL="0">
              <a:lnSpc>
                <a:spcPct val="120000"/>
              </a:lnSpc>
              <a:buNone/>
            </a:pPr>
            <a:r>
              <a:rPr lang="en-US" sz="1300" b="1" dirty="0">
                <a:solidFill>
                  <a:srgbClr val="B44A2D"/>
                </a:solidFill>
                <a:latin typeface="JetBrains Mono Variable" pitchFamily="34" charset="0"/>
                <a:ea typeface="JetBrains Mono Variable" pitchFamily="34" charset="-122"/>
                <a:cs typeface="JetBrains Mono Variable" pitchFamily="34" charset="-120"/>
              </a:rPr>
              <a:t>02</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4ED"/>
        </a:solidFill>
      </p:bgPr>
    </p:bg>
    <p:spTree>
      <p:nvGrpSpPr>
        <p:cNvPr id="1" name=""/>
        <p:cNvGrpSpPr/>
        <p:nvPr/>
      </p:nvGrpSpPr>
      <p:grpSpPr>
        <a:xfrm>
          <a:off x="0" y="0"/>
          <a:ext cx="0" cy="0"/>
          <a:chOff x="0" y="0"/>
          <a:chExt cx="0" cy="0"/>
        </a:xfrm>
      </p:grpSpPr>
      <p:sp>
        <p:nvSpPr>
          <p:cNvPr id="2" name="nodeslide-slide-id:slide_91b0babd4766bccf5047d474eeccd2e0"/>
          <p:cNvSpPr/>
          <p:nvPr/>
        </p:nvSpPr>
        <p:spPr>
          <a:xfrm>
            <a:off x="0" y="0"/>
            <a:ext cx="914" cy="914"/>
          </a:xfrm>
          <a:prstGeom prst="rect">
            <a:avLst/>
          </a:prstGeom>
          <a:solidFill>
            <a:srgbClr val="FFFFFF">
              <a:alpha val="0"/>
            </a:srgbClr>
          </a:solidFill>
          <a:ln w="12700">
            <a:solidFill>
              <a:srgbClr val="FFFFFF">
                <a:alpha val="0"/>
              </a:srgbClr>
            </a:solidFill>
            <a:prstDash val="solid"/>
          </a:ln>
        </p:spPr>
      </p:sp>
      <p:sp>
        <p:nvSpPr>
          <p:cNvPr id="3" name="element_1703b5074b314131d76c154e8a922998"/>
          <p:cNvSpPr txBox="1"/>
          <p:nvPr/>
        </p:nvSpPr>
        <p:spPr>
          <a:xfrm>
            <a:off x="853419" y="411480"/>
            <a:ext cx="4876678" cy="480060"/>
          </a:xfrm>
          <a:prstGeom prst="rect">
            <a:avLst/>
          </a:prstGeom>
          <a:noFill/>
          <a:ln/>
        </p:spPr>
        <p:txBody>
          <a:bodyPr wrap="square" lIns="0" tIns="0" rIns="0" bIns="0" rtlCol="0" anchor="t">
            <a:normAutofit/>
          </a:bodyPr>
          <a:lstStyle/>
          <a:p>
            <a:pPr algn="l" indent="0" marL="0">
              <a:lnSpc>
                <a:spcPct val="120000"/>
              </a:lnSpc>
              <a:buNone/>
            </a:pPr>
            <a:r>
              <a:rPr lang="en-US" sz="1500" b="1" spc="130" kern="0" dirty="0">
                <a:solidFill>
                  <a:srgbClr val="B44A2D"/>
                </a:solidFill>
                <a:latin typeface="JetBrains Mono Variable" pitchFamily="34" charset="0"/>
                <a:ea typeface="JetBrains Mono Variable" pitchFamily="34" charset="-122"/>
                <a:cs typeface="JetBrains Mono Variable" pitchFamily="34" charset="-120"/>
              </a:rPr>
              <a:t>03 / PLAN → EXECUTE</a:t>
            </a:r>
            <a:endParaRPr lang="en-US" sz="1500" dirty="0"/>
          </a:p>
        </p:txBody>
      </p:sp>
      <p:sp>
        <p:nvSpPr>
          <p:cNvPr id="4" name="element_3e1fce3e8b3b537ec1197f5d1e65d714"/>
          <p:cNvSpPr txBox="1"/>
          <p:nvPr/>
        </p:nvSpPr>
        <p:spPr>
          <a:xfrm>
            <a:off x="853419" y="960120"/>
            <a:ext cx="9997190" cy="548640"/>
          </a:xfrm>
          <a:prstGeom prst="rect">
            <a:avLst/>
          </a:prstGeom>
          <a:noFill/>
          <a:ln/>
        </p:spPr>
        <p:txBody>
          <a:bodyPr wrap="square" lIns="0" tIns="0" rIns="0" bIns="0" rtlCol="0" anchor="t">
            <a:normAutofit/>
          </a:bodyPr>
          <a:lstStyle/>
          <a:p>
            <a:pPr algn="l" indent="0" marL="0">
              <a:lnSpc>
                <a:spcPct val="110000"/>
              </a:lnSpc>
              <a:buNone/>
            </a:pPr>
            <a:r>
              <a:rPr lang="en-US" sz="3200" b="1" dirty="0">
                <a:solidFill>
                  <a:srgbClr val="26221D"/>
                </a:solidFill>
                <a:latin typeface="Georgia" pitchFamily="34" charset="0"/>
                <a:ea typeface="Georgia" pitchFamily="34" charset="-122"/>
                <a:cs typeface="Georgia" pitchFamily="34" charset="-120"/>
              </a:rPr>
              <a:t>Approval binds the plan before media code runs.</a:t>
            </a:r>
            <a:endParaRPr lang="en-US" sz="3200" dirty="0"/>
          </a:p>
        </p:txBody>
      </p:sp>
      <p:sp>
        <p:nvSpPr>
          <p:cNvPr id="5" name="element_c2911598a89fe43c47952170f0029348"/>
          <p:cNvSpPr/>
          <p:nvPr/>
        </p:nvSpPr>
        <p:spPr>
          <a:xfrm>
            <a:off x="2049424" y="2763774"/>
            <a:ext cx="2698022" cy="164592"/>
          </a:xfrm>
          <a:prstGeom prst="line">
            <a:avLst/>
          </a:prstGeom>
          <a:noFill/>
          <a:ln w="25400">
            <a:solidFill>
              <a:srgbClr val="7566A8"/>
            </a:solidFill>
            <a:prstDash val="solid"/>
            <a:tailEnd type="triangle"/>
          </a:ln>
        </p:spPr>
      </p:sp>
      <p:sp>
        <p:nvSpPr>
          <p:cNvPr id="6" name="element_3e56ba971ad7e2162be5b8a4336ac083"/>
          <p:cNvSpPr/>
          <p:nvPr/>
        </p:nvSpPr>
        <p:spPr>
          <a:xfrm>
            <a:off x="4747446" y="2763774"/>
            <a:ext cx="2696803" cy="164592"/>
          </a:xfrm>
          <a:prstGeom prst="line">
            <a:avLst/>
          </a:prstGeom>
          <a:noFill/>
          <a:ln w="25400">
            <a:solidFill>
              <a:srgbClr val="7566A8"/>
            </a:solidFill>
            <a:prstDash val="solid"/>
            <a:tailEnd type="triangle"/>
          </a:ln>
        </p:spPr>
      </p:sp>
      <p:sp>
        <p:nvSpPr>
          <p:cNvPr id="7" name="element_6c1f96a9e03eac74399ffc22c43a5dfc"/>
          <p:cNvSpPr/>
          <p:nvPr/>
        </p:nvSpPr>
        <p:spPr>
          <a:xfrm>
            <a:off x="7444249" y="2763774"/>
            <a:ext cx="2696803" cy="164592"/>
          </a:xfrm>
          <a:prstGeom prst="line">
            <a:avLst/>
          </a:prstGeom>
          <a:noFill/>
          <a:ln w="25400">
            <a:solidFill>
              <a:srgbClr val="7566A8"/>
            </a:solidFill>
            <a:prstDash val="solid"/>
            <a:tailEnd type="triangle"/>
          </a:ln>
        </p:spPr>
      </p:sp>
      <p:sp>
        <p:nvSpPr>
          <p:cNvPr id="8" name="element_0720a03550d70edcc2beec2f0c68d247"/>
          <p:cNvSpPr/>
          <p:nvPr/>
        </p:nvSpPr>
        <p:spPr>
          <a:xfrm>
            <a:off x="853419" y="2366010"/>
            <a:ext cx="2392011" cy="960120"/>
          </a:xfrm>
          <a:prstGeom prst="roundRect">
            <a:avLst/>
          </a:prstGeom>
          <a:solidFill>
            <a:srgbClr val="F2DED3"/>
          </a:solidFill>
          <a:ln w="12700">
            <a:solidFill>
              <a:srgbClr val="DED7CC"/>
            </a:solidFill>
            <a:prstDash val="solid"/>
          </a:ln>
        </p:spPr>
      </p:sp>
      <p:sp>
        <p:nvSpPr>
          <p:cNvPr id="9" name="element_0720a03550d70edcc2beec2f0c68d247:text"/>
          <p:cNvSpPr txBox="1"/>
          <p:nvPr/>
        </p:nvSpPr>
        <p:spPr>
          <a:xfrm>
            <a:off x="853419" y="2366010"/>
            <a:ext cx="2392011" cy="960120"/>
          </a:xfrm>
          <a:prstGeom prst="rect">
            <a:avLst/>
          </a:prstGeom>
          <a:noFill/>
          <a:ln/>
        </p:spPr>
        <p:txBody>
          <a:bodyPr wrap="square" lIns="101600" tIns="101600" rIns="101600" bIns="101600" rtlCol="0" anchor="ctr">
            <a:normAutofit/>
          </a:bodyPr>
          <a:lstStyle/>
          <a:p>
            <a:pPr algn="ctr" indent="0" marL="0">
              <a:lnSpc>
                <a:spcPct val="115000"/>
              </a:lnSpc>
              <a:buNone/>
            </a:pPr>
            <a:r>
              <a:rPr lang="en-US" sz="1200" b="1" dirty="0">
                <a:solidFill>
                  <a:srgbClr val="26221D"/>
                </a:solidFill>
                <a:latin typeface="Geist Variable" pitchFamily="34" charset="0"/>
                <a:ea typeface="Geist Variable" pitchFamily="34" charset="-122"/>
                <a:cs typeface="Geist Variable" pitchFamily="34" charset="-120"/>
              </a:rPr>
              <a:t>Brief → typed proposal</a:t>
            </a:r>
            <a:endParaRPr lang="en-US" sz="1200" dirty="0"/>
          </a:p>
        </p:txBody>
      </p:sp>
      <p:sp>
        <p:nvSpPr>
          <p:cNvPr id="10" name="element_94ba2185e8361838e7ae19fd71177531"/>
          <p:cNvSpPr/>
          <p:nvPr/>
        </p:nvSpPr>
        <p:spPr>
          <a:xfrm>
            <a:off x="3551441" y="2366010"/>
            <a:ext cx="2392011" cy="960120"/>
          </a:xfrm>
          <a:prstGeom prst="roundRect">
            <a:avLst/>
          </a:prstGeom>
          <a:solidFill>
            <a:srgbClr val="E5E9D6"/>
          </a:solidFill>
          <a:ln w="25400">
            <a:solidFill>
              <a:srgbClr val="B44A2D"/>
            </a:solidFill>
            <a:prstDash val="solid"/>
          </a:ln>
        </p:spPr>
      </p:sp>
      <p:sp>
        <p:nvSpPr>
          <p:cNvPr id="11" name="element_94ba2185e8361838e7ae19fd71177531:text"/>
          <p:cNvSpPr txBox="1"/>
          <p:nvPr/>
        </p:nvSpPr>
        <p:spPr>
          <a:xfrm>
            <a:off x="3551441" y="2366010"/>
            <a:ext cx="2392011" cy="960120"/>
          </a:xfrm>
          <a:prstGeom prst="rect">
            <a:avLst/>
          </a:prstGeom>
          <a:noFill/>
          <a:ln/>
        </p:spPr>
        <p:txBody>
          <a:bodyPr wrap="square" lIns="101600" tIns="101600" rIns="101600" bIns="101600" rtlCol="0" anchor="ctr">
            <a:normAutofit/>
          </a:bodyPr>
          <a:lstStyle/>
          <a:p>
            <a:pPr algn="ctr" indent="0" marL="0">
              <a:lnSpc>
                <a:spcPct val="115000"/>
              </a:lnSpc>
              <a:buNone/>
            </a:pPr>
            <a:r>
              <a:rPr lang="en-US" sz="1400" b="1" dirty="0">
                <a:solidFill>
                  <a:srgbClr val="26221D"/>
                </a:solidFill>
                <a:latin typeface="Geist Variable" pitchFamily="34" charset="0"/>
                <a:ea typeface="Geist Variable" pitchFamily="34" charset="-122"/>
                <a:cs typeface="Geist Variable" pitchFamily="34" charset="-120"/>
              </a:rPr>
              <a:t>Approval</a:t>
            </a:r>
            <a:endParaRPr lang="en-US" sz="1400" dirty="0"/>
          </a:p>
        </p:txBody>
      </p:sp>
      <p:sp>
        <p:nvSpPr>
          <p:cNvPr id="12" name="element_5413562e63332204111127d38423abf7"/>
          <p:cNvSpPr/>
          <p:nvPr/>
        </p:nvSpPr>
        <p:spPr>
          <a:xfrm>
            <a:off x="6248244" y="2366010"/>
            <a:ext cx="2392011" cy="960120"/>
          </a:xfrm>
          <a:prstGeom prst="roundRect">
            <a:avLst/>
          </a:prstGeom>
          <a:solidFill>
            <a:srgbClr val="E5E9D6"/>
          </a:solidFill>
          <a:ln w="12700">
            <a:solidFill>
              <a:srgbClr val="DED7CC"/>
            </a:solidFill>
            <a:prstDash val="solid"/>
          </a:ln>
        </p:spPr>
      </p:sp>
      <p:sp>
        <p:nvSpPr>
          <p:cNvPr id="13" name="element_5413562e63332204111127d38423abf7:text"/>
          <p:cNvSpPr txBox="1"/>
          <p:nvPr/>
        </p:nvSpPr>
        <p:spPr>
          <a:xfrm>
            <a:off x="6248244" y="2366010"/>
            <a:ext cx="2392011" cy="960120"/>
          </a:xfrm>
          <a:prstGeom prst="rect">
            <a:avLst/>
          </a:prstGeom>
          <a:noFill/>
          <a:ln/>
        </p:spPr>
        <p:txBody>
          <a:bodyPr wrap="square" lIns="101600" tIns="101600" rIns="101600" bIns="101600" rtlCol="0" anchor="ctr">
            <a:normAutofit/>
          </a:bodyPr>
          <a:lstStyle/>
          <a:p>
            <a:pPr algn="ctr" indent="0" marL="0">
              <a:lnSpc>
                <a:spcPct val="115000"/>
              </a:lnSpc>
              <a:buNone/>
            </a:pPr>
            <a:r>
              <a:rPr lang="en-US" sz="1300" b="1" dirty="0">
                <a:solidFill>
                  <a:srgbClr val="26221D"/>
                </a:solidFill>
                <a:latin typeface="Geist Variable" pitchFamily="34" charset="0"/>
                <a:ea typeface="Geist Variable" pitchFamily="34" charset="-122"/>
                <a:cs typeface="Geist Variable" pitchFamily="34" charset="-120"/>
              </a:rPr>
              <a:t>Hash-bound plan</a:t>
            </a:r>
            <a:endParaRPr lang="en-US" sz="1300" dirty="0"/>
          </a:p>
        </p:txBody>
      </p:sp>
      <p:sp>
        <p:nvSpPr>
          <p:cNvPr id="14" name="element_e4e75a7755e457d3107aaaf77958d1f0"/>
          <p:cNvSpPr/>
          <p:nvPr/>
        </p:nvSpPr>
        <p:spPr>
          <a:xfrm>
            <a:off x="8945047" y="2366010"/>
            <a:ext cx="2392011" cy="960120"/>
          </a:xfrm>
          <a:prstGeom prst="roundRect">
            <a:avLst/>
          </a:prstGeom>
          <a:solidFill>
            <a:srgbClr val="F2DED3"/>
          </a:solidFill>
          <a:ln w="12700">
            <a:solidFill>
              <a:srgbClr val="DED7CC"/>
            </a:solidFill>
            <a:prstDash val="solid"/>
          </a:ln>
        </p:spPr>
      </p:sp>
      <p:sp>
        <p:nvSpPr>
          <p:cNvPr id="15" name="element_e4e75a7755e457d3107aaaf77958d1f0:text"/>
          <p:cNvSpPr txBox="1"/>
          <p:nvPr/>
        </p:nvSpPr>
        <p:spPr>
          <a:xfrm>
            <a:off x="8945047" y="2366010"/>
            <a:ext cx="2392011" cy="960120"/>
          </a:xfrm>
          <a:prstGeom prst="rect">
            <a:avLst/>
          </a:prstGeom>
          <a:noFill/>
          <a:ln/>
        </p:spPr>
        <p:txBody>
          <a:bodyPr wrap="square" lIns="101600" tIns="101600" rIns="101600" bIns="101600" rtlCol="0" anchor="ctr">
            <a:normAutofit/>
          </a:bodyPr>
          <a:lstStyle/>
          <a:p>
            <a:pPr algn="ctr" indent="0" marL="0">
              <a:lnSpc>
                <a:spcPct val="115000"/>
              </a:lnSpc>
              <a:buNone/>
            </a:pPr>
            <a:r>
              <a:rPr lang="en-US" sz="1200" b="1" dirty="0">
                <a:solidFill>
                  <a:srgbClr val="26221D"/>
                </a:solidFill>
                <a:latin typeface="Geist Variable" pitchFamily="34" charset="0"/>
                <a:ea typeface="Geist Variable" pitchFamily="34" charset="-122"/>
                <a:cs typeface="Geist Variable" pitchFamily="34" charset="-120"/>
              </a:rPr>
              <a:t>Deterministic render → receipt</a:t>
            </a:r>
            <a:endParaRPr lang="en-US" sz="1200" dirty="0"/>
          </a:p>
        </p:txBody>
      </p:sp>
      <p:sp>
        <p:nvSpPr>
          <p:cNvPr id="16" name="element_2e1959ae37e7bf9f4734b4ed39cb5f30"/>
          <p:cNvSpPr txBox="1"/>
          <p:nvPr/>
        </p:nvSpPr>
        <p:spPr>
          <a:xfrm>
            <a:off x="853419" y="3531870"/>
            <a:ext cx="9631439" cy="754380"/>
          </a:xfrm>
          <a:prstGeom prst="rect">
            <a:avLst/>
          </a:prstGeom>
          <a:noFill/>
          <a:ln/>
        </p:spPr>
        <p:txBody>
          <a:bodyPr wrap="square" lIns="0" tIns="0" rIns="0" bIns="0" rtlCol="0" anchor="t">
            <a:normAutofit/>
          </a:bodyPr>
          <a:lstStyle/>
          <a:p>
            <a:pPr algn="l" indent="0" marL="0">
              <a:lnSpc>
                <a:spcPct val="135000"/>
              </a:lnSpc>
              <a:buNone/>
            </a:pPr>
            <a:r>
              <a:rPr lang="en-US" sz="1600" dirty="0">
                <a:solidFill>
                  <a:srgbClr val="756B61"/>
                </a:solidFill>
                <a:latin typeface="Geist Variable" pitchFamily="34" charset="0"/>
                <a:ea typeface="Geist Variable" pitchFamily="34" charset="-122"/>
                <a:cs typeface="Geist Variable" pitchFamily="34" charset="-120"/>
              </a:rPr>
              <a:t>No shell commands. No arbitrary FFmpeg graph.</a:t>
            </a:r>
            <a:endParaRPr lang="en-US" sz="1600" dirty="0"/>
          </a:p>
        </p:txBody>
      </p:sp>
      <p:sp>
        <p:nvSpPr>
          <p:cNvPr id="17" name="element_a0745b099f7b3290d95ba47330bc1d3e"/>
          <p:cNvSpPr/>
          <p:nvPr/>
        </p:nvSpPr>
        <p:spPr>
          <a:xfrm>
            <a:off x="9070621" y="329184"/>
            <a:ext cx="146300" cy="685800"/>
          </a:xfrm>
          <a:prstGeom prst="roundRect">
            <a:avLst/>
          </a:prstGeom>
          <a:solidFill>
            <a:srgbClr val="34452C">
              <a:alpha val="75000"/>
            </a:srgbClr>
          </a:solidFill>
          <a:ln w="12700">
            <a:solidFill>
              <a:srgbClr val="FFFFFF">
                <a:alpha val="0"/>
              </a:srgbClr>
            </a:solidFill>
            <a:prstDash val="solid"/>
          </a:ln>
        </p:spPr>
      </p:sp>
      <p:sp>
        <p:nvSpPr>
          <p:cNvPr id="18" name="element_dd303784fed02dce4b9009d6a322afed"/>
          <p:cNvSpPr/>
          <p:nvPr/>
        </p:nvSpPr>
        <p:spPr>
          <a:xfrm>
            <a:off x="10411708" y="329184"/>
            <a:ext cx="146300" cy="685800"/>
          </a:xfrm>
          <a:prstGeom prst="roundRect">
            <a:avLst/>
          </a:prstGeom>
          <a:solidFill>
            <a:srgbClr val="34452C">
              <a:alpha val="75000"/>
            </a:srgbClr>
          </a:solidFill>
          <a:ln w="12700">
            <a:solidFill>
              <a:srgbClr val="FFFFFF">
                <a:alpha val="0"/>
              </a:srgbClr>
            </a:solidFill>
            <a:prstDash val="solid"/>
          </a:ln>
        </p:spPr>
      </p:sp>
      <p:sp>
        <p:nvSpPr>
          <p:cNvPr id="19" name="element_bd69eb866e5b3a09017800dc47bb4fcb"/>
          <p:cNvSpPr/>
          <p:nvPr/>
        </p:nvSpPr>
        <p:spPr>
          <a:xfrm>
            <a:off x="9216922" y="850392"/>
            <a:ext cx="1194786" cy="68580"/>
          </a:xfrm>
          <a:prstGeom prst="roundRect">
            <a:avLst/>
          </a:prstGeom>
          <a:solidFill>
            <a:srgbClr val="F2DED3">
              <a:alpha val="63000"/>
            </a:srgbClr>
          </a:solidFill>
          <a:ln w="12700">
            <a:solidFill>
              <a:srgbClr val="FFFFFF">
                <a:alpha val="0"/>
              </a:srgbClr>
            </a:solidFill>
            <a:prstDash val="solid"/>
          </a:ln>
        </p:spPr>
      </p:sp>
      <p:sp>
        <p:nvSpPr>
          <p:cNvPr id="20" name="element_291a2e0e78db38d5218f3a0ccad4d48c"/>
          <p:cNvSpPr/>
          <p:nvPr/>
        </p:nvSpPr>
        <p:spPr>
          <a:xfrm>
            <a:off x="9046238" y="795528"/>
            <a:ext cx="1097253" cy="96012"/>
          </a:xfrm>
          <a:prstGeom prst="roundRect">
            <a:avLst/>
          </a:prstGeom>
          <a:solidFill>
            <a:srgbClr val="F2DED3">
              <a:alpha val="68000"/>
            </a:srgbClr>
          </a:solidFill>
          <a:ln w="12700">
            <a:solidFill>
              <a:srgbClr val="FFFFFF">
                <a:alpha val="0"/>
              </a:srgbClr>
            </a:solidFill>
            <a:prstDash val="solid"/>
          </a:ln>
        </p:spPr>
      </p:sp>
      <p:sp>
        <p:nvSpPr>
          <p:cNvPr id="21" name="element_aa8d6f694bb179ef4d41431a4d906006"/>
          <p:cNvSpPr/>
          <p:nvPr/>
        </p:nvSpPr>
        <p:spPr>
          <a:xfrm>
            <a:off x="9743603" y="768096"/>
            <a:ext cx="268217" cy="150876"/>
          </a:xfrm>
          <a:prstGeom prst="roundRect">
            <a:avLst/>
          </a:prstGeom>
          <a:solidFill>
            <a:srgbClr val="B44A2D">
              <a:alpha val="75000"/>
            </a:srgbClr>
          </a:solidFill>
          <a:ln w="12700">
            <a:solidFill>
              <a:srgbClr val="FFFFFF">
                <a:alpha val="0"/>
              </a:srgbClr>
            </a:solidFill>
            <a:prstDash val="solid"/>
          </a:ln>
        </p:spPr>
      </p:sp>
      <p:sp>
        <p:nvSpPr>
          <p:cNvPr id="22" name="element_2de03b655f49847622bca8c77bf17c0c"/>
          <p:cNvSpPr txBox="1"/>
          <p:nvPr/>
        </p:nvSpPr>
        <p:spPr>
          <a:xfrm>
            <a:off x="853419" y="6377940"/>
            <a:ext cx="8778021" cy="240030"/>
          </a:xfrm>
          <a:prstGeom prst="rect">
            <a:avLst/>
          </a:prstGeom>
          <a:noFill/>
          <a:ln/>
        </p:spPr>
        <p:txBody>
          <a:bodyPr wrap="square" lIns="0" tIns="0" rIns="0" bIns="0" rtlCol="0" anchor="t">
            <a:normAutofit/>
          </a:bodyPr>
          <a:lstStyle/>
          <a:p>
            <a:pPr algn="l" indent="0" marL="0">
              <a:lnSpc>
                <a:spcPct val="120000"/>
              </a:lnSpc>
              <a:buNone/>
            </a:pPr>
            <a:r>
              <a:rPr lang="en-US" sz="1000" spc="110" kern="0" dirty="0">
                <a:solidFill>
                  <a:srgbClr val="756B61"/>
                </a:solidFill>
                <a:latin typeface="JetBrains Mono Variable" pitchFamily="34" charset="0"/>
                <a:ea typeface="JetBrains Mono Variable" pitchFamily="34" charset="-122"/>
                <a:cs typeface="JetBrains Mono Variable" pitchFamily="34" charset="-120"/>
              </a:rPr>
              <a:t>NODESLIDE  ·  SOURCE-AWARE  ·  EDITABLE</a:t>
            </a:r>
            <a:endParaRPr lang="en-US" sz="1000" dirty="0"/>
          </a:p>
        </p:txBody>
      </p:sp>
      <p:sp>
        <p:nvSpPr>
          <p:cNvPr id="23" name="element_0726e332023f13c9af556d72bfbe7f62"/>
          <p:cNvSpPr txBox="1"/>
          <p:nvPr/>
        </p:nvSpPr>
        <p:spPr>
          <a:xfrm>
            <a:off x="10728692" y="6309360"/>
            <a:ext cx="731502" cy="342900"/>
          </a:xfrm>
          <a:prstGeom prst="rect">
            <a:avLst/>
          </a:prstGeom>
          <a:noFill/>
          <a:ln/>
        </p:spPr>
        <p:txBody>
          <a:bodyPr wrap="square" lIns="0" tIns="0" rIns="0" bIns="0" rtlCol="0" anchor="t">
            <a:normAutofit/>
          </a:bodyPr>
          <a:lstStyle/>
          <a:p>
            <a:pPr algn="r" indent="0" marL="0">
              <a:lnSpc>
                <a:spcPct val="120000"/>
              </a:lnSpc>
              <a:buNone/>
            </a:pPr>
            <a:r>
              <a:rPr lang="en-US" sz="1300" b="1" dirty="0">
                <a:solidFill>
                  <a:srgbClr val="B44A2D"/>
                </a:solidFill>
                <a:latin typeface="JetBrains Mono Variable" pitchFamily="34" charset="0"/>
                <a:ea typeface="JetBrains Mono Variable" pitchFamily="34" charset="-122"/>
                <a:cs typeface="JetBrains Mono Variable" pitchFamily="34" charset="-120"/>
              </a:rPr>
              <a:t>03</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4ED"/>
        </a:solidFill>
      </p:bgPr>
    </p:bg>
    <p:spTree>
      <p:nvGrpSpPr>
        <p:cNvPr id="1" name=""/>
        <p:cNvGrpSpPr/>
        <p:nvPr/>
      </p:nvGrpSpPr>
      <p:grpSpPr>
        <a:xfrm>
          <a:off x="0" y="0"/>
          <a:ext cx="0" cy="0"/>
          <a:chOff x="0" y="0"/>
          <a:chExt cx="0" cy="0"/>
        </a:xfrm>
      </p:grpSpPr>
      <p:sp>
        <p:nvSpPr>
          <p:cNvPr id="2" name="nodeslide-slide-id:slide_15001723621faf7a87fd65c65acb8355"/>
          <p:cNvSpPr/>
          <p:nvPr/>
        </p:nvSpPr>
        <p:spPr>
          <a:xfrm>
            <a:off x="0" y="0"/>
            <a:ext cx="914" cy="914"/>
          </a:xfrm>
          <a:prstGeom prst="rect">
            <a:avLst/>
          </a:prstGeom>
          <a:solidFill>
            <a:srgbClr val="FFFFFF">
              <a:alpha val="0"/>
            </a:srgbClr>
          </a:solidFill>
          <a:ln w="12700">
            <a:solidFill>
              <a:srgbClr val="FFFFFF">
                <a:alpha val="0"/>
              </a:srgbClr>
            </a:solidFill>
            <a:prstDash val="solid"/>
          </a:ln>
        </p:spPr>
      </p:sp>
      <p:sp>
        <p:nvSpPr>
          <p:cNvPr id="3" name="element_5c80f713c21aa1cfe04ee5f6e6318692"/>
          <p:cNvSpPr/>
          <p:nvPr/>
        </p:nvSpPr>
        <p:spPr>
          <a:xfrm>
            <a:off x="731502" y="1234440"/>
            <a:ext cx="5852014" cy="4114800"/>
          </a:xfrm>
          <a:prstGeom prst="roundRect">
            <a:avLst/>
          </a:prstGeom>
          <a:solidFill>
            <a:srgbClr val="F2DED3">
              <a:alpha val="22000"/>
            </a:srgbClr>
          </a:solidFill>
          <a:ln w="12700">
            <a:solidFill>
              <a:srgbClr val="FFFFFF">
                <a:alpha val="0"/>
              </a:srgbClr>
            </a:solidFill>
            <a:prstDash val="solid"/>
          </a:ln>
        </p:spPr>
      </p:sp>
      <p:sp>
        <p:nvSpPr>
          <p:cNvPr id="4" name="element_2caffc6c0064aca375aa04f498a3e598"/>
          <p:cNvSpPr/>
          <p:nvPr/>
        </p:nvSpPr>
        <p:spPr>
          <a:xfrm>
            <a:off x="2205478" y="1508760"/>
            <a:ext cx="262121" cy="3429000"/>
          </a:xfrm>
          <a:prstGeom prst="roundRect">
            <a:avLst/>
          </a:prstGeom>
          <a:solidFill>
            <a:srgbClr val="34452C"/>
          </a:solidFill>
          <a:ln w="12700">
            <a:solidFill>
              <a:srgbClr val="FFFFFF">
                <a:alpha val="0"/>
              </a:srgbClr>
            </a:solidFill>
            <a:prstDash val="solid"/>
          </a:ln>
        </p:spPr>
      </p:sp>
      <p:sp>
        <p:nvSpPr>
          <p:cNvPr id="5" name="element_301c189f8ffc77481ad70fb1d80c63f8"/>
          <p:cNvSpPr/>
          <p:nvPr/>
        </p:nvSpPr>
        <p:spPr>
          <a:xfrm>
            <a:off x="5066869" y="1508760"/>
            <a:ext cx="262121" cy="3429000"/>
          </a:xfrm>
          <a:prstGeom prst="roundRect">
            <a:avLst/>
          </a:prstGeom>
          <a:solidFill>
            <a:srgbClr val="34452C"/>
          </a:solidFill>
          <a:ln w="12700">
            <a:solidFill>
              <a:srgbClr val="FFFFFF">
                <a:alpha val="0"/>
              </a:srgbClr>
            </a:solidFill>
            <a:prstDash val="solid"/>
          </a:ln>
        </p:spPr>
      </p:sp>
      <p:sp>
        <p:nvSpPr>
          <p:cNvPr id="6" name="element_f0c16f4fdb1ba04d2de879edabf9c965"/>
          <p:cNvSpPr/>
          <p:nvPr/>
        </p:nvSpPr>
        <p:spPr>
          <a:xfrm>
            <a:off x="2467599" y="4114800"/>
            <a:ext cx="2599269" cy="308610"/>
          </a:xfrm>
          <a:prstGeom prst="roundRect">
            <a:avLst/>
          </a:prstGeom>
          <a:solidFill>
            <a:srgbClr val="F2DED3">
              <a:alpha val="70000"/>
            </a:srgbClr>
          </a:solidFill>
          <a:ln w="12700">
            <a:solidFill>
              <a:srgbClr val="FFFFFF">
                <a:alpha val="0"/>
              </a:srgbClr>
            </a:solidFill>
            <a:prstDash val="solid"/>
          </a:ln>
        </p:spPr>
      </p:sp>
      <p:sp>
        <p:nvSpPr>
          <p:cNvPr id="7" name="element_77876839c0cc2bd70314cc78c17e13b9"/>
          <p:cNvSpPr/>
          <p:nvPr/>
        </p:nvSpPr>
        <p:spPr>
          <a:xfrm rot="2700000">
            <a:off x="4356093" y="2503170"/>
            <a:ext cx="349902" cy="548640"/>
          </a:xfrm>
          <a:prstGeom prst="roundRect">
            <a:avLst/>
          </a:prstGeom>
          <a:solidFill>
            <a:srgbClr val="34452C">
              <a:alpha val="62000"/>
            </a:srgbClr>
          </a:solidFill>
          <a:ln w="12700">
            <a:solidFill>
              <a:srgbClr val="FFFFFF">
                <a:alpha val="0"/>
              </a:srgbClr>
            </a:solidFill>
            <a:prstDash val="solid"/>
          </a:ln>
        </p:spPr>
      </p:sp>
      <p:sp>
        <p:nvSpPr>
          <p:cNvPr id="8" name="element_d00f759cac961d5a5d12f375480dfe4d"/>
          <p:cNvSpPr/>
          <p:nvPr/>
        </p:nvSpPr>
        <p:spPr>
          <a:xfrm rot="2700000">
            <a:off x="4968116" y="3806190"/>
            <a:ext cx="349902" cy="548640"/>
          </a:xfrm>
          <a:prstGeom prst="roundRect">
            <a:avLst/>
          </a:prstGeom>
          <a:solidFill>
            <a:srgbClr val="34452C">
              <a:alpha val="74000"/>
            </a:srgbClr>
          </a:solidFill>
          <a:ln w="12700">
            <a:solidFill>
              <a:srgbClr val="FFFFFF">
                <a:alpha val="0"/>
              </a:srgbClr>
            </a:solidFill>
            <a:prstDash val="solid"/>
          </a:ln>
        </p:spPr>
      </p:sp>
      <p:sp>
        <p:nvSpPr>
          <p:cNvPr id="9" name="element_017505601a9b21ea8385d7f30dfca3f8"/>
          <p:cNvSpPr/>
          <p:nvPr/>
        </p:nvSpPr>
        <p:spPr>
          <a:xfrm rot="2700000">
            <a:off x="5580139" y="2503170"/>
            <a:ext cx="349902" cy="548640"/>
          </a:xfrm>
          <a:prstGeom prst="roundRect">
            <a:avLst/>
          </a:prstGeom>
          <a:solidFill>
            <a:srgbClr val="B44A2D">
              <a:alpha val="86000"/>
            </a:srgbClr>
          </a:solidFill>
          <a:ln w="12700">
            <a:solidFill>
              <a:srgbClr val="FFFFFF">
                <a:alpha val="0"/>
              </a:srgbClr>
            </a:solidFill>
            <a:prstDash val="solid"/>
          </a:ln>
        </p:spPr>
      </p:sp>
      <p:sp>
        <p:nvSpPr>
          <p:cNvPr id="10" name="element_cac54d562b2e5fa98ba5d83b4ecaffe2"/>
          <p:cNvSpPr/>
          <p:nvPr/>
        </p:nvSpPr>
        <p:spPr>
          <a:xfrm>
            <a:off x="4565790" y="3703320"/>
            <a:ext cx="480353" cy="754380"/>
          </a:xfrm>
          <a:prstGeom prst="roundRect">
            <a:avLst/>
          </a:prstGeom>
          <a:solidFill>
            <a:srgbClr val="B44A2D"/>
          </a:solidFill>
          <a:ln w="12700">
            <a:solidFill>
              <a:srgbClr val="FFFFFF">
                <a:alpha val="0"/>
              </a:srgbClr>
            </a:solidFill>
            <a:prstDash val="solid"/>
          </a:ln>
        </p:spPr>
      </p:sp>
      <p:sp>
        <p:nvSpPr>
          <p:cNvPr id="11" name="element_9f88dcc6c408f4b2490e91a1aa0a8216"/>
          <p:cNvSpPr txBox="1"/>
          <p:nvPr/>
        </p:nvSpPr>
        <p:spPr>
          <a:xfrm>
            <a:off x="7315017" y="445770"/>
            <a:ext cx="3657509" cy="480060"/>
          </a:xfrm>
          <a:prstGeom prst="rect">
            <a:avLst/>
          </a:prstGeom>
          <a:noFill/>
          <a:ln/>
        </p:spPr>
        <p:txBody>
          <a:bodyPr wrap="square" lIns="0" tIns="0" rIns="0" bIns="0" rtlCol="0" anchor="t">
            <a:normAutofit/>
          </a:bodyPr>
          <a:lstStyle/>
          <a:p>
            <a:pPr algn="l" indent="0" marL="0">
              <a:lnSpc>
                <a:spcPct val="120000"/>
              </a:lnSpc>
              <a:buNone/>
            </a:pPr>
            <a:r>
              <a:rPr lang="en-US" sz="1500" b="1" spc="130" kern="0" dirty="0">
                <a:solidFill>
                  <a:srgbClr val="B44A2D"/>
                </a:solidFill>
                <a:latin typeface="JetBrains Mono Variable" pitchFamily="34" charset="0"/>
                <a:ea typeface="JetBrains Mono Variable" pitchFamily="34" charset="-122"/>
                <a:cs typeface="JetBrains Mono Variable" pitchFamily="34" charset="-120"/>
              </a:rPr>
              <a:t>04 / TRADEOFF + FAILURE</a:t>
            </a:r>
            <a:endParaRPr lang="en-US" sz="1500" dirty="0"/>
          </a:p>
        </p:txBody>
      </p:sp>
      <p:sp>
        <p:nvSpPr>
          <p:cNvPr id="12" name="element_aab251ed556be9517290883eba456e08"/>
          <p:cNvSpPr txBox="1"/>
          <p:nvPr/>
        </p:nvSpPr>
        <p:spPr>
          <a:xfrm>
            <a:off x="7315017" y="1234440"/>
            <a:ext cx="4145176" cy="2331720"/>
          </a:xfrm>
          <a:prstGeom prst="rect">
            <a:avLst/>
          </a:prstGeom>
          <a:noFill/>
          <a:ln/>
        </p:spPr>
        <p:txBody>
          <a:bodyPr wrap="square" lIns="0" tIns="0" rIns="0" bIns="0" rtlCol="0" anchor="t">
            <a:normAutofit/>
          </a:bodyPr>
          <a:lstStyle/>
          <a:p>
            <a:pPr algn="l" indent="0" marL="0">
              <a:lnSpc>
                <a:spcPct val="104000"/>
              </a:lnSpc>
              <a:buNone/>
            </a:pPr>
            <a:r>
              <a:rPr lang="en-US" sz="3400" b="1" spc="-50" kern="0" dirty="0">
                <a:solidFill>
                  <a:srgbClr val="26221D"/>
                </a:solidFill>
                <a:latin typeface="Georgia" pitchFamily="34" charset="0"/>
                <a:ea typeface="Georgia" pitchFamily="34" charset="-122"/>
                <a:cs typeface="Georgia" pitchFamily="34" charset="-120"/>
              </a:rPr>
              <a:t>Less model freedom buys an inspectable execution boundary.</a:t>
            </a:r>
            <a:endParaRPr lang="en-US" sz="3400" dirty="0"/>
          </a:p>
        </p:txBody>
      </p:sp>
      <p:sp>
        <p:nvSpPr>
          <p:cNvPr id="13" name="element_68bf032484dd0f3b25af5c2e466e4ce1"/>
          <p:cNvSpPr txBox="1"/>
          <p:nvPr/>
        </p:nvSpPr>
        <p:spPr>
          <a:xfrm>
            <a:off x="7315017" y="3806190"/>
            <a:ext cx="4145176" cy="1337310"/>
          </a:xfrm>
          <a:prstGeom prst="rect">
            <a:avLst/>
          </a:prstGeom>
          <a:noFill/>
          <a:ln/>
        </p:spPr>
        <p:txBody>
          <a:bodyPr wrap="square" lIns="0" tIns="0" rIns="0" bIns="0" rtlCol="0" anchor="t">
            <a:normAutofit/>
          </a:bodyPr>
          <a:lstStyle/>
          <a:p>
            <a:pPr algn="l" indent="0" marL="0">
              <a:lnSpc>
                <a:spcPct val="138000"/>
              </a:lnSpc>
              <a:buNone/>
            </a:pPr>
            <a:r>
              <a:rPr lang="en-US" sz="1600" dirty="0">
                <a:solidFill>
                  <a:srgbClr val="756B61"/>
                </a:solidFill>
                <a:latin typeface="Geist Variable" pitchFamily="34" charset="0"/>
                <a:ea typeface="Geist Variable" pitchFamily="34" charset="-122"/>
                <a:cs typeface="Geist Variable" pitchFamily="34" charset="-120"/>
              </a:rPr>
              <a:t>Rejected: arbitrary renderer code. Accepted: versioned typed operations. Fail closed on stale or ambiguous state.</a:t>
            </a:r>
            <a:endParaRPr lang="en-US" sz="1600" dirty="0"/>
          </a:p>
        </p:txBody>
      </p:sp>
      <p:sp>
        <p:nvSpPr>
          <p:cNvPr id="14" name="element_92c261718994ec08bde645e7df76be58"/>
          <p:cNvSpPr txBox="1"/>
          <p:nvPr/>
        </p:nvSpPr>
        <p:spPr>
          <a:xfrm>
            <a:off x="7315017" y="5280660"/>
            <a:ext cx="4145176" cy="754380"/>
          </a:xfrm>
          <a:prstGeom prst="rect">
            <a:avLst/>
          </a:prstGeom>
          <a:noFill/>
          <a:ln/>
        </p:spPr>
        <p:txBody>
          <a:bodyPr wrap="square" lIns="152400" tIns="152400" rIns="152400" bIns="152400" rtlCol="0" anchor="t">
            <a:normAutofit/>
          </a:bodyPr>
          <a:lstStyle/>
          <a:p>
            <a:pPr algn="l" indent="0" marL="0">
              <a:lnSpc>
                <a:spcPct val="125000"/>
              </a:lnSpc>
              <a:buNone/>
            </a:pPr>
            <a:r>
              <a:rPr lang="en-US" sz="1600" b="1" dirty="0">
                <a:solidFill>
                  <a:srgbClr val="34452C"/>
                </a:solidFill>
                <a:latin typeface="Geist Variable" pitchFamily="34" charset="0"/>
                <a:ea typeface="Geist Variable" pitchFamily="34" charset="-122"/>
                <a:cs typeface="Geist Variable" pitchFamily="34" charset="-120"/>
              </a:rPr>
              <a:t>REJECTED: ARBITRARY RENDERER CODE</a:t>
            </a:r>
            <a:endParaRPr lang="en-US" sz="1600" dirty="0"/>
          </a:p>
        </p:txBody>
      </p:sp>
      <p:sp>
        <p:nvSpPr>
          <p:cNvPr id="15" name="element_f201a57fe65363243ac8bfe3b72fdbd0"/>
          <p:cNvSpPr txBox="1"/>
          <p:nvPr/>
        </p:nvSpPr>
        <p:spPr>
          <a:xfrm>
            <a:off x="853419" y="6377940"/>
            <a:ext cx="8778021" cy="240030"/>
          </a:xfrm>
          <a:prstGeom prst="rect">
            <a:avLst/>
          </a:prstGeom>
          <a:noFill/>
          <a:ln/>
        </p:spPr>
        <p:txBody>
          <a:bodyPr wrap="square" lIns="0" tIns="0" rIns="0" bIns="0" rtlCol="0" anchor="t">
            <a:normAutofit/>
          </a:bodyPr>
          <a:lstStyle/>
          <a:p>
            <a:pPr algn="l" indent="0" marL="0">
              <a:lnSpc>
                <a:spcPct val="120000"/>
              </a:lnSpc>
              <a:buNone/>
            </a:pPr>
            <a:r>
              <a:rPr lang="en-US" sz="1000" spc="110" kern="0" dirty="0">
                <a:solidFill>
                  <a:srgbClr val="756B61"/>
                </a:solidFill>
                <a:latin typeface="JetBrains Mono Variable" pitchFamily="34" charset="0"/>
                <a:ea typeface="JetBrains Mono Variable" pitchFamily="34" charset="-122"/>
                <a:cs typeface="JetBrains Mono Variable" pitchFamily="34" charset="-120"/>
              </a:rPr>
              <a:t>NODESLIDE  ·  SOURCE-AWARE  ·  EDITABLE</a:t>
            </a:r>
            <a:endParaRPr lang="en-US" sz="1000" dirty="0"/>
          </a:p>
        </p:txBody>
      </p:sp>
      <p:sp>
        <p:nvSpPr>
          <p:cNvPr id="16" name="element_7f4e2772750119b56d332767fb9564a4"/>
          <p:cNvSpPr txBox="1"/>
          <p:nvPr/>
        </p:nvSpPr>
        <p:spPr>
          <a:xfrm>
            <a:off x="10728692" y="6309360"/>
            <a:ext cx="731502" cy="342900"/>
          </a:xfrm>
          <a:prstGeom prst="rect">
            <a:avLst/>
          </a:prstGeom>
          <a:noFill/>
          <a:ln/>
        </p:spPr>
        <p:txBody>
          <a:bodyPr wrap="square" lIns="0" tIns="0" rIns="0" bIns="0" rtlCol="0" anchor="t">
            <a:normAutofit/>
          </a:bodyPr>
          <a:lstStyle/>
          <a:p>
            <a:pPr algn="r" indent="0" marL="0">
              <a:lnSpc>
                <a:spcPct val="120000"/>
              </a:lnSpc>
              <a:buNone/>
            </a:pPr>
            <a:r>
              <a:rPr lang="en-US" sz="1300" b="1" dirty="0">
                <a:solidFill>
                  <a:srgbClr val="B44A2D"/>
                </a:solidFill>
                <a:latin typeface="JetBrains Mono Variable" pitchFamily="34" charset="0"/>
                <a:ea typeface="JetBrains Mono Variable" pitchFamily="34" charset="-122"/>
                <a:cs typeface="JetBrains Mono Variable" pitchFamily="34" charset="-120"/>
              </a:rPr>
              <a:t>04</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4ED"/>
        </a:solidFill>
      </p:bgPr>
    </p:bg>
    <p:spTree>
      <p:nvGrpSpPr>
        <p:cNvPr id="1" name=""/>
        <p:cNvGrpSpPr/>
        <p:nvPr/>
      </p:nvGrpSpPr>
      <p:grpSpPr>
        <a:xfrm>
          <a:off x="0" y="0"/>
          <a:ext cx="0" cy="0"/>
          <a:chOff x="0" y="0"/>
          <a:chExt cx="0" cy="0"/>
        </a:xfrm>
      </p:grpSpPr>
      <p:sp>
        <p:nvSpPr>
          <p:cNvPr id="2" name="nodeslide-slide-id:slide_76ab1e102e65bbb9f1c4502cbff3b692"/>
          <p:cNvSpPr/>
          <p:nvPr/>
        </p:nvSpPr>
        <p:spPr>
          <a:xfrm>
            <a:off x="0" y="0"/>
            <a:ext cx="914" cy="914"/>
          </a:xfrm>
          <a:prstGeom prst="rect">
            <a:avLst/>
          </a:prstGeom>
          <a:solidFill>
            <a:srgbClr val="FFFFFF">
              <a:alpha val="0"/>
            </a:srgbClr>
          </a:solidFill>
          <a:ln w="12700">
            <a:solidFill>
              <a:srgbClr val="FFFFFF">
                <a:alpha val="0"/>
              </a:srgbClr>
            </a:solidFill>
            <a:prstDash val="solid"/>
          </a:ln>
        </p:spPr>
      </p:sp>
      <p:sp>
        <p:nvSpPr>
          <p:cNvPr id="3" name="element_7852b40903b85ffa9c6941069e74cc35"/>
          <p:cNvSpPr txBox="1"/>
          <p:nvPr/>
        </p:nvSpPr>
        <p:spPr>
          <a:xfrm>
            <a:off x="1706837" y="514350"/>
            <a:ext cx="8778021" cy="480060"/>
          </a:xfrm>
          <a:prstGeom prst="rect">
            <a:avLst/>
          </a:prstGeom>
          <a:noFill/>
          <a:ln/>
        </p:spPr>
        <p:txBody>
          <a:bodyPr wrap="square" lIns="0" tIns="0" rIns="0" bIns="0" rtlCol="0" anchor="t">
            <a:normAutofit/>
          </a:bodyPr>
          <a:lstStyle/>
          <a:p>
            <a:pPr algn="ctr" indent="0" marL="0">
              <a:lnSpc>
                <a:spcPct val="120000"/>
              </a:lnSpc>
              <a:buNone/>
            </a:pPr>
            <a:r>
              <a:rPr lang="en-US" sz="1500" b="1" spc="130" kern="0" dirty="0">
                <a:solidFill>
                  <a:srgbClr val="B44A2D"/>
                </a:solidFill>
                <a:latin typeface="JetBrains Mono Variable" pitchFamily="34" charset="0"/>
                <a:ea typeface="JetBrains Mono Variable" pitchFamily="34" charset="-122"/>
                <a:cs typeface="JetBrains Mono Variable" pitchFamily="34" charset="-120"/>
              </a:rPr>
              <a:t>05 / PROOF + NEXT</a:t>
            </a:r>
            <a:endParaRPr lang="en-US" sz="1500" dirty="0"/>
          </a:p>
        </p:txBody>
      </p:sp>
      <p:sp>
        <p:nvSpPr>
          <p:cNvPr id="4" name="element_e73df50973abd43de5c3b183bfdf08fe"/>
          <p:cNvSpPr txBox="1"/>
          <p:nvPr/>
        </p:nvSpPr>
        <p:spPr>
          <a:xfrm>
            <a:off x="1706837" y="1234440"/>
            <a:ext cx="8778021" cy="1234440"/>
          </a:xfrm>
          <a:prstGeom prst="rect">
            <a:avLst/>
          </a:prstGeom>
          <a:noFill/>
          <a:ln/>
        </p:spPr>
        <p:txBody>
          <a:bodyPr wrap="square" lIns="0" tIns="0" rIns="0" bIns="0" rtlCol="0" anchor="t">
            <a:normAutofit/>
          </a:bodyPr>
          <a:lstStyle/>
          <a:p>
            <a:pPr algn="ctr" indent="0" marL="0">
              <a:lnSpc>
                <a:spcPct val="105000"/>
              </a:lnSpc>
              <a:buNone/>
            </a:pPr>
            <a:r>
              <a:rPr lang="en-US" sz="3600" b="1" spc="-40" kern="0" dirty="0">
                <a:solidFill>
                  <a:srgbClr val="26221D"/>
                </a:solidFill>
                <a:latin typeface="Georgia" pitchFamily="34" charset="0"/>
                <a:ea typeface="Georgia" pitchFamily="34" charset="-122"/>
                <a:cs typeface="Georgia" pitchFamily="34" charset="-120"/>
              </a:rPr>
              <a:t>Mechanics pass. Quality is unproven.</a:t>
            </a:r>
            <a:endParaRPr lang="en-US" sz="3600" dirty="0"/>
          </a:p>
        </p:txBody>
      </p:sp>
      <p:sp>
        <p:nvSpPr>
          <p:cNvPr id="5" name="element_806237d9ec7123fe7a463bcaf16151e2"/>
          <p:cNvSpPr/>
          <p:nvPr/>
        </p:nvSpPr>
        <p:spPr>
          <a:xfrm>
            <a:off x="2194505" y="2743200"/>
            <a:ext cx="7802685" cy="754380"/>
          </a:xfrm>
          <a:prstGeom prst="roundRect">
            <a:avLst/>
          </a:prstGeom>
          <a:solidFill>
            <a:srgbClr val="E5E9D6"/>
          </a:solidFill>
          <a:ln w="12700">
            <a:solidFill>
              <a:srgbClr val="DED7CC"/>
            </a:solidFill>
            <a:prstDash val="solid"/>
          </a:ln>
        </p:spPr>
      </p:sp>
      <p:sp>
        <p:nvSpPr>
          <p:cNvPr id="6" name="element_6a89320125a472a2ba8f46a8a6225169"/>
          <p:cNvSpPr txBox="1"/>
          <p:nvPr/>
        </p:nvSpPr>
        <p:spPr>
          <a:xfrm>
            <a:off x="2560256" y="2880360"/>
            <a:ext cx="7071183" cy="480060"/>
          </a:xfrm>
          <a:prstGeom prst="rect">
            <a:avLst/>
          </a:prstGeom>
          <a:noFill/>
          <a:ln/>
        </p:spPr>
        <p:txBody>
          <a:bodyPr wrap="square" lIns="0" tIns="0" rIns="0" bIns="0" rtlCol="0" anchor="t">
            <a:normAutofit/>
          </a:bodyPr>
          <a:lstStyle/>
          <a:p>
            <a:pPr algn="l" indent="0" marL="0">
              <a:lnSpc>
                <a:spcPct val="125000"/>
              </a:lnSpc>
              <a:buNone/>
            </a:pPr>
            <a:r>
              <a:rPr lang="en-US" sz="1600" dirty="0">
                <a:solidFill>
                  <a:srgbClr val="34452C"/>
                </a:solidFill>
                <a:latin typeface="Geist Variable" pitchFamily="34" charset="0"/>
                <a:ea typeface="Geist Variable" pitchFamily="34" charset="-122"/>
                <a:cs typeface="Geist Variable" pitchFamily="34" charset="-120"/>
              </a:rPr>
              <a:t>01  22 TARGETED TESTS PASS</a:t>
            </a:r>
            <a:endParaRPr lang="en-US" sz="1600" dirty="0"/>
          </a:p>
        </p:txBody>
      </p:sp>
      <p:sp>
        <p:nvSpPr>
          <p:cNvPr id="7" name="element_f381bd68335ffb9eef84a427c46ec537"/>
          <p:cNvSpPr/>
          <p:nvPr/>
        </p:nvSpPr>
        <p:spPr>
          <a:xfrm>
            <a:off x="2194505" y="3634740"/>
            <a:ext cx="7802685" cy="754380"/>
          </a:xfrm>
          <a:prstGeom prst="roundRect">
            <a:avLst/>
          </a:prstGeom>
          <a:solidFill>
            <a:srgbClr val="E5E9D6"/>
          </a:solidFill>
          <a:ln w="12700">
            <a:solidFill>
              <a:srgbClr val="DED7CC"/>
            </a:solidFill>
            <a:prstDash val="solid"/>
          </a:ln>
        </p:spPr>
      </p:sp>
      <p:sp>
        <p:nvSpPr>
          <p:cNvPr id="8" name="element_dd71569735ac964d64e56dad4aad3e44"/>
          <p:cNvSpPr txBox="1"/>
          <p:nvPr/>
        </p:nvSpPr>
        <p:spPr>
          <a:xfrm>
            <a:off x="2560256" y="3771900"/>
            <a:ext cx="7071183" cy="480060"/>
          </a:xfrm>
          <a:prstGeom prst="rect">
            <a:avLst/>
          </a:prstGeom>
          <a:noFill/>
          <a:ln/>
        </p:spPr>
        <p:txBody>
          <a:bodyPr wrap="square" lIns="0" tIns="0" rIns="0" bIns="0" rtlCol="0" anchor="t">
            <a:normAutofit/>
          </a:bodyPr>
          <a:lstStyle/>
          <a:p>
            <a:pPr algn="l" indent="0" marL="0">
              <a:lnSpc>
                <a:spcPct val="125000"/>
              </a:lnSpc>
              <a:buNone/>
            </a:pPr>
            <a:r>
              <a:rPr lang="en-US" sz="1600" dirty="0">
                <a:solidFill>
                  <a:srgbClr val="34452C"/>
                </a:solidFill>
                <a:latin typeface="Geist Variable" pitchFamily="34" charset="0"/>
                <a:ea typeface="Geist Variable" pitchFamily="34" charset="-122"/>
                <a:cs typeface="Geist Variable" pitchFamily="34" charset="-120"/>
              </a:rPr>
              <a:t>02  STRICT EDITORIAL AUDIT FAILED: 1/5 CUTS WITHIN ±2 FRAMES</a:t>
            </a:r>
            <a:endParaRPr lang="en-US" sz="1600" dirty="0"/>
          </a:p>
        </p:txBody>
      </p:sp>
      <p:sp>
        <p:nvSpPr>
          <p:cNvPr id="9" name="element_bb8e09b833fc6e0144e5ae91c627410e"/>
          <p:cNvSpPr/>
          <p:nvPr/>
        </p:nvSpPr>
        <p:spPr>
          <a:xfrm>
            <a:off x="2194505" y="4526280"/>
            <a:ext cx="7802685" cy="754380"/>
          </a:xfrm>
          <a:prstGeom prst="roundRect">
            <a:avLst/>
          </a:prstGeom>
          <a:solidFill>
            <a:srgbClr val="E5E9D6"/>
          </a:solidFill>
          <a:ln w="12700">
            <a:solidFill>
              <a:srgbClr val="DED7CC"/>
            </a:solidFill>
            <a:prstDash val="solid"/>
          </a:ln>
        </p:spPr>
      </p:sp>
      <p:sp>
        <p:nvSpPr>
          <p:cNvPr id="10" name="element_987664d5685e3899d8ef6583dca41f29"/>
          <p:cNvSpPr txBox="1"/>
          <p:nvPr/>
        </p:nvSpPr>
        <p:spPr>
          <a:xfrm>
            <a:off x="2560256" y="4663440"/>
            <a:ext cx="7071183" cy="480060"/>
          </a:xfrm>
          <a:prstGeom prst="rect">
            <a:avLst/>
          </a:prstGeom>
          <a:noFill/>
          <a:ln/>
        </p:spPr>
        <p:txBody>
          <a:bodyPr wrap="square" lIns="0" tIns="0" rIns="0" bIns="0" rtlCol="0" anchor="t">
            <a:normAutofit/>
          </a:bodyPr>
          <a:lstStyle/>
          <a:p>
            <a:pPr algn="l" indent="0" marL="0">
              <a:lnSpc>
                <a:spcPct val="125000"/>
              </a:lnSpc>
              <a:buNone/>
            </a:pPr>
            <a:r>
              <a:rPr lang="en-US" sz="1600" dirty="0">
                <a:solidFill>
                  <a:srgbClr val="34452C"/>
                </a:solidFill>
                <a:latin typeface="Geist Variable" pitchFamily="34" charset="0"/>
                <a:ea typeface="Geist Variable" pitchFamily="34" charset="-122"/>
                <a:cs typeface="Geist Variable" pitchFamily="34" charset="-120"/>
              </a:rPr>
              <a:t>03  MANUAL SYNTHETIC DOGFOOD — NOT THE FULL EXPRESSION LOOP</a:t>
            </a:r>
            <a:endParaRPr lang="en-US" sz="1600" dirty="0"/>
          </a:p>
        </p:txBody>
      </p:sp>
      <p:sp>
        <p:nvSpPr>
          <p:cNvPr id="11" name="element_099b3dbfe88db8ccbe4a8ad9ab88a65b"/>
          <p:cNvSpPr/>
          <p:nvPr/>
        </p:nvSpPr>
        <p:spPr>
          <a:xfrm>
            <a:off x="8814596" y="329184"/>
            <a:ext cx="146300" cy="685800"/>
          </a:xfrm>
          <a:prstGeom prst="roundRect">
            <a:avLst/>
          </a:prstGeom>
          <a:solidFill>
            <a:srgbClr val="34452C">
              <a:alpha val="76000"/>
            </a:srgbClr>
          </a:solidFill>
          <a:ln w="12700">
            <a:solidFill>
              <a:srgbClr val="FFFFFF">
                <a:alpha val="0"/>
              </a:srgbClr>
            </a:solidFill>
            <a:prstDash val="solid"/>
          </a:ln>
        </p:spPr>
      </p:sp>
      <p:sp>
        <p:nvSpPr>
          <p:cNvPr id="12" name="element_3d8d14a7d22f30acb6eda94ada453004"/>
          <p:cNvSpPr/>
          <p:nvPr/>
        </p:nvSpPr>
        <p:spPr>
          <a:xfrm>
            <a:off x="10667733" y="329184"/>
            <a:ext cx="146300" cy="685800"/>
          </a:xfrm>
          <a:prstGeom prst="roundRect">
            <a:avLst/>
          </a:prstGeom>
          <a:solidFill>
            <a:srgbClr val="34452C">
              <a:alpha val="76000"/>
            </a:srgbClr>
          </a:solidFill>
          <a:ln w="12700">
            <a:solidFill>
              <a:srgbClr val="FFFFFF">
                <a:alpha val="0"/>
              </a:srgbClr>
            </a:solidFill>
            <a:prstDash val="solid"/>
          </a:ln>
        </p:spPr>
      </p:sp>
      <p:sp>
        <p:nvSpPr>
          <p:cNvPr id="13" name="element_1ff2fe1d091daa6c4bd5b6d985ec67c1"/>
          <p:cNvSpPr/>
          <p:nvPr/>
        </p:nvSpPr>
        <p:spPr>
          <a:xfrm>
            <a:off x="8960896" y="850392"/>
            <a:ext cx="1706837" cy="68580"/>
          </a:xfrm>
          <a:prstGeom prst="roundRect">
            <a:avLst/>
          </a:prstGeom>
          <a:solidFill>
            <a:srgbClr val="F2DED3">
              <a:alpha val="77000"/>
            </a:srgbClr>
          </a:solidFill>
          <a:ln w="12700">
            <a:solidFill>
              <a:srgbClr val="FFFFFF">
                <a:alpha val="0"/>
              </a:srgbClr>
            </a:solidFill>
            <a:prstDash val="solid"/>
          </a:ln>
        </p:spPr>
      </p:sp>
      <p:sp>
        <p:nvSpPr>
          <p:cNvPr id="14" name="element_1b09b973551e2471296a76fe0bf48464"/>
          <p:cNvSpPr/>
          <p:nvPr/>
        </p:nvSpPr>
        <p:spPr>
          <a:xfrm>
            <a:off x="10814034" y="850392"/>
            <a:ext cx="719310" cy="68580"/>
          </a:xfrm>
          <a:prstGeom prst="roundRect">
            <a:avLst/>
          </a:prstGeom>
          <a:solidFill>
            <a:srgbClr val="B44A2D">
              <a:alpha val="82000"/>
            </a:srgbClr>
          </a:solidFill>
          <a:ln w="12700">
            <a:solidFill>
              <a:srgbClr val="FFFFFF">
                <a:alpha val="0"/>
              </a:srgbClr>
            </a:solidFill>
            <a:prstDash val="solid"/>
          </a:ln>
        </p:spPr>
      </p:sp>
      <p:sp>
        <p:nvSpPr>
          <p:cNvPr id="15" name="element_c450f153525c0ea5a86e03190fb66b77"/>
          <p:cNvSpPr/>
          <p:nvPr/>
        </p:nvSpPr>
        <p:spPr>
          <a:xfrm>
            <a:off x="11167593" y="699516"/>
            <a:ext cx="414518" cy="233172"/>
          </a:xfrm>
          <a:prstGeom prst="roundRect">
            <a:avLst/>
          </a:prstGeom>
          <a:solidFill>
            <a:srgbClr val="34452C">
              <a:alpha val="90000"/>
            </a:srgbClr>
          </a:solidFill>
          <a:ln w="12700">
            <a:solidFill>
              <a:srgbClr val="FFFFFF">
                <a:alpha val="0"/>
              </a:srgbClr>
            </a:solidFill>
            <a:prstDash val="solid"/>
          </a:ln>
        </p:spPr>
      </p:sp>
      <p:sp>
        <p:nvSpPr>
          <p:cNvPr id="16" name="element_9e8047970d8779f00145516a516eef6f"/>
          <p:cNvSpPr/>
          <p:nvPr/>
        </p:nvSpPr>
        <p:spPr>
          <a:xfrm>
            <a:off x="10777459" y="768096"/>
            <a:ext cx="268217" cy="150876"/>
          </a:xfrm>
          <a:prstGeom prst="roundRect">
            <a:avLst/>
          </a:prstGeom>
          <a:solidFill>
            <a:srgbClr val="B44A2D">
              <a:alpha val="76000"/>
            </a:srgbClr>
          </a:solidFill>
          <a:ln w="12700">
            <a:solidFill>
              <a:srgbClr val="FFFFFF">
                <a:alpha val="0"/>
              </a:srgbClr>
            </a:solidFill>
            <a:prstDash val="solid"/>
          </a:ln>
        </p:spPr>
      </p:sp>
      <p:sp>
        <p:nvSpPr>
          <p:cNvPr id="17" name="element_57755784c94d86b80789a65663d97692"/>
          <p:cNvSpPr txBox="1"/>
          <p:nvPr/>
        </p:nvSpPr>
        <p:spPr>
          <a:xfrm>
            <a:off x="2682173" y="6377940"/>
            <a:ext cx="6827349" cy="240030"/>
          </a:xfrm>
          <a:prstGeom prst="rect">
            <a:avLst/>
          </a:prstGeom>
          <a:noFill/>
          <a:ln/>
        </p:spPr>
        <p:txBody>
          <a:bodyPr wrap="square" lIns="0" tIns="0" rIns="0" bIns="0" rtlCol="0" anchor="t">
            <a:normAutofit/>
          </a:bodyPr>
          <a:lstStyle/>
          <a:p>
            <a:pPr algn="ctr" indent="0" marL="0">
              <a:lnSpc>
                <a:spcPct val="120000"/>
              </a:lnSpc>
              <a:buNone/>
            </a:pPr>
            <a:r>
              <a:rPr lang="en-US" sz="1000" spc="110" kern="0" dirty="0">
                <a:solidFill>
                  <a:srgbClr val="756B61"/>
                </a:solidFill>
                <a:latin typeface="JetBrains Mono Variable" pitchFamily="34" charset="0"/>
                <a:ea typeface="JetBrains Mono Variable" pitchFamily="34" charset="-122"/>
                <a:cs typeface="JetBrains Mono Variable" pitchFamily="34" charset="-120"/>
              </a:rPr>
              <a:t>NODESLIDE  ·  SOURCE-AWARE  ·  EDITABLE</a:t>
            </a:r>
            <a:endParaRPr lang="en-US" sz="1000" dirty="0"/>
          </a:p>
        </p:txBody>
      </p:sp>
      <p:sp>
        <p:nvSpPr>
          <p:cNvPr id="18" name="element_6554c45571f56f2106480bbbb6ebe3f0"/>
          <p:cNvSpPr txBox="1"/>
          <p:nvPr/>
        </p:nvSpPr>
        <p:spPr>
          <a:xfrm>
            <a:off x="10728692" y="6309360"/>
            <a:ext cx="731502" cy="342900"/>
          </a:xfrm>
          <a:prstGeom prst="rect">
            <a:avLst/>
          </a:prstGeom>
          <a:noFill/>
          <a:ln/>
        </p:spPr>
        <p:txBody>
          <a:bodyPr wrap="square" lIns="0" tIns="0" rIns="0" bIns="0" rtlCol="0" anchor="t">
            <a:normAutofit/>
          </a:bodyPr>
          <a:lstStyle/>
          <a:p>
            <a:pPr algn="r" indent="0" marL="0">
              <a:lnSpc>
                <a:spcPct val="120000"/>
              </a:lnSpc>
              <a:buNone/>
            </a:pPr>
            <a:r>
              <a:rPr lang="en-US" sz="1300" b="1" dirty="0">
                <a:solidFill>
                  <a:srgbClr val="B44A2D"/>
                </a:solidFill>
                <a:latin typeface="JetBrains Mono Variable" pitchFamily="34" charset="0"/>
                <a:ea typeface="JetBrains Mono Variable" pitchFamily="34" charset="-122"/>
                <a:cs typeface="JetBrains Mono Variable" pitchFamily="34" charset="-120"/>
              </a:rPr>
              <a:t>05</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Georg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Geist Variable"/>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Slides>
  <Notes>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vt:i4>
      </vt:variant>
    </vt:vector>
  </HeadingPairs>
  <TitlesOfParts>
    <vt:vector size="8" baseType="lpstr">
      <vt:lpstr>Arial</vt:lpstr>
      <vt:lpstr>Calibri</vt:lpstr>
      <vt:lpstr>Office Theme</vt:lpstr>
      <vt:lpstr>Slide 1</vt:lpstr>
      <vt:lpstr>Slide 2</vt:lpstr>
      <vt:lpstr>Slide 3</vt:lpstr>
      <vt:lpstr>Slide 4</vt:lpstr>
      <vt:lpstr>Slide 5</vt:lpstr>
    </vt:vector>
  </TitlesOfParts>
  <Company>Parity Studio</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NodeVideo Expression Loop — trust through typed execution</dc:title>
  <dc:subject>The interviewer can restate the system boundary, request flow, reliability mechanism, tradeoff, and honest proof boundary.</dc:subject>
  <dc:creator>NodeSlide</dc:creator>
  <cp:lastModifiedBy>NodeSlide</cp:lastModifiedBy>
  <cp:revision>1</cp:revision>
  <dcterms:created xsi:type="dcterms:W3CDTF">2026-08-02T12:33:12Z</dcterms:created>
  <dcterms:modified xsi:type="dcterms:W3CDTF">2026-08-02T12:33:12Z</dcterms:modified>
</cp:coreProperties>
</file>