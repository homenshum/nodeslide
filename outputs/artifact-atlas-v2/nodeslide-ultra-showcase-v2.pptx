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01: hero-thesis
One evidence-bounded thesis anchors the complete visual vocabulary.
Source: atlas-v2-hero-thesis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21: evidence-scrollytelling
The web version scrubs; PowerPoint shows the same numbered progression.
Source: atlas-v2-evidence-scrollytelling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24: real-screenshot-callouts
A real NodeSlide capture occupies most of the slide with three exact callouts.
Source: atlas-v2-real-screenshot-callouts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14: request-sequence
The happy path and failed-validation return path remain distinct.
Source: atlas-v2-request-sequence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12: dense-dashboard-funnel
A funnel, trend, exceptions, and decision queue share one controlled surface.
Source: atlas-v2-dense-dashboard-funnel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35: cost-quality-frontier
The observed routes stay separate from the not-yet-run ensemble.
Source: atlas-v2-cost-quality-frontier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13: system-architecture
Typed connectors and a visible trust boundary preserve system meaning.
Source: atlas-v2-system-architecture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25: interaction-clip
Five real product states form a playable web sequence and a stepped PowerPoint fallback.
Source: atlas-v2-interaction-clip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26: product-before-after
Actual captures identify changed components and the measured workflow outcome.
Source: atlas-v2-product-before-after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28: claim-source-lineage
Source, extraction, bounded claim, slide element, and receipt stay connected.
Source: atlas-v2-claim-source-lineage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37: harness-compare
The same deterministic route isolates fixture, receipt, motion, theme, and accessibility gains.
Source: atlas-v2-harness-compare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33: deck-ci-receipt
The receipt exposes every check, browser proof, PowerPoint proof, and fidelity difference.
Source: atlas-v2-deck-ci-receipt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22: animated-chart-progression
Four chart states compare baseline, model, harness, and refreshed evidence.
Source: atlas-v2-animated-chart-progression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Artifact 38: final-recommendation
Researcher, investor, and plain-language Chinese versions share the same evidence.
Source: atlas-v2-final-recommendation
Human preference: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FOUNDATIONS · HERO THESIS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Reviewability turns generation into a product decision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evidence-bounded thesis anchors the complete visual vocabulary.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atlas-v2-hero-thesis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859280"/>
            <a:ext cx="3413760" cy="0"/>
          </a:xfrm>
          <a:prstGeom prst="line">
            <a:avLst/>
          </a:prstGeom>
          <a:noFill/>
          <a:ln w="444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2095500"/>
            <a:ext cx="685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99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4992" dirty="0"/>
          </a:p>
          <a:p>
            <a:pPr algn="l" indent="0" marL="0">
              <a:buNone/>
            </a:pPr>
            <a:r>
              <a:rPr lang="en-US" sz="499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4992" dirty="0"/>
          </a:p>
        </p:txBody>
      </p:sp>
      <p:sp>
        <p:nvSpPr>
          <p:cNvPr id="10" name="Text 8"/>
          <p:cNvSpPr/>
          <p:nvPr/>
        </p:nvSpPr>
        <p:spPr>
          <a:xfrm>
            <a:off x="8839200" y="2209800"/>
            <a:ext cx="23622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656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</a:t>
            </a:r>
            <a:endParaRPr lang="en-US" sz="6656" dirty="0"/>
          </a:p>
        </p:txBody>
      </p:sp>
      <p:sp>
        <p:nvSpPr>
          <p:cNvPr id="11" name="Text 9"/>
          <p:cNvSpPr/>
          <p:nvPr/>
        </p:nvSpPr>
        <p:spPr>
          <a:xfrm>
            <a:off x="8305800" y="3200400"/>
            <a:ext cx="28956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visual artifacts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34400" y="4076700"/>
            <a:ext cx="2667000" cy="73152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28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3000" y="42672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14-slide public narrative</a:t>
            </a:r>
            <a:endParaRPr lang="en-US" sz="147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018"/>
          </a:solidFill>
          <a:ln w="6350">
            <a:solidFill>
              <a:srgbClr val="11101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 · EVIDENCE SCROLLYTELLING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becomes a decision through five inspectable states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BD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version scrubs; PowerPoint shows the same numbered progression.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DB3C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atlas-v2-evidence-scrollytelling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DB3C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43100" y="3116580"/>
            <a:ext cx="952500" cy="731520"/>
          </a:xfrm>
          <a:prstGeom prst="line">
            <a:avLst/>
          </a:prstGeom>
          <a:noFill/>
          <a:ln w="25400">
            <a:solidFill>
              <a:srgbClr val="7FE0D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3900" y="2781300"/>
            <a:ext cx="548640" cy="548640"/>
          </a:xfrm>
          <a:prstGeom prst="ellipse">
            <a:avLst/>
          </a:prstGeom>
          <a:solidFill>
            <a:srgbClr val="2B2636"/>
          </a:solidFill>
          <a:ln w="19050">
            <a:solidFill>
              <a:srgbClr val="7FE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" y="291084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7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408" dirty="0"/>
          </a:p>
        </p:txBody>
      </p:sp>
      <p:sp>
        <p:nvSpPr>
          <p:cNvPr id="11" name="Text 9"/>
          <p:cNvSpPr/>
          <p:nvPr/>
        </p:nvSpPr>
        <p:spPr>
          <a:xfrm>
            <a:off x="1348740" y="2918460"/>
            <a:ext cx="13716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 flipV="1">
            <a:off x="4191000" y="3124200"/>
            <a:ext cx="952500" cy="716280"/>
          </a:xfrm>
          <a:prstGeom prst="line">
            <a:avLst/>
          </a:prstGeom>
          <a:noFill/>
          <a:ln w="25400">
            <a:solidFill>
              <a:srgbClr val="7FE0D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3505200"/>
            <a:ext cx="548640" cy="548640"/>
          </a:xfrm>
          <a:prstGeom prst="ellipse">
            <a:avLst/>
          </a:prstGeom>
          <a:solidFill>
            <a:srgbClr val="2B2636"/>
          </a:solidFill>
          <a:ln w="19050">
            <a:solidFill>
              <a:srgbClr val="7FE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363474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7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408" dirty="0"/>
          </a:p>
        </p:txBody>
      </p:sp>
      <p:sp>
        <p:nvSpPr>
          <p:cNvPr id="15" name="Text 13"/>
          <p:cNvSpPr/>
          <p:nvPr/>
        </p:nvSpPr>
        <p:spPr>
          <a:xfrm>
            <a:off x="3596640" y="3642360"/>
            <a:ext cx="13716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438900" y="3116580"/>
            <a:ext cx="952500" cy="731520"/>
          </a:xfrm>
          <a:prstGeom prst="line">
            <a:avLst/>
          </a:prstGeom>
          <a:noFill/>
          <a:ln w="25400">
            <a:solidFill>
              <a:srgbClr val="7FE0D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9700" y="2781300"/>
            <a:ext cx="548640" cy="548640"/>
          </a:xfrm>
          <a:prstGeom prst="ellipse">
            <a:avLst/>
          </a:prstGeom>
          <a:solidFill>
            <a:srgbClr val="2B2636"/>
          </a:solidFill>
          <a:ln w="19050">
            <a:solidFill>
              <a:srgbClr val="7FE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1620" y="291084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7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408" dirty="0"/>
          </a:p>
        </p:txBody>
      </p:sp>
      <p:sp>
        <p:nvSpPr>
          <p:cNvPr id="19" name="Text 17"/>
          <p:cNvSpPr/>
          <p:nvPr/>
        </p:nvSpPr>
        <p:spPr>
          <a:xfrm>
            <a:off x="5844540" y="2918460"/>
            <a:ext cx="13716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claim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 flipV="1">
            <a:off x="8686800" y="3124200"/>
            <a:ext cx="952500" cy="716280"/>
          </a:xfrm>
          <a:prstGeom prst="line">
            <a:avLst/>
          </a:prstGeom>
          <a:noFill/>
          <a:ln w="25400">
            <a:solidFill>
              <a:srgbClr val="7FE0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67600" y="3505200"/>
            <a:ext cx="548640" cy="548640"/>
          </a:xfrm>
          <a:prstGeom prst="ellipse">
            <a:avLst/>
          </a:prstGeom>
          <a:solidFill>
            <a:srgbClr val="2B2636"/>
          </a:solidFill>
          <a:ln w="19050">
            <a:solidFill>
              <a:srgbClr val="7FE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363474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7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1408" dirty="0"/>
          </a:p>
        </p:txBody>
      </p:sp>
      <p:sp>
        <p:nvSpPr>
          <p:cNvPr id="23" name="Text 21"/>
          <p:cNvSpPr/>
          <p:nvPr/>
        </p:nvSpPr>
        <p:spPr>
          <a:xfrm>
            <a:off x="8092440" y="3642360"/>
            <a:ext cx="13716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visual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9715500" y="2781300"/>
            <a:ext cx="548640" cy="548640"/>
          </a:xfrm>
          <a:prstGeom prst="ellipse">
            <a:avLst/>
          </a:prstGeom>
          <a:solidFill>
            <a:srgbClr val="FF8A5B"/>
          </a:solidFill>
          <a:ln w="19050">
            <a:solidFill>
              <a:srgbClr val="7FE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37420" y="291084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1408" dirty="0"/>
          </a:p>
        </p:txBody>
      </p:sp>
      <p:sp>
        <p:nvSpPr>
          <p:cNvPr id="26" name="Text 24"/>
          <p:cNvSpPr/>
          <p:nvPr/>
        </p:nvSpPr>
        <p:spPr>
          <a:xfrm>
            <a:off x="10340340" y="2918460"/>
            <a:ext cx="13716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CI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3771900" y="4686300"/>
            <a:ext cx="4648200" cy="350520"/>
          </a:xfrm>
          <a:prstGeom prst="roundRect">
            <a:avLst/>
          </a:prstGeom>
          <a:solidFill>
            <a:srgbClr val="1C1926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0500" y="4770120"/>
            <a:ext cx="419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DB3C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· scroll scrub      PPTX · five stepped states      REDUCED MOTION · final state</a:t>
            </a:r>
            <a:endParaRPr lang="en-US" sz="8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MEDIA · REAL SCREENSHOT CALLOUTS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proof is the interface people actually use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NodeSlide capture occupies most of the slide with three exact callouts.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atlas-v2-real-screenshot-callouts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5300" y="1676400"/>
            <a:ext cx="8534400" cy="3810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E4DDD2"/>
            </a:solidFill>
            <a:prstDash val="solid"/>
          </a:ln>
        </p:spPr>
      </p:sp>
      <p:pic>
        <p:nvPicPr>
          <p:cNvPr id="9" name="Image 0" descr="Real NodeSlide Artifact Lab gallery cap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1805940"/>
            <a:ext cx="8275320" cy="3550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89720" y="1988820"/>
            <a:ext cx="365760" cy="36576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65920" y="20650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088" dirty="0"/>
          </a:p>
        </p:txBody>
      </p:sp>
      <p:sp>
        <p:nvSpPr>
          <p:cNvPr id="12" name="Text 9"/>
          <p:cNvSpPr/>
          <p:nvPr/>
        </p:nvSpPr>
        <p:spPr>
          <a:xfrm>
            <a:off x="9692640" y="1981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reusable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8991600" y="2171700"/>
            <a:ext cx="13716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9342120" y="3284220"/>
            <a:ext cx="365760" cy="36576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0" y="33604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9845040" y="32766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compare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failures red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8991600" y="3467100"/>
            <a:ext cx="28956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075420" y="4503420"/>
            <a:ext cx="365760" cy="365760"/>
          </a:xfrm>
          <a:prstGeom prst="ellipse">
            <a:avLst/>
          </a:prstGeom>
          <a:solidFill>
            <a:srgbClr val="C45538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51620" y="4579620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9578340" y="44958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pattern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a real workflow</a:t>
            </a:r>
            <a:endParaRPr lang="en-US" sz="1152" dirty="0"/>
          </a:p>
        </p:txBody>
      </p:sp>
      <p:sp>
        <p:nvSpPr>
          <p:cNvPr id="21" name="Shape 18"/>
          <p:cNvSpPr/>
          <p:nvPr/>
        </p:nvSpPr>
        <p:spPr>
          <a:xfrm>
            <a:off x="8991600" y="4686300"/>
            <a:ext cx="2286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AF5"/>
          </a:solidFill>
          <a:ln w="6350">
            <a:solidFill>
              <a:srgbClr val="FCFA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8B2F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· REQUEST SEQUENCE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custody is visible at every handoff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D6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happy path and failed-validation return path remain distinct.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atlas-v2-request-sequence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38200" y="1866900"/>
            <a:ext cx="1371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735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88" dirty="0"/>
          </a:p>
        </p:txBody>
      </p:sp>
      <p:sp>
        <p:nvSpPr>
          <p:cNvPr id="10" name="Shape 8"/>
          <p:cNvSpPr/>
          <p:nvPr/>
        </p:nvSpPr>
        <p:spPr>
          <a:xfrm>
            <a:off x="1524000" y="2324100"/>
            <a:ext cx="0" cy="2933700"/>
          </a:xfrm>
          <a:prstGeom prst="line">
            <a:avLst/>
          </a:prstGeom>
          <a:noFill/>
          <a:ln w="12700">
            <a:solidFill>
              <a:srgbClr val="6D686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124200" y="1866900"/>
            <a:ext cx="1371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4200" y="19735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88" dirty="0"/>
          </a:p>
        </p:txBody>
      </p:sp>
      <p:sp>
        <p:nvSpPr>
          <p:cNvPr id="13" name="Shape 11"/>
          <p:cNvSpPr/>
          <p:nvPr/>
        </p:nvSpPr>
        <p:spPr>
          <a:xfrm>
            <a:off x="3810000" y="2324100"/>
            <a:ext cx="0" cy="2933700"/>
          </a:xfrm>
          <a:prstGeom prst="line">
            <a:avLst/>
          </a:prstGeom>
          <a:noFill/>
          <a:ln w="12700">
            <a:solidFill>
              <a:srgbClr val="6D6860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10200" y="1866900"/>
            <a:ext cx="1371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0200" y="19735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088" dirty="0"/>
          </a:p>
        </p:txBody>
      </p:sp>
      <p:sp>
        <p:nvSpPr>
          <p:cNvPr id="16" name="Shape 14"/>
          <p:cNvSpPr/>
          <p:nvPr/>
        </p:nvSpPr>
        <p:spPr>
          <a:xfrm>
            <a:off x="6096000" y="2324100"/>
            <a:ext cx="0" cy="2933700"/>
          </a:xfrm>
          <a:prstGeom prst="line">
            <a:avLst/>
          </a:prstGeom>
          <a:noFill/>
          <a:ln w="12700">
            <a:solidFill>
              <a:srgbClr val="6D6860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696200" y="1866900"/>
            <a:ext cx="1371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6200" y="19735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88" dirty="0"/>
          </a:p>
        </p:txBody>
      </p:sp>
      <p:sp>
        <p:nvSpPr>
          <p:cNvPr id="19" name="Shape 17"/>
          <p:cNvSpPr/>
          <p:nvPr/>
        </p:nvSpPr>
        <p:spPr>
          <a:xfrm>
            <a:off x="8382000" y="2324100"/>
            <a:ext cx="0" cy="2933700"/>
          </a:xfrm>
          <a:prstGeom prst="line">
            <a:avLst/>
          </a:prstGeom>
          <a:noFill/>
          <a:ln w="12700">
            <a:solidFill>
              <a:srgbClr val="6D686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982200" y="1866900"/>
            <a:ext cx="1371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2200" y="19735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88" dirty="0"/>
          </a:p>
        </p:txBody>
      </p:sp>
      <p:sp>
        <p:nvSpPr>
          <p:cNvPr id="22" name="Shape 20"/>
          <p:cNvSpPr/>
          <p:nvPr/>
        </p:nvSpPr>
        <p:spPr>
          <a:xfrm>
            <a:off x="10668000" y="2324100"/>
            <a:ext cx="0" cy="2933700"/>
          </a:xfrm>
          <a:prstGeom prst="line">
            <a:avLst/>
          </a:prstGeom>
          <a:noFill/>
          <a:ln w="12700">
            <a:solidFill>
              <a:srgbClr val="6D686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524000" y="2628900"/>
            <a:ext cx="2286000" cy="0"/>
          </a:xfrm>
          <a:prstGeom prst="line">
            <a:avLst/>
          </a:prstGeom>
          <a:noFill/>
          <a:ln w="19050">
            <a:solidFill>
              <a:srgbClr val="8B2F3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600200" y="2407920"/>
            <a:ext cx="213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3222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submit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810000" y="3086100"/>
            <a:ext cx="2286000" cy="0"/>
          </a:xfrm>
          <a:prstGeom prst="line">
            <a:avLst/>
          </a:prstGeom>
          <a:noFill/>
          <a:ln w="19050">
            <a:solidFill>
              <a:srgbClr val="8B2F3C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886200" y="2865120"/>
            <a:ext cx="213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3222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bounded context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096000" y="3543300"/>
            <a:ext cx="2286000" cy="0"/>
          </a:xfrm>
          <a:prstGeom prst="line">
            <a:avLst/>
          </a:prstGeom>
          <a:noFill/>
          <a:ln w="19050">
            <a:solidFill>
              <a:srgbClr val="8B2F3C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172200" y="3322320"/>
            <a:ext cx="213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3222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typed plan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 flipH="1">
            <a:off x="3810000" y="4000500"/>
            <a:ext cx="4572000" cy="0"/>
          </a:xfrm>
          <a:prstGeom prst="line">
            <a:avLst/>
          </a:prstGeom>
          <a:noFill/>
          <a:ln w="19050">
            <a:solidFill>
              <a:srgbClr val="9D2F2F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886200" y="3779520"/>
            <a:ext cx="441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9D2F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issues / pass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3810000" y="4572000"/>
            <a:ext cx="6858000" cy="0"/>
          </a:xfrm>
          <a:prstGeom prst="line">
            <a:avLst/>
          </a:prstGeom>
          <a:noFill/>
          <a:ln w="19050">
            <a:solidFill>
              <a:srgbClr val="8B2F3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886200" y="4351020"/>
            <a:ext cx="670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3222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accepted commit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 flipH="1">
            <a:off x="3810000" y="5029200"/>
            <a:ext cx="6858000" cy="0"/>
          </a:xfrm>
          <a:prstGeom prst="line">
            <a:avLst/>
          </a:prstGeom>
          <a:noFill/>
          <a:ln w="19050">
            <a:solidFill>
              <a:srgbClr val="8B2F3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886200" y="4808220"/>
            <a:ext cx="670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3222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versioned receipt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3"/>
          </a:solidFill>
          <a:ln w="6350">
            <a:solidFill>
              <a:srgbClr val="F2F5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F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· DENSE DASHBOARD FUNNEL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can be dense without becoming a card graveyard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5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funnel, trend, exceptions, and decision queue share one controlled surface.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atlas-v2-dense-dashboard-funnel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3880" y="1828800"/>
            <a:ext cx="6477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201930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BRIEF → WINNER FUNNEL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295400" y="2476500"/>
            <a:ext cx="48768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537460"/>
            <a:ext cx="4632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 · 100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1691640" y="2948940"/>
            <a:ext cx="40767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3560" y="3009900"/>
            <a:ext cx="38328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· 84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2087880" y="3421380"/>
            <a:ext cx="32766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9800" y="3482340"/>
            <a:ext cx="3032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renders · 83</a:t>
            </a:r>
            <a:endParaRPr lang="en-US" sz="1088" dirty="0"/>
          </a:p>
        </p:txBody>
      </p:sp>
      <p:sp>
        <p:nvSpPr>
          <p:cNvPr id="16" name="Shape 14"/>
          <p:cNvSpPr/>
          <p:nvPr/>
        </p:nvSpPr>
        <p:spPr>
          <a:xfrm>
            <a:off x="2484120" y="3893820"/>
            <a:ext cx="2476500" cy="342900"/>
          </a:xfrm>
          <a:prstGeom prst="roundRect">
            <a:avLst/>
          </a:prstGeom>
          <a:solidFill>
            <a:srgbClr val="DCE7E2"/>
          </a:solidFill>
          <a:ln w="6350">
            <a:solidFill>
              <a:srgbClr val="DCE7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954780"/>
            <a:ext cx="22326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CI · 82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2880360" y="4366260"/>
            <a:ext cx="1676400" cy="342900"/>
          </a:xfrm>
          <a:prstGeom prst="roundRect">
            <a:avLst/>
          </a:prstGeom>
          <a:solidFill>
            <a:srgbClr val="0F6B5C"/>
          </a:solidFill>
          <a:ln w="6350">
            <a:solidFill>
              <a:srgbClr val="0F6B5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2280" y="4427220"/>
            <a:ext cx="1432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winner · 1</a:t>
            </a:r>
            <a:endParaRPr lang="en-US" sz="1088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4267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019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EXCEPTIONS</a:t>
            </a:r>
            <a:endParaRPr lang="en-US" sz="1024" dirty="0"/>
          </a:p>
        </p:txBody>
      </p:sp>
      <p:sp>
        <p:nvSpPr>
          <p:cNvPr id="22" name="Text 20"/>
          <p:cNvSpPr/>
          <p:nvPr/>
        </p:nvSpPr>
        <p:spPr>
          <a:xfrm>
            <a:off x="7543800" y="2400300"/>
            <a:ext cx="3657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A64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artifacts need repair</a:t>
            </a:r>
            <a:endParaRPr lang="en-US" sz="1920" dirty="0"/>
          </a:p>
        </p:txBody>
      </p:sp>
      <p:sp>
        <p:nvSpPr>
          <p:cNvPr id="23" name="Text 21"/>
          <p:cNvSpPr/>
          <p:nvPr/>
        </p:nvSpPr>
        <p:spPr>
          <a:xfrm>
            <a:off x="7543800" y="283464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16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remain visibly red</a:t>
            </a:r>
            <a:endParaRPr lang="en-US" sz="1216" dirty="0"/>
          </a:p>
        </p:txBody>
      </p:sp>
      <p:sp>
        <p:nvSpPr>
          <p:cNvPr id="24" name="Shape 22"/>
          <p:cNvSpPr/>
          <p:nvPr/>
        </p:nvSpPr>
        <p:spPr>
          <a:xfrm>
            <a:off x="7315200" y="3627120"/>
            <a:ext cx="4267200" cy="163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810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6757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DECISION QUEUE</a:t>
            </a:r>
            <a:endParaRPr lang="en-US" sz="1024" dirty="0"/>
          </a:p>
        </p:txBody>
      </p:sp>
      <p:sp>
        <p:nvSpPr>
          <p:cNvPr id="26" name="Shape 24"/>
          <p:cNvSpPr/>
          <p:nvPr/>
        </p:nvSpPr>
        <p:spPr>
          <a:xfrm>
            <a:off x="7635240" y="4183380"/>
            <a:ext cx="121920" cy="121920"/>
          </a:xfrm>
          <a:prstGeom prst="ellipse">
            <a:avLst/>
          </a:prstGeom>
          <a:solidFill>
            <a:srgbClr val="0F6B5C"/>
          </a:solidFill>
          <a:ln w="6350">
            <a:solidFill>
              <a:srgbClr val="0F6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6700" y="412242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model-blind pairs</a:t>
            </a:r>
            <a:endParaRPr lang="en-US" sz="1152" dirty="0"/>
          </a:p>
        </p:txBody>
      </p:sp>
      <p:sp>
        <p:nvSpPr>
          <p:cNvPr id="28" name="Shape 26"/>
          <p:cNvSpPr/>
          <p:nvPr/>
        </p:nvSpPr>
        <p:spPr>
          <a:xfrm>
            <a:off x="7635240" y="4549140"/>
            <a:ext cx="121920" cy="121920"/>
          </a:xfrm>
          <a:prstGeom prst="ellipse">
            <a:avLst/>
          </a:prstGeom>
          <a:solidFill>
            <a:srgbClr val="B08D3A"/>
          </a:solidFill>
          <a:ln w="6350">
            <a:solidFill>
              <a:srgbClr val="B08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6700" y="448818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public 14</a:t>
            </a:r>
            <a:endParaRPr lang="en-US" sz="1152" dirty="0"/>
          </a:p>
        </p:txBody>
      </p:sp>
      <p:sp>
        <p:nvSpPr>
          <p:cNvPr id="30" name="Shape 28"/>
          <p:cNvSpPr/>
          <p:nvPr/>
        </p:nvSpPr>
        <p:spPr>
          <a:xfrm>
            <a:off x="7635240" y="4914900"/>
            <a:ext cx="121920" cy="121920"/>
          </a:xfrm>
          <a:prstGeom prst="ellipse">
            <a:avLst/>
          </a:prstGeom>
          <a:solidFill>
            <a:srgbClr val="B08D3A"/>
          </a:solidFill>
          <a:ln w="6350">
            <a:solidFill>
              <a:srgbClr val="B08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6700" y="4853940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0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recipes only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EVALUATION · COST QUALITY FRONTIER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improves when quality, cost, and latency are judged together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observed routes stay separate from the not-yet-run ensemble.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atlas-v2-cost-quality-frontier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981200"/>
            <a:ext cx="8229600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43000" y="2762250"/>
            <a:ext cx="8229600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43000" y="3543300"/>
            <a:ext cx="8229600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43000" y="4324350"/>
            <a:ext cx="8229600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43000" y="5105400"/>
            <a:ext cx="8229600" cy="0"/>
          </a:xfrm>
          <a:prstGeom prst="line">
            <a:avLst/>
          </a:prstGeom>
          <a:noFill/>
          <a:ln w="12700">
            <a:solidFill>
              <a:srgbClr val="233046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143000" y="1981200"/>
            <a:ext cx="0" cy="3124200"/>
          </a:xfrm>
          <a:prstGeom prst="line">
            <a:avLst/>
          </a:prstGeom>
          <a:noFill/>
          <a:ln w="19050">
            <a:solidFill>
              <a:srgbClr val="A2B0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43000" y="5105400"/>
            <a:ext cx="8229600" cy="0"/>
          </a:xfrm>
          <a:prstGeom prst="line">
            <a:avLst/>
          </a:prstGeom>
          <a:noFill/>
          <a:ln w="19050">
            <a:solidFill>
              <a:srgbClr val="A2B0C1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458200" y="531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Cost →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09600" y="175260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Quality →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1783080" y="4069080"/>
            <a:ext cx="396240" cy="396240"/>
          </a:xfrm>
          <a:prstGeom prst="ellipse">
            <a:avLst/>
          </a:prstGeom>
          <a:solidFill>
            <a:srgbClr val="A98BFF">
              <a:alpha val="82000"/>
            </a:srgbClr>
          </a:solidFill>
          <a:ln w="25400">
            <a:solidFill>
              <a:srgbClr val="151F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0" y="4587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 · free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2941320" y="3436620"/>
            <a:ext cx="518160" cy="518160"/>
          </a:xfrm>
          <a:prstGeom prst="ellipse">
            <a:avLst/>
          </a:prstGeom>
          <a:solidFill>
            <a:srgbClr val="A2B0C1">
              <a:alpha val="82000"/>
            </a:srgbClr>
          </a:solidFill>
          <a:ln w="25400">
            <a:solidFill>
              <a:srgbClr val="151F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40767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GPT-OSS · free</a:t>
            </a:r>
            <a:endParaRPr lang="en-US" sz="1024" dirty="0"/>
          </a:p>
        </p:txBody>
      </p:sp>
      <p:sp>
        <p:nvSpPr>
          <p:cNvPr id="21" name="Shape 19"/>
          <p:cNvSpPr/>
          <p:nvPr/>
        </p:nvSpPr>
        <p:spPr>
          <a:xfrm>
            <a:off x="3977640" y="2987040"/>
            <a:ext cx="579120" cy="579120"/>
          </a:xfrm>
          <a:prstGeom prst="ellipse">
            <a:avLst/>
          </a:prstGeom>
          <a:solidFill>
            <a:srgbClr val="A98BFF">
              <a:alpha val="82000"/>
            </a:srgbClr>
          </a:solidFill>
          <a:ln w="25400">
            <a:solidFill>
              <a:srgbClr val="151F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0000" y="3688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Nemotron · free</a:t>
            </a:r>
            <a:endParaRPr lang="en-US" sz="1024" dirty="0"/>
          </a:p>
        </p:txBody>
      </p:sp>
      <p:sp>
        <p:nvSpPr>
          <p:cNvPr id="23" name="Shape 21"/>
          <p:cNvSpPr/>
          <p:nvPr/>
        </p:nvSpPr>
        <p:spPr>
          <a:xfrm>
            <a:off x="5455920" y="2446020"/>
            <a:ext cx="670560" cy="670560"/>
          </a:xfrm>
          <a:prstGeom prst="ellipse">
            <a:avLst/>
          </a:prstGeom>
          <a:solidFill>
            <a:srgbClr val="B7E36B">
              <a:alpha val="82000"/>
            </a:srgbClr>
          </a:solidFill>
          <a:ln w="25400">
            <a:solidFill>
              <a:srgbClr val="151F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0" y="3238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Kimi</a:t>
            </a:r>
            <a:endParaRPr lang="en-US" sz="1024" dirty="0"/>
          </a:p>
        </p:txBody>
      </p:sp>
      <p:sp>
        <p:nvSpPr>
          <p:cNvPr id="25" name="Shape 23"/>
          <p:cNvSpPr/>
          <p:nvPr/>
        </p:nvSpPr>
        <p:spPr>
          <a:xfrm>
            <a:off x="7444740" y="2148840"/>
            <a:ext cx="502920" cy="502920"/>
          </a:xfrm>
          <a:prstGeom prst="ellipse">
            <a:avLst/>
          </a:prstGeom>
          <a:solidFill>
            <a:srgbClr val="FF7A70">
              <a:alpha val="82000"/>
            </a:srgbClr>
          </a:solidFill>
          <a:ln w="25400">
            <a:solidFill>
              <a:srgbClr val="151F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9000" y="277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</a:t>
            </a:r>
            <a:endParaRPr lang="en-US" sz="1024" dirty="0"/>
          </a:p>
        </p:txBody>
      </p:sp>
      <p:sp>
        <p:nvSpPr>
          <p:cNvPr id="27" name="Text 25"/>
          <p:cNvSpPr/>
          <p:nvPr/>
        </p:nvSpPr>
        <p:spPr>
          <a:xfrm>
            <a:off x="9486900" y="24384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size</a:t>
            </a:r>
            <a:endParaRPr lang="en-US" sz="1152" dirty="0"/>
          </a:p>
          <a:p>
            <a:pPr algn="l" indent="0" marL="0">
              <a:buNone/>
            </a:pPr>
            <a:r>
              <a:rPr lang="en-US" sz="1152" b="1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latency</a:t>
            </a:r>
            <a:endParaRPr lang="en-US" sz="1152" dirty="0"/>
          </a:p>
        </p:txBody>
      </p:sp>
      <p:sp>
        <p:nvSpPr>
          <p:cNvPr id="28" name="Shape 26"/>
          <p:cNvSpPr/>
          <p:nvPr/>
        </p:nvSpPr>
        <p:spPr>
          <a:xfrm flipV="1">
            <a:off x="1905000" y="3261360"/>
            <a:ext cx="2362200" cy="99060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267200" y="2766060"/>
            <a:ext cx="1524000" cy="49530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791200" y="2385060"/>
            <a:ext cx="1905000" cy="38100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943100"/>
            <a:ext cx="2514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7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OBSERVED FRONTIER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9220200" y="4419600"/>
            <a:ext cx="2133600" cy="56388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2B0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4556760"/>
            <a:ext cx="18288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· not yet run</a:t>
            </a:r>
            <a:endParaRPr lang="en-US" sz="102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· SYSTEM ARCHITECTURE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keeps product logic above backend choice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connectors and a visible trust boundary preserve system meaning.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atlas-v2-system-architecture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667000"/>
            <a:ext cx="1676400" cy="762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65120"/>
            <a:ext cx="14020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362200" y="3048000"/>
            <a:ext cx="609600" cy="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514600"/>
            <a:ext cx="2057400" cy="10668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712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· stage · commit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029200" y="3048000"/>
            <a:ext cx="762000" cy="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91200" y="2667000"/>
            <a:ext cx="1828800" cy="762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8360" y="2865120"/>
            <a:ext cx="1554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620000" y="3048000"/>
            <a:ext cx="685800" cy="0"/>
          </a:xfrm>
          <a:prstGeom prst="line">
            <a:avLst/>
          </a:prstGeom>
          <a:noFill/>
          <a:ln w="25400">
            <a:solidFill>
              <a:srgbClr val="B7E3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05800" y="2514600"/>
            <a:ext cx="1752600" cy="1066800"/>
          </a:xfrm>
          <a:prstGeom prst="roundRect">
            <a:avLst/>
          </a:prstGeom>
          <a:solidFill>
            <a:srgbClr val="151F31"/>
          </a:solidFill>
          <a:ln w="25400">
            <a:solidFill>
              <a:srgbClr val="B7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2960" y="2712720"/>
            <a:ext cx="1478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0439400" y="2057400"/>
            <a:ext cx="1143000" cy="57912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22250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 flipV="1">
            <a:off x="10058400" y="2346960"/>
            <a:ext cx="381000" cy="70104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439400" y="3086100"/>
            <a:ext cx="1143000" cy="57912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2537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4" name="Shape 22"/>
          <p:cNvSpPr/>
          <p:nvPr/>
        </p:nvSpPr>
        <p:spPr>
          <a:xfrm>
            <a:off x="10058400" y="3048000"/>
            <a:ext cx="381000" cy="32766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39400" y="4114800"/>
            <a:ext cx="1143000" cy="579120"/>
          </a:xfrm>
          <a:prstGeom prst="roundRect">
            <a:avLst/>
          </a:prstGeom>
          <a:solidFill>
            <a:srgbClr val="233046"/>
          </a:solidFill>
          <a:ln w="12700">
            <a:solidFill>
              <a:srgbClr val="A98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4282440"/>
            <a:ext cx="990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7" name="Shape 25"/>
          <p:cNvSpPr/>
          <p:nvPr/>
        </p:nvSpPr>
        <p:spPr>
          <a:xfrm>
            <a:off x="10058400" y="3048000"/>
            <a:ext cx="381000" cy="135636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305800" y="3962400"/>
            <a:ext cx="3276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7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 BOUNDARY · persistence only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MEDIA · INTERACTION CLIP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bounded interaction carries the story from selection to receipt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real product states form a playable web sequence and a stepped PowerPoint fallback.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atlas-v2-interaction-clip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71500" y="2057400"/>
            <a:ext cx="3429000" cy="2286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pic>
        <p:nvPicPr>
          <p:cNvPr id="9" name="Image 0" descr="1 · consented requ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148840"/>
            <a:ext cx="3246120" cy="1813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3900" y="4038600"/>
            <a:ext cx="3124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consented request</a:t>
            </a:r>
            <a:endParaRPr lang="en-US" sz="1024" dirty="0"/>
          </a:p>
        </p:txBody>
      </p:sp>
      <p:sp>
        <p:nvSpPr>
          <p:cNvPr id="11" name="Shape 8"/>
          <p:cNvSpPr/>
          <p:nvPr/>
        </p:nvSpPr>
        <p:spPr>
          <a:xfrm>
            <a:off x="4381500" y="2057400"/>
            <a:ext cx="3429000" cy="22860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pic>
        <p:nvPicPr>
          <p:cNvPr id="12" name="Image 1" descr="3 · review propos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940" y="2148840"/>
            <a:ext cx="3246120" cy="1813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3900" y="4038600"/>
            <a:ext cx="3124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review proposal</a:t>
            </a:r>
            <a:endParaRPr lang="en-US" sz="1024" dirty="0"/>
          </a:p>
        </p:txBody>
      </p:sp>
      <p:sp>
        <p:nvSpPr>
          <p:cNvPr id="14" name="Shape 10"/>
          <p:cNvSpPr/>
          <p:nvPr/>
        </p:nvSpPr>
        <p:spPr>
          <a:xfrm>
            <a:off x="8191500" y="2057400"/>
            <a:ext cx="3429000" cy="2286000"/>
          </a:xfrm>
          <a:prstGeom prst="roundRect">
            <a:avLst/>
          </a:prstGeom>
          <a:solidFill>
            <a:srgbClr val="151F31"/>
          </a:solidFill>
          <a:ln w="25400">
            <a:solidFill>
              <a:srgbClr val="B7E36B"/>
            </a:solidFill>
            <a:prstDash val="solid"/>
          </a:ln>
        </p:spPr>
      </p:sp>
      <p:pic>
        <p:nvPicPr>
          <p:cNvPr id="15" name="Image 2" descr="5 · source-bound resu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940" y="2148840"/>
            <a:ext cx="3246120" cy="18135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3900" y="4038600"/>
            <a:ext cx="3124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source-bound result</a:t>
            </a:r>
            <a:endParaRPr lang="en-US" sz="1024" dirty="0"/>
          </a:p>
        </p:txBody>
      </p:sp>
      <p:sp>
        <p:nvSpPr>
          <p:cNvPr id="17" name="Shape 12"/>
          <p:cNvSpPr/>
          <p:nvPr/>
        </p:nvSpPr>
        <p:spPr>
          <a:xfrm>
            <a:off x="777240" y="4815840"/>
            <a:ext cx="274320" cy="27432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27760" y="4838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select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2133600" y="4953000"/>
            <a:ext cx="800100" cy="0"/>
          </a:xfrm>
          <a:prstGeom prst="line">
            <a:avLst/>
          </a:prstGeom>
          <a:noFill/>
          <a:ln w="12700">
            <a:solidFill>
              <a:srgbClr val="A2B0C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2948940" y="4815840"/>
            <a:ext cx="274320" cy="27432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99460" y="4838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ask agent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4305300" y="4953000"/>
            <a:ext cx="800100" cy="0"/>
          </a:xfrm>
          <a:prstGeom prst="line">
            <a:avLst/>
          </a:prstGeom>
          <a:noFill/>
          <a:ln w="12700">
            <a:solidFill>
              <a:srgbClr val="A2B0C1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120640" y="4815840"/>
            <a:ext cx="274320" cy="27432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71160" y="4838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handoff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6477000" y="4953000"/>
            <a:ext cx="800100" cy="0"/>
          </a:xfrm>
          <a:prstGeom prst="line">
            <a:avLst/>
          </a:prstGeom>
          <a:noFill/>
          <a:ln w="12700">
            <a:solidFill>
              <a:srgbClr val="A2B0C1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292340" y="4815840"/>
            <a:ext cx="274320" cy="27432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642860" y="4838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canvas update</a:t>
            </a:r>
            <a:endParaRPr lang="en-US" sz="960" dirty="0"/>
          </a:p>
        </p:txBody>
      </p:sp>
      <p:sp>
        <p:nvSpPr>
          <p:cNvPr id="28" name="Shape 23"/>
          <p:cNvSpPr/>
          <p:nvPr/>
        </p:nvSpPr>
        <p:spPr>
          <a:xfrm>
            <a:off x="8648700" y="4953000"/>
            <a:ext cx="800100" cy="0"/>
          </a:xfrm>
          <a:prstGeom prst="line">
            <a:avLst/>
          </a:prstGeom>
          <a:noFill/>
          <a:ln w="12700">
            <a:solidFill>
              <a:srgbClr val="A2B0C1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9464040" y="4815840"/>
            <a:ext cx="274320" cy="27432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814560" y="4838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version +1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6E9"/>
          </a:solidFill>
          <a:ln w="6350">
            <a:solidFill>
              <a:srgbClr val="FFF6E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05D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MEDIA · PRODUCT BEFORE AFTER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29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transforms a rough generation into a governed workspace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746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captures identify changed components and the measured workflow outcome.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46C8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atlas-v2-product-before-after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46C8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6764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33F5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BEFORE · generated surface</a:t>
            </a:r>
            <a:endParaRPr lang="en-US" sz="1024" dirty="0"/>
          </a:p>
        </p:txBody>
      </p:sp>
      <p:sp>
        <p:nvSpPr>
          <p:cNvPr id="9" name="Text 7"/>
          <p:cNvSpPr/>
          <p:nvPr/>
        </p:nvSpPr>
        <p:spPr>
          <a:xfrm>
            <a:off x="6781800" y="16764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4B9FE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AFTER · reviewable workspace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533400" y="2019300"/>
            <a:ext cx="4953000" cy="289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3F58"/>
            </a:solidFill>
            <a:prstDash val="solid"/>
          </a:ln>
        </p:spPr>
      </p:sp>
      <p:pic>
        <p:nvPicPr>
          <p:cNvPr id="11" name="Image 0" descr="NodeSlide before routed 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" y="2141220"/>
            <a:ext cx="4709160" cy="2651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05600" y="2019300"/>
            <a:ext cx="4953000" cy="2895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9FE1"/>
            </a:solidFill>
            <a:prstDash val="solid"/>
          </a:ln>
        </p:spPr>
      </p:sp>
      <p:pic>
        <p:nvPicPr>
          <p:cNvPr id="13" name="Image 1" descr="NodeSlide after self rep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0" y="2141220"/>
            <a:ext cx="4709160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8200" y="51435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29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Changed: chart semantics · source binding · repair trace · version receipt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AF5"/>
          </a:solidFill>
          <a:ln w="6350">
            <a:solidFill>
              <a:srgbClr val="FCFA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8B2F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TECHNICAL PROOF · CLAIM SOURCE LINEAGE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claim is trustworthy when its entire path remains inspectable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D6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Source, extraction, bounded claim, slide element, and receipt stay connected.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atlas-v2-claim-source-lineage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7900" y="3124200"/>
            <a:ext cx="457200" cy="0"/>
          </a:xfrm>
          <a:prstGeom prst="line">
            <a:avLst/>
          </a:prstGeom>
          <a:noFill/>
          <a:ln w="25400">
            <a:solidFill>
              <a:srgbClr val="315E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5300" y="2552700"/>
            <a:ext cx="1752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" y="27432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</a:t>
            </a:r>
            <a:endParaRPr lang="en-US" sz="1024" dirty="0"/>
          </a:p>
        </p:txBody>
      </p:sp>
      <p:sp>
        <p:nvSpPr>
          <p:cNvPr id="11" name="Text 9"/>
          <p:cNvSpPr/>
          <p:nvPr/>
        </p:nvSpPr>
        <p:spPr>
          <a:xfrm>
            <a:off x="647700" y="312420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journey-receipt</a:t>
            </a:r>
            <a:endParaRPr lang="en-US" sz="1216" dirty="0"/>
          </a:p>
        </p:txBody>
      </p:sp>
      <p:sp>
        <p:nvSpPr>
          <p:cNvPr id="12" name="Shape 10"/>
          <p:cNvSpPr/>
          <p:nvPr/>
        </p:nvSpPr>
        <p:spPr>
          <a:xfrm>
            <a:off x="4533900" y="3124200"/>
            <a:ext cx="457200" cy="0"/>
          </a:xfrm>
          <a:prstGeom prst="line">
            <a:avLst/>
          </a:prstGeom>
          <a:noFill/>
          <a:ln w="25400">
            <a:solidFill>
              <a:srgbClr val="315E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81300" y="2552700"/>
            <a:ext cx="1752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3700" y="27432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Extract</a:t>
            </a:r>
            <a:endParaRPr lang="en-US" sz="1024" dirty="0"/>
          </a:p>
        </p:txBody>
      </p:sp>
      <p:sp>
        <p:nvSpPr>
          <p:cNvPr id="15" name="Text 13"/>
          <p:cNvSpPr/>
          <p:nvPr/>
        </p:nvSpPr>
        <p:spPr>
          <a:xfrm>
            <a:off x="2933700" y="312420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elapsed 52s</a:t>
            </a:r>
            <a:endParaRPr lang="en-US" sz="1216" dirty="0"/>
          </a:p>
        </p:txBody>
      </p:sp>
      <p:sp>
        <p:nvSpPr>
          <p:cNvPr id="16" name="Shape 14"/>
          <p:cNvSpPr/>
          <p:nvPr/>
        </p:nvSpPr>
        <p:spPr>
          <a:xfrm>
            <a:off x="6819900" y="3124200"/>
            <a:ext cx="457200" cy="0"/>
          </a:xfrm>
          <a:prstGeom prst="line">
            <a:avLst/>
          </a:prstGeom>
          <a:noFill/>
          <a:ln w="25400">
            <a:solidFill>
              <a:srgbClr val="315E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67300" y="2552700"/>
            <a:ext cx="1752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9700" y="27432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Claim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5219700" y="312420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accepted</a:t>
            </a:r>
            <a:endParaRPr lang="en-US" sz="1216" dirty="0"/>
          </a:p>
        </p:txBody>
      </p:sp>
      <p:sp>
        <p:nvSpPr>
          <p:cNvPr id="20" name="Shape 18"/>
          <p:cNvSpPr/>
          <p:nvPr/>
        </p:nvSpPr>
        <p:spPr>
          <a:xfrm>
            <a:off x="9105900" y="3124200"/>
            <a:ext cx="457200" cy="0"/>
          </a:xfrm>
          <a:prstGeom prst="line">
            <a:avLst/>
          </a:prstGeom>
          <a:noFill/>
          <a:ln w="25400">
            <a:solidFill>
              <a:srgbClr val="315E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53300" y="2552700"/>
            <a:ext cx="1752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5700" y="27432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Visual</a:t>
            </a:r>
            <a:endParaRPr lang="en-US" sz="1024" dirty="0"/>
          </a:p>
        </p:txBody>
      </p:sp>
      <p:sp>
        <p:nvSpPr>
          <p:cNvPr id="23" name="Text 21"/>
          <p:cNvSpPr/>
          <p:nvPr/>
        </p:nvSpPr>
        <p:spPr>
          <a:xfrm>
            <a:off x="7505700" y="312420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metric</a:t>
            </a:r>
            <a:endParaRPr lang="en-US" sz="1216" dirty="0"/>
          </a:p>
        </p:txBody>
      </p:sp>
      <p:sp>
        <p:nvSpPr>
          <p:cNvPr id="24" name="Shape 22"/>
          <p:cNvSpPr/>
          <p:nvPr/>
        </p:nvSpPr>
        <p:spPr>
          <a:xfrm>
            <a:off x="9639300" y="2552700"/>
            <a:ext cx="1752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E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91700" y="27432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6D686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Receipt</a:t>
            </a:r>
            <a:endParaRPr lang="en-US" sz="1024" dirty="0"/>
          </a:p>
        </p:txBody>
      </p:sp>
      <p:sp>
        <p:nvSpPr>
          <p:cNvPr id="26" name="Text 24"/>
          <p:cNvSpPr/>
          <p:nvPr/>
        </p:nvSpPr>
        <p:spPr>
          <a:xfrm>
            <a:off x="9791700" y="312420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232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exported</a:t>
            </a:r>
            <a:endParaRPr lang="en-US" sz="1216" dirty="0"/>
          </a:p>
        </p:txBody>
      </p:sp>
      <p:sp>
        <p:nvSpPr>
          <p:cNvPr id="27" name="Shape 25"/>
          <p:cNvSpPr/>
          <p:nvPr/>
        </p:nvSpPr>
        <p:spPr>
          <a:xfrm>
            <a:off x="5067300" y="3695700"/>
            <a:ext cx="0" cy="876300"/>
          </a:xfrm>
          <a:prstGeom prst="line">
            <a:avLst/>
          </a:prstGeom>
          <a:noFill/>
          <a:ln w="25400">
            <a:solidFill>
              <a:srgbClr val="9D2F2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8100" y="4572000"/>
            <a:ext cx="2438400" cy="502920"/>
          </a:xfrm>
          <a:prstGeom prst="roundRect">
            <a:avLst/>
          </a:prstGeom>
          <a:solidFill>
            <a:srgbClr val="E9E4DA"/>
          </a:solidFill>
          <a:ln w="19050">
            <a:solidFill>
              <a:srgbClr val="9D2F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0500" y="471678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9D2F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REJECTED · “zero errors”</a:t>
            </a:r>
            <a:endParaRPr lang="en-US" sz="102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6350">
            <a:solidFill>
              <a:srgbClr val="F4EF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EVALUATION · HARNESS COMPARE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 expands the harness without crediting the model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deterministic route isolates fixture, receipt, motion, theme, and accessibility gains.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atlas-v2-harness-compare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905000"/>
            <a:ext cx="4800600" cy="3200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6670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3440" y="2133600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6670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HARNESS V1 · FROZEN</a:t>
            </a:r>
            <a:endParaRPr lang="en-US" sz="1024" dirty="0"/>
          </a:p>
        </p:txBody>
      </p:sp>
      <p:sp>
        <p:nvSpPr>
          <p:cNvPr id="10" name="Text 8"/>
          <p:cNvSpPr/>
          <p:nvPr/>
        </p:nvSpPr>
        <p:spPr>
          <a:xfrm>
            <a:off x="853440" y="2590800"/>
            <a:ext cx="426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944" b="1" dirty="0">
                <a:solidFill>
                  <a:srgbClr val="172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artifacts</a:t>
            </a:r>
            <a:endParaRPr lang="en-US" sz="2944" dirty="0"/>
          </a:p>
        </p:txBody>
      </p:sp>
      <p:sp>
        <p:nvSpPr>
          <p:cNvPr id="11" name="Text 9"/>
          <p:cNvSpPr/>
          <p:nvPr/>
        </p:nvSpPr>
        <p:spPr>
          <a:xfrm>
            <a:off x="1104900" y="339090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2 visual directions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1104900" y="375666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provisional receipts</a:t>
            </a:r>
            <a:endParaRPr lang="en-US" sz="1152" dirty="0"/>
          </a:p>
        </p:txBody>
      </p:sp>
      <p:sp>
        <p:nvSpPr>
          <p:cNvPr id="13" name="Text 11"/>
          <p:cNvSpPr/>
          <p:nvPr/>
        </p:nvSpPr>
        <p:spPr>
          <a:xfrm>
            <a:off x="1104900" y="412242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static gallery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1104900" y="448818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67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no paired predecessor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5638800" y="3467100"/>
            <a:ext cx="800100" cy="0"/>
          </a:xfrm>
          <a:prstGeom prst="line">
            <a:avLst/>
          </a:prstGeom>
          <a:noFill/>
          <a:ln w="508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43700" y="1905000"/>
            <a:ext cx="4800600" cy="3200400"/>
          </a:xfrm>
          <a:prstGeom prst="roundRect">
            <a:avLst/>
          </a:prstGeom>
          <a:solidFill>
            <a:srgbClr val="FBF8F2"/>
          </a:solidFill>
          <a:ln w="25400">
            <a:solidFill>
              <a:srgbClr val="C45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0400" y="2133600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HARNESS V2 · SAME CONTROL ROUTE</a:t>
            </a:r>
            <a:endParaRPr lang="en-US" sz="1024" dirty="0"/>
          </a:p>
        </p:txBody>
      </p:sp>
      <p:sp>
        <p:nvSpPr>
          <p:cNvPr id="18" name="Text 16"/>
          <p:cNvSpPr/>
          <p:nvPr/>
        </p:nvSpPr>
        <p:spPr>
          <a:xfrm>
            <a:off x="7010400" y="2590800"/>
            <a:ext cx="426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944" b="1" dirty="0">
                <a:solidFill>
                  <a:srgbClr val="1723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artifacts</a:t>
            </a:r>
            <a:endParaRPr lang="en-US" sz="2944" dirty="0"/>
          </a:p>
        </p:txBody>
      </p:sp>
      <p:sp>
        <p:nvSpPr>
          <p:cNvPr id="19" name="Text 17"/>
          <p:cNvSpPr/>
          <p:nvPr/>
        </p:nvSpPr>
        <p:spPr>
          <a:xfrm>
            <a:off x="7277100" y="339090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7 design languages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7277100" y="375666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motion + fallback contracts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7277100" y="412242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38 reusable recipes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7277100" y="4488180"/>
            <a:ext cx="381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browser / PPTX / PDF receipts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6350">
            <a:solidFill>
              <a:srgbClr val="F8F9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145D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TECHNICAL PROOF · DECK CI RECEIPT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deck is not done until both pixels and semantics pass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66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receipt exposes every check, browser proof, PowerPoint proof, and fidelity difference.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2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atlas-v2-deck-ci-receipt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2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9140" y="188214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192786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10" name="Text 8"/>
          <p:cNvSpPr/>
          <p:nvPr/>
        </p:nvSpPr>
        <p:spPr>
          <a:xfrm>
            <a:off x="1181100" y="18821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adherence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39140" y="253746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" y="258318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1181100" y="25374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type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739140" y="319278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323850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181100" y="31927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claims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39140" y="384810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389382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19" name="Text 17"/>
          <p:cNvSpPr/>
          <p:nvPr/>
        </p:nvSpPr>
        <p:spPr>
          <a:xfrm>
            <a:off x="1181100" y="38481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forbidden claims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739140" y="450342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" y="454914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1181100" y="45034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collisions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5920740" y="188214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1700" y="192786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6362700" y="18821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render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5920740" y="253746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1700" y="258318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6362700" y="25374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render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5920740" y="319278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1700" y="323850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31" name="Text 29"/>
          <p:cNvSpPr/>
          <p:nvPr/>
        </p:nvSpPr>
        <p:spPr>
          <a:xfrm>
            <a:off x="6362700" y="31927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semantics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5920740" y="3848100"/>
            <a:ext cx="274320" cy="274320"/>
          </a:xfrm>
          <a:prstGeom prst="ellipse">
            <a:avLst/>
          </a:prstGeom>
          <a:solidFill>
            <a:srgbClr val="3A7D44"/>
          </a:solidFill>
          <a:ln w="6350">
            <a:solidFill>
              <a:srgbClr val="3A7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1700" y="3893820"/>
            <a:ext cx="15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6362700" y="38481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1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lineage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8153400" y="4495800"/>
            <a:ext cx="32766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D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3900" y="4663440"/>
            <a:ext cx="2895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672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PREFERENCE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43900" y="4953000"/>
            <a:ext cx="289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45D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pending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22"/>
          </a:solidFill>
          <a:ln w="6350">
            <a:solidFill>
              <a:srgbClr val="0D15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7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 · ANIMATED CHART PROGRESSION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trend means more when the audience sees the baseline move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A2B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chart states compare baseline, model, harness, and refreshed evidence.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atlas-v2-animated-chart-progression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7700" y="1943100"/>
            <a:ext cx="2514600" cy="31242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860" y="2133600"/>
            <a:ext cx="2240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 1 · Baseline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 flipV="1">
            <a:off x="990600" y="3215640"/>
            <a:ext cx="571500" cy="64008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62100" y="3032760"/>
            <a:ext cx="571500" cy="18288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133600" y="2667000"/>
            <a:ext cx="571500" cy="36576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4880" y="381000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6380" y="316992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7880" y="298704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9380" y="262128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" y="46863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75 quality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3467100" y="1943100"/>
            <a:ext cx="2514600" cy="31242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4260" y="2133600"/>
            <a:ext cx="2240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 2 · Model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 flipV="1">
            <a:off x="3810000" y="2849880"/>
            <a:ext cx="571500" cy="73152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4381500" y="2575560"/>
            <a:ext cx="571500" cy="27432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953000" y="2301240"/>
            <a:ext cx="571500" cy="27432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4280" y="353568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5780" y="280416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7280" y="252984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8780" y="225552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9500" y="46863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79 quality</a:t>
            </a:r>
            <a:endParaRPr lang="en-US" sz="1088" dirty="0"/>
          </a:p>
        </p:txBody>
      </p:sp>
      <p:sp>
        <p:nvSpPr>
          <p:cNvPr id="28" name="Shape 26"/>
          <p:cNvSpPr/>
          <p:nvPr/>
        </p:nvSpPr>
        <p:spPr>
          <a:xfrm>
            <a:off x="6286500" y="1943100"/>
            <a:ext cx="2514600" cy="3124200"/>
          </a:xfrm>
          <a:prstGeom prst="roundRect">
            <a:avLst/>
          </a:prstGeom>
          <a:solidFill>
            <a:srgbClr val="151F31"/>
          </a:solidFill>
          <a:ln w="25400">
            <a:solidFill>
              <a:srgbClr val="B7E3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3660" y="2133600"/>
            <a:ext cx="2240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 3 · Harness v4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 flipV="1">
            <a:off x="6629400" y="2484120"/>
            <a:ext cx="571500" cy="822960"/>
          </a:xfrm>
          <a:prstGeom prst="line">
            <a:avLst/>
          </a:prstGeom>
          <a:noFill/>
          <a:ln w="31750">
            <a:solidFill>
              <a:srgbClr val="B7E3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200900" y="2118360"/>
            <a:ext cx="571500" cy="365760"/>
          </a:xfrm>
          <a:prstGeom prst="line">
            <a:avLst/>
          </a:prstGeom>
          <a:noFill/>
          <a:ln w="31750">
            <a:solidFill>
              <a:srgbClr val="B7E3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772400" y="1935480"/>
            <a:ext cx="571500" cy="182880"/>
          </a:xfrm>
          <a:prstGeom prst="line">
            <a:avLst/>
          </a:prstGeom>
          <a:noFill/>
          <a:ln w="31750">
            <a:solidFill>
              <a:srgbClr val="B7E3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261360"/>
            <a:ext cx="91440" cy="9144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5180" y="2438400"/>
            <a:ext cx="91440" cy="9144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2072640"/>
            <a:ext cx="91440" cy="9144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8180" y="1889760"/>
            <a:ext cx="91440" cy="91440"/>
          </a:xfrm>
          <a:prstGeom prst="ellipse">
            <a:avLst/>
          </a:prstGeom>
          <a:solidFill>
            <a:srgbClr val="B7E36B"/>
          </a:solidFill>
          <a:ln w="6350">
            <a:solidFill>
              <a:srgbClr val="B7E3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8900" y="46863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83 quality</a:t>
            </a:r>
            <a:endParaRPr lang="en-US" sz="1088" dirty="0"/>
          </a:p>
        </p:txBody>
      </p:sp>
      <p:sp>
        <p:nvSpPr>
          <p:cNvPr id="38" name="Shape 36"/>
          <p:cNvSpPr/>
          <p:nvPr/>
        </p:nvSpPr>
        <p:spPr>
          <a:xfrm>
            <a:off x="9105900" y="1943100"/>
            <a:ext cx="2514600" cy="3124200"/>
          </a:xfrm>
          <a:prstGeom prst="roundRect">
            <a:avLst/>
          </a:prstGeom>
          <a:solidFill>
            <a:srgbClr val="151F31"/>
          </a:solidFill>
          <a:ln w="12700">
            <a:solidFill>
              <a:srgbClr val="2330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3060" y="2133600"/>
            <a:ext cx="2240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2B0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 4 · Evidence refresh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 flipV="1">
            <a:off x="9448800" y="2118360"/>
            <a:ext cx="571500" cy="91440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0020300" y="1661160"/>
            <a:ext cx="571500" cy="45720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0591800" y="1569720"/>
            <a:ext cx="571500" cy="91440"/>
          </a:xfrm>
          <a:prstGeom prst="line">
            <a:avLst/>
          </a:prstGeom>
          <a:noFill/>
          <a:ln w="31750">
            <a:solidFill>
              <a:srgbClr val="A98B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03080" y="298704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74580" y="207264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46080" y="161544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17580" y="1524000"/>
            <a:ext cx="91440" cy="91440"/>
          </a:xfrm>
          <a:prstGeom prst="ellipse">
            <a:avLst/>
          </a:prstGeom>
          <a:solidFill>
            <a:srgbClr val="A98BFF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58300" y="46863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4F1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87 quality</a:t>
            </a:r>
            <a:endParaRPr lang="en-US" sz="10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018"/>
          </a:solidFill>
          <a:ln w="6350">
            <a:solidFill>
              <a:srgbClr val="11101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50520"/>
            <a:ext cx="746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EVALUATION · FINAL RECOMMENDATION</a:t>
            </a:r>
            <a:endParaRPr lang="en-US" sz="1024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668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visual vocabulary, then adapt the communication contract</a:t>
            </a:r>
            <a:endParaRPr lang="en-US" sz="3584" dirty="0"/>
          </a:p>
        </p:txBody>
      </p:sp>
      <p:sp>
        <p:nvSpPr>
          <p:cNvPr id="5" name="Text 3"/>
          <p:cNvSpPr/>
          <p:nvPr/>
        </p:nvSpPr>
        <p:spPr>
          <a:xfrm>
            <a:off x="548640" y="5699760"/>
            <a:ext cx="853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6" dirty="0">
                <a:solidFill>
                  <a:srgbClr val="BD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Researcher, investor, and plain-language Chinese versions share the same evidence.</a:t>
            </a:r>
            <a:endParaRPr lang="en-US" sz="1536" dirty="0"/>
          </a:p>
        </p:txBody>
      </p:sp>
      <p:sp>
        <p:nvSpPr>
          <p:cNvPr id="6" name="Text 4"/>
          <p:cNvSpPr/>
          <p:nvPr/>
        </p:nvSpPr>
        <p:spPr>
          <a:xfrm>
            <a:off x="548640" y="6385560"/>
            <a:ext cx="86868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DB3C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atlas-v2-final-recommendation · deterministic builder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44200" y="6385560"/>
            <a:ext cx="8382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DB3C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ULTRA V2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3400" y="2019300"/>
            <a:ext cx="3467100" cy="2781300"/>
          </a:xfrm>
          <a:prstGeom prst="roundRect">
            <a:avLst/>
          </a:prstGeom>
          <a:solidFill>
            <a:srgbClr val="1C1926"/>
          </a:solidFill>
          <a:ln w="12700">
            <a:solidFill>
              <a:srgbClr val="7FE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301240"/>
            <a:ext cx="30099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1024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8879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92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source, equation, trace, and known fidelity differences.</a:t>
            </a:r>
            <a:endParaRPr lang="en-US" sz="1792" dirty="0"/>
          </a:p>
        </p:txBody>
      </p:sp>
      <p:sp>
        <p:nvSpPr>
          <p:cNvPr id="11" name="Shape 9"/>
          <p:cNvSpPr/>
          <p:nvPr/>
        </p:nvSpPr>
        <p:spPr>
          <a:xfrm>
            <a:off x="4343400" y="2019300"/>
            <a:ext cx="3467100" cy="2781300"/>
          </a:xfrm>
          <a:prstGeom prst="roundRect">
            <a:avLst/>
          </a:prstGeom>
          <a:solidFill>
            <a:srgbClr val="1C1926"/>
          </a:solidFill>
          <a:ln w="12700">
            <a:solidFill>
              <a:srgbClr val="7FE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01240"/>
            <a:ext cx="30099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</a:t>
            </a:r>
            <a:endParaRPr lang="en-US" sz="1024" dirty="0"/>
          </a:p>
        </p:txBody>
      </p:sp>
      <p:sp>
        <p:nvSpPr>
          <p:cNvPr id="13" name="Text 11"/>
          <p:cNvSpPr/>
          <p:nvPr/>
        </p:nvSpPr>
        <p:spPr>
          <a:xfrm>
            <a:off x="4632960" y="2971800"/>
            <a:ext cx="28879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92" b="1" dirty="0">
                <a:solidFill>
                  <a:srgbClr val="FFF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operating proof, frontier, risk, and decision implication.</a:t>
            </a:r>
            <a:endParaRPr lang="en-US" sz="1792" dirty="0"/>
          </a:p>
        </p:txBody>
      </p:sp>
      <p:sp>
        <p:nvSpPr>
          <p:cNvPr id="14" name="Shape 12"/>
          <p:cNvSpPr/>
          <p:nvPr/>
        </p:nvSpPr>
        <p:spPr>
          <a:xfrm>
            <a:off x="8153400" y="2019300"/>
            <a:ext cx="3467100" cy="2781300"/>
          </a:xfrm>
          <a:prstGeom prst="roundRect">
            <a:avLst/>
          </a:prstGeom>
          <a:solidFill>
            <a:srgbClr val="FF8A5B"/>
          </a:solidFill>
          <a:ln w="12700">
            <a:solidFill>
              <a:srgbClr val="7FE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0" y="2301240"/>
            <a:ext cx="30099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简体中文</a:t>
            </a:r>
            <a:endParaRPr lang="en-US" sz="1024" dirty="0"/>
          </a:p>
        </p:txBody>
      </p:sp>
      <p:sp>
        <p:nvSpPr>
          <p:cNvPr id="16" name="Text 14"/>
          <p:cNvSpPr/>
          <p:nvPr/>
        </p:nvSpPr>
        <p:spPr>
          <a:xfrm>
            <a:off x="8442960" y="2971800"/>
            <a:ext cx="28879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同一证据，不同表达契约。结论仍可追溯、可编辑、可审核。</a:t>
            </a:r>
            <a:endParaRPr lang="en-US" sz="1792" dirty="0"/>
          </a:p>
        </p:txBody>
      </p:sp>
      <p:sp>
        <p:nvSpPr>
          <p:cNvPr id="17" name="Text 15"/>
          <p:cNvSpPr/>
          <p:nvPr/>
        </p:nvSpPr>
        <p:spPr>
          <a:xfrm>
            <a:off x="1219200" y="5105400"/>
            <a:ext cx="9753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7FE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THE SLIDE · USE THE RECIPE · GENERATE WITH YOUR DATA · DOWNLOAD PPTX</a:t>
            </a:r>
            <a:endParaRPr lang="en-US" sz="10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Ultra Showcase V2</dc:title>
  <dc:subject>14-slide public narrative selected from Artifact Atlas V2</dc:subject>
  <dc:creator>NodeSlide Artifact Atlas V2</dc:creator>
  <cp:lastModifiedBy>NodeSlide Artifact Atlas V2</cp:lastModifiedBy>
  <cp:revision>1</cp:revision>
  <dcterms:created xsi:type="dcterms:W3CDTF">2026-07-22T04:54:51Z</dcterms:created>
  <dcterms:modified xsi:type="dcterms:W3CDTF">2026-07-22T04:54:51Z</dcterms:modified>
</cp:coreProperties>
</file>