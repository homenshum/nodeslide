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01: hero-thesis
One evidence-bounded thesis anchors the complete visual vocabulary.
Source: atlas-v2-hero-thesis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21: evidence-scrollytelling
The web version scrubs; PowerPoint shows the same numbered progression.
Source: atlas-v2-evidence-scrollytelling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24: real-screenshot-callouts
A real NodeSlide capture occupies most of the slide with three exact callouts.
Source: atlas-v2-real-screenshot-callouts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14: request-sequence
The happy path and failed-validation return path remain distinct.
Source: atlas-v2-request-sequence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12: dense-dashboard-funnel
A funnel, trend, exceptions, and decision queue share one controlled surface.
Source: atlas-v2-dense-dashboard-funnel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35: cost-quality-frontier
The observed routes stay separate from the not-yet-run ensemble.
Source: atlas-v2-cost-quality-frontier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13: system-architecture
Typed connectors and a visible trust boundary preserve system meaning.
Source: atlas-v2-system-architecture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25: interaction-clip
Three captured product states anchor a five-step workflow and its PowerPoint fallback.
Source: atlas-v2-interaction-clip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26: product-before-after
Actual captures identify changed components and the measured workflow outcome.
Source: atlas-v2-product-before-after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28: claim-source-lineage
Source, extraction, bounded claim, slide element, and receipt stay connected.
Source: atlas-v2-claim-source-lineage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37: harness-compare
The same deterministic route isolates fixture, receipt, motion, theme, and accessibility gains.
Source: atlas-v2-harness-compare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33: deck-ci-receipt
The receipt exposes every check, browser proof, PowerPoint proof, and fidelity difference.
Source: atlas-v2-deck-ci-receipt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22: animated-chart-progression
Four chart states compare baseline, model, harness, and refreshed evidence.
Source: atlas-v2-animated-chart-progression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Artifact 38: final-recommendation
Researcher, investor, and plain-language Chinese versions share the same evidence.
Source: atlas-v2-final-recommendation
Human preference: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EFE7"/>
          </a:solidFill>
          <a:ln w="6350">
            <a:solidFill>
              <a:srgbClr val="F4EF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FOUNDATIONS · HERO THESIS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Reviewability turns generation into a product decision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6670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evidence-bounded thesis anchors the complete visual vocabulary.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atlas-v2-hero-thesis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ULTRA V2 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859280"/>
            <a:ext cx="3413760" cy="0"/>
          </a:xfrm>
          <a:prstGeom prst="line">
            <a:avLst/>
          </a:prstGeom>
          <a:noFill/>
          <a:ln w="44450">
            <a:solidFill>
              <a:srgbClr val="C45538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94360" y="2095500"/>
            <a:ext cx="685800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99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BREADTH</a:t>
            </a:r>
            <a:endParaRPr lang="en-US" sz="4992" dirty="0"/>
          </a:p>
          <a:p>
            <a:pPr algn="l" indent="0" marL="0">
              <a:buNone/>
            </a:pPr>
            <a:r>
              <a:rPr lang="en-US" sz="499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MOTION</a:t>
            </a:r>
            <a:endParaRPr lang="en-US" sz="4992" dirty="0"/>
          </a:p>
          <a:p>
            <a:pPr algn="l" indent="0" marL="0">
              <a:buNone/>
            </a:pPr>
            <a:r>
              <a:rPr lang="en-US" sz="499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</a:t>
            </a:r>
            <a:endParaRPr lang="en-US" sz="4992" dirty="0"/>
          </a:p>
        </p:txBody>
      </p:sp>
      <p:sp>
        <p:nvSpPr>
          <p:cNvPr id="10" name="Text 8"/>
          <p:cNvSpPr/>
          <p:nvPr/>
        </p:nvSpPr>
        <p:spPr>
          <a:xfrm>
            <a:off x="8839200" y="2209800"/>
            <a:ext cx="23622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6656" b="1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</a:t>
            </a:r>
            <a:endParaRPr lang="en-US" sz="6656" dirty="0"/>
          </a:p>
        </p:txBody>
      </p:sp>
      <p:sp>
        <p:nvSpPr>
          <p:cNvPr id="11" name="Text 9"/>
          <p:cNvSpPr/>
          <p:nvPr/>
        </p:nvSpPr>
        <p:spPr>
          <a:xfrm>
            <a:off x="8305800" y="3200400"/>
            <a:ext cx="28956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670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visual artifacts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34400" y="4076700"/>
            <a:ext cx="2667000" cy="73152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287A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63000" y="4267200"/>
            <a:ext cx="2209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7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14-slide public narrative</a:t>
            </a:r>
            <a:endParaRPr lang="en-US" sz="1472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018"/>
          </a:solidFill>
          <a:ln w="6350">
            <a:solidFill>
              <a:srgbClr val="11101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FF8A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PROGRESSION · EVIDENCE SCROLLYTELLING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FFF7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becomes a decision through five inspectable states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BD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web version scrubs; PowerPoint shows the same numbered progression.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BDB3C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atlas-v2-evidence-scrollytelling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DB3C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ULTRA V2 02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943100" y="3116580"/>
            <a:ext cx="952500" cy="731520"/>
          </a:xfrm>
          <a:prstGeom prst="line">
            <a:avLst/>
          </a:prstGeom>
          <a:noFill/>
          <a:ln w="25400">
            <a:solidFill>
              <a:srgbClr val="7FE0D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23900" y="2781300"/>
            <a:ext cx="548640" cy="548640"/>
          </a:xfrm>
          <a:prstGeom prst="ellipse">
            <a:avLst/>
          </a:prstGeom>
          <a:solidFill>
            <a:srgbClr val="2B2636"/>
          </a:solidFill>
          <a:ln w="19050">
            <a:solidFill>
              <a:srgbClr val="7FE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5820" y="2910840"/>
            <a:ext cx="30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FFF7E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408" dirty="0"/>
          </a:p>
        </p:txBody>
      </p:sp>
      <p:sp>
        <p:nvSpPr>
          <p:cNvPr id="11" name="Text 9"/>
          <p:cNvSpPr/>
          <p:nvPr/>
        </p:nvSpPr>
        <p:spPr>
          <a:xfrm>
            <a:off x="1348740" y="2918460"/>
            <a:ext cx="13716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FFF7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 flipV="1">
            <a:off x="4191000" y="3124200"/>
            <a:ext cx="952500" cy="716280"/>
          </a:xfrm>
          <a:prstGeom prst="line">
            <a:avLst/>
          </a:prstGeom>
          <a:noFill/>
          <a:ln w="25400">
            <a:solidFill>
              <a:srgbClr val="7FE0D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971800" y="3505200"/>
            <a:ext cx="548640" cy="548640"/>
          </a:xfrm>
          <a:prstGeom prst="ellipse">
            <a:avLst/>
          </a:prstGeom>
          <a:solidFill>
            <a:srgbClr val="2B2636"/>
          </a:solidFill>
          <a:ln w="19050">
            <a:solidFill>
              <a:srgbClr val="7FE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93720" y="3634740"/>
            <a:ext cx="30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FFF7E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408" dirty="0"/>
          </a:p>
        </p:txBody>
      </p:sp>
      <p:sp>
        <p:nvSpPr>
          <p:cNvPr id="15" name="Text 13"/>
          <p:cNvSpPr/>
          <p:nvPr/>
        </p:nvSpPr>
        <p:spPr>
          <a:xfrm>
            <a:off x="3596640" y="3642360"/>
            <a:ext cx="13716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FFF7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6438900" y="3116580"/>
            <a:ext cx="952500" cy="731520"/>
          </a:xfrm>
          <a:prstGeom prst="line">
            <a:avLst/>
          </a:prstGeom>
          <a:noFill/>
          <a:ln w="25400">
            <a:solidFill>
              <a:srgbClr val="7FE0D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219700" y="2781300"/>
            <a:ext cx="548640" cy="548640"/>
          </a:xfrm>
          <a:prstGeom prst="ellipse">
            <a:avLst/>
          </a:prstGeom>
          <a:solidFill>
            <a:srgbClr val="2B2636"/>
          </a:solidFill>
          <a:ln w="19050">
            <a:solidFill>
              <a:srgbClr val="7FE0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41620" y="2910840"/>
            <a:ext cx="30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FFF7E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408" dirty="0"/>
          </a:p>
        </p:txBody>
      </p:sp>
      <p:sp>
        <p:nvSpPr>
          <p:cNvPr id="19" name="Text 17"/>
          <p:cNvSpPr/>
          <p:nvPr/>
        </p:nvSpPr>
        <p:spPr>
          <a:xfrm>
            <a:off x="5844540" y="2918460"/>
            <a:ext cx="13716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FFF7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Bind claim</a:t>
            </a:r>
            <a:endParaRPr lang="en-US" sz="1280" dirty="0"/>
          </a:p>
        </p:txBody>
      </p:sp>
      <p:sp>
        <p:nvSpPr>
          <p:cNvPr id="20" name="Shape 18"/>
          <p:cNvSpPr/>
          <p:nvPr/>
        </p:nvSpPr>
        <p:spPr>
          <a:xfrm flipV="1">
            <a:off x="8686800" y="3124200"/>
            <a:ext cx="952500" cy="716280"/>
          </a:xfrm>
          <a:prstGeom prst="line">
            <a:avLst/>
          </a:prstGeom>
          <a:noFill/>
          <a:ln w="25400">
            <a:solidFill>
              <a:srgbClr val="7FE0D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67600" y="3505200"/>
            <a:ext cx="548640" cy="548640"/>
          </a:xfrm>
          <a:prstGeom prst="ellipse">
            <a:avLst/>
          </a:prstGeom>
          <a:solidFill>
            <a:srgbClr val="2B2636"/>
          </a:solidFill>
          <a:ln w="19050">
            <a:solidFill>
              <a:srgbClr val="7FE0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89520" y="3634740"/>
            <a:ext cx="30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FFF7E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1408" dirty="0"/>
          </a:p>
        </p:txBody>
      </p:sp>
      <p:sp>
        <p:nvSpPr>
          <p:cNvPr id="23" name="Text 21"/>
          <p:cNvSpPr/>
          <p:nvPr/>
        </p:nvSpPr>
        <p:spPr>
          <a:xfrm>
            <a:off x="8092440" y="3642360"/>
            <a:ext cx="13716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FFF7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visual</a:t>
            </a:r>
            <a:endParaRPr lang="en-US" sz="1280" dirty="0"/>
          </a:p>
        </p:txBody>
      </p:sp>
      <p:sp>
        <p:nvSpPr>
          <p:cNvPr id="24" name="Shape 22"/>
          <p:cNvSpPr/>
          <p:nvPr/>
        </p:nvSpPr>
        <p:spPr>
          <a:xfrm>
            <a:off x="9715500" y="2781300"/>
            <a:ext cx="548640" cy="548640"/>
          </a:xfrm>
          <a:prstGeom prst="ellipse">
            <a:avLst/>
          </a:prstGeom>
          <a:solidFill>
            <a:srgbClr val="FF8A5B"/>
          </a:solidFill>
          <a:ln w="19050">
            <a:solidFill>
              <a:srgbClr val="7FE0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37420" y="2910840"/>
            <a:ext cx="30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1408" dirty="0"/>
          </a:p>
        </p:txBody>
      </p:sp>
      <p:sp>
        <p:nvSpPr>
          <p:cNvPr id="26" name="Text 24"/>
          <p:cNvSpPr/>
          <p:nvPr/>
        </p:nvSpPr>
        <p:spPr>
          <a:xfrm>
            <a:off x="10340340" y="2918460"/>
            <a:ext cx="13716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FFF7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 CI</a:t>
            </a:r>
            <a:endParaRPr lang="en-US" sz="1280" dirty="0"/>
          </a:p>
        </p:txBody>
      </p:sp>
      <p:sp>
        <p:nvSpPr>
          <p:cNvPr id="27" name="Shape 25"/>
          <p:cNvSpPr/>
          <p:nvPr/>
        </p:nvSpPr>
        <p:spPr>
          <a:xfrm>
            <a:off x="3771900" y="4686300"/>
            <a:ext cx="4648200" cy="350520"/>
          </a:xfrm>
          <a:prstGeom prst="roundRect">
            <a:avLst/>
          </a:prstGeom>
          <a:solidFill>
            <a:srgbClr val="1C1926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00500" y="4770120"/>
            <a:ext cx="419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BDB3C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WEB · scroll scrub      PPTX · five stepped states      REDUCED MOTION · final state</a:t>
            </a:r>
            <a:endParaRPr lang="en-US" sz="832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EFE7"/>
          </a:solidFill>
          <a:ln w="6350">
            <a:solidFill>
              <a:srgbClr val="F4EF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MEDIA · REAL SCREENSHOT CALLOUTS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 proof is the interface people actually use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6670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real NodeSlide capture occupies most of the slide with three exact callouts.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atlas-v2-real-screenshot-callouts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ULTRA V2 03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95300" y="1676400"/>
            <a:ext cx="8534400" cy="381000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E4DDD2"/>
            </a:solidFill>
            <a:prstDash val="solid"/>
          </a:ln>
        </p:spPr>
      </p:sp>
      <p:pic>
        <p:nvPicPr>
          <p:cNvPr id="9" name="Image 0" descr="Real NodeSlide Artifact Lab gallery cap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840" y="1805940"/>
            <a:ext cx="8275320" cy="35509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89720" y="1988820"/>
            <a:ext cx="365760" cy="365760"/>
          </a:xfrm>
          <a:prstGeom prst="ellipse">
            <a:avLst/>
          </a:prstGeom>
          <a:solidFill>
            <a:srgbClr val="C45538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265920" y="2065020"/>
            <a:ext cx="2133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1088" dirty="0"/>
          </a:p>
        </p:txBody>
      </p:sp>
      <p:sp>
        <p:nvSpPr>
          <p:cNvPr id="12" name="Text 9"/>
          <p:cNvSpPr/>
          <p:nvPr/>
        </p:nvSpPr>
        <p:spPr>
          <a:xfrm>
            <a:off x="9692640" y="19812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V1 gallery</a:t>
            </a:r>
            <a:endParaRPr lang="en-US" sz="1152" dirty="0"/>
          </a:p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patterns</a:t>
            </a:r>
            <a:endParaRPr lang="en-US" sz="1152" dirty="0"/>
          </a:p>
        </p:txBody>
      </p:sp>
      <p:sp>
        <p:nvSpPr>
          <p:cNvPr id="13" name="Shape 10"/>
          <p:cNvSpPr/>
          <p:nvPr/>
        </p:nvSpPr>
        <p:spPr>
          <a:xfrm>
            <a:off x="8991600" y="2171700"/>
            <a:ext cx="13716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none"/>
          </a:ln>
        </p:spPr>
      </p:sp>
      <p:sp>
        <p:nvSpPr>
          <p:cNvPr id="14" name="Shape 11"/>
          <p:cNvSpPr/>
          <p:nvPr/>
        </p:nvSpPr>
        <p:spPr>
          <a:xfrm>
            <a:off x="9342120" y="3284220"/>
            <a:ext cx="365760" cy="365760"/>
          </a:xfrm>
          <a:prstGeom prst="ellipse">
            <a:avLst/>
          </a:prstGeom>
          <a:solidFill>
            <a:srgbClr val="C45538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418320" y="3360420"/>
            <a:ext cx="2133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1088" dirty="0"/>
          </a:p>
        </p:txBody>
      </p:sp>
      <p:sp>
        <p:nvSpPr>
          <p:cNvPr id="16" name="Text 13"/>
          <p:cNvSpPr/>
          <p:nvPr/>
        </p:nvSpPr>
        <p:spPr>
          <a:xfrm>
            <a:off x="9845040" y="32766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compare</a:t>
            </a:r>
            <a:endParaRPr lang="en-US" sz="1152" dirty="0"/>
          </a:p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keeps failures red</a:t>
            </a:r>
            <a:endParaRPr lang="en-US" sz="1152" dirty="0"/>
          </a:p>
        </p:txBody>
      </p:sp>
      <p:sp>
        <p:nvSpPr>
          <p:cNvPr id="17" name="Shape 14"/>
          <p:cNvSpPr/>
          <p:nvPr/>
        </p:nvSpPr>
        <p:spPr>
          <a:xfrm>
            <a:off x="8991600" y="3467100"/>
            <a:ext cx="28956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none"/>
          </a:ln>
        </p:spPr>
      </p:sp>
      <p:sp>
        <p:nvSpPr>
          <p:cNvPr id="18" name="Shape 15"/>
          <p:cNvSpPr/>
          <p:nvPr/>
        </p:nvSpPr>
        <p:spPr>
          <a:xfrm>
            <a:off x="9075420" y="4503420"/>
            <a:ext cx="365760" cy="365760"/>
          </a:xfrm>
          <a:prstGeom prst="ellipse">
            <a:avLst/>
          </a:prstGeom>
          <a:solidFill>
            <a:srgbClr val="C45538"/>
          </a:solidFill>
          <a:ln w="6350">
            <a:solidFill>
              <a:srgbClr val="C4553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51620" y="4579620"/>
            <a:ext cx="2133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1088" dirty="0"/>
          </a:p>
        </p:txBody>
      </p:sp>
      <p:sp>
        <p:nvSpPr>
          <p:cNvPr id="20" name="Text 17"/>
          <p:cNvSpPr/>
          <p:nvPr/>
        </p:nvSpPr>
        <p:spPr>
          <a:xfrm>
            <a:off x="9578340" y="44958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pattern</a:t>
            </a:r>
            <a:endParaRPr lang="en-US" sz="1152" dirty="0"/>
          </a:p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starts a real workflow</a:t>
            </a:r>
            <a:endParaRPr lang="en-US" sz="1152" dirty="0"/>
          </a:p>
        </p:txBody>
      </p:sp>
      <p:sp>
        <p:nvSpPr>
          <p:cNvPr id="21" name="Shape 18"/>
          <p:cNvSpPr/>
          <p:nvPr/>
        </p:nvSpPr>
        <p:spPr>
          <a:xfrm>
            <a:off x="8991600" y="4686300"/>
            <a:ext cx="22860" cy="0"/>
          </a:xfrm>
          <a:prstGeom prst="line">
            <a:avLst/>
          </a:prstGeom>
          <a:noFill/>
          <a:ln w="19050">
            <a:solidFill>
              <a:srgbClr val="C45538"/>
            </a:solidFill>
            <a:prstDash val="solid"/>
            <a:tailEnd type="none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AF5"/>
          </a:solidFill>
          <a:ln w="6350">
            <a:solidFill>
              <a:srgbClr val="FCFAF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8B2F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SYSTEMS · REQUEST SEQUENCE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232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custody is visible at every handoff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6D68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happy path and failed-validation return path remain distinct.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D686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atlas-v2-request-sequence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D686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ULTRA V2 04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38200" y="1866900"/>
            <a:ext cx="13716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15E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19735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232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</a:t>
            </a:r>
            <a:endParaRPr lang="en-US" sz="1088" dirty="0"/>
          </a:p>
        </p:txBody>
      </p:sp>
      <p:sp>
        <p:nvSpPr>
          <p:cNvPr id="10" name="Shape 8"/>
          <p:cNvSpPr/>
          <p:nvPr/>
        </p:nvSpPr>
        <p:spPr>
          <a:xfrm>
            <a:off x="1524000" y="2324100"/>
            <a:ext cx="0" cy="2933700"/>
          </a:xfrm>
          <a:prstGeom prst="line">
            <a:avLst/>
          </a:prstGeom>
          <a:noFill/>
          <a:ln w="12700">
            <a:solidFill>
              <a:srgbClr val="6D6860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124200" y="1866900"/>
            <a:ext cx="13716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15E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24200" y="19735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232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088" dirty="0"/>
          </a:p>
        </p:txBody>
      </p:sp>
      <p:sp>
        <p:nvSpPr>
          <p:cNvPr id="13" name="Shape 11"/>
          <p:cNvSpPr/>
          <p:nvPr/>
        </p:nvSpPr>
        <p:spPr>
          <a:xfrm>
            <a:off x="3810000" y="2324100"/>
            <a:ext cx="0" cy="2933700"/>
          </a:xfrm>
          <a:prstGeom prst="line">
            <a:avLst/>
          </a:prstGeom>
          <a:noFill/>
          <a:ln w="12700">
            <a:solidFill>
              <a:srgbClr val="6D6860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410200" y="1866900"/>
            <a:ext cx="13716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15E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10200" y="19735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232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Planner</a:t>
            </a:r>
            <a:endParaRPr lang="en-US" sz="1088" dirty="0"/>
          </a:p>
        </p:txBody>
      </p:sp>
      <p:sp>
        <p:nvSpPr>
          <p:cNvPr id="16" name="Shape 14"/>
          <p:cNvSpPr/>
          <p:nvPr/>
        </p:nvSpPr>
        <p:spPr>
          <a:xfrm>
            <a:off x="6096000" y="2324100"/>
            <a:ext cx="0" cy="2933700"/>
          </a:xfrm>
          <a:prstGeom prst="line">
            <a:avLst/>
          </a:prstGeom>
          <a:noFill/>
          <a:ln w="12700">
            <a:solidFill>
              <a:srgbClr val="6D6860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696200" y="1866900"/>
            <a:ext cx="13716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15E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96200" y="19735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232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</a:t>
            </a:r>
            <a:endParaRPr lang="en-US" sz="1088" dirty="0"/>
          </a:p>
        </p:txBody>
      </p:sp>
      <p:sp>
        <p:nvSpPr>
          <p:cNvPr id="19" name="Shape 17"/>
          <p:cNvSpPr/>
          <p:nvPr/>
        </p:nvSpPr>
        <p:spPr>
          <a:xfrm>
            <a:off x="8382000" y="2324100"/>
            <a:ext cx="0" cy="2933700"/>
          </a:xfrm>
          <a:prstGeom prst="line">
            <a:avLst/>
          </a:prstGeom>
          <a:noFill/>
          <a:ln w="12700">
            <a:solidFill>
              <a:srgbClr val="6D6860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982200" y="1866900"/>
            <a:ext cx="13716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15E7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82200" y="1973580"/>
            <a:ext cx="1371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232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</a:t>
            </a:r>
            <a:endParaRPr lang="en-US" sz="1088" dirty="0"/>
          </a:p>
        </p:txBody>
      </p:sp>
      <p:sp>
        <p:nvSpPr>
          <p:cNvPr id="22" name="Shape 20"/>
          <p:cNvSpPr/>
          <p:nvPr/>
        </p:nvSpPr>
        <p:spPr>
          <a:xfrm>
            <a:off x="10668000" y="2324100"/>
            <a:ext cx="0" cy="2933700"/>
          </a:xfrm>
          <a:prstGeom prst="line">
            <a:avLst/>
          </a:prstGeom>
          <a:noFill/>
          <a:ln w="12700">
            <a:solidFill>
              <a:srgbClr val="6D6860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524000" y="2628900"/>
            <a:ext cx="2286000" cy="0"/>
          </a:xfrm>
          <a:prstGeom prst="line">
            <a:avLst/>
          </a:prstGeom>
          <a:noFill/>
          <a:ln w="19050">
            <a:solidFill>
              <a:srgbClr val="8B2F3C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600200" y="2407920"/>
            <a:ext cx="213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23222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submit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3810000" y="3086100"/>
            <a:ext cx="2286000" cy="0"/>
          </a:xfrm>
          <a:prstGeom prst="line">
            <a:avLst/>
          </a:prstGeom>
          <a:noFill/>
          <a:ln w="19050">
            <a:solidFill>
              <a:srgbClr val="8B2F3C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3886200" y="2865120"/>
            <a:ext cx="213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23222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bounded context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6096000" y="3543300"/>
            <a:ext cx="2286000" cy="0"/>
          </a:xfrm>
          <a:prstGeom prst="line">
            <a:avLst/>
          </a:prstGeom>
          <a:noFill/>
          <a:ln w="19050">
            <a:solidFill>
              <a:srgbClr val="8B2F3C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172200" y="3322320"/>
            <a:ext cx="213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23222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typed plan</a:t>
            </a:r>
            <a:endParaRPr lang="en-US" sz="960" dirty="0"/>
          </a:p>
        </p:txBody>
      </p:sp>
      <p:sp>
        <p:nvSpPr>
          <p:cNvPr id="29" name="Shape 27"/>
          <p:cNvSpPr/>
          <p:nvPr/>
        </p:nvSpPr>
        <p:spPr>
          <a:xfrm flipH="1">
            <a:off x="3810000" y="4000500"/>
            <a:ext cx="4572000" cy="0"/>
          </a:xfrm>
          <a:prstGeom prst="line">
            <a:avLst/>
          </a:prstGeom>
          <a:noFill/>
          <a:ln w="19050">
            <a:solidFill>
              <a:srgbClr val="9D2F2F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3886200" y="3779520"/>
            <a:ext cx="441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9D2F2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issues / pass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3810000" y="4572000"/>
            <a:ext cx="6858000" cy="0"/>
          </a:xfrm>
          <a:prstGeom prst="line">
            <a:avLst/>
          </a:prstGeom>
          <a:noFill/>
          <a:ln w="19050">
            <a:solidFill>
              <a:srgbClr val="8B2F3C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3886200" y="4351020"/>
            <a:ext cx="670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23222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accepted commit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 flipH="1">
            <a:off x="3810000" y="5029200"/>
            <a:ext cx="6858000" cy="0"/>
          </a:xfrm>
          <a:prstGeom prst="line">
            <a:avLst/>
          </a:prstGeom>
          <a:noFill/>
          <a:ln w="19050">
            <a:solidFill>
              <a:srgbClr val="8B2F3C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3886200" y="4808220"/>
            <a:ext cx="670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23222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versioned receipt</a:t>
            </a:r>
            <a:endParaRPr lang="en-US" sz="9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5F3"/>
          </a:solidFill>
          <a:ln w="6350">
            <a:solidFill>
              <a:srgbClr val="F2F5F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0F6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· DENSE DASHBOARD FUNNEL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dashboard can be dense without becoming a card graveyard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6675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funnel, trend, exceptions, and decision queue share one controlled surface.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757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atlas-v2-dense-dashboard-funnel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6757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ULTRA V2 05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3880" y="1828800"/>
            <a:ext cx="6477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" y="2019300"/>
            <a:ext cx="381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66757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FROZEN ARENA · CANDIDATE FUNNEL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1295400" y="2476500"/>
            <a:ext cx="4876800" cy="342900"/>
          </a:xfrm>
          <a:prstGeom prst="roundRect">
            <a:avLst/>
          </a:prstGeom>
          <a:solidFill>
            <a:srgbClr val="DCE7E2"/>
          </a:solidFill>
          <a:ln w="6350">
            <a:solidFill>
              <a:srgbClr val="DCE7E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17320" y="2537460"/>
            <a:ext cx="46329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 · 100</a:t>
            </a:r>
            <a:endParaRPr lang="en-US" sz="1088" dirty="0"/>
          </a:p>
        </p:txBody>
      </p:sp>
      <p:sp>
        <p:nvSpPr>
          <p:cNvPr id="12" name="Shape 10"/>
          <p:cNvSpPr/>
          <p:nvPr/>
        </p:nvSpPr>
        <p:spPr>
          <a:xfrm>
            <a:off x="1691640" y="2948940"/>
            <a:ext cx="4076700" cy="342900"/>
          </a:xfrm>
          <a:prstGeom prst="roundRect">
            <a:avLst/>
          </a:prstGeom>
          <a:solidFill>
            <a:srgbClr val="DCE7E2"/>
          </a:solidFill>
          <a:ln w="6350">
            <a:solidFill>
              <a:srgbClr val="DCE7E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13560" y="3009900"/>
            <a:ext cx="38328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Candidates · 84</a:t>
            </a:r>
            <a:endParaRPr lang="en-US" sz="1088" dirty="0"/>
          </a:p>
        </p:txBody>
      </p:sp>
      <p:sp>
        <p:nvSpPr>
          <p:cNvPr id="14" name="Shape 12"/>
          <p:cNvSpPr/>
          <p:nvPr/>
        </p:nvSpPr>
        <p:spPr>
          <a:xfrm>
            <a:off x="2087880" y="3421380"/>
            <a:ext cx="3276600" cy="342900"/>
          </a:xfrm>
          <a:prstGeom prst="roundRect">
            <a:avLst/>
          </a:prstGeom>
          <a:solidFill>
            <a:srgbClr val="DCE7E2"/>
          </a:solidFill>
          <a:ln w="6350">
            <a:solidFill>
              <a:srgbClr val="DCE7E2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09800" y="3482340"/>
            <a:ext cx="3032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 renders · 83</a:t>
            </a:r>
            <a:endParaRPr lang="en-US" sz="1088" dirty="0"/>
          </a:p>
        </p:txBody>
      </p:sp>
      <p:sp>
        <p:nvSpPr>
          <p:cNvPr id="16" name="Shape 14"/>
          <p:cNvSpPr/>
          <p:nvPr/>
        </p:nvSpPr>
        <p:spPr>
          <a:xfrm>
            <a:off x="2484120" y="3893820"/>
            <a:ext cx="2476500" cy="342900"/>
          </a:xfrm>
          <a:prstGeom prst="roundRect">
            <a:avLst/>
          </a:prstGeom>
          <a:solidFill>
            <a:srgbClr val="DCE7E2"/>
          </a:solidFill>
          <a:ln w="6350">
            <a:solidFill>
              <a:srgbClr val="DCE7E2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06040" y="3954780"/>
            <a:ext cx="22326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 CI · 82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2880360" y="4366260"/>
            <a:ext cx="1676400" cy="342900"/>
          </a:xfrm>
          <a:prstGeom prst="roundRect">
            <a:avLst/>
          </a:prstGeom>
          <a:solidFill>
            <a:srgbClr val="0F6B5C"/>
          </a:solidFill>
          <a:ln w="6350">
            <a:solidFill>
              <a:srgbClr val="0F6B5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02280" y="4427220"/>
            <a:ext cx="14325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 human winner · 1</a:t>
            </a:r>
            <a:endParaRPr lang="en-US" sz="1088" dirty="0"/>
          </a:p>
        </p:txBody>
      </p:sp>
      <p:sp>
        <p:nvSpPr>
          <p:cNvPr id="20" name="Shape 18"/>
          <p:cNvSpPr/>
          <p:nvPr/>
        </p:nvSpPr>
        <p:spPr>
          <a:xfrm>
            <a:off x="7315200" y="1828800"/>
            <a:ext cx="42672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43800" y="2019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66757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EXCEPTIONS</a:t>
            </a:r>
            <a:endParaRPr lang="en-US" sz="1024" dirty="0"/>
          </a:p>
        </p:txBody>
      </p:sp>
      <p:sp>
        <p:nvSpPr>
          <p:cNvPr id="22" name="Text 20"/>
          <p:cNvSpPr/>
          <p:nvPr/>
        </p:nvSpPr>
        <p:spPr>
          <a:xfrm>
            <a:off x="7543800" y="2400300"/>
            <a:ext cx="36576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8" b="1" dirty="0">
                <a:solidFill>
                  <a:srgbClr val="A641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Arena candidates failed gates</a:t>
            </a:r>
            <a:endParaRPr lang="en-US" sz="1728" dirty="0"/>
          </a:p>
        </p:txBody>
      </p:sp>
      <p:sp>
        <p:nvSpPr>
          <p:cNvPr id="23" name="Text 21"/>
          <p:cNvSpPr/>
          <p:nvPr/>
        </p:nvSpPr>
        <p:spPr>
          <a:xfrm>
            <a:off x="7543800" y="2834640"/>
            <a:ext cx="365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Historical result; not current Atlas status</a:t>
            </a:r>
            <a:endParaRPr lang="en-US" sz="1152" dirty="0"/>
          </a:p>
        </p:txBody>
      </p:sp>
      <p:sp>
        <p:nvSpPr>
          <p:cNvPr id="24" name="Shape 22"/>
          <p:cNvSpPr/>
          <p:nvPr/>
        </p:nvSpPr>
        <p:spPr>
          <a:xfrm>
            <a:off x="7315200" y="3627120"/>
            <a:ext cx="4267200" cy="1630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3800" y="3810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66757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DECISION QUEUE</a:t>
            </a:r>
            <a:endParaRPr lang="en-US" sz="1024" dirty="0"/>
          </a:p>
        </p:txBody>
      </p:sp>
      <p:sp>
        <p:nvSpPr>
          <p:cNvPr id="26" name="Shape 24"/>
          <p:cNvSpPr/>
          <p:nvPr/>
        </p:nvSpPr>
        <p:spPr>
          <a:xfrm>
            <a:off x="7635240" y="4183380"/>
            <a:ext cx="121920" cy="121920"/>
          </a:xfrm>
          <a:prstGeom prst="ellipse">
            <a:avLst/>
          </a:prstGeom>
          <a:solidFill>
            <a:srgbClr val="0F6B5C"/>
          </a:solidFill>
          <a:ln w="6350">
            <a:solidFill>
              <a:srgbClr val="0F6B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86700" y="4122420"/>
            <a:ext cx="327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model-blind pairs</a:t>
            </a:r>
            <a:endParaRPr lang="en-US" sz="1152" dirty="0"/>
          </a:p>
        </p:txBody>
      </p:sp>
      <p:sp>
        <p:nvSpPr>
          <p:cNvPr id="28" name="Shape 26"/>
          <p:cNvSpPr/>
          <p:nvPr/>
        </p:nvSpPr>
        <p:spPr>
          <a:xfrm>
            <a:off x="7635240" y="4549140"/>
            <a:ext cx="121920" cy="121920"/>
          </a:xfrm>
          <a:prstGeom prst="ellipse">
            <a:avLst/>
          </a:prstGeom>
          <a:solidFill>
            <a:srgbClr val="B08D3A"/>
          </a:solidFill>
          <a:ln w="6350">
            <a:solidFill>
              <a:srgbClr val="B08D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86700" y="4488180"/>
            <a:ext cx="327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public 14</a:t>
            </a:r>
            <a:endParaRPr lang="en-US" sz="1152" dirty="0"/>
          </a:p>
        </p:txBody>
      </p:sp>
      <p:sp>
        <p:nvSpPr>
          <p:cNvPr id="30" name="Shape 28"/>
          <p:cNvSpPr/>
          <p:nvPr/>
        </p:nvSpPr>
        <p:spPr>
          <a:xfrm>
            <a:off x="7635240" y="4914900"/>
            <a:ext cx="121920" cy="121920"/>
          </a:xfrm>
          <a:prstGeom prst="ellipse">
            <a:avLst/>
          </a:prstGeom>
          <a:solidFill>
            <a:srgbClr val="B08D3A"/>
          </a:solidFill>
          <a:ln w="6350">
            <a:solidFill>
              <a:srgbClr val="B08D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86700" y="4853940"/>
            <a:ext cx="327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02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Promote recipes only</a:t>
            </a:r>
            <a:endParaRPr lang="en-US" sz="1152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522"/>
          </a:solidFill>
          <a:ln w="6350">
            <a:solidFill>
              <a:srgbClr val="0D152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B7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EVALUATION · COST QUALITY FRONTIER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Routing improves when quality, cost, and latency are judged together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A2B0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observed routes stay separate from the not-yet-run ensemble.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atlas-v2-cost-quality-frontier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ULTRA V2 06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43000" y="1981200"/>
            <a:ext cx="8229600" cy="0"/>
          </a:xfrm>
          <a:prstGeom prst="line">
            <a:avLst/>
          </a:prstGeom>
          <a:noFill/>
          <a:ln w="12700">
            <a:solidFill>
              <a:srgbClr val="233046"/>
            </a:solidFill>
            <a:prstDash val="solid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43000" y="2762250"/>
            <a:ext cx="8229600" cy="0"/>
          </a:xfrm>
          <a:prstGeom prst="line">
            <a:avLst/>
          </a:prstGeom>
          <a:noFill/>
          <a:ln w="12700">
            <a:solidFill>
              <a:srgbClr val="233046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43000" y="3543300"/>
            <a:ext cx="8229600" cy="0"/>
          </a:xfrm>
          <a:prstGeom prst="line">
            <a:avLst/>
          </a:prstGeom>
          <a:noFill/>
          <a:ln w="12700">
            <a:solidFill>
              <a:srgbClr val="233046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43000" y="4324350"/>
            <a:ext cx="8229600" cy="0"/>
          </a:xfrm>
          <a:prstGeom prst="line">
            <a:avLst/>
          </a:prstGeom>
          <a:noFill/>
          <a:ln w="12700">
            <a:solidFill>
              <a:srgbClr val="233046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43000" y="5105400"/>
            <a:ext cx="8229600" cy="0"/>
          </a:xfrm>
          <a:prstGeom prst="line">
            <a:avLst/>
          </a:prstGeom>
          <a:noFill/>
          <a:ln w="12700">
            <a:solidFill>
              <a:srgbClr val="233046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143000" y="1981200"/>
            <a:ext cx="0" cy="3124200"/>
          </a:xfrm>
          <a:prstGeom prst="line">
            <a:avLst/>
          </a:prstGeom>
          <a:noFill/>
          <a:ln w="19050">
            <a:solidFill>
              <a:srgbClr val="A2B0C1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143000" y="5105400"/>
            <a:ext cx="8229600" cy="0"/>
          </a:xfrm>
          <a:prstGeom prst="line">
            <a:avLst/>
          </a:prstGeom>
          <a:noFill/>
          <a:ln w="19050">
            <a:solidFill>
              <a:srgbClr val="A2B0C1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8458200" y="53187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6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Observed cost per candidate →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609600" y="1752600"/>
            <a:ext cx="121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Eligible fraction →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1059180" y="3002280"/>
            <a:ext cx="548640" cy="548640"/>
          </a:xfrm>
          <a:prstGeom prst="ellipse">
            <a:avLst/>
          </a:prstGeom>
          <a:solidFill>
            <a:srgbClr val="A98BFF">
              <a:alpha val="82000"/>
            </a:srgbClr>
          </a:solidFill>
          <a:ln w="25400">
            <a:solidFill>
              <a:srgbClr val="151F3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7700" y="373380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96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Gemma · 23/24 · $0 · 17.3s</a:t>
            </a:r>
            <a:endParaRPr lang="en-US" sz="896" dirty="0"/>
          </a:p>
        </p:txBody>
      </p:sp>
      <p:sp>
        <p:nvSpPr>
          <p:cNvPr id="19" name="Shape 17"/>
          <p:cNvSpPr/>
          <p:nvPr/>
        </p:nvSpPr>
        <p:spPr>
          <a:xfrm>
            <a:off x="2156460" y="2994660"/>
            <a:ext cx="563880" cy="563880"/>
          </a:xfrm>
          <a:prstGeom prst="ellipse">
            <a:avLst/>
          </a:prstGeom>
          <a:solidFill>
            <a:srgbClr val="B7E36B">
              <a:alpha val="82000"/>
            </a:srgbClr>
          </a:solidFill>
          <a:ln w="25400">
            <a:solidFill>
              <a:srgbClr val="151F3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52600" y="285750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96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Kimi · 23/24 · $0.0013 · 17.6s</a:t>
            </a:r>
            <a:endParaRPr lang="en-US" sz="896" dirty="0"/>
          </a:p>
        </p:txBody>
      </p:sp>
      <p:sp>
        <p:nvSpPr>
          <p:cNvPr id="21" name="Shape 19"/>
          <p:cNvSpPr/>
          <p:nvPr/>
        </p:nvSpPr>
        <p:spPr>
          <a:xfrm>
            <a:off x="8039100" y="1943100"/>
            <a:ext cx="381000" cy="381000"/>
          </a:xfrm>
          <a:prstGeom prst="ellipse">
            <a:avLst/>
          </a:prstGeom>
          <a:solidFill>
            <a:srgbClr val="FF7A70">
              <a:alpha val="82000"/>
            </a:srgbClr>
          </a:solidFill>
          <a:ln w="25400">
            <a:solidFill>
              <a:srgbClr val="151F3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43800" y="243840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96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 · 24/24 · $0.0086 · 8.2s</a:t>
            </a:r>
            <a:endParaRPr lang="en-US" sz="896" dirty="0"/>
          </a:p>
        </p:txBody>
      </p:sp>
      <p:sp>
        <p:nvSpPr>
          <p:cNvPr id="23" name="Text 21"/>
          <p:cNvSpPr/>
          <p:nvPr/>
        </p:nvSpPr>
        <p:spPr>
          <a:xfrm>
            <a:off x="9486900" y="2438400"/>
            <a:ext cx="190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A2B0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Bubble size</a:t>
            </a:r>
            <a:endParaRPr lang="en-US" sz="1152" dirty="0"/>
          </a:p>
          <a:p>
            <a:pPr algn="l" indent="0" marL="0">
              <a:buNone/>
            </a:pPr>
            <a:r>
              <a:rPr lang="en-US" sz="1152" b="1" dirty="0">
                <a:solidFill>
                  <a:srgbClr val="A2B0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 latency</a:t>
            </a:r>
            <a:endParaRPr lang="en-US" sz="1152" dirty="0"/>
          </a:p>
        </p:txBody>
      </p:sp>
      <p:sp>
        <p:nvSpPr>
          <p:cNvPr id="24" name="Text 22"/>
          <p:cNvSpPr/>
          <p:nvPr/>
        </p:nvSpPr>
        <p:spPr>
          <a:xfrm>
            <a:off x="800100" y="5181600"/>
            <a:ext cx="76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$0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457700" y="5181600"/>
            <a:ext cx="76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$0.004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115300" y="5181600"/>
            <a:ext cx="76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$0.008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4840" y="5029200"/>
            <a:ext cx="42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90%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24840" y="3467100"/>
            <a:ext cx="42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95%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24840" y="1905000"/>
            <a:ext cx="42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100%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9486900" y="3124200"/>
            <a:ext cx="19050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96" dirty="0">
                <a:solidFill>
                  <a:srgbClr val="A2B0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Y-axis shown from</a:t>
            </a:r>
            <a:endParaRPr lang="en-US" sz="896" dirty="0"/>
          </a:p>
          <a:p>
            <a:pPr algn="l" indent="0" marL="0">
              <a:buNone/>
            </a:pPr>
            <a:r>
              <a:rPr lang="en-US" sz="896" dirty="0">
                <a:solidFill>
                  <a:srgbClr val="A2B0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90–100% eligible</a:t>
            </a:r>
            <a:endParaRPr lang="en-US" sz="896" dirty="0"/>
          </a:p>
        </p:txBody>
      </p:sp>
      <p:sp>
        <p:nvSpPr>
          <p:cNvPr id="31" name="Shape 29"/>
          <p:cNvSpPr/>
          <p:nvPr/>
        </p:nvSpPr>
        <p:spPr>
          <a:xfrm>
            <a:off x="1333500" y="3276600"/>
            <a:ext cx="1104900" cy="0"/>
          </a:xfrm>
          <a:prstGeom prst="line">
            <a:avLst/>
          </a:prstGeom>
          <a:noFill/>
          <a:ln w="25400">
            <a:solidFill>
              <a:srgbClr val="B7E3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2438400" y="2133600"/>
            <a:ext cx="5791200" cy="1143000"/>
          </a:xfrm>
          <a:prstGeom prst="line">
            <a:avLst/>
          </a:prstGeom>
          <a:noFill/>
          <a:ln w="25400">
            <a:solidFill>
              <a:srgbClr val="B7E36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0" y="1790700"/>
            <a:ext cx="25146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B7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OBSERVED FRONTIER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9220200" y="4419600"/>
            <a:ext cx="2133600" cy="563880"/>
          </a:xfrm>
          <a:prstGeom prst="roundRect">
            <a:avLst/>
          </a:prstGeom>
          <a:solidFill>
            <a:srgbClr val="233046"/>
          </a:solidFill>
          <a:ln w="12700">
            <a:solidFill>
              <a:srgbClr val="A2B0C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72600" y="4556760"/>
            <a:ext cx="18288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A2B0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Ensemble · not yet run</a:t>
            </a:r>
            <a:endParaRPr lang="en-US" sz="1024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522"/>
          </a:solidFill>
          <a:ln w="6350">
            <a:solidFill>
              <a:srgbClr val="0D152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B7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SYSTEMS · SYSTEM ARCHITECTURE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portable protocol keeps product logic above backend choice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A2B0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connectors and a visible trust boundary preserve system meaning.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atlas-v2-system-architecture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ULTRA V2 07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2667000"/>
            <a:ext cx="1676400" cy="7620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65120"/>
            <a:ext cx="14020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280" dirty="0"/>
          </a:p>
        </p:txBody>
      </p:sp>
      <p:sp>
        <p:nvSpPr>
          <p:cNvPr id="10" name="Shape 8"/>
          <p:cNvSpPr/>
          <p:nvPr/>
        </p:nvSpPr>
        <p:spPr>
          <a:xfrm>
            <a:off x="2362200" y="3048000"/>
            <a:ext cx="609600" cy="0"/>
          </a:xfrm>
          <a:prstGeom prst="line">
            <a:avLst/>
          </a:prstGeom>
          <a:noFill/>
          <a:ln w="25400">
            <a:solidFill>
              <a:srgbClr val="B7E3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971800" y="2514600"/>
            <a:ext cx="2057400" cy="10668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27127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Portable protocol</a:t>
            </a:r>
            <a:endParaRPr lang="en-US" sz="1280" dirty="0"/>
          </a:p>
          <a:p>
            <a:pPr algn="ctr" indent="0" marL="0">
              <a:buNone/>
            </a:pPr>
            <a:r>
              <a:rPr lang="en-US" sz="1280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initialize · stage · commit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5029200" y="3048000"/>
            <a:ext cx="762000" cy="0"/>
          </a:xfrm>
          <a:prstGeom prst="line">
            <a:avLst/>
          </a:prstGeom>
          <a:noFill/>
          <a:ln w="25400">
            <a:solidFill>
              <a:srgbClr val="B7E3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791200" y="2667000"/>
            <a:ext cx="1828800" cy="7620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28360" y="2865120"/>
            <a:ext cx="1554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engine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7620000" y="3048000"/>
            <a:ext cx="685800" cy="0"/>
          </a:xfrm>
          <a:prstGeom prst="line">
            <a:avLst/>
          </a:prstGeom>
          <a:noFill/>
          <a:ln w="25400">
            <a:solidFill>
              <a:srgbClr val="B7E3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05800" y="2514600"/>
            <a:ext cx="1752600" cy="1066800"/>
          </a:xfrm>
          <a:prstGeom prst="roundRect">
            <a:avLst/>
          </a:prstGeom>
          <a:solidFill>
            <a:srgbClr val="151F31"/>
          </a:solidFill>
          <a:ln w="25400">
            <a:solidFill>
              <a:srgbClr val="B7E3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42960" y="2712720"/>
            <a:ext cx="1478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Adapter boundary</a:t>
            </a:r>
            <a:endParaRPr lang="en-US" sz="1280" dirty="0"/>
          </a:p>
        </p:txBody>
      </p:sp>
      <p:sp>
        <p:nvSpPr>
          <p:cNvPr id="19" name="Shape 17"/>
          <p:cNvSpPr/>
          <p:nvPr/>
        </p:nvSpPr>
        <p:spPr>
          <a:xfrm>
            <a:off x="10439400" y="2057400"/>
            <a:ext cx="1143000" cy="579120"/>
          </a:xfrm>
          <a:prstGeom prst="roundRect">
            <a:avLst/>
          </a:prstGeom>
          <a:solidFill>
            <a:srgbClr val="233046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0" y="2225040"/>
            <a:ext cx="990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1152" dirty="0"/>
          </a:p>
        </p:txBody>
      </p:sp>
      <p:sp>
        <p:nvSpPr>
          <p:cNvPr id="21" name="Shape 19"/>
          <p:cNvSpPr/>
          <p:nvPr/>
        </p:nvSpPr>
        <p:spPr>
          <a:xfrm flipV="1">
            <a:off x="10058400" y="2346960"/>
            <a:ext cx="381000" cy="70104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0439400" y="3086100"/>
            <a:ext cx="1143000" cy="579120"/>
          </a:xfrm>
          <a:prstGeom prst="roundRect">
            <a:avLst/>
          </a:prstGeom>
          <a:solidFill>
            <a:srgbClr val="233046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0" y="3253740"/>
            <a:ext cx="990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Convex</a:t>
            </a:r>
            <a:endParaRPr lang="en-US" sz="1152" dirty="0"/>
          </a:p>
        </p:txBody>
      </p:sp>
      <p:sp>
        <p:nvSpPr>
          <p:cNvPr id="24" name="Shape 22"/>
          <p:cNvSpPr/>
          <p:nvPr/>
        </p:nvSpPr>
        <p:spPr>
          <a:xfrm>
            <a:off x="10058400" y="3048000"/>
            <a:ext cx="381000" cy="32766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439400" y="4114800"/>
            <a:ext cx="1143000" cy="579120"/>
          </a:xfrm>
          <a:prstGeom prst="roundRect">
            <a:avLst/>
          </a:prstGeom>
          <a:solidFill>
            <a:srgbClr val="233046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15600" y="4282440"/>
            <a:ext cx="990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</a:t>
            </a:r>
            <a:endParaRPr lang="en-US" sz="1152" dirty="0"/>
          </a:p>
        </p:txBody>
      </p:sp>
      <p:sp>
        <p:nvSpPr>
          <p:cNvPr id="27" name="Shape 25"/>
          <p:cNvSpPr/>
          <p:nvPr/>
        </p:nvSpPr>
        <p:spPr>
          <a:xfrm>
            <a:off x="10058400" y="3048000"/>
            <a:ext cx="381000" cy="1356360"/>
          </a:xfrm>
          <a:prstGeom prst="line">
            <a:avLst/>
          </a:prstGeom>
          <a:noFill/>
          <a:ln w="19050">
            <a:solidFill>
              <a:srgbClr val="A98BFF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305800" y="3962400"/>
            <a:ext cx="3276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B7E3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TRUST BOUNDARY · persistence only</a:t>
            </a:r>
            <a:endParaRPr lang="en-US" sz="9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522"/>
          </a:solidFill>
          <a:ln w="6350">
            <a:solidFill>
              <a:srgbClr val="0D152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B7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MEDIA · INTERACTION CLIP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bounded interaction carries the story from selection to receipt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A2B0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captured product states anchor a five-step workflow and its PowerPoint fallback.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atlas-v2-interaction-clip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ULTRA V2 08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71500" y="2057400"/>
            <a:ext cx="3429000" cy="22860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33046"/>
            </a:solidFill>
            <a:prstDash val="solid"/>
          </a:ln>
        </p:spPr>
      </p:sp>
      <p:pic>
        <p:nvPicPr>
          <p:cNvPr id="9" name="Image 0" descr="1 · consented reque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148840"/>
            <a:ext cx="3246120" cy="1813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3900" y="4038600"/>
            <a:ext cx="31242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· consented request</a:t>
            </a:r>
            <a:endParaRPr lang="en-US" sz="1024" dirty="0"/>
          </a:p>
        </p:txBody>
      </p:sp>
      <p:sp>
        <p:nvSpPr>
          <p:cNvPr id="11" name="Shape 8"/>
          <p:cNvSpPr/>
          <p:nvPr/>
        </p:nvSpPr>
        <p:spPr>
          <a:xfrm>
            <a:off x="4381500" y="2057400"/>
            <a:ext cx="3429000" cy="22860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33046"/>
            </a:solidFill>
            <a:prstDash val="solid"/>
          </a:ln>
        </p:spPr>
      </p:sp>
      <p:pic>
        <p:nvPicPr>
          <p:cNvPr id="12" name="Image 1" descr="3 · review propos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2940" y="2148840"/>
            <a:ext cx="3246120" cy="18135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33900" y="4038600"/>
            <a:ext cx="31242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· review proposal</a:t>
            </a:r>
            <a:endParaRPr lang="en-US" sz="1024" dirty="0"/>
          </a:p>
        </p:txBody>
      </p:sp>
      <p:sp>
        <p:nvSpPr>
          <p:cNvPr id="14" name="Shape 10"/>
          <p:cNvSpPr/>
          <p:nvPr/>
        </p:nvSpPr>
        <p:spPr>
          <a:xfrm>
            <a:off x="8191500" y="2057400"/>
            <a:ext cx="3429000" cy="2286000"/>
          </a:xfrm>
          <a:prstGeom prst="roundRect">
            <a:avLst/>
          </a:prstGeom>
          <a:solidFill>
            <a:srgbClr val="151F31"/>
          </a:solidFill>
          <a:ln w="25400">
            <a:solidFill>
              <a:srgbClr val="B7E36B"/>
            </a:solidFill>
            <a:prstDash val="solid"/>
          </a:ln>
        </p:spPr>
      </p:sp>
      <p:pic>
        <p:nvPicPr>
          <p:cNvPr id="15" name="Image 2" descr="5 · source-bound resu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940" y="2148840"/>
            <a:ext cx="3246120" cy="18135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43900" y="4038600"/>
            <a:ext cx="31242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· source-bound result</a:t>
            </a:r>
            <a:endParaRPr lang="en-US" sz="1024" dirty="0"/>
          </a:p>
        </p:txBody>
      </p:sp>
      <p:sp>
        <p:nvSpPr>
          <p:cNvPr id="17" name="Shape 12"/>
          <p:cNvSpPr/>
          <p:nvPr/>
        </p:nvSpPr>
        <p:spPr>
          <a:xfrm>
            <a:off x="777240" y="4815840"/>
            <a:ext cx="274320" cy="27432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1127760" y="48387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select</a:t>
            </a:r>
            <a:endParaRPr lang="en-US" sz="960" dirty="0"/>
          </a:p>
        </p:txBody>
      </p:sp>
      <p:sp>
        <p:nvSpPr>
          <p:cNvPr id="19" name="Shape 14"/>
          <p:cNvSpPr/>
          <p:nvPr/>
        </p:nvSpPr>
        <p:spPr>
          <a:xfrm>
            <a:off x="2133600" y="4953000"/>
            <a:ext cx="800100" cy="0"/>
          </a:xfrm>
          <a:prstGeom prst="line">
            <a:avLst/>
          </a:prstGeom>
          <a:noFill/>
          <a:ln w="12700">
            <a:solidFill>
              <a:srgbClr val="A2B0C1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2948940" y="4815840"/>
            <a:ext cx="274320" cy="27432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3299460" y="48387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ask agent</a:t>
            </a:r>
            <a:endParaRPr lang="en-US" sz="960" dirty="0"/>
          </a:p>
        </p:txBody>
      </p:sp>
      <p:sp>
        <p:nvSpPr>
          <p:cNvPr id="22" name="Shape 17"/>
          <p:cNvSpPr/>
          <p:nvPr/>
        </p:nvSpPr>
        <p:spPr>
          <a:xfrm>
            <a:off x="4305300" y="4953000"/>
            <a:ext cx="800100" cy="0"/>
          </a:xfrm>
          <a:prstGeom prst="line">
            <a:avLst/>
          </a:prstGeom>
          <a:noFill/>
          <a:ln w="12700">
            <a:solidFill>
              <a:srgbClr val="A2B0C1"/>
            </a:solidFill>
            <a:prstDash val="solid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5120640" y="4815840"/>
            <a:ext cx="274320" cy="27432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471160" y="48387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handoff</a:t>
            </a:r>
            <a:endParaRPr lang="en-US" sz="960" dirty="0"/>
          </a:p>
        </p:txBody>
      </p:sp>
      <p:sp>
        <p:nvSpPr>
          <p:cNvPr id="25" name="Shape 20"/>
          <p:cNvSpPr/>
          <p:nvPr/>
        </p:nvSpPr>
        <p:spPr>
          <a:xfrm>
            <a:off x="6477000" y="4953000"/>
            <a:ext cx="800100" cy="0"/>
          </a:xfrm>
          <a:prstGeom prst="line">
            <a:avLst/>
          </a:prstGeom>
          <a:noFill/>
          <a:ln w="12700">
            <a:solidFill>
              <a:srgbClr val="A2B0C1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7292340" y="4815840"/>
            <a:ext cx="274320" cy="27432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7642860" y="48387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canvas update</a:t>
            </a:r>
            <a:endParaRPr lang="en-US" sz="960" dirty="0"/>
          </a:p>
        </p:txBody>
      </p:sp>
      <p:sp>
        <p:nvSpPr>
          <p:cNvPr id="28" name="Shape 23"/>
          <p:cNvSpPr/>
          <p:nvPr/>
        </p:nvSpPr>
        <p:spPr>
          <a:xfrm>
            <a:off x="8648700" y="4953000"/>
            <a:ext cx="800100" cy="0"/>
          </a:xfrm>
          <a:prstGeom prst="line">
            <a:avLst/>
          </a:prstGeom>
          <a:noFill/>
          <a:ln w="12700">
            <a:solidFill>
              <a:srgbClr val="A2B0C1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9464040" y="4815840"/>
            <a:ext cx="274320" cy="274320"/>
          </a:xfrm>
          <a:prstGeom prst="ellipse">
            <a:avLst/>
          </a:prstGeom>
          <a:solidFill>
            <a:srgbClr val="B7E36B"/>
          </a:solidFill>
          <a:ln w="6350">
            <a:solidFill>
              <a:srgbClr val="B7E36B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9814560" y="48387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version +1</a:t>
            </a:r>
            <a:endParaRPr lang="en-US" sz="960" dirty="0"/>
          </a:p>
        </p:txBody>
      </p:sp>
      <p:sp>
        <p:nvSpPr>
          <p:cNvPr id="31" name="Text 26"/>
          <p:cNvSpPr/>
          <p:nvPr/>
        </p:nvSpPr>
        <p:spPr>
          <a:xfrm>
            <a:off x="609600" y="5410200"/>
            <a:ext cx="10896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 captured checkpoints · 5 declared workflow steps</a:t>
            </a:r>
            <a:endParaRPr lang="en-US" sz="832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6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6E9"/>
          </a:solidFill>
          <a:ln w="6350">
            <a:solidFill>
              <a:srgbClr val="FFF6E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F05D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MEDIA · PRODUCT BEFORE AFTER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2923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transforms a rough generation into a governed workspace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746C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captures identify changed components and the measured workflow outcome.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746C8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atlas-v2-product-before-after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46C8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ULTRA V2 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1676400"/>
            <a:ext cx="457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C33F5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BEFORE · generated surface</a:t>
            </a:r>
            <a:endParaRPr lang="en-US" sz="1024" dirty="0"/>
          </a:p>
        </p:txBody>
      </p:sp>
      <p:sp>
        <p:nvSpPr>
          <p:cNvPr id="9" name="Text 7"/>
          <p:cNvSpPr/>
          <p:nvPr/>
        </p:nvSpPr>
        <p:spPr>
          <a:xfrm>
            <a:off x="6781800" y="1676400"/>
            <a:ext cx="457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4B9FE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AFTER · reviewable workspace</a:t>
            </a:r>
            <a:endParaRPr lang="en-US" sz="1024" dirty="0"/>
          </a:p>
        </p:txBody>
      </p:sp>
      <p:sp>
        <p:nvSpPr>
          <p:cNvPr id="10" name="Shape 8"/>
          <p:cNvSpPr/>
          <p:nvPr/>
        </p:nvSpPr>
        <p:spPr>
          <a:xfrm>
            <a:off x="533400" y="2019300"/>
            <a:ext cx="4953000" cy="2895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33F58"/>
            </a:solidFill>
            <a:prstDash val="solid"/>
          </a:ln>
        </p:spPr>
      </p:sp>
      <p:pic>
        <p:nvPicPr>
          <p:cNvPr id="11" name="Image 0" descr="NodeSlide before routed ed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320" y="2141220"/>
            <a:ext cx="4709160" cy="26517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705600" y="2019300"/>
            <a:ext cx="4953000" cy="2895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B9FE1"/>
            </a:solidFill>
            <a:prstDash val="solid"/>
          </a:ln>
        </p:spPr>
      </p:sp>
      <p:pic>
        <p:nvPicPr>
          <p:cNvPr id="13" name="Image 1" descr="NodeSlide after self rep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7520" y="2141220"/>
            <a:ext cx="4709160" cy="2651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38200" y="514350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2923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Changed: chart semantics · source binding · repair trace · version receipt</a:t>
            </a:r>
            <a:endParaRPr lang="en-US" sz="1152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AF5"/>
          </a:solidFill>
          <a:ln w="6350">
            <a:solidFill>
              <a:srgbClr val="FCFAF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8B2F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TECHNICAL PROOF · CLAIM SOURCE LINEAGE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232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claim is trustworthy when its entire path remains inspectable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6D68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Source, extraction, bounded claim, slide element, and receipt stay connected.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D686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atlas-v2-claim-source-lineage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D686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ULTRA V2 10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47900" y="3124200"/>
            <a:ext cx="457200" cy="0"/>
          </a:xfrm>
          <a:prstGeom prst="line">
            <a:avLst/>
          </a:prstGeom>
          <a:noFill/>
          <a:ln w="25400">
            <a:solidFill>
              <a:srgbClr val="315E7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95300" y="2552700"/>
            <a:ext cx="17526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15E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700" y="27432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6D686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</a:t>
            </a:r>
            <a:endParaRPr lang="en-US" sz="1024" dirty="0"/>
          </a:p>
        </p:txBody>
      </p:sp>
      <p:sp>
        <p:nvSpPr>
          <p:cNvPr id="11" name="Text 9"/>
          <p:cNvSpPr/>
          <p:nvPr/>
        </p:nvSpPr>
        <p:spPr>
          <a:xfrm>
            <a:off x="647700" y="3124200"/>
            <a:ext cx="144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16" b="1" dirty="0">
                <a:solidFill>
                  <a:srgbClr val="232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journey-receipt</a:t>
            </a:r>
            <a:endParaRPr lang="en-US" sz="1216" dirty="0"/>
          </a:p>
        </p:txBody>
      </p:sp>
      <p:sp>
        <p:nvSpPr>
          <p:cNvPr id="12" name="Shape 10"/>
          <p:cNvSpPr/>
          <p:nvPr/>
        </p:nvSpPr>
        <p:spPr>
          <a:xfrm>
            <a:off x="4533900" y="3124200"/>
            <a:ext cx="457200" cy="0"/>
          </a:xfrm>
          <a:prstGeom prst="line">
            <a:avLst/>
          </a:prstGeom>
          <a:noFill/>
          <a:ln w="25400">
            <a:solidFill>
              <a:srgbClr val="315E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781300" y="2552700"/>
            <a:ext cx="17526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15E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33700" y="27432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6D686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Extract</a:t>
            </a:r>
            <a:endParaRPr lang="en-US" sz="1024" dirty="0"/>
          </a:p>
        </p:txBody>
      </p:sp>
      <p:sp>
        <p:nvSpPr>
          <p:cNvPr id="15" name="Text 13"/>
          <p:cNvSpPr/>
          <p:nvPr/>
        </p:nvSpPr>
        <p:spPr>
          <a:xfrm>
            <a:off x="2933700" y="3124200"/>
            <a:ext cx="144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16" b="1" dirty="0">
                <a:solidFill>
                  <a:srgbClr val="232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elapsed 52s</a:t>
            </a:r>
            <a:endParaRPr lang="en-US" sz="1216" dirty="0"/>
          </a:p>
        </p:txBody>
      </p:sp>
      <p:sp>
        <p:nvSpPr>
          <p:cNvPr id="16" name="Shape 14"/>
          <p:cNvSpPr/>
          <p:nvPr/>
        </p:nvSpPr>
        <p:spPr>
          <a:xfrm>
            <a:off x="6819900" y="3124200"/>
            <a:ext cx="457200" cy="0"/>
          </a:xfrm>
          <a:prstGeom prst="line">
            <a:avLst/>
          </a:prstGeom>
          <a:noFill/>
          <a:ln w="25400">
            <a:solidFill>
              <a:srgbClr val="315E7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067300" y="2552700"/>
            <a:ext cx="17526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15E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9700" y="27432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6D686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Claim</a:t>
            </a:r>
            <a:endParaRPr lang="en-US" sz="1024" dirty="0"/>
          </a:p>
        </p:txBody>
      </p:sp>
      <p:sp>
        <p:nvSpPr>
          <p:cNvPr id="19" name="Text 17"/>
          <p:cNvSpPr/>
          <p:nvPr/>
        </p:nvSpPr>
        <p:spPr>
          <a:xfrm>
            <a:off x="5219700" y="3124200"/>
            <a:ext cx="144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16" b="1" dirty="0">
                <a:solidFill>
                  <a:srgbClr val="232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accepted</a:t>
            </a:r>
            <a:endParaRPr lang="en-US" sz="1216" dirty="0"/>
          </a:p>
        </p:txBody>
      </p:sp>
      <p:sp>
        <p:nvSpPr>
          <p:cNvPr id="20" name="Shape 18"/>
          <p:cNvSpPr/>
          <p:nvPr/>
        </p:nvSpPr>
        <p:spPr>
          <a:xfrm>
            <a:off x="9105900" y="3124200"/>
            <a:ext cx="457200" cy="0"/>
          </a:xfrm>
          <a:prstGeom prst="line">
            <a:avLst/>
          </a:prstGeom>
          <a:noFill/>
          <a:ln w="25400">
            <a:solidFill>
              <a:srgbClr val="315E7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53300" y="2552700"/>
            <a:ext cx="17526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15E7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05700" y="27432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6D686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Visual</a:t>
            </a:r>
            <a:endParaRPr lang="en-US" sz="1024" dirty="0"/>
          </a:p>
        </p:txBody>
      </p:sp>
      <p:sp>
        <p:nvSpPr>
          <p:cNvPr id="23" name="Text 21"/>
          <p:cNvSpPr/>
          <p:nvPr/>
        </p:nvSpPr>
        <p:spPr>
          <a:xfrm>
            <a:off x="7505700" y="3124200"/>
            <a:ext cx="144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16" b="1" dirty="0">
                <a:solidFill>
                  <a:srgbClr val="232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 metric</a:t>
            </a:r>
            <a:endParaRPr lang="en-US" sz="1216" dirty="0"/>
          </a:p>
        </p:txBody>
      </p:sp>
      <p:sp>
        <p:nvSpPr>
          <p:cNvPr id="24" name="Shape 22"/>
          <p:cNvSpPr/>
          <p:nvPr/>
        </p:nvSpPr>
        <p:spPr>
          <a:xfrm>
            <a:off x="9639300" y="2552700"/>
            <a:ext cx="17526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15E7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91700" y="27432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6D686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Receipt</a:t>
            </a:r>
            <a:endParaRPr lang="en-US" sz="1024" dirty="0"/>
          </a:p>
        </p:txBody>
      </p:sp>
      <p:sp>
        <p:nvSpPr>
          <p:cNvPr id="26" name="Text 24"/>
          <p:cNvSpPr/>
          <p:nvPr/>
        </p:nvSpPr>
        <p:spPr>
          <a:xfrm>
            <a:off x="9791700" y="3124200"/>
            <a:ext cx="144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16" b="1" dirty="0">
                <a:solidFill>
                  <a:srgbClr val="232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exported</a:t>
            </a:r>
            <a:endParaRPr lang="en-US" sz="1216" dirty="0"/>
          </a:p>
        </p:txBody>
      </p:sp>
      <p:sp>
        <p:nvSpPr>
          <p:cNvPr id="27" name="Shape 25"/>
          <p:cNvSpPr/>
          <p:nvPr/>
        </p:nvSpPr>
        <p:spPr>
          <a:xfrm>
            <a:off x="5067300" y="3695700"/>
            <a:ext cx="0" cy="876300"/>
          </a:xfrm>
          <a:prstGeom prst="line">
            <a:avLst/>
          </a:prstGeom>
          <a:noFill/>
          <a:ln w="25400">
            <a:solidFill>
              <a:srgbClr val="9D2F2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848100" y="4572000"/>
            <a:ext cx="2438400" cy="502920"/>
          </a:xfrm>
          <a:prstGeom prst="roundRect">
            <a:avLst/>
          </a:prstGeom>
          <a:solidFill>
            <a:srgbClr val="E9E4DA"/>
          </a:solidFill>
          <a:ln w="19050">
            <a:solidFill>
              <a:srgbClr val="9D2F2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00500" y="471678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9D2F2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REJECTED · “zero errors”</a:t>
            </a:r>
            <a:endParaRPr lang="en-US" sz="1024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EFE7"/>
          </a:solidFill>
          <a:ln w="6350">
            <a:solidFill>
              <a:srgbClr val="F4EFE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C455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EVALUATION · HARNESS COMPARE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V2 expands the harness without crediting the model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6670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deterministic route isolates fixture, receipt, motion, theme, and accessibility gains.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atlas-v2-harness-compare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ULTRA V2 11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94360" y="1905000"/>
            <a:ext cx="4800600" cy="320040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6670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3440" y="2133600"/>
            <a:ext cx="426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HARNESS V1 · FROZEN</a:t>
            </a:r>
            <a:endParaRPr lang="en-US" sz="1024" dirty="0"/>
          </a:p>
        </p:txBody>
      </p:sp>
      <p:sp>
        <p:nvSpPr>
          <p:cNvPr id="10" name="Text 8"/>
          <p:cNvSpPr/>
          <p:nvPr/>
        </p:nvSpPr>
        <p:spPr>
          <a:xfrm>
            <a:off x="853440" y="2590800"/>
            <a:ext cx="426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944" b="1" dirty="0">
                <a:solidFill>
                  <a:srgbClr val="1723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12 artifacts</a:t>
            </a:r>
            <a:endParaRPr lang="en-US" sz="2944" dirty="0"/>
          </a:p>
        </p:txBody>
      </p:sp>
      <p:sp>
        <p:nvSpPr>
          <p:cNvPr id="11" name="Text 9"/>
          <p:cNvSpPr/>
          <p:nvPr/>
        </p:nvSpPr>
        <p:spPr>
          <a:xfrm>
            <a:off x="1104900" y="3390900"/>
            <a:ext cx="3810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670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· 2 visual directions</a:t>
            </a:r>
            <a:endParaRPr lang="en-US" sz="1152" dirty="0"/>
          </a:p>
        </p:txBody>
      </p:sp>
      <p:sp>
        <p:nvSpPr>
          <p:cNvPr id="12" name="Text 10"/>
          <p:cNvSpPr/>
          <p:nvPr/>
        </p:nvSpPr>
        <p:spPr>
          <a:xfrm>
            <a:off x="1104900" y="3756660"/>
            <a:ext cx="3810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670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· provisional receipts</a:t>
            </a:r>
            <a:endParaRPr lang="en-US" sz="1152" dirty="0"/>
          </a:p>
        </p:txBody>
      </p:sp>
      <p:sp>
        <p:nvSpPr>
          <p:cNvPr id="13" name="Text 11"/>
          <p:cNvSpPr/>
          <p:nvPr/>
        </p:nvSpPr>
        <p:spPr>
          <a:xfrm>
            <a:off x="1104900" y="4122420"/>
            <a:ext cx="3810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670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· static gallery</a:t>
            </a:r>
            <a:endParaRPr lang="en-US" sz="1152" dirty="0"/>
          </a:p>
        </p:txBody>
      </p:sp>
      <p:sp>
        <p:nvSpPr>
          <p:cNvPr id="14" name="Text 12"/>
          <p:cNvSpPr/>
          <p:nvPr/>
        </p:nvSpPr>
        <p:spPr>
          <a:xfrm>
            <a:off x="1104900" y="4488180"/>
            <a:ext cx="3810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dirty="0">
                <a:solidFill>
                  <a:srgbClr val="6670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· no paired predecessor</a:t>
            </a:r>
            <a:endParaRPr lang="en-US" sz="1152" dirty="0"/>
          </a:p>
        </p:txBody>
      </p:sp>
      <p:sp>
        <p:nvSpPr>
          <p:cNvPr id="15" name="Shape 13"/>
          <p:cNvSpPr/>
          <p:nvPr/>
        </p:nvSpPr>
        <p:spPr>
          <a:xfrm>
            <a:off x="5638800" y="3467100"/>
            <a:ext cx="800100" cy="0"/>
          </a:xfrm>
          <a:prstGeom prst="line">
            <a:avLst/>
          </a:prstGeom>
          <a:noFill/>
          <a:ln w="50800">
            <a:solidFill>
              <a:srgbClr val="C4553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743700" y="1905000"/>
            <a:ext cx="4800600" cy="3200400"/>
          </a:xfrm>
          <a:prstGeom prst="roundRect">
            <a:avLst/>
          </a:prstGeom>
          <a:solidFill>
            <a:srgbClr val="FBF8F2"/>
          </a:solidFill>
          <a:ln w="25400">
            <a:solidFill>
              <a:srgbClr val="C455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10400" y="2133600"/>
            <a:ext cx="426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C4553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HARNESS V2 · COVERAGE EXPANSION</a:t>
            </a:r>
            <a:endParaRPr lang="en-US" sz="1024" dirty="0"/>
          </a:p>
        </p:txBody>
      </p:sp>
      <p:sp>
        <p:nvSpPr>
          <p:cNvPr id="18" name="Text 16"/>
          <p:cNvSpPr/>
          <p:nvPr/>
        </p:nvSpPr>
        <p:spPr>
          <a:xfrm>
            <a:off x="7010400" y="2590800"/>
            <a:ext cx="426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944" b="1" dirty="0">
                <a:solidFill>
                  <a:srgbClr val="17231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38 artifacts</a:t>
            </a:r>
            <a:endParaRPr lang="en-US" sz="2944" dirty="0"/>
          </a:p>
        </p:txBody>
      </p:sp>
      <p:sp>
        <p:nvSpPr>
          <p:cNvPr id="19" name="Text 17"/>
          <p:cNvSpPr/>
          <p:nvPr/>
        </p:nvSpPr>
        <p:spPr>
          <a:xfrm>
            <a:off x="7277100" y="3390900"/>
            <a:ext cx="3810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· 7 design languages</a:t>
            </a:r>
            <a:endParaRPr lang="en-US" sz="1152" dirty="0"/>
          </a:p>
        </p:txBody>
      </p:sp>
      <p:sp>
        <p:nvSpPr>
          <p:cNvPr id="20" name="Text 18"/>
          <p:cNvSpPr/>
          <p:nvPr/>
        </p:nvSpPr>
        <p:spPr>
          <a:xfrm>
            <a:off x="7277100" y="3756660"/>
            <a:ext cx="3810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· motion + fallback contracts</a:t>
            </a:r>
            <a:endParaRPr lang="en-US" sz="1152" dirty="0"/>
          </a:p>
        </p:txBody>
      </p:sp>
      <p:sp>
        <p:nvSpPr>
          <p:cNvPr id="21" name="Text 19"/>
          <p:cNvSpPr/>
          <p:nvPr/>
        </p:nvSpPr>
        <p:spPr>
          <a:xfrm>
            <a:off x="7277100" y="4122420"/>
            <a:ext cx="3810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· 38 reusable recipes</a:t>
            </a:r>
            <a:endParaRPr lang="en-US" sz="1152" dirty="0"/>
          </a:p>
        </p:txBody>
      </p:sp>
      <p:sp>
        <p:nvSpPr>
          <p:cNvPr id="22" name="Text 20"/>
          <p:cNvSpPr/>
          <p:nvPr/>
        </p:nvSpPr>
        <p:spPr>
          <a:xfrm>
            <a:off x="7277100" y="4488180"/>
            <a:ext cx="3810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2" b="1" dirty="0">
                <a:solidFill>
                  <a:srgbClr val="1723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· browser / PPTX / PDF artifacts</a:t>
            </a:r>
            <a:endParaRPr lang="en-US" sz="1152" dirty="0"/>
          </a:p>
        </p:txBody>
      </p:sp>
      <p:sp>
        <p:nvSpPr>
          <p:cNvPr id="23" name="Text 21"/>
          <p:cNvSpPr/>
          <p:nvPr/>
        </p:nvSpPr>
        <p:spPr>
          <a:xfrm>
            <a:off x="3009900" y="5334000"/>
            <a:ext cx="617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66706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Coverage comparison only · no paired performance claim</a:t>
            </a:r>
            <a:endParaRPr lang="en-US" sz="9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9FA"/>
          </a:solidFill>
          <a:ln w="6350">
            <a:solidFill>
              <a:srgbClr val="F8F9F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145D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TECHNICAL PROOF · DECK CI RECEIPT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1218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deck is not done until both pixels and semantics pass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6672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receipt exposes every check, browser proof, PowerPoint proof, and fidelity difference.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727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atlas-v2-deck-ci-receipt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6727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ULTRA V2 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9140" y="1882140"/>
            <a:ext cx="274320" cy="274320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" y="1927860"/>
            <a:ext cx="15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88" dirty="0"/>
          </a:p>
        </p:txBody>
      </p:sp>
      <p:sp>
        <p:nvSpPr>
          <p:cNvPr id="10" name="Text 8"/>
          <p:cNvSpPr/>
          <p:nvPr/>
        </p:nvSpPr>
        <p:spPr>
          <a:xfrm>
            <a:off x="1181100" y="188214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218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 adherence</a:t>
            </a:r>
            <a:endParaRPr lang="en-US" sz="1280" dirty="0"/>
          </a:p>
        </p:txBody>
      </p:sp>
      <p:sp>
        <p:nvSpPr>
          <p:cNvPr id="11" name="Text 9"/>
          <p:cNvSpPr/>
          <p:nvPr/>
        </p:nvSpPr>
        <p:spPr>
          <a:xfrm>
            <a:off x="4000500" y="1905000"/>
            <a:ext cx="114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A7D4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PASSED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39140" y="2537460"/>
            <a:ext cx="274320" cy="274320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0100" y="2583180"/>
            <a:ext cx="15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88" dirty="0"/>
          </a:p>
        </p:txBody>
      </p:sp>
      <p:sp>
        <p:nvSpPr>
          <p:cNvPr id="14" name="Text 12"/>
          <p:cNvSpPr/>
          <p:nvPr/>
        </p:nvSpPr>
        <p:spPr>
          <a:xfrm>
            <a:off x="1181100" y="25374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218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Typed artifact spec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4000500" y="2560320"/>
            <a:ext cx="114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A7D4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PASSED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39140" y="3192780"/>
            <a:ext cx="274320" cy="274320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0100" y="3238500"/>
            <a:ext cx="15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88" dirty="0"/>
          </a:p>
        </p:txBody>
      </p:sp>
      <p:sp>
        <p:nvSpPr>
          <p:cNvPr id="18" name="Text 16"/>
          <p:cNvSpPr/>
          <p:nvPr/>
        </p:nvSpPr>
        <p:spPr>
          <a:xfrm>
            <a:off x="1181100" y="319278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218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Semantic validators</a:t>
            </a:r>
            <a:endParaRPr lang="en-US" sz="1280" dirty="0"/>
          </a:p>
        </p:txBody>
      </p:sp>
      <p:sp>
        <p:nvSpPr>
          <p:cNvPr id="19" name="Text 17"/>
          <p:cNvSpPr/>
          <p:nvPr/>
        </p:nvSpPr>
        <p:spPr>
          <a:xfrm>
            <a:off x="4000500" y="3215640"/>
            <a:ext cx="114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A7D4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PASSED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9140" y="3848100"/>
            <a:ext cx="274320" cy="274320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0100" y="3893820"/>
            <a:ext cx="15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88" dirty="0"/>
          </a:p>
        </p:txBody>
      </p:sp>
      <p:sp>
        <p:nvSpPr>
          <p:cNvPr id="22" name="Text 20"/>
          <p:cNvSpPr/>
          <p:nvPr/>
        </p:nvSpPr>
        <p:spPr>
          <a:xfrm>
            <a:off x="1181100" y="384810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218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lineage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4000500" y="3870960"/>
            <a:ext cx="114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A7D4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PASSED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39140" y="4503420"/>
            <a:ext cx="274320" cy="274320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0100" y="4549140"/>
            <a:ext cx="15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88" dirty="0"/>
          </a:p>
        </p:txBody>
      </p:sp>
      <p:sp>
        <p:nvSpPr>
          <p:cNvPr id="26" name="Text 24"/>
          <p:cNvSpPr/>
          <p:nvPr/>
        </p:nvSpPr>
        <p:spPr>
          <a:xfrm>
            <a:off x="1181100" y="450342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218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render</a:t>
            </a:r>
            <a:endParaRPr lang="en-US" sz="1280" dirty="0"/>
          </a:p>
        </p:txBody>
      </p:sp>
      <p:sp>
        <p:nvSpPr>
          <p:cNvPr id="27" name="Text 25"/>
          <p:cNvSpPr/>
          <p:nvPr/>
        </p:nvSpPr>
        <p:spPr>
          <a:xfrm>
            <a:off x="4000500" y="4526280"/>
            <a:ext cx="114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A7D4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PASSED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920740" y="1882140"/>
            <a:ext cx="274320" cy="274320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81700" y="1927860"/>
            <a:ext cx="15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88" dirty="0"/>
          </a:p>
        </p:txBody>
      </p:sp>
      <p:sp>
        <p:nvSpPr>
          <p:cNvPr id="30" name="Text 28"/>
          <p:cNvSpPr/>
          <p:nvPr/>
        </p:nvSpPr>
        <p:spPr>
          <a:xfrm>
            <a:off x="6362700" y="188214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218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PPTX render</a:t>
            </a:r>
            <a:endParaRPr lang="en-US" sz="1280" dirty="0"/>
          </a:p>
        </p:txBody>
      </p:sp>
      <p:sp>
        <p:nvSpPr>
          <p:cNvPr id="31" name="Text 29"/>
          <p:cNvSpPr/>
          <p:nvPr/>
        </p:nvSpPr>
        <p:spPr>
          <a:xfrm>
            <a:off x="9182100" y="1905000"/>
            <a:ext cx="114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A7D4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PASSED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20740" y="253746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6727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81700" y="2583180"/>
            <a:ext cx="15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6672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·</a:t>
            </a:r>
            <a:endParaRPr lang="en-US" sz="1088" dirty="0"/>
          </a:p>
        </p:txBody>
      </p:sp>
      <p:sp>
        <p:nvSpPr>
          <p:cNvPr id="34" name="Text 32"/>
          <p:cNvSpPr/>
          <p:nvPr/>
        </p:nvSpPr>
        <p:spPr>
          <a:xfrm>
            <a:off x="6362700" y="25374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218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Accessibility</a:t>
            </a:r>
            <a:endParaRPr lang="en-US" sz="1280" dirty="0"/>
          </a:p>
        </p:txBody>
      </p:sp>
      <p:sp>
        <p:nvSpPr>
          <p:cNvPr id="35" name="Text 33"/>
          <p:cNvSpPr/>
          <p:nvPr/>
        </p:nvSpPr>
        <p:spPr>
          <a:xfrm>
            <a:off x="9182100" y="2560320"/>
            <a:ext cx="114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6727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NOT RUN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920740" y="319278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6727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81700" y="3238500"/>
            <a:ext cx="15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6672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·</a:t>
            </a:r>
            <a:endParaRPr lang="en-US" sz="1088" dirty="0"/>
          </a:p>
        </p:txBody>
      </p:sp>
      <p:sp>
        <p:nvSpPr>
          <p:cNvPr id="38" name="Text 36"/>
          <p:cNvSpPr/>
          <p:nvPr/>
        </p:nvSpPr>
        <p:spPr>
          <a:xfrm>
            <a:off x="6362700" y="319278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218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 inspection</a:t>
            </a:r>
            <a:endParaRPr lang="en-US" sz="1280" dirty="0"/>
          </a:p>
        </p:txBody>
      </p:sp>
      <p:sp>
        <p:nvSpPr>
          <p:cNvPr id="39" name="Text 37"/>
          <p:cNvSpPr/>
          <p:nvPr/>
        </p:nvSpPr>
        <p:spPr>
          <a:xfrm>
            <a:off x="9182100" y="3215640"/>
            <a:ext cx="114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6727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PENDING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20740" y="384810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6727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81700" y="3893820"/>
            <a:ext cx="15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6672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·</a:t>
            </a:r>
            <a:endParaRPr lang="en-US" sz="1088" dirty="0"/>
          </a:p>
        </p:txBody>
      </p:sp>
      <p:sp>
        <p:nvSpPr>
          <p:cNvPr id="42" name="Text 40"/>
          <p:cNvSpPr/>
          <p:nvPr/>
        </p:nvSpPr>
        <p:spPr>
          <a:xfrm>
            <a:off x="6362700" y="384810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218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 preference</a:t>
            </a:r>
            <a:endParaRPr lang="en-US" sz="1280" dirty="0"/>
          </a:p>
        </p:txBody>
      </p:sp>
      <p:sp>
        <p:nvSpPr>
          <p:cNvPr id="43" name="Text 41"/>
          <p:cNvSpPr/>
          <p:nvPr/>
        </p:nvSpPr>
        <p:spPr>
          <a:xfrm>
            <a:off x="9182100" y="3870960"/>
            <a:ext cx="114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6727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PENDING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522"/>
          </a:solidFill>
          <a:ln w="6350">
            <a:solidFill>
              <a:srgbClr val="0D152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B7E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PROGRESSION · ANIMATED CHART PROGRESSION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F4F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trend means more when the audience sees the baseline move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A2B0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chart states compare baseline, model, harness, and refreshed evidence.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atlas-v2-animated-chart-progression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ULTRA V2 13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47700" y="1943100"/>
            <a:ext cx="2514600" cy="31242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330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4860" y="2133600"/>
            <a:ext cx="22402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STATE 1 · Baseline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 flipV="1">
            <a:off x="990600" y="3981450"/>
            <a:ext cx="571500" cy="400050"/>
          </a:xfrm>
          <a:prstGeom prst="line">
            <a:avLst/>
          </a:prstGeom>
          <a:noFill/>
          <a:ln w="31750">
            <a:solidFill>
              <a:srgbClr val="A98B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62100" y="3867150"/>
            <a:ext cx="571500" cy="114300"/>
          </a:xfrm>
          <a:prstGeom prst="line">
            <a:avLst/>
          </a:prstGeom>
          <a:noFill/>
          <a:ln w="31750">
            <a:solidFill>
              <a:srgbClr val="A98B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133600" y="3638550"/>
            <a:ext cx="571500" cy="228600"/>
          </a:xfrm>
          <a:prstGeom prst="line">
            <a:avLst/>
          </a:prstGeom>
          <a:noFill/>
          <a:ln w="31750">
            <a:solidFill>
              <a:srgbClr val="A98B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4880" y="4335780"/>
            <a:ext cx="91440" cy="9144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16380" y="3935730"/>
            <a:ext cx="91440" cy="9144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87880" y="3821430"/>
            <a:ext cx="91440" cy="9144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59380" y="3592830"/>
            <a:ext cx="91440" cy="9144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0100" y="468630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4F1E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75 quality</a:t>
            </a:r>
            <a:endParaRPr lang="en-US" sz="1088" dirty="0"/>
          </a:p>
        </p:txBody>
      </p:sp>
      <p:sp>
        <p:nvSpPr>
          <p:cNvPr id="18" name="Shape 16"/>
          <p:cNvSpPr/>
          <p:nvPr/>
        </p:nvSpPr>
        <p:spPr>
          <a:xfrm>
            <a:off x="3467100" y="1943100"/>
            <a:ext cx="2514600" cy="31242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3304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04260" y="2133600"/>
            <a:ext cx="22402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STATE 2 · Model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 flipV="1">
            <a:off x="3810000" y="3752850"/>
            <a:ext cx="571500" cy="457200"/>
          </a:xfrm>
          <a:prstGeom prst="line">
            <a:avLst/>
          </a:prstGeom>
          <a:noFill/>
          <a:ln w="31750">
            <a:solidFill>
              <a:srgbClr val="A98B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381500" y="3581400"/>
            <a:ext cx="571500" cy="171450"/>
          </a:xfrm>
          <a:prstGeom prst="line">
            <a:avLst/>
          </a:prstGeom>
          <a:noFill/>
          <a:ln w="31750">
            <a:solidFill>
              <a:srgbClr val="A98B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953000" y="3409950"/>
            <a:ext cx="571500" cy="171450"/>
          </a:xfrm>
          <a:prstGeom prst="line">
            <a:avLst/>
          </a:prstGeom>
          <a:noFill/>
          <a:ln w="31750">
            <a:solidFill>
              <a:srgbClr val="A98B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64280" y="4164330"/>
            <a:ext cx="91440" cy="9144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35780" y="3707130"/>
            <a:ext cx="91440" cy="9144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907280" y="3535680"/>
            <a:ext cx="91440" cy="9144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78780" y="3364230"/>
            <a:ext cx="91440" cy="9144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19500" y="468630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4F1E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79 quality</a:t>
            </a:r>
            <a:endParaRPr lang="en-US" sz="1088" dirty="0"/>
          </a:p>
        </p:txBody>
      </p:sp>
      <p:sp>
        <p:nvSpPr>
          <p:cNvPr id="28" name="Shape 26"/>
          <p:cNvSpPr/>
          <p:nvPr/>
        </p:nvSpPr>
        <p:spPr>
          <a:xfrm>
            <a:off x="6286500" y="1943100"/>
            <a:ext cx="2514600" cy="3124200"/>
          </a:xfrm>
          <a:prstGeom prst="roundRect">
            <a:avLst/>
          </a:prstGeom>
          <a:solidFill>
            <a:srgbClr val="151F31"/>
          </a:solidFill>
          <a:ln w="25400">
            <a:solidFill>
              <a:srgbClr val="B7E3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23660" y="2133600"/>
            <a:ext cx="22402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STATE 3 · Harness v2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 flipV="1">
            <a:off x="6629400" y="3524250"/>
            <a:ext cx="571500" cy="514350"/>
          </a:xfrm>
          <a:prstGeom prst="line">
            <a:avLst/>
          </a:prstGeom>
          <a:noFill/>
          <a:ln w="31750">
            <a:solidFill>
              <a:srgbClr val="B7E3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7200900" y="3295650"/>
            <a:ext cx="571500" cy="228600"/>
          </a:xfrm>
          <a:prstGeom prst="line">
            <a:avLst/>
          </a:prstGeom>
          <a:noFill/>
          <a:ln w="31750">
            <a:solidFill>
              <a:srgbClr val="B7E3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7772400" y="3181350"/>
            <a:ext cx="571500" cy="114300"/>
          </a:xfrm>
          <a:prstGeom prst="line">
            <a:avLst/>
          </a:prstGeom>
          <a:noFill/>
          <a:ln w="31750">
            <a:solidFill>
              <a:srgbClr val="B7E3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0" y="3992880"/>
            <a:ext cx="91440" cy="91440"/>
          </a:xfrm>
          <a:prstGeom prst="ellipse">
            <a:avLst/>
          </a:prstGeom>
          <a:solidFill>
            <a:srgbClr val="B7E36B"/>
          </a:solidFill>
          <a:ln w="6350">
            <a:solidFill>
              <a:srgbClr val="B7E3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55180" y="3478530"/>
            <a:ext cx="91440" cy="91440"/>
          </a:xfrm>
          <a:prstGeom prst="ellipse">
            <a:avLst/>
          </a:prstGeom>
          <a:solidFill>
            <a:srgbClr val="B7E36B"/>
          </a:solidFill>
          <a:ln w="6350">
            <a:solidFill>
              <a:srgbClr val="B7E3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26680" y="3249930"/>
            <a:ext cx="91440" cy="91440"/>
          </a:xfrm>
          <a:prstGeom prst="ellipse">
            <a:avLst/>
          </a:prstGeom>
          <a:solidFill>
            <a:srgbClr val="B7E36B"/>
          </a:solidFill>
          <a:ln w="6350">
            <a:solidFill>
              <a:srgbClr val="B7E3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98180" y="3135630"/>
            <a:ext cx="91440" cy="91440"/>
          </a:xfrm>
          <a:prstGeom prst="ellipse">
            <a:avLst/>
          </a:prstGeom>
          <a:solidFill>
            <a:srgbClr val="B7E36B"/>
          </a:solidFill>
          <a:ln w="6350">
            <a:solidFill>
              <a:srgbClr val="B7E3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38900" y="468630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4F1E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83 quality</a:t>
            </a:r>
            <a:endParaRPr lang="en-US" sz="1088" dirty="0"/>
          </a:p>
        </p:txBody>
      </p:sp>
      <p:sp>
        <p:nvSpPr>
          <p:cNvPr id="38" name="Shape 36"/>
          <p:cNvSpPr/>
          <p:nvPr/>
        </p:nvSpPr>
        <p:spPr>
          <a:xfrm>
            <a:off x="9105900" y="1943100"/>
            <a:ext cx="2514600" cy="31242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3304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43060" y="2133600"/>
            <a:ext cx="22402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STATE 4 · Evidence refresh</a:t>
            </a:r>
            <a:endParaRPr lang="en-US" sz="960" dirty="0"/>
          </a:p>
        </p:txBody>
      </p:sp>
      <p:sp>
        <p:nvSpPr>
          <p:cNvPr id="40" name="Shape 38"/>
          <p:cNvSpPr/>
          <p:nvPr/>
        </p:nvSpPr>
        <p:spPr>
          <a:xfrm flipV="1">
            <a:off x="9448800" y="3295650"/>
            <a:ext cx="571500" cy="571500"/>
          </a:xfrm>
          <a:prstGeom prst="line">
            <a:avLst/>
          </a:prstGeom>
          <a:noFill/>
          <a:ln w="31750">
            <a:solidFill>
              <a:srgbClr val="A98B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0020300" y="3009900"/>
            <a:ext cx="571500" cy="285750"/>
          </a:xfrm>
          <a:prstGeom prst="line">
            <a:avLst/>
          </a:prstGeom>
          <a:noFill/>
          <a:ln w="31750">
            <a:solidFill>
              <a:srgbClr val="A98B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0591800" y="2952750"/>
            <a:ext cx="571500" cy="57150"/>
          </a:xfrm>
          <a:prstGeom prst="line">
            <a:avLst/>
          </a:prstGeom>
          <a:noFill/>
          <a:ln w="31750">
            <a:solidFill>
              <a:srgbClr val="A98B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403080" y="3821430"/>
            <a:ext cx="91440" cy="9144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974580" y="3249930"/>
            <a:ext cx="91440" cy="9144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546080" y="2964180"/>
            <a:ext cx="91440" cy="9144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117580" y="2907030"/>
            <a:ext cx="91440" cy="91440"/>
          </a:xfrm>
          <a:prstGeom prst="ellipse">
            <a:avLst/>
          </a:prstGeom>
          <a:solidFill>
            <a:srgbClr val="A98BFF"/>
          </a:solidFill>
          <a:ln w="6350">
            <a:solidFill>
              <a:srgbClr val="A98B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58300" y="468630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F4F1E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87 quality</a:t>
            </a:r>
            <a:endParaRPr lang="en-US" sz="1088" dirty="0"/>
          </a:p>
        </p:txBody>
      </p:sp>
      <p:sp>
        <p:nvSpPr>
          <p:cNvPr id="48" name="Text 46"/>
          <p:cNvSpPr/>
          <p:nvPr/>
        </p:nvSpPr>
        <p:spPr>
          <a:xfrm>
            <a:off x="723900" y="515112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A2B0C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Shared scale · 60–90 quality points</a:t>
            </a:r>
            <a:endParaRPr lang="en-US" sz="832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018"/>
          </a:solidFill>
          <a:ln w="6350">
            <a:solidFill>
              <a:srgbClr val="11101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0520"/>
            <a:ext cx="7467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4" b="1" dirty="0">
                <a:solidFill>
                  <a:srgbClr val="FF8A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EVALUATION · FINAL RECOMMENDATION</a:t>
            </a:r>
            <a:endParaRPr lang="en-US" sz="1024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66800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84" b="1" dirty="0">
                <a:solidFill>
                  <a:srgbClr val="FFF7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the visual vocabulary, then adapt the communication contract</a:t>
            </a:r>
            <a:endParaRPr lang="en-US" sz="3584" dirty="0"/>
          </a:p>
        </p:txBody>
      </p:sp>
      <p:sp>
        <p:nvSpPr>
          <p:cNvPr id="5" name="Text 3"/>
          <p:cNvSpPr/>
          <p:nvPr/>
        </p:nvSpPr>
        <p:spPr>
          <a:xfrm>
            <a:off x="548640" y="5699760"/>
            <a:ext cx="853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6" dirty="0">
                <a:solidFill>
                  <a:srgbClr val="BD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Researcher, investor, and plain-language Chinese versions share the same evidence.</a:t>
            </a:r>
            <a:endParaRPr lang="en-US" sz="1536" dirty="0"/>
          </a:p>
        </p:txBody>
      </p:sp>
      <p:sp>
        <p:nvSpPr>
          <p:cNvPr id="6" name="Text 4"/>
          <p:cNvSpPr/>
          <p:nvPr/>
        </p:nvSpPr>
        <p:spPr>
          <a:xfrm>
            <a:off x="548640" y="6385560"/>
            <a:ext cx="86868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BDB3C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SOURCE · atlas-v2-final-recommendation · deterministic builder v2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44200" y="6385560"/>
            <a:ext cx="8382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DB3C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ULTRA V2 14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33400" y="2019300"/>
            <a:ext cx="3467100" cy="2781300"/>
          </a:xfrm>
          <a:prstGeom prst="roundRect">
            <a:avLst/>
          </a:prstGeom>
          <a:solidFill>
            <a:srgbClr val="1C1926"/>
          </a:solidFill>
          <a:ln w="12700">
            <a:solidFill>
              <a:srgbClr val="7FE0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2301240"/>
            <a:ext cx="30099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F8A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024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288798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92" b="1" dirty="0">
                <a:solidFill>
                  <a:srgbClr val="FFF7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the source, equation, trace, and known fidelity differences.</a:t>
            </a:r>
            <a:endParaRPr lang="en-US" sz="1792" dirty="0"/>
          </a:p>
        </p:txBody>
      </p:sp>
      <p:sp>
        <p:nvSpPr>
          <p:cNvPr id="11" name="Shape 9"/>
          <p:cNvSpPr/>
          <p:nvPr/>
        </p:nvSpPr>
        <p:spPr>
          <a:xfrm>
            <a:off x="4343400" y="2019300"/>
            <a:ext cx="3467100" cy="2781300"/>
          </a:xfrm>
          <a:prstGeom prst="roundRect">
            <a:avLst/>
          </a:prstGeom>
          <a:solidFill>
            <a:srgbClr val="1C1926"/>
          </a:solidFill>
          <a:ln w="12700">
            <a:solidFill>
              <a:srgbClr val="7FE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2301240"/>
            <a:ext cx="30099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F8A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</a:t>
            </a:r>
            <a:endParaRPr lang="en-US" sz="1024" dirty="0"/>
          </a:p>
        </p:txBody>
      </p:sp>
      <p:sp>
        <p:nvSpPr>
          <p:cNvPr id="13" name="Text 11"/>
          <p:cNvSpPr/>
          <p:nvPr/>
        </p:nvSpPr>
        <p:spPr>
          <a:xfrm>
            <a:off x="4632960" y="2971800"/>
            <a:ext cx="288798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92" b="1" dirty="0">
                <a:solidFill>
                  <a:srgbClr val="FFF7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the operating proof, frontier, risk, and decision implication.</a:t>
            </a:r>
            <a:endParaRPr lang="en-US" sz="1792" dirty="0"/>
          </a:p>
        </p:txBody>
      </p:sp>
      <p:sp>
        <p:nvSpPr>
          <p:cNvPr id="14" name="Shape 12"/>
          <p:cNvSpPr/>
          <p:nvPr/>
        </p:nvSpPr>
        <p:spPr>
          <a:xfrm>
            <a:off x="8153400" y="2019300"/>
            <a:ext cx="3467100" cy="2781300"/>
          </a:xfrm>
          <a:prstGeom prst="roundRect">
            <a:avLst/>
          </a:prstGeom>
          <a:solidFill>
            <a:srgbClr val="FF8A5B"/>
          </a:solidFill>
          <a:ln w="12700">
            <a:solidFill>
              <a:srgbClr val="7FE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82000" y="2301240"/>
            <a:ext cx="30099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4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简体中文</a:t>
            </a:r>
            <a:endParaRPr lang="en-US" sz="1024" dirty="0"/>
          </a:p>
        </p:txBody>
      </p:sp>
      <p:sp>
        <p:nvSpPr>
          <p:cNvPr id="16" name="Text 14"/>
          <p:cNvSpPr/>
          <p:nvPr/>
        </p:nvSpPr>
        <p:spPr>
          <a:xfrm>
            <a:off x="8442960" y="2971800"/>
            <a:ext cx="288798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9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同一证据，不同表达契约。结论仍可追溯、可编辑、可审核。</a:t>
            </a:r>
            <a:endParaRPr lang="en-US" sz="1792" dirty="0"/>
          </a:p>
        </p:txBody>
      </p:sp>
      <p:sp>
        <p:nvSpPr>
          <p:cNvPr id="17" name="Text 15"/>
          <p:cNvSpPr/>
          <p:nvPr/>
        </p:nvSpPr>
        <p:spPr>
          <a:xfrm>
            <a:off x="1219200" y="5105400"/>
            <a:ext cx="975360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7FE0D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USE THE SLIDE · USE THE RECIPE · GENERATE WITH YOUR DATA · DOWNLOAD PPTX</a:t>
            </a:r>
            <a:endParaRPr lang="en-US" sz="108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NodeSlide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NodeSlide Ultra Showcase V2</dc:title>
  <dc:subject>14-slide public narrative selected from Artifact Atlas V2</dc:subject>
  <dc:creator>NodeSlide Artifact Atlas V2</dc:creator>
  <cp:lastModifiedBy>NodeSlide Artifact Atlas V2</cp:lastModifiedBy>
  <cp:revision>1</cp:revision>
  <dcterms:created xsi:type="dcterms:W3CDTF">2026-07-22T07:23:29Z</dcterms:created>
  <dcterms:modified xsi:type="dcterms:W3CDTF">2026-07-22T07:23:29Z</dcterms:modified>
</cp:coreProperties>
</file>