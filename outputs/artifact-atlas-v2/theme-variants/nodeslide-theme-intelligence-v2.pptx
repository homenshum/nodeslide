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01: hero-thesis
One evidence-bounded thesis anchors the complete visual vocabulary.
Source: atlas-v2-hero-thesis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01: hero-thesis
One evidence-bounded thesis anchors the complete visual vocabulary.
Source: atlas-v2-hero-thesis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01: hero-thesis
One evidence-bounded thesis anchors the complete visual vocabulary.
Source: atlas-v2-hero-thesis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12: dense-dashboard-funnel
A funnel, trend, exceptions, and decision queue share one controlled surface.
Source: atlas-v2-dense-dashboard-funnel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12: dense-dashboard-funnel
A funnel, trend, exceptions, and decision queue share one controlled surface.
Source: atlas-v2-dense-dashboard-funnel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12: dense-dashboard-funnel
A funnel, trend, exceptions, and decision queue share one controlled surface.
Source: atlas-v2-dense-dashboard-funnel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13: system-architecture
Typed connectors and a visible trust boundary preserve system meaning.
Source: atlas-v2-system-architecture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13: system-architecture
Typed connectors and a visible trust boundary preserve system meaning.
Source: atlas-v2-system-architecture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13: system-architecture
Typed connectors and a visible trust boundary preserve system meaning.
Source: atlas-v2-system-architecture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24: real-screenshot-callouts
A real NodeSlide capture occupies most of the slide with three exact callouts.
Source: atlas-v2-real-screenshot-callouts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24: real-screenshot-callouts
A real NodeSlide capture occupies most of the slide with three exact callouts.
Source: atlas-v2-real-screenshot-callouts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24: real-screenshot-callouts
A real NodeSlide capture occupies most of the slide with three exact callouts.
Source: atlas-v2-real-screenshot-callouts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FOUNDATIONS · HERO THESIS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Reviewability turns generation into a product decision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evidence-bounded thesis anchors the complete visual vocabulary.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atlas-v2-hero-thesis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859280"/>
            <a:ext cx="3413760" cy="0"/>
          </a:xfrm>
          <a:prstGeom prst="line">
            <a:avLst/>
          </a:prstGeom>
          <a:noFill/>
          <a:ln w="444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2095500"/>
            <a:ext cx="685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4992" dirty="0"/>
          </a:p>
        </p:txBody>
      </p:sp>
      <p:sp>
        <p:nvSpPr>
          <p:cNvPr id="10" name="Text 8"/>
          <p:cNvSpPr/>
          <p:nvPr/>
        </p:nvSpPr>
        <p:spPr>
          <a:xfrm>
            <a:off x="8839200" y="2209800"/>
            <a:ext cx="23622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656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</a:t>
            </a:r>
            <a:endParaRPr lang="en-US" sz="6656" dirty="0"/>
          </a:p>
        </p:txBody>
      </p:sp>
      <p:sp>
        <p:nvSpPr>
          <p:cNvPr id="11" name="Text 9"/>
          <p:cNvSpPr/>
          <p:nvPr/>
        </p:nvSpPr>
        <p:spPr>
          <a:xfrm>
            <a:off x="8305800" y="3200400"/>
            <a:ext cx="28956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visual artifacts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0" y="4076700"/>
            <a:ext cx="2667000" cy="73152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0" y="42672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14-slide public narrative</a:t>
            </a:r>
            <a:endParaRPr lang="en-US" sz="147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FOUNDATIONS · HERO THESIS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Reviewability turns generation into a product decision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evidence-bounded thesis anchors the complete visual vocabulary.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atlas-v2-hero-thesis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859280"/>
            <a:ext cx="3413760" cy="0"/>
          </a:xfrm>
          <a:prstGeom prst="line">
            <a:avLst/>
          </a:prstGeom>
          <a:noFill/>
          <a:ln w="44450">
            <a:solidFill>
              <a:srgbClr val="B7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2095500"/>
            <a:ext cx="685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9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4992" dirty="0"/>
          </a:p>
        </p:txBody>
      </p:sp>
      <p:sp>
        <p:nvSpPr>
          <p:cNvPr id="10" name="Text 8"/>
          <p:cNvSpPr/>
          <p:nvPr/>
        </p:nvSpPr>
        <p:spPr>
          <a:xfrm>
            <a:off x="8839200" y="2209800"/>
            <a:ext cx="23622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656" b="1" dirty="0">
                <a:solidFill>
                  <a:srgbClr val="B7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</a:t>
            </a:r>
            <a:endParaRPr lang="en-US" sz="6656" dirty="0"/>
          </a:p>
        </p:txBody>
      </p:sp>
      <p:sp>
        <p:nvSpPr>
          <p:cNvPr id="11" name="Text 9"/>
          <p:cNvSpPr/>
          <p:nvPr/>
        </p:nvSpPr>
        <p:spPr>
          <a:xfrm>
            <a:off x="8305800" y="3200400"/>
            <a:ext cx="28956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visual artifacts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0" y="4076700"/>
            <a:ext cx="2667000" cy="7315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0" y="42672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14-slide public narrative</a:t>
            </a:r>
            <a:endParaRPr lang="en-US" sz="14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3"/>
          </a:solidFill>
          <a:ln w="6350">
            <a:solidFill>
              <a:srgbClr val="F2F5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F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FOUNDATIONS · HERO THESIS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Reviewability turns generation into a product decision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evidence-bounded thesis anchors the complete visual vocabulary.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atlas-v2-hero-thesis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859280"/>
            <a:ext cx="3413760" cy="0"/>
          </a:xfrm>
          <a:prstGeom prst="line">
            <a:avLst/>
          </a:prstGeom>
          <a:noFill/>
          <a:ln w="44450">
            <a:solidFill>
              <a:srgbClr val="0F6B5C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2095500"/>
            <a:ext cx="685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9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4992" dirty="0"/>
          </a:p>
        </p:txBody>
      </p:sp>
      <p:sp>
        <p:nvSpPr>
          <p:cNvPr id="10" name="Text 8"/>
          <p:cNvSpPr/>
          <p:nvPr/>
        </p:nvSpPr>
        <p:spPr>
          <a:xfrm>
            <a:off x="8839200" y="2209800"/>
            <a:ext cx="23622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656" b="1" dirty="0">
                <a:solidFill>
                  <a:srgbClr val="0F6B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</a:t>
            </a:r>
            <a:endParaRPr lang="en-US" sz="6656" dirty="0"/>
          </a:p>
        </p:txBody>
      </p:sp>
      <p:sp>
        <p:nvSpPr>
          <p:cNvPr id="11" name="Text 9"/>
          <p:cNvSpPr/>
          <p:nvPr/>
        </p:nvSpPr>
        <p:spPr>
          <a:xfrm>
            <a:off x="8305800" y="3200400"/>
            <a:ext cx="28956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visual artifacts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0" y="4076700"/>
            <a:ext cx="2667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0" y="42672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14-slide public narrative</a:t>
            </a:r>
            <a:endParaRPr lang="en-US" sz="14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· DENSE DASHBOARD FUNNEL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can be dense without becoming a card graveyard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funnel, trend, exceptions, and decision queue share one controlled surface.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atlas-v2-dense-dashboard-funnel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3880" y="1828800"/>
            <a:ext cx="6477000" cy="3429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0193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FROZEN ARENA · CANDIDATE FUNNEL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295400" y="2476500"/>
            <a:ext cx="4876800" cy="342900"/>
          </a:xfrm>
          <a:prstGeom prst="roundRect">
            <a:avLst/>
          </a:prstGeom>
          <a:solidFill>
            <a:srgbClr val="E4DDD2"/>
          </a:solidFill>
          <a:ln w="6350">
            <a:solidFill>
              <a:srgbClr val="E4DDD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7460"/>
            <a:ext cx="4632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 · 100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1691640" y="2948940"/>
            <a:ext cx="4076700" cy="342900"/>
          </a:xfrm>
          <a:prstGeom prst="roundRect">
            <a:avLst/>
          </a:prstGeom>
          <a:solidFill>
            <a:srgbClr val="E4DDD2"/>
          </a:solidFill>
          <a:ln w="6350">
            <a:solidFill>
              <a:srgbClr val="E4DDD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3560" y="3009900"/>
            <a:ext cx="38328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· 84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2087880" y="3421380"/>
            <a:ext cx="3276600" cy="342900"/>
          </a:xfrm>
          <a:prstGeom prst="roundRect">
            <a:avLst/>
          </a:prstGeom>
          <a:solidFill>
            <a:srgbClr val="E4DDD2"/>
          </a:solidFill>
          <a:ln w="6350">
            <a:solidFill>
              <a:srgbClr val="E4DDD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9800" y="3482340"/>
            <a:ext cx="3032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renders · 83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2484120" y="3893820"/>
            <a:ext cx="2476500" cy="342900"/>
          </a:xfrm>
          <a:prstGeom prst="roundRect">
            <a:avLst/>
          </a:prstGeom>
          <a:solidFill>
            <a:srgbClr val="E4DDD2"/>
          </a:solidFill>
          <a:ln w="6350">
            <a:solidFill>
              <a:srgbClr val="E4DDD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54780"/>
            <a:ext cx="22326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CI · 82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2880360" y="4366260"/>
            <a:ext cx="1676400" cy="342900"/>
          </a:xfrm>
          <a:prstGeom prst="roundRect">
            <a:avLst/>
          </a:prstGeom>
          <a:solidFill>
            <a:srgbClr val="C45538"/>
          </a:solidFill>
          <a:ln w="6350">
            <a:solidFill>
              <a:srgbClr val="C4553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2280" y="4427220"/>
            <a:ext cx="1432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human winner · 1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4267200" cy="160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19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EXCEPTIONS</a:t>
            </a:r>
            <a:endParaRPr lang="en-US" sz="1024" dirty="0"/>
          </a:p>
        </p:txBody>
      </p:sp>
      <p:sp>
        <p:nvSpPr>
          <p:cNvPr id="22" name="Text 20"/>
          <p:cNvSpPr/>
          <p:nvPr/>
        </p:nvSpPr>
        <p:spPr>
          <a:xfrm>
            <a:off x="7543800" y="2400300"/>
            <a:ext cx="3657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Arena candidates failed gates</a:t>
            </a:r>
            <a:endParaRPr lang="en-US" sz="1728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result; not current Atlas status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7315200" y="3627120"/>
            <a:ext cx="4267200" cy="163068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810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 QUEUE</a:t>
            </a:r>
            <a:endParaRPr lang="en-US" sz="1024" dirty="0"/>
          </a:p>
        </p:txBody>
      </p:sp>
      <p:sp>
        <p:nvSpPr>
          <p:cNvPr id="26" name="Shape 24"/>
          <p:cNvSpPr/>
          <p:nvPr/>
        </p:nvSpPr>
        <p:spPr>
          <a:xfrm>
            <a:off x="7635240" y="4183380"/>
            <a:ext cx="121920" cy="12192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6700" y="412242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model-blind pairs</a:t>
            </a:r>
            <a:endParaRPr lang="en-US" sz="1152" dirty="0"/>
          </a:p>
        </p:txBody>
      </p:sp>
      <p:sp>
        <p:nvSpPr>
          <p:cNvPr id="28" name="Shape 26"/>
          <p:cNvSpPr/>
          <p:nvPr/>
        </p:nvSpPr>
        <p:spPr>
          <a:xfrm>
            <a:off x="7635240" y="4549140"/>
            <a:ext cx="121920" cy="121920"/>
          </a:xfrm>
          <a:prstGeom prst="ellipse">
            <a:avLst/>
          </a:prstGeom>
          <a:solidFill>
            <a:srgbClr val="287A78"/>
          </a:solidFill>
          <a:ln w="6350">
            <a:solidFill>
              <a:srgbClr val="287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6700" y="448818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public 14</a:t>
            </a:r>
            <a:endParaRPr lang="en-US" sz="1152" dirty="0"/>
          </a:p>
        </p:txBody>
      </p:sp>
      <p:sp>
        <p:nvSpPr>
          <p:cNvPr id="30" name="Shape 28"/>
          <p:cNvSpPr/>
          <p:nvPr/>
        </p:nvSpPr>
        <p:spPr>
          <a:xfrm>
            <a:off x="7635240" y="4914900"/>
            <a:ext cx="121920" cy="121920"/>
          </a:xfrm>
          <a:prstGeom prst="ellipse">
            <a:avLst/>
          </a:prstGeom>
          <a:solidFill>
            <a:srgbClr val="287A78"/>
          </a:solidFill>
          <a:ln w="6350">
            <a:solidFill>
              <a:srgbClr val="287A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6700" y="485394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recipes only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· DENSE DASHBOARD FUNNEL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can be dense without becoming a card graveyard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funnel, trend, exceptions, and decision queue share one controlled surface.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atlas-v2-dense-dashboard-funnel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3880" y="1828800"/>
            <a:ext cx="6477000" cy="3429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0193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FROZEN ARENA · CANDIDATE FUNNEL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295400" y="2476500"/>
            <a:ext cx="4876800" cy="342900"/>
          </a:xfrm>
          <a:prstGeom prst="roundRect">
            <a:avLst/>
          </a:prstGeom>
          <a:solidFill>
            <a:srgbClr val="233046"/>
          </a:solidFill>
          <a:ln w="6350">
            <a:solidFill>
              <a:srgbClr val="23304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7460"/>
            <a:ext cx="4632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 · 100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1691640" y="2948940"/>
            <a:ext cx="4076700" cy="342900"/>
          </a:xfrm>
          <a:prstGeom prst="roundRect">
            <a:avLst/>
          </a:prstGeom>
          <a:solidFill>
            <a:srgbClr val="233046"/>
          </a:solidFill>
          <a:ln w="6350">
            <a:solidFill>
              <a:srgbClr val="2330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3560" y="3009900"/>
            <a:ext cx="38328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· 84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2087880" y="3421380"/>
            <a:ext cx="3276600" cy="342900"/>
          </a:xfrm>
          <a:prstGeom prst="roundRect">
            <a:avLst/>
          </a:prstGeom>
          <a:solidFill>
            <a:srgbClr val="233046"/>
          </a:solidFill>
          <a:ln w="6350">
            <a:solidFill>
              <a:srgbClr val="2330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9800" y="3482340"/>
            <a:ext cx="3032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renders · 83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2484120" y="3893820"/>
            <a:ext cx="2476500" cy="342900"/>
          </a:xfrm>
          <a:prstGeom prst="roundRect">
            <a:avLst/>
          </a:prstGeom>
          <a:solidFill>
            <a:srgbClr val="233046"/>
          </a:solidFill>
          <a:ln w="6350">
            <a:solidFill>
              <a:srgbClr val="2330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54780"/>
            <a:ext cx="22326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CI · 82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2880360" y="4366260"/>
            <a:ext cx="1676400" cy="342900"/>
          </a:xfrm>
          <a:prstGeom prst="roundRect">
            <a:avLst/>
          </a:prstGeom>
          <a:solidFill>
            <a:srgbClr val="B7E36B"/>
          </a:solidFill>
          <a:ln w="6350">
            <a:solidFill>
              <a:srgbClr val="B7E36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2280" y="4427220"/>
            <a:ext cx="1432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human winner · 1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4267200" cy="16002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19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EXCEPTIONS</a:t>
            </a:r>
            <a:endParaRPr lang="en-US" sz="1024" dirty="0"/>
          </a:p>
        </p:txBody>
      </p:sp>
      <p:sp>
        <p:nvSpPr>
          <p:cNvPr id="22" name="Text 20"/>
          <p:cNvSpPr/>
          <p:nvPr/>
        </p:nvSpPr>
        <p:spPr>
          <a:xfrm>
            <a:off x="7543800" y="2400300"/>
            <a:ext cx="3657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Arena candidates failed gates</a:t>
            </a:r>
            <a:endParaRPr lang="en-US" sz="1728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result; not current Atlas status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7315200" y="3627120"/>
            <a:ext cx="4267200" cy="163068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810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 QUEUE</a:t>
            </a:r>
            <a:endParaRPr lang="en-US" sz="1024" dirty="0"/>
          </a:p>
        </p:txBody>
      </p:sp>
      <p:sp>
        <p:nvSpPr>
          <p:cNvPr id="26" name="Shape 24"/>
          <p:cNvSpPr/>
          <p:nvPr/>
        </p:nvSpPr>
        <p:spPr>
          <a:xfrm>
            <a:off x="7635240" y="4183380"/>
            <a:ext cx="121920" cy="12192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6700" y="412242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model-blind pairs</a:t>
            </a:r>
            <a:endParaRPr lang="en-US" sz="1152" dirty="0"/>
          </a:p>
        </p:txBody>
      </p:sp>
      <p:sp>
        <p:nvSpPr>
          <p:cNvPr id="28" name="Shape 26"/>
          <p:cNvSpPr/>
          <p:nvPr/>
        </p:nvSpPr>
        <p:spPr>
          <a:xfrm>
            <a:off x="7635240" y="4549140"/>
            <a:ext cx="121920" cy="1219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6700" y="448818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public 14</a:t>
            </a:r>
            <a:endParaRPr lang="en-US" sz="1152" dirty="0"/>
          </a:p>
        </p:txBody>
      </p:sp>
      <p:sp>
        <p:nvSpPr>
          <p:cNvPr id="30" name="Shape 28"/>
          <p:cNvSpPr/>
          <p:nvPr/>
        </p:nvSpPr>
        <p:spPr>
          <a:xfrm>
            <a:off x="7635240" y="4914900"/>
            <a:ext cx="121920" cy="1219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6700" y="485394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recipes only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3"/>
          </a:solidFill>
          <a:ln w="6350">
            <a:solidFill>
              <a:srgbClr val="F2F5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F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· DENSE DASHBOARD FUNNEL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can be dense without becoming a card graveyard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funnel, trend, exceptions, and decision queue share one controlled surface.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atlas-v2-dense-dashboard-funnel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3880" y="1828800"/>
            <a:ext cx="6477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0193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FROZEN ARENA · CANDIDATE FUNNEL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295400" y="2476500"/>
            <a:ext cx="48768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7460"/>
            <a:ext cx="4632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 · 100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1691640" y="2948940"/>
            <a:ext cx="40767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3560" y="3009900"/>
            <a:ext cx="38328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· 84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2087880" y="3421380"/>
            <a:ext cx="32766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9800" y="3482340"/>
            <a:ext cx="3032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renders · 83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2484120" y="3893820"/>
            <a:ext cx="24765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54780"/>
            <a:ext cx="22326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CI · 82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2880360" y="4366260"/>
            <a:ext cx="1676400" cy="342900"/>
          </a:xfrm>
          <a:prstGeom prst="roundRect">
            <a:avLst/>
          </a:prstGeom>
          <a:solidFill>
            <a:srgbClr val="0F6B5C"/>
          </a:solidFill>
          <a:ln w="6350">
            <a:solidFill>
              <a:srgbClr val="0F6B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2280" y="4427220"/>
            <a:ext cx="1432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human winner · 1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4267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19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EXCEPTIONS</a:t>
            </a:r>
            <a:endParaRPr lang="en-US" sz="1024" dirty="0"/>
          </a:p>
        </p:txBody>
      </p:sp>
      <p:sp>
        <p:nvSpPr>
          <p:cNvPr id="22" name="Text 20"/>
          <p:cNvSpPr/>
          <p:nvPr/>
        </p:nvSpPr>
        <p:spPr>
          <a:xfrm>
            <a:off x="7543800" y="2400300"/>
            <a:ext cx="3657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A64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Arena candidates failed gates</a:t>
            </a:r>
            <a:endParaRPr lang="en-US" sz="1728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result; not current Atlas status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7315200" y="3627120"/>
            <a:ext cx="4267200" cy="163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810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 QUEUE</a:t>
            </a:r>
            <a:endParaRPr lang="en-US" sz="1024" dirty="0"/>
          </a:p>
        </p:txBody>
      </p:sp>
      <p:sp>
        <p:nvSpPr>
          <p:cNvPr id="26" name="Shape 24"/>
          <p:cNvSpPr/>
          <p:nvPr/>
        </p:nvSpPr>
        <p:spPr>
          <a:xfrm>
            <a:off x="7635240" y="4183380"/>
            <a:ext cx="121920" cy="121920"/>
          </a:xfrm>
          <a:prstGeom prst="ellipse">
            <a:avLst/>
          </a:prstGeom>
          <a:solidFill>
            <a:srgbClr val="0F6B5C"/>
          </a:solidFill>
          <a:ln w="6350">
            <a:solidFill>
              <a:srgbClr val="0F6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6700" y="412242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model-blind pairs</a:t>
            </a:r>
            <a:endParaRPr lang="en-US" sz="1152" dirty="0"/>
          </a:p>
        </p:txBody>
      </p:sp>
      <p:sp>
        <p:nvSpPr>
          <p:cNvPr id="28" name="Shape 26"/>
          <p:cNvSpPr/>
          <p:nvPr/>
        </p:nvSpPr>
        <p:spPr>
          <a:xfrm>
            <a:off x="7635240" y="4549140"/>
            <a:ext cx="121920" cy="121920"/>
          </a:xfrm>
          <a:prstGeom prst="ellipse">
            <a:avLst/>
          </a:prstGeom>
          <a:solidFill>
            <a:srgbClr val="B08D3A"/>
          </a:solidFill>
          <a:ln w="6350">
            <a:solidFill>
              <a:srgbClr val="B08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6700" y="448818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public 14</a:t>
            </a:r>
            <a:endParaRPr lang="en-US" sz="1152" dirty="0"/>
          </a:p>
        </p:txBody>
      </p:sp>
      <p:sp>
        <p:nvSpPr>
          <p:cNvPr id="30" name="Shape 28"/>
          <p:cNvSpPr/>
          <p:nvPr/>
        </p:nvSpPr>
        <p:spPr>
          <a:xfrm>
            <a:off x="7635240" y="4914900"/>
            <a:ext cx="121920" cy="121920"/>
          </a:xfrm>
          <a:prstGeom prst="ellipse">
            <a:avLst/>
          </a:prstGeom>
          <a:solidFill>
            <a:srgbClr val="B08D3A"/>
          </a:solidFill>
          <a:ln w="6350">
            <a:solidFill>
              <a:srgbClr val="B08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6700" y="485394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recipes only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· SYSTEM ARCHITECTURE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keeps product logic above backend choice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connectors and a visible trust boundary preserve system meaning.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atlas-v2-system-architecture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667000"/>
            <a:ext cx="16764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65120"/>
            <a:ext cx="1402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362200" y="3048000"/>
            <a:ext cx="6096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2057400" cy="10668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12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· stage · commit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0" y="3048000"/>
            <a:ext cx="7620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91200" y="2667000"/>
            <a:ext cx="18288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8360" y="2865120"/>
            <a:ext cx="1554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620000" y="3048000"/>
            <a:ext cx="6858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05800" y="2514600"/>
            <a:ext cx="1752600" cy="1066800"/>
          </a:xfrm>
          <a:prstGeom prst="roundRect">
            <a:avLst/>
          </a:prstGeom>
          <a:solidFill>
            <a:srgbClr val="FBF8F2"/>
          </a:solidFill>
          <a:ln w="2540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2960" y="2712720"/>
            <a:ext cx="1478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0439400" y="2057400"/>
            <a:ext cx="1143000" cy="579120"/>
          </a:xfrm>
          <a:prstGeom prst="roundRect">
            <a:avLst/>
          </a:prstGeom>
          <a:solidFill>
            <a:srgbClr val="E4DDD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2250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 flipV="1">
            <a:off x="10058400" y="2346960"/>
            <a:ext cx="381000" cy="701040"/>
          </a:xfrm>
          <a:prstGeom prst="line">
            <a:avLst/>
          </a:prstGeom>
          <a:noFill/>
          <a:ln w="19050">
            <a:solidFill>
              <a:srgbClr val="287A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39400" y="3086100"/>
            <a:ext cx="1143000" cy="579120"/>
          </a:xfrm>
          <a:prstGeom prst="roundRect">
            <a:avLst/>
          </a:prstGeom>
          <a:solidFill>
            <a:srgbClr val="E4DDD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2537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10058400" y="3048000"/>
            <a:ext cx="381000" cy="327660"/>
          </a:xfrm>
          <a:prstGeom prst="line">
            <a:avLst/>
          </a:prstGeom>
          <a:noFill/>
          <a:ln w="19050">
            <a:solidFill>
              <a:srgbClr val="287A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39400" y="4114800"/>
            <a:ext cx="1143000" cy="579120"/>
          </a:xfrm>
          <a:prstGeom prst="roundRect">
            <a:avLst/>
          </a:prstGeom>
          <a:solidFill>
            <a:srgbClr val="E4DDD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2824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7" name="Shape 25"/>
          <p:cNvSpPr/>
          <p:nvPr/>
        </p:nvSpPr>
        <p:spPr>
          <a:xfrm>
            <a:off x="10058400" y="3048000"/>
            <a:ext cx="381000" cy="1356360"/>
          </a:xfrm>
          <a:prstGeom prst="line">
            <a:avLst/>
          </a:prstGeom>
          <a:noFill/>
          <a:ln w="19050">
            <a:solidFill>
              <a:srgbClr val="28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305800" y="3962400"/>
            <a:ext cx="3276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 BOUNDARY · persistence only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· SYSTEM ARCHITECTURE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keeps product logic above backend choice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connectors and a visible trust boundary preserve system meaning.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atlas-v2-system-architecture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667000"/>
            <a:ext cx="1676400" cy="762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65120"/>
            <a:ext cx="1402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362200" y="3048000"/>
            <a:ext cx="6096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2057400" cy="10668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12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· stage · commit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0" y="3048000"/>
            <a:ext cx="7620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91200" y="2667000"/>
            <a:ext cx="1828800" cy="762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8360" y="2865120"/>
            <a:ext cx="1554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620000" y="3048000"/>
            <a:ext cx="6858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05800" y="2514600"/>
            <a:ext cx="1752600" cy="1066800"/>
          </a:xfrm>
          <a:prstGeom prst="roundRect">
            <a:avLst/>
          </a:prstGeom>
          <a:solidFill>
            <a:srgbClr val="151F31"/>
          </a:solidFill>
          <a:ln w="25400">
            <a:solidFill>
              <a:srgbClr val="B7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2960" y="2712720"/>
            <a:ext cx="1478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0439400" y="20574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2250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 flipV="1">
            <a:off x="10058400" y="2346960"/>
            <a:ext cx="381000" cy="70104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39400" y="30861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2537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10058400" y="3048000"/>
            <a:ext cx="381000" cy="32766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39400" y="41148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2824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7" name="Shape 25"/>
          <p:cNvSpPr/>
          <p:nvPr/>
        </p:nvSpPr>
        <p:spPr>
          <a:xfrm>
            <a:off x="10058400" y="3048000"/>
            <a:ext cx="381000" cy="135636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305800" y="3962400"/>
            <a:ext cx="3276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7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 BOUNDARY · persistence only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3"/>
          </a:solidFill>
          <a:ln w="6350">
            <a:solidFill>
              <a:srgbClr val="F2F5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F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· SYSTEM ARCHITECTURE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keeps product logic above backend choice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connectors and a visible trust boundary preserve system meaning.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atlas-v2-system-architecture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667000"/>
            <a:ext cx="16764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65120"/>
            <a:ext cx="1402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362200" y="3048000"/>
            <a:ext cx="609600" cy="0"/>
          </a:xfrm>
          <a:prstGeom prst="line">
            <a:avLst/>
          </a:prstGeom>
          <a:noFill/>
          <a:ln w="25400">
            <a:solidFill>
              <a:srgbClr val="0F6B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20574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12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· stage · commit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0" y="3048000"/>
            <a:ext cx="762000" cy="0"/>
          </a:xfrm>
          <a:prstGeom prst="line">
            <a:avLst/>
          </a:prstGeom>
          <a:noFill/>
          <a:ln w="25400">
            <a:solidFill>
              <a:srgbClr val="0F6B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91200" y="2667000"/>
            <a:ext cx="18288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8360" y="2865120"/>
            <a:ext cx="1554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620000" y="3048000"/>
            <a:ext cx="685800" cy="0"/>
          </a:xfrm>
          <a:prstGeom prst="line">
            <a:avLst/>
          </a:prstGeom>
          <a:noFill/>
          <a:ln w="25400">
            <a:solidFill>
              <a:srgbClr val="0F6B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05800" y="2514600"/>
            <a:ext cx="1752600" cy="1066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2960" y="2712720"/>
            <a:ext cx="1478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0439400" y="2057400"/>
            <a:ext cx="1143000" cy="579120"/>
          </a:xfrm>
          <a:prstGeom prst="roundRect">
            <a:avLst/>
          </a:prstGeom>
          <a:solidFill>
            <a:srgbClr val="DCE7E2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2250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 flipV="1">
            <a:off x="10058400" y="2346960"/>
            <a:ext cx="381000" cy="701040"/>
          </a:xfrm>
          <a:prstGeom prst="line">
            <a:avLst/>
          </a:prstGeom>
          <a:noFill/>
          <a:ln w="19050">
            <a:solidFill>
              <a:srgbClr val="B08D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39400" y="3086100"/>
            <a:ext cx="1143000" cy="579120"/>
          </a:xfrm>
          <a:prstGeom prst="roundRect">
            <a:avLst/>
          </a:prstGeom>
          <a:solidFill>
            <a:srgbClr val="DCE7E2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2537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10058400" y="3048000"/>
            <a:ext cx="381000" cy="327660"/>
          </a:xfrm>
          <a:prstGeom prst="line">
            <a:avLst/>
          </a:prstGeom>
          <a:noFill/>
          <a:ln w="19050">
            <a:solidFill>
              <a:srgbClr val="B08D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39400" y="4114800"/>
            <a:ext cx="1143000" cy="579120"/>
          </a:xfrm>
          <a:prstGeom prst="roundRect">
            <a:avLst/>
          </a:prstGeom>
          <a:solidFill>
            <a:srgbClr val="DCE7E2"/>
          </a:solidFill>
          <a:ln w="12700">
            <a:solidFill>
              <a:srgbClr val="B08D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2824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7" name="Shape 25"/>
          <p:cNvSpPr/>
          <p:nvPr/>
        </p:nvSpPr>
        <p:spPr>
          <a:xfrm>
            <a:off x="10058400" y="3048000"/>
            <a:ext cx="381000" cy="1356360"/>
          </a:xfrm>
          <a:prstGeom prst="line">
            <a:avLst/>
          </a:prstGeom>
          <a:noFill/>
          <a:ln w="19050">
            <a:solidFill>
              <a:srgbClr val="B08D3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305800" y="3962400"/>
            <a:ext cx="3276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6B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 BOUNDARY · persistence only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REAL SCREENSHOT CALLOUTS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proof is the interface people actually use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NodeSlide capture occupies most of the slide with three exact callouts.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atlas-v2-real-screenshot-callouts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5300" y="1676400"/>
            <a:ext cx="8534400" cy="3810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E4DDD2"/>
            </a:solidFill>
            <a:prstDash val="solid"/>
          </a:ln>
        </p:spPr>
      </p:sp>
      <p:pic>
        <p:nvPicPr>
          <p:cNvPr id="9" name="Image 0" descr="Real NodeSlide Artifact Lab gallery cap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805940"/>
            <a:ext cx="8275320" cy="3550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89720" y="19888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5920" y="20650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9692640" y="1981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gallery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patterns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8991600" y="2171700"/>
            <a:ext cx="1371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342120" y="32842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0" y="33604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9845040" y="3276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failures red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8991600" y="3467100"/>
            <a:ext cx="2895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075420" y="45034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51620" y="45796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9578340" y="4495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pattern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a real workflow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8991600" y="4686300"/>
            <a:ext cx="228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REAL SCREENSHOT CALLOUTS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proof is the interface people actually use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NodeSlide capture occupies most of the slide with three exact callouts.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atlas-v2-real-screenshot-callouts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5300" y="1676400"/>
            <a:ext cx="8534400" cy="3810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pic>
        <p:nvPicPr>
          <p:cNvPr id="9" name="Image 0" descr="Real NodeSlide Artifact Lab gallery cap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805940"/>
            <a:ext cx="8275320" cy="3550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89720" y="1988820"/>
            <a:ext cx="365760" cy="36576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5920" y="20650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9692640" y="1981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gallery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patterns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8991600" y="2171700"/>
            <a:ext cx="137160" cy="0"/>
          </a:xfrm>
          <a:prstGeom prst="line">
            <a:avLst/>
          </a:prstGeom>
          <a:noFill/>
          <a:ln w="19050">
            <a:solidFill>
              <a:srgbClr val="B7E36B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342120" y="3284220"/>
            <a:ext cx="365760" cy="36576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0" y="33604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9845040" y="3276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failures red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8991600" y="3467100"/>
            <a:ext cx="289560" cy="0"/>
          </a:xfrm>
          <a:prstGeom prst="line">
            <a:avLst/>
          </a:prstGeom>
          <a:noFill/>
          <a:ln w="19050">
            <a:solidFill>
              <a:srgbClr val="B7E36B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075420" y="4503420"/>
            <a:ext cx="365760" cy="36576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51620" y="45796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9578340" y="4495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pattern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a real workflow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8991600" y="4686300"/>
            <a:ext cx="22860" cy="0"/>
          </a:xfrm>
          <a:prstGeom prst="line">
            <a:avLst/>
          </a:prstGeom>
          <a:noFill/>
          <a:ln w="19050">
            <a:solidFill>
              <a:srgbClr val="B7E36B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3"/>
          </a:solidFill>
          <a:ln w="6350">
            <a:solidFill>
              <a:srgbClr val="F2F5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F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REAL SCREENSHOT CALLOUTS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proof is the interface people actually use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NodeSlide capture occupies most of the slide with three exact callouts.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atlas-v2-real-screenshot-callouts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5300" y="1676400"/>
            <a:ext cx="85344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pic>
        <p:nvPicPr>
          <p:cNvPr id="9" name="Image 0" descr="Real NodeSlide Artifact Lab gallery cap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805940"/>
            <a:ext cx="8275320" cy="3550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89720" y="1988820"/>
            <a:ext cx="365760" cy="365760"/>
          </a:xfrm>
          <a:prstGeom prst="ellipse">
            <a:avLst/>
          </a:prstGeom>
          <a:solidFill>
            <a:srgbClr val="0F6B5C"/>
          </a:solidFill>
          <a:ln w="6350">
            <a:solidFill>
              <a:srgbClr val="0F6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5920" y="20650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9692640" y="1981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gallery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patterns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8991600" y="2171700"/>
            <a:ext cx="137160" cy="0"/>
          </a:xfrm>
          <a:prstGeom prst="line">
            <a:avLst/>
          </a:prstGeom>
          <a:noFill/>
          <a:ln w="19050">
            <a:solidFill>
              <a:srgbClr val="0F6B5C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342120" y="3284220"/>
            <a:ext cx="365760" cy="365760"/>
          </a:xfrm>
          <a:prstGeom prst="ellipse">
            <a:avLst/>
          </a:prstGeom>
          <a:solidFill>
            <a:srgbClr val="0F6B5C"/>
          </a:solidFill>
          <a:ln w="6350">
            <a:solidFill>
              <a:srgbClr val="0F6B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0" y="33604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9845040" y="3276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failures red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8991600" y="3467100"/>
            <a:ext cx="289560" cy="0"/>
          </a:xfrm>
          <a:prstGeom prst="line">
            <a:avLst/>
          </a:prstGeom>
          <a:noFill/>
          <a:ln w="19050">
            <a:solidFill>
              <a:srgbClr val="0F6B5C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075420" y="4503420"/>
            <a:ext cx="365760" cy="365760"/>
          </a:xfrm>
          <a:prstGeom prst="ellipse">
            <a:avLst/>
          </a:prstGeom>
          <a:solidFill>
            <a:srgbClr val="0F6B5C"/>
          </a:solidFill>
          <a:ln w="6350">
            <a:solidFill>
              <a:srgbClr val="0F6B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51620" y="45796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9578340" y="4495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pattern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a real workflow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8991600" y="4686300"/>
            <a:ext cx="22860" cy="0"/>
          </a:xfrm>
          <a:prstGeom prst="line">
            <a:avLst/>
          </a:prstGeom>
          <a:noFill/>
          <a:ln w="19050">
            <a:solidFill>
              <a:srgbClr val="0F6B5C"/>
            </a:solidFill>
            <a:prstDash val="solid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Atlas V2 Theme Intelligence</dc:title>
  <dc:subject>Same content and evidence under three coherent design languages</dc:subject>
  <dc:creator>NodeSlide Artifact Atlas V2</dc:creator>
  <cp:lastModifiedBy>NodeSlide Artifact Atlas V2</cp:lastModifiedBy>
  <cp:revision>1</cp:revision>
  <dcterms:created xsi:type="dcterms:W3CDTF">2026-07-22T07:23:31Z</dcterms:created>
  <dcterms:modified xsi:type="dcterms:W3CDTF">2026-07-22T07:23:31Z</dcterms:modified>
</cp:coreProperties>
</file>