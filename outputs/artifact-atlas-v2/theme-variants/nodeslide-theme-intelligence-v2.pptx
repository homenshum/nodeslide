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01: hero-thesis
One evidence-bounded thesis anchors the complete visual vocabulary.
Source: atlas-v2-hero-thesis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01: hero-thesis
One evidence-bounded thesis anchors the complete visual vocabulary.
Source: atlas-v2-hero-thesis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01: hero-thesis
One evidence-bounded thesis anchors the complete visual vocabulary.
Source: atlas-v2-hero-thesis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12: dense-dashboard-funnel
A funnel, trend, exceptions, and decision queue share one controlled surface.
Source: atlas-v2-dense-dashboard-funnel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12: dense-dashboard-funnel
A funnel, trend, exceptions, and decision queue share one controlled surface.
Source: atlas-v2-dense-dashboard-funnel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12: dense-dashboard-funnel
A funnel, trend, exceptions, and decision queue share one controlled surface.
Source: atlas-v2-dense-dashboard-funnel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13: system-architecture
Typed connectors and a visible trust boundary preserve system meaning.
Source: atlas-v2-system-architecture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13: system-architecture
Typed connectors and a visible trust boundary preserve system meaning.
Source: atlas-v2-system-architecture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13: system-architecture
Typed connectors and a visible trust boundary preserve system meaning.
Source: atlas-v2-system-architecture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24: real-screenshot-callouts
A real NodeSlide capture occupies most of the slide with three exact callouts.
Source: atlas-v2-real-screenshot-callouts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24: real-screenshot-callouts
A real NodeSlide capture occupies most of the slide with three exact callouts.
Source: atlas-v2-real-screenshot-callouts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24: real-screenshot-callouts
A real NodeSlide capture occupies most of the slide with three exact callouts.
Source: atlas-v2-real-screenshot-callouts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FE7"/>
          </a:solidFill>
          <a:ln w="6350">
            <a:solidFill>
              <a:srgbClr val="F4EF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FOUNDATIONS · HERO THESIS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Reviewability turns generation into a product decision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6670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evidence-bounded thesis anchors the complete visual vocabulary.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atlas-v2-hero-thesis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THEME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859280"/>
            <a:ext cx="3413760" cy="0"/>
          </a:xfrm>
          <a:prstGeom prst="line">
            <a:avLst/>
          </a:prstGeom>
          <a:noFill/>
          <a:ln w="44450">
            <a:solidFill>
              <a:srgbClr val="C45538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94360" y="2095500"/>
            <a:ext cx="685800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99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BREADTH</a:t>
            </a:r>
            <a:endParaRPr lang="en-US" sz="4992" dirty="0"/>
          </a:p>
          <a:p>
            <a:pPr algn="l" indent="0" marL="0">
              <a:buNone/>
            </a:pPr>
            <a:r>
              <a:rPr lang="en-US" sz="499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MOTION</a:t>
            </a:r>
            <a:endParaRPr lang="en-US" sz="4992" dirty="0"/>
          </a:p>
          <a:p>
            <a:pPr algn="l" indent="0" marL="0">
              <a:buNone/>
            </a:pPr>
            <a:r>
              <a:rPr lang="en-US" sz="499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</a:t>
            </a:r>
            <a:endParaRPr lang="en-US" sz="4992" dirty="0"/>
          </a:p>
        </p:txBody>
      </p:sp>
      <p:sp>
        <p:nvSpPr>
          <p:cNvPr id="10" name="Text 8"/>
          <p:cNvSpPr/>
          <p:nvPr/>
        </p:nvSpPr>
        <p:spPr>
          <a:xfrm>
            <a:off x="8839200" y="2209800"/>
            <a:ext cx="23622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656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</a:t>
            </a:r>
            <a:endParaRPr lang="en-US" sz="6656" dirty="0"/>
          </a:p>
        </p:txBody>
      </p:sp>
      <p:sp>
        <p:nvSpPr>
          <p:cNvPr id="11" name="Text 9"/>
          <p:cNvSpPr/>
          <p:nvPr/>
        </p:nvSpPr>
        <p:spPr>
          <a:xfrm>
            <a:off x="8305800" y="3200400"/>
            <a:ext cx="28956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670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visual artifacts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34400" y="4076700"/>
            <a:ext cx="2667000" cy="73152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287A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63000" y="4267200"/>
            <a:ext cx="2209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7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14-slide public narrative</a:t>
            </a:r>
            <a:endParaRPr lang="en-US" sz="1472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522"/>
          </a:solidFill>
          <a:ln w="6350">
            <a:solidFill>
              <a:srgbClr val="0D152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7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FOUNDATIONS · HERO THESIS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Reviewability turns generation into a product decision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A2B0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evidence-bounded thesis anchors the complete visual vocabulary.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atlas-v2-hero-thesis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THEME 02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859280"/>
            <a:ext cx="3413760" cy="0"/>
          </a:xfrm>
          <a:prstGeom prst="line">
            <a:avLst/>
          </a:prstGeom>
          <a:noFill/>
          <a:ln w="44450">
            <a:solidFill>
              <a:srgbClr val="B7E36B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94360" y="2095500"/>
            <a:ext cx="685800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99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BREADTH</a:t>
            </a:r>
            <a:endParaRPr lang="en-US" sz="4992" dirty="0"/>
          </a:p>
          <a:p>
            <a:pPr algn="l" indent="0" marL="0">
              <a:buNone/>
            </a:pPr>
            <a:r>
              <a:rPr lang="en-US" sz="499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MOTION</a:t>
            </a:r>
            <a:endParaRPr lang="en-US" sz="4992" dirty="0"/>
          </a:p>
          <a:p>
            <a:pPr algn="l" indent="0" marL="0">
              <a:buNone/>
            </a:pPr>
            <a:r>
              <a:rPr lang="en-US" sz="499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</a:t>
            </a:r>
            <a:endParaRPr lang="en-US" sz="4992" dirty="0"/>
          </a:p>
        </p:txBody>
      </p:sp>
      <p:sp>
        <p:nvSpPr>
          <p:cNvPr id="10" name="Text 8"/>
          <p:cNvSpPr/>
          <p:nvPr/>
        </p:nvSpPr>
        <p:spPr>
          <a:xfrm>
            <a:off x="8839200" y="2209800"/>
            <a:ext cx="23622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656" b="1" dirty="0">
                <a:solidFill>
                  <a:srgbClr val="B7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</a:t>
            </a:r>
            <a:endParaRPr lang="en-US" sz="6656" dirty="0"/>
          </a:p>
        </p:txBody>
      </p:sp>
      <p:sp>
        <p:nvSpPr>
          <p:cNvPr id="11" name="Text 9"/>
          <p:cNvSpPr/>
          <p:nvPr/>
        </p:nvSpPr>
        <p:spPr>
          <a:xfrm>
            <a:off x="8305800" y="3200400"/>
            <a:ext cx="28956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B0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visual artifacts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34400" y="4076700"/>
            <a:ext cx="2667000" cy="73152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63000" y="4267200"/>
            <a:ext cx="2209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7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14-slide public narrative</a:t>
            </a:r>
            <a:endParaRPr lang="en-US" sz="147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5F3"/>
          </a:solidFill>
          <a:ln w="6350">
            <a:solidFill>
              <a:srgbClr val="F2F5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0F6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FOUNDATIONS · HERO THESIS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Reviewability turns generation into a product decision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6675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evidence-bounded thesis anchors the complete visual vocabulary.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atlas-v2-hero-thesis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THEME 03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859280"/>
            <a:ext cx="3413760" cy="0"/>
          </a:xfrm>
          <a:prstGeom prst="line">
            <a:avLst/>
          </a:prstGeom>
          <a:noFill/>
          <a:ln w="44450">
            <a:solidFill>
              <a:srgbClr val="0F6B5C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94360" y="2095500"/>
            <a:ext cx="685800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99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BREADTH</a:t>
            </a:r>
            <a:endParaRPr lang="en-US" sz="4992" dirty="0"/>
          </a:p>
          <a:p>
            <a:pPr algn="l" indent="0" marL="0">
              <a:buNone/>
            </a:pPr>
            <a:r>
              <a:rPr lang="en-US" sz="499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MOTION</a:t>
            </a:r>
            <a:endParaRPr lang="en-US" sz="4992" dirty="0"/>
          </a:p>
          <a:p>
            <a:pPr algn="l" indent="0" marL="0">
              <a:buNone/>
            </a:pPr>
            <a:r>
              <a:rPr lang="en-US" sz="499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</a:t>
            </a:r>
            <a:endParaRPr lang="en-US" sz="4992" dirty="0"/>
          </a:p>
        </p:txBody>
      </p:sp>
      <p:sp>
        <p:nvSpPr>
          <p:cNvPr id="10" name="Text 8"/>
          <p:cNvSpPr/>
          <p:nvPr/>
        </p:nvSpPr>
        <p:spPr>
          <a:xfrm>
            <a:off x="8839200" y="2209800"/>
            <a:ext cx="23622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656" b="1" dirty="0">
                <a:solidFill>
                  <a:srgbClr val="0F6B5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</a:t>
            </a:r>
            <a:endParaRPr lang="en-US" sz="6656" dirty="0"/>
          </a:p>
        </p:txBody>
      </p:sp>
      <p:sp>
        <p:nvSpPr>
          <p:cNvPr id="11" name="Text 9"/>
          <p:cNvSpPr/>
          <p:nvPr/>
        </p:nvSpPr>
        <p:spPr>
          <a:xfrm>
            <a:off x="8305800" y="3200400"/>
            <a:ext cx="28956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675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visual artifacts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34400" y="4076700"/>
            <a:ext cx="26670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8D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63000" y="4267200"/>
            <a:ext cx="2209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7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14-slide public narrative</a:t>
            </a:r>
            <a:endParaRPr lang="en-US" sz="1472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FE7"/>
          </a:solidFill>
          <a:ln w="6350">
            <a:solidFill>
              <a:srgbClr val="F4EF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· DENSE DASHBOARD FUNNEL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dashboard can be dense without becoming a card graveyard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6670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funnel, trend, exceptions, and decision queue share one controlled surface.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atlas-v2-dense-dashboard-funnel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THEME 04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3880" y="1828800"/>
            <a:ext cx="6477000" cy="342900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" y="2019300"/>
            <a:ext cx="381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BRIEF → WINNER FUNNEL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295400" y="2476500"/>
            <a:ext cx="4876800" cy="342900"/>
          </a:xfrm>
          <a:prstGeom prst="roundRect">
            <a:avLst/>
          </a:prstGeom>
          <a:solidFill>
            <a:srgbClr val="E4DDD2"/>
          </a:solidFill>
          <a:ln w="6350">
            <a:solidFill>
              <a:srgbClr val="E4DDD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17320" y="2537460"/>
            <a:ext cx="4632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 · 100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1691640" y="2948940"/>
            <a:ext cx="4076700" cy="342900"/>
          </a:xfrm>
          <a:prstGeom prst="roundRect">
            <a:avLst/>
          </a:prstGeom>
          <a:solidFill>
            <a:srgbClr val="E4DDD2"/>
          </a:solidFill>
          <a:ln w="6350">
            <a:solidFill>
              <a:srgbClr val="E4DDD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13560" y="3009900"/>
            <a:ext cx="38328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· 84</a:t>
            </a:r>
            <a:endParaRPr lang="en-US" sz="1088" dirty="0"/>
          </a:p>
        </p:txBody>
      </p:sp>
      <p:sp>
        <p:nvSpPr>
          <p:cNvPr id="14" name="Shape 12"/>
          <p:cNvSpPr/>
          <p:nvPr/>
        </p:nvSpPr>
        <p:spPr>
          <a:xfrm>
            <a:off x="2087880" y="3421380"/>
            <a:ext cx="3276600" cy="342900"/>
          </a:xfrm>
          <a:prstGeom prst="roundRect">
            <a:avLst/>
          </a:prstGeom>
          <a:solidFill>
            <a:srgbClr val="E4DDD2"/>
          </a:solidFill>
          <a:ln w="6350">
            <a:solidFill>
              <a:srgbClr val="E4DDD2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09800" y="3482340"/>
            <a:ext cx="3032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 renders · 83</a:t>
            </a:r>
            <a:endParaRPr lang="en-US" sz="1088" dirty="0"/>
          </a:p>
        </p:txBody>
      </p:sp>
      <p:sp>
        <p:nvSpPr>
          <p:cNvPr id="16" name="Shape 14"/>
          <p:cNvSpPr/>
          <p:nvPr/>
        </p:nvSpPr>
        <p:spPr>
          <a:xfrm>
            <a:off x="2484120" y="3893820"/>
            <a:ext cx="2476500" cy="342900"/>
          </a:xfrm>
          <a:prstGeom prst="roundRect">
            <a:avLst/>
          </a:prstGeom>
          <a:solidFill>
            <a:srgbClr val="E4DDD2"/>
          </a:solidFill>
          <a:ln w="6350">
            <a:solidFill>
              <a:srgbClr val="E4DDD2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06040" y="3954780"/>
            <a:ext cx="22326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 CI · 82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2880360" y="4366260"/>
            <a:ext cx="1676400" cy="342900"/>
          </a:xfrm>
          <a:prstGeom prst="roundRect">
            <a:avLst/>
          </a:prstGeom>
          <a:solidFill>
            <a:srgbClr val="C45538"/>
          </a:solidFill>
          <a:ln w="6350">
            <a:solidFill>
              <a:srgbClr val="C45538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02280" y="4427220"/>
            <a:ext cx="14325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winner · 1</a:t>
            </a:r>
            <a:endParaRPr lang="en-US" sz="1088" dirty="0"/>
          </a:p>
        </p:txBody>
      </p:sp>
      <p:sp>
        <p:nvSpPr>
          <p:cNvPr id="20" name="Shape 18"/>
          <p:cNvSpPr/>
          <p:nvPr/>
        </p:nvSpPr>
        <p:spPr>
          <a:xfrm>
            <a:off x="7315200" y="1828800"/>
            <a:ext cx="4267200" cy="160020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43800" y="2019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EXCEPTIONS</a:t>
            </a:r>
            <a:endParaRPr lang="en-US" sz="1024" dirty="0"/>
          </a:p>
        </p:txBody>
      </p:sp>
      <p:sp>
        <p:nvSpPr>
          <p:cNvPr id="22" name="Text 20"/>
          <p:cNvSpPr/>
          <p:nvPr/>
        </p:nvSpPr>
        <p:spPr>
          <a:xfrm>
            <a:off x="7543800" y="2400300"/>
            <a:ext cx="3657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artifacts need repair</a:t>
            </a:r>
            <a:endParaRPr lang="en-US" sz="1920" dirty="0"/>
          </a:p>
        </p:txBody>
      </p:sp>
      <p:sp>
        <p:nvSpPr>
          <p:cNvPr id="23" name="Text 21"/>
          <p:cNvSpPr/>
          <p:nvPr/>
        </p:nvSpPr>
        <p:spPr>
          <a:xfrm>
            <a:off x="7543800" y="2834640"/>
            <a:ext cx="365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16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remain visibly red</a:t>
            </a:r>
            <a:endParaRPr lang="en-US" sz="1216" dirty="0"/>
          </a:p>
        </p:txBody>
      </p:sp>
      <p:sp>
        <p:nvSpPr>
          <p:cNvPr id="24" name="Shape 22"/>
          <p:cNvSpPr/>
          <p:nvPr/>
        </p:nvSpPr>
        <p:spPr>
          <a:xfrm>
            <a:off x="7315200" y="3627120"/>
            <a:ext cx="4267200" cy="163068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3800" y="3810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DECISION QUEUE</a:t>
            </a:r>
            <a:endParaRPr lang="en-US" sz="1024" dirty="0"/>
          </a:p>
        </p:txBody>
      </p:sp>
      <p:sp>
        <p:nvSpPr>
          <p:cNvPr id="26" name="Shape 24"/>
          <p:cNvSpPr/>
          <p:nvPr/>
        </p:nvSpPr>
        <p:spPr>
          <a:xfrm>
            <a:off x="7635240" y="4183380"/>
            <a:ext cx="121920" cy="121920"/>
          </a:xfrm>
          <a:prstGeom prst="ellipse">
            <a:avLst/>
          </a:prstGeom>
          <a:solidFill>
            <a:srgbClr val="C45538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86700" y="4122420"/>
            <a:ext cx="327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model-blind pairs</a:t>
            </a:r>
            <a:endParaRPr lang="en-US" sz="1152" dirty="0"/>
          </a:p>
        </p:txBody>
      </p:sp>
      <p:sp>
        <p:nvSpPr>
          <p:cNvPr id="28" name="Shape 26"/>
          <p:cNvSpPr/>
          <p:nvPr/>
        </p:nvSpPr>
        <p:spPr>
          <a:xfrm>
            <a:off x="7635240" y="4549140"/>
            <a:ext cx="121920" cy="121920"/>
          </a:xfrm>
          <a:prstGeom prst="ellipse">
            <a:avLst/>
          </a:prstGeom>
          <a:solidFill>
            <a:srgbClr val="287A78"/>
          </a:solidFill>
          <a:ln w="6350">
            <a:solidFill>
              <a:srgbClr val="287A7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86700" y="4488180"/>
            <a:ext cx="327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public 14</a:t>
            </a:r>
            <a:endParaRPr lang="en-US" sz="1152" dirty="0"/>
          </a:p>
        </p:txBody>
      </p:sp>
      <p:sp>
        <p:nvSpPr>
          <p:cNvPr id="30" name="Shape 28"/>
          <p:cNvSpPr/>
          <p:nvPr/>
        </p:nvSpPr>
        <p:spPr>
          <a:xfrm>
            <a:off x="7635240" y="4914900"/>
            <a:ext cx="121920" cy="121920"/>
          </a:xfrm>
          <a:prstGeom prst="ellipse">
            <a:avLst/>
          </a:prstGeom>
          <a:solidFill>
            <a:srgbClr val="287A78"/>
          </a:solidFill>
          <a:ln w="6350">
            <a:solidFill>
              <a:srgbClr val="287A7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86700" y="4853940"/>
            <a:ext cx="327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Promote recipes only</a:t>
            </a:r>
            <a:endParaRPr lang="en-US" sz="1152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522"/>
          </a:solidFill>
          <a:ln w="6350">
            <a:solidFill>
              <a:srgbClr val="0D152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7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· DENSE DASHBOARD FUNNEL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dashboard can be dense without becoming a card graveyard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A2B0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funnel, trend, exceptions, and decision queue share one controlled surface.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atlas-v2-dense-dashboard-funnel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THEME 05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3880" y="1828800"/>
            <a:ext cx="6477000" cy="34290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330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" y="2019300"/>
            <a:ext cx="381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BRIEF → WINNER FUNNEL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295400" y="2476500"/>
            <a:ext cx="4876800" cy="342900"/>
          </a:xfrm>
          <a:prstGeom prst="roundRect">
            <a:avLst/>
          </a:prstGeom>
          <a:solidFill>
            <a:srgbClr val="233046"/>
          </a:solidFill>
          <a:ln w="6350">
            <a:solidFill>
              <a:srgbClr val="23304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17320" y="2537460"/>
            <a:ext cx="4632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 · 100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1691640" y="2948940"/>
            <a:ext cx="4076700" cy="342900"/>
          </a:xfrm>
          <a:prstGeom prst="roundRect">
            <a:avLst/>
          </a:prstGeom>
          <a:solidFill>
            <a:srgbClr val="233046"/>
          </a:solidFill>
          <a:ln w="6350">
            <a:solidFill>
              <a:srgbClr val="23304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13560" y="3009900"/>
            <a:ext cx="38328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· 84</a:t>
            </a:r>
            <a:endParaRPr lang="en-US" sz="1088" dirty="0"/>
          </a:p>
        </p:txBody>
      </p:sp>
      <p:sp>
        <p:nvSpPr>
          <p:cNvPr id="14" name="Shape 12"/>
          <p:cNvSpPr/>
          <p:nvPr/>
        </p:nvSpPr>
        <p:spPr>
          <a:xfrm>
            <a:off x="2087880" y="3421380"/>
            <a:ext cx="3276600" cy="342900"/>
          </a:xfrm>
          <a:prstGeom prst="roundRect">
            <a:avLst/>
          </a:prstGeom>
          <a:solidFill>
            <a:srgbClr val="233046"/>
          </a:solidFill>
          <a:ln w="6350">
            <a:solidFill>
              <a:srgbClr val="23304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09800" y="3482340"/>
            <a:ext cx="3032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 renders · 83</a:t>
            </a:r>
            <a:endParaRPr lang="en-US" sz="1088" dirty="0"/>
          </a:p>
        </p:txBody>
      </p:sp>
      <p:sp>
        <p:nvSpPr>
          <p:cNvPr id="16" name="Shape 14"/>
          <p:cNvSpPr/>
          <p:nvPr/>
        </p:nvSpPr>
        <p:spPr>
          <a:xfrm>
            <a:off x="2484120" y="3893820"/>
            <a:ext cx="2476500" cy="342900"/>
          </a:xfrm>
          <a:prstGeom prst="roundRect">
            <a:avLst/>
          </a:prstGeom>
          <a:solidFill>
            <a:srgbClr val="233046"/>
          </a:solidFill>
          <a:ln w="6350">
            <a:solidFill>
              <a:srgbClr val="23304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06040" y="3954780"/>
            <a:ext cx="22326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 CI · 82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2880360" y="4366260"/>
            <a:ext cx="1676400" cy="342900"/>
          </a:xfrm>
          <a:prstGeom prst="roundRect">
            <a:avLst/>
          </a:prstGeom>
          <a:solidFill>
            <a:srgbClr val="B7E36B"/>
          </a:solidFill>
          <a:ln w="6350">
            <a:solidFill>
              <a:srgbClr val="B7E36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02280" y="4427220"/>
            <a:ext cx="14325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winner · 1</a:t>
            </a:r>
            <a:endParaRPr lang="en-US" sz="1088" dirty="0"/>
          </a:p>
        </p:txBody>
      </p:sp>
      <p:sp>
        <p:nvSpPr>
          <p:cNvPr id="20" name="Shape 18"/>
          <p:cNvSpPr/>
          <p:nvPr/>
        </p:nvSpPr>
        <p:spPr>
          <a:xfrm>
            <a:off x="7315200" y="1828800"/>
            <a:ext cx="4267200" cy="16002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3304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43800" y="2019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EXCEPTIONS</a:t>
            </a:r>
            <a:endParaRPr lang="en-US" sz="1024" dirty="0"/>
          </a:p>
        </p:txBody>
      </p:sp>
      <p:sp>
        <p:nvSpPr>
          <p:cNvPr id="22" name="Text 20"/>
          <p:cNvSpPr/>
          <p:nvPr/>
        </p:nvSpPr>
        <p:spPr>
          <a:xfrm>
            <a:off x="7543800" y="2400300"/>
            <a:ext cx="3657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artifacts need repair</a:t>
            </a:r>
            <a:endParaRPr lang="en-US" sz="1920" dirty="0"/>
          </a:p>
        </p:txBody>
      </p:sp>
      <p:sp>
        <p:nvSpPr>
          <p:cNvPr id="23" name="Text 21"/>
          <p:cNvSpPr/>
          <p:nvPr/>
        </p:nvSpPr>
        <p:spPr>
          <a:xfrm>
            <a:off x="7543800" y="2834640"/>
            <a:ext cx="365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16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remain visibly red</a:t>
            </a:r>
            <a:endParaRPr lang="en-US" sz="1216" dirty="0"/>
          </a:p>
        </p:txBody>
      </p:sp>
      <p:sp>
        <p:nvSpPr>
          <p:cNvPr id="24" name="Shape 22"/>
          <p:cNvSpPr/>
          <p:nvPr/>
        </p:nvSpPr>
        <p:spPr>
          <a:xfrm>
            <a:off x="7315200" y="3627120"/>
            <a:ext cx="4267200" cy="163068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330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3800" y="3810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DECISION QUEUE</a:t>
            </a:r>
            <a:endParaRPr lang="en-US" sz="1024" dirty="0"/>
          </a:p>
        </p:txBody>
      </p:sp>
      <p:sp>
        <p:nvSpPr>
          <p:cNvPr id="26" name="Shape 24"/>
          <p:cNvSpPr/>
          <p:nvPr/>
        </p:nvSpPr>
        <p:spPr>
          <a:xfrm>
            <a:off x="7635240" y="4183380"/>
            <a:ext cx="121920" cy="121920"/>
          </a:xfrm>
          <a:prstGeom prst="ellipse">
            <a:avLst/>
          </a:prstGeom>
          <a:solidFill>
            <a:srgbClr val="B7E36B"/>
          </a:solidFill>
          <a:ln w="6350">
            <a:solidFill>
              <a:srgbClr val="B7E3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86700" y="4122420"/>
            <a:ext cx="327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model-blind pairs</a:t>
            </a:r>
            <a:endParaRPr lang="en-US" sz="1152" dirty="0"/>
          </a:p>
        </p:txBody>
      </p:sp>
      <p:sp>
        <p:nvSpPr>
          <p:cNvPr id="28" name="Shape 26"/>
          <p:cNvSpPr/>
          <p:nvPr/>
        </p:nvSpPr>
        <p:spPr>
          <a:xfrm>
            <a:off x="7635240" y="4549140"/>
            <a:ext cx="121920" cy="12192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86700" y="4488180"/>
            <a:ext cx="327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public 14</a:t>
            </a:r>
            <a:endParaRPr lang="en-US" sz="1152" dirty="0"/>
          </a:p>
        </p:txBody>
      </p:sp>
      <p:sp>
        <p:nvSpPr>
          <p:cNvPr id="30" name="Shape 28"/>
          <p:cNvSpPr/>
          <p:nvPr/>
        </p:nvSpPr>
        <p:spPr>
          <a:xfrm>
            <a:off x="7635240" y="4914900"/>
            <a:ext cx="121920" cy="12192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86700" y="4853940"/>
            <a:ext cx="327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Promote recipes only</a:t>
            </a:r>
            <a:endParaRPr lang="en-US" sz="1152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5F3"/>
          </a:solidFill>
          <a:ln w="6350">
            <a:solidFill>
              <a:srgbClr val="F2F5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0F6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· DENSE DASHBOARD FUNNEL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dashboard can be dense without becoming a card graveyard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6675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funnel, trend, exceptions, and decision queue share one controlled surface.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atlas-v2-dense-dashboard-funnel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THEME 06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3880" y="1828800"/>
            <a:ext cx="6477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" y="2019300"/>
            <a:ext cx="381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BRIEF → WINNER FUNNEL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295400" y="2476500"/>
            <a:ext cx="4876800" cy="342900"/>
          </a:xfrm>
          <a:prstGeom prst="roundRect">
            <a:avLst/>
          </a:prstGeom>
          <a:solidFill>
            <a:srgbClr val="DCE7E2"/>
          </a:solidFill>
          <a:ln w="6350">
            <a:solidFill>
              <a:srgbClr val="DCE7E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17320" y="2537460"/>
            <a:ext cx="4632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 · 100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1691640" y="2948940"/>
            <a:ext cx="4076700" cy="342900"/>
          </a:xfrm>
          <a:prstGeom prst="roundRect">
            <a:avLst/>
          </a:prstGeom>
          <a:solidFill>
            <a:srgbClr val="DCE7E2"/>
          </a:solidFill>
          <a:ln w="6350">
            <a:solidFill>
              <a:srgbClr val="DCE7E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13560" y="3009900"/>
            <a:ext cx="38328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· 84</a:t>
            </a:r>
            <a:endParaRPr lang="en-US" sz="1088" dirty="0"/>
          </a:p>
        </p:txBody>
      </p:sp>
      <p:sp>
        <p:nvSpPr>
          <p:cNvPr id="14" name="Shape 12"/>
          <p:cNvSpPr/>
          <p:nvPr/>
        </p:nvSpPr>
        <p:spPr>
          <a:xfrm>
            <a:off x="2087880" y="3421380"/>
            <a:ext cx="3276600" cy="342900"/>
          </a:xfrm>
          <a:prstGeom prst="roundRect">
            <a:avLst/>
          </a:prstGeom>
          <a:solidFill>
            <a:srgbClr val="DCE7E2"/>
          </a:solidFill>
          <a:ln w="6350">
            <a:solidFill>
              <a:srgbClr val="DCE7E2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09800" y="3482340"/>
            <a:ext cx="3032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 renders · 83</a:t>
            </a:r>
            <a:endParaRPr lang="en-US" sz="1088" dirty="0"/>
          </a:p>
        </p:txBody>
      </p:sp>
      <p:sp>
        <p:nvSpPr>
          <p:cNvPr id="16" name="Shape 14"/>
          <p:cNvSpPr/>
          <p:nvPr/>
        </p:nvSpPr>
        <p:spPr>
          <a:xfrm>
            <a:off x="2484120" y="3893820"/>
            <a:ext cx="2476500" cy="342900"/>
          </a:xfrm>
          <a:prstGeom prst="roundRect">
            <a:avLst/>
          </a:prstGeom>
          <a:solidFill>
            <a:srgbClr val="DCE7E2"/>
          </a:solidFill>
          <a:ln w="6350">
            <a:solidFill>
              <a:srgbClr val="DCE7E2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06040" y="3954780"/>
            <a:ext cx="22326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 CI · 82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2880360" y="4366260"/>
            <a:ext cx="1676400" cy="342900"/>
          </a:xfrm>
          <a:prstGeom prst="roundRect">
            <a:avLst/>
          </a:prstGeom>
          <a:solidFill>
            <a:srgbClr val="0F6B5C"/>
          </a:solidFill>
          <a:ln w="6350">
            <a:solidFill>
              <a:srgbClr val="0F6B5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02280" y="4427220"/>
            <a:ext cx="14325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winner · 1</a:t>
            </a:r>
            <a:endParaRPr lang="en-US" sz="1088" dirty="0"/>
          </a:p>
        </p:txBody>
      </p:sp>
      <p:sp>
        <p:nvSpPr>
          <p:cNvPr id="20" name="Shape 18"/>
          <p:cNvSpPr/>
          <p:nvPr/>
        </p:nvSpPr>
        <p:spPr>
          <a:xfrm>
            <a:off x="7315200" y="1828800"/>
            <a:ext cx="42672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43800" y="2019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EXCEPTIONS</a:t>
            </a:r>
            <a:endParaRPr lang="en-US" sz="1024" dirty="0"/>
          </a:p>
        </p:txBody>
      </p:sp>
      <p:sp>
        <p:nvSpPr>
          <p:cNvPr id="22" name="Text 20"/>
          <p:cNvSpPr/>
          <p:nvPr/>
        </p:nvSpPr>
        <p:spPr>
          <a:xfrm>
            <a:off x="7543800" y="2400300"/>
            <a:ext cx="3657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b="1" dirty="0">
                <a:solidFill>
                  <a:srgbClr val="A641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artifacts need repair</a:t>
            </a:r>
            <a:endParaRPr lang="en-US" sz="1920" dirty="0"/>
          </a:p>
        </p:txBody>
      </p:sp>
      <p:sp>
        <p:nvSpPr>
          <p:cNvPr id="23" name="Text 21"/>
          <p:cNvSpPr/>
          <p:nvPr/>
        </p:nvSpPr>
        <p:spPr>
          <a:xfrm>
            <a:off x="7543800" y="2834640"/>
            <a:ext cx="365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16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remain visibly red</a:t>
            </a:r>
            <a:endParaRPr lang="en-US" sz="1216" dirty="0"/>
          </a:p>
        </p:txBody>
      </p:sp>
      <p:sp>
        <p:nvSpPr>
          <p:cNvPr id="24" name="Shape 22"/>
          <p:cNvSpPr/>
          <p:nvPr/>
        </p:nvSpPr>
        <p:spPr>
          <a:xfrm>
            <a:off x="7315200" y="3627120"/>
            <a:ext cx="4267200" cy="1630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3800" y="3810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DECISION QUEUE</a:t>
            </a:r>
            <a:endParaRPr lang="en-US" sz="1024" dirty="0"/>
          </a:p>
        </p:txBody>
      </p:sp>
      <p:sp>
        <p:nvSpPr>
          <p:cNvPr id="26" name="Shape 24"/>
          <p:cNvSpPr/>
          <p:nvPr/>
        </p:nvSpPr>
        <p:spPr>
          <a:xfrm>
            <a:off x="7635240" y="4183380"/>
            <a:ext cx="121920" cy="121920"/>
          </a:xfrm>
          <a:prstGeom prst="ellipse">
            <a:avLst/>
          </a:prstGeom>
          <a:solidFill>
            <a:srgbClr val="0F6B5C"/>
          </a:solidFill>
          <a:ln w="6350">
            <a:solidFill>
              <a:srgbClr val="0F6B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86700" y="4122420"/>
            <a:ext cx="327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model-blind pairs</a:t>
            </a:r>
            <a:endParaRPr lang="en-US" sz="1152" dirty="0"/>
          </a:p>
        </p:txBody>
      </p:sp>
      <p:sp>
        <p:nvSpPr>
          <p:cNvPr id="28" name="Shape 26"/>
          <p:cNvSpPr/>
          <p:nvPr/>
        </p:nvSpPr>
        <p:spPr>
          <a:xfrm>
            <a:off x="7635240" y="4549140"/>
            <a:ext cx="121920" cy="121920"/>
          </a:xfrm>
          <a:prstGeom prst="ellipse">
            <a:avLst/>
          </a:prstGeom>
          <a:solidFill>
            <a:srgbClr val="B08D3A"/>
          </a:solidFill>
          <a:ln w="6350">
            <a:solidFill>
              <a:srgbClr val="B08D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86700" y="4488180"/>
            <a:ext cx="327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public 14</a:t>
            </a:r>
            <a:endParaRPr lang="en-US" sz="1152" dirty="0"/>
          </a:p>
        </p:txBody>
      </p:sp>
      <p:sp>
        <p:nvSpPr>
          <p:cNvPr id="30" name="Shape 28"/>
          <p:cNvSpPr/>
          <p:nvPr/>
        </p:nvSpPr>
        <p:spPr>
          <a:xfrm>
            <a:off x="7635240" y="4914900"/>
            <a:ext cx="121920" cy="121920"/>
          </a:xfrm>
          <a:prstGeom prst="ellipse">
            <a:avLst/>
          </a:prstGeom>
          <a:solidFill>
            <a:srgbClr val="B08D3A"/>
          </a:solidFill>
          <a:ln w="6350">
            <a:solidFill>
              <a:srgbClr val="B08D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86700" y="4853940"/>
            <a:ext cx="327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Promote recipes only</a:t>
            </a:r>
            <a:endParaRPr lang="en-US" sz="1152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FE7"/>
          </a:solidFill>
          <a:ln w="6350">
            <a:solidFill>
              <a:srgbClr val="F4EF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SYSTEMS · SYSTEM ARCHITECTURE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portable protocol keeps product logic above backend choice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6670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connectors and a visible trust boundary preserve system meaning.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atlas-v2-system-architecture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THEME 07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2667000"/>
            <a:ext cx="1676400" cy="76200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287A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65120"/>
            <a:ext cx="14020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2362200" y="3048000"/>
            <a:ext cx="6096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971800" y="2514600"/>
            <a:ext cx="2057400" cy="106680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287A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27127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280" dirty="0"/>
          </a:p>
          <a:p>
            <a:pPr algn="ctr" indent="0" marL="0">
              <a:buNone/>
            </a:pPr>
            <a:r>
              <a:rPr lang="en-US" sz="1280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initialize · stage · commit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0" y="3048000"/>
            <a:ext cx="7620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791200" y="2667000"/>
            <a:ext cx="1828800" cy="76200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287A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28360" y="2865120"/>
            <a:ext cx="1554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7620000" y="3048000"/>
            <a:ext cx="6858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05800" y="2514600"/>
            <a:ext cx="1752600" cy="1066800"/>
          </a:xfrm>
          <a:prstGeom prst="roundRect">
            <a:avLst/>
          </a:prstGeom>
          <a:solidFill>
            <a:srgbClr val="FBF8F2"/>
          </a:solidFill>
          <a:ln w="25400">
            <a:solidFill>
              <a:srgbClr val="C455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42960" y="2712720"/>
            <a:ext cx="1478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280" dirty="0"/>
          </a:p>
        </p:txBody>
      </p:sp>
      <p:sp>
        <p:nvSpPr>
          <p:cNvPr id="19" name="Shape 17"/>
          <p:cNvSpPr/>
          <p:nvPr/>
        </p:nvSpPr>
        <p:spPr>
          <a:xfrm>
            <a:off x="10439400" y="2057400"/>
            <a:ext cx="1143000" cy="579120"/>
          </a:xfrm>
          <a:prstGeom prst="roundRect">
            <a:avLst/>
          </a:prstGeom>
          <a:solidFill>
            <a:srgbClr val="E4DDD2"/>
          </a:solidFill>
          <a:ln w="12700">
            <a:solidFill>
              <a:srgbClr val="287A7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0" y="2225040"/>
            <a:ext cx="990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 flipV="1">
            <a:off x="10058400" y="2346960"/>
            <a:ext cx="381000" cy="701040"/>
          </a:xfrm>
          <a:prstGeom prst="line">
            <a:avLst/>
          </a:prstGeom>
          <a:noFill/>
          <a:ln w="19050">
            <a:solidFill>
              <a:srgbClr val="287A7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0439400" y="3086100"/>
            <a:ext cx="1143000" cy="579120"/>
          </a:xfrm>
          <a:prstGeom prst="roundRect">
            <a:avLst/>
          </a:prstGeom>
          <a:solidFill>
            <a:srgbClr val="E4DDD2"/>
          </a:solidFill>
          <a:ln w="12700">
            <a:solidFill>
              <a:srgbClr val="287A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0" y="3253740"/>
            <a:ext cx="990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4" name="Shape 22"/>
          <p:cNvSpPr/>
          <p:nvPr/>
        </p:nvSpPr>
        <p:spPr>
          <a:xfrm>
            <a:off x="10058400" y="3048000"/>
            <a:ext cx="381000" cy="327660"/>
          </a:xfrm>
          <a:prstGeom prst="line">
            <a:avLst/>
          </a:prstGeom>
          <a:noFill/>
          <a:ln w="19050">
            <a:solidFill>
              <a:srgbClr val="287A7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439400" y="4114800"/>
            <a:ext cx="1143000" cy="579120"/>
          </a:xfrm>
          <a:prstGeom prst="roundRect">
            <a:avLst/>
          </a:prstGeom>
          <a:solidFill>
            <a:srgbClr val="E4DDD2"/>
          </a:solidFill>
          <a:ln w="12700">
            <a:solidFill>
              <a:srgbClr val="287A7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15600" y="4282440"/>
            <a:ext cx="990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7" name="Shape 25"/>
          <p:cNvSpPr/>
          <p:nvPr/>
        </p:nvSpPr>
        <p:spPr>
          <a:xfrm>
            <a:off x="10058400" y="3048000"/>
            <a:ext cx="381000" cy="1356360"/>
          </a:xfrm>
          <a:prstGeom prst="line">
            <a:avLst/>
          </a:prstGeom>
          <a:noFill/>
          <a:ln w="19050">
            <a:solidFill>
              <a:srgbClr val="287A78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305800" y="3962400"/>
            <a:ext cx="3276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TRUST BOUNDARY · persistence only</a:t>
            </a:r>
            <a:endParaRPr lang="en-US" sz="9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522"/>
          </a:solidFill>
          <a:ln w="6350">
            <a:solidFill>
              <a:srgbClr val="0D152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7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SYSTEMS · SYSTEM ARCHITECTURE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portable protocol keeps product logic above backend choice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A2B0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connectors and a visible trust boundary preserve system meaning.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atlas-v2-system-architecture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THEME 08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2667000"/>
            <a:ext cx="1676400" cy="7620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65120"/>
            <a:ext cx="14020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2362200" y="3048000"/>
            <a:ext cx="609600" cy="0"/>
          </a:xfrm>
          <a:prstGeom prst="line">
            <a:avLst/>
          </a:prstGeom>
          <a:noFill/>
          <a:ln w="25400">
            <a:solidFill>
              <a:srgbClr val="B7E3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971800" y="2514600"/>
            <a:ext cx="2057400" cy="10668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27127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280" dirty="0"/>
          </a:p>
          <a:p>
            <a:pPr algn="ctr" indent="0" marL="0">
              <a:buNone/>
            </a:pPr>
            <a:r>
              <a:rPr lang="en-US" sz="1280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initialize · stage · commit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0" y="3048000"/>
            <a:ext cx="762000" cy="0"/>
          </a:xfrm>
          <a:prstGeom prst="line">
            <a:avLst/>
          </a:prstGeom>
          <a:noFill/>
          <a:ln w="25400">
            <a:solidFill>
              <a:srgbClr val="B7E3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791200" y="2667000"/>
            <a:ext cx="1828800" cy="7620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28360" y="2865120"/>
            <a:ext cx="1554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7620000" y="3048000"/>
            <a:ext cx="685800" cy="0"/>
          </a:xfrm>
          <a:prstGeom prst="line">
            <a:avLst/>
          </a:prstGeom>
          <a:noFill/>
          <a:ln w="25400">
            <a:solidFill>
              <a:srgbClr val="B7E3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05800" y="2514600"/>
            <a:ext cx="1752600" cy="1066800"/>
          </a:xfrm>
          <a:prstGeom prst="roundRect">
            <a:avLst/>
          </a:prstGeom>
          <a:solidFill>
            <a:srgbClr val="151F31"/>
          </a:solidFill>
          <a:ln w="25400">
            <a:solidFill>
              <a:srgbClr val="B7E3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42960" y="2712720"/>
            <a:ext cx="1478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280" dirty="0"/>
          </a:p>
        </p:txBody>
      </p:sp>
      <p:sp>
        <p:nvSpPr>
          <p:cNvPr id="19" name="Shape 17"/>
          <p:cNvSpPr/>
          <p:nvPr/>
        </p:nvSpPr>
        <p:spPr>
          <a:xfrm>
            <a:off x="10439400" y="2057400"/>
            <a:ext cx="1143000" cy="579120"/>
          </a:xfrm>
          <a:prstGeom prst="roundRect">
            <a:avLst/>
          </a:prstGeom>
          <a:solidFill>
            <a:srgbClr val="233046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0" y="2225040"/>
            <a:ext cx="990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 flipV="1">
            <a:off x="10058400" y="2346960"/>
            <a:ext cx="381000" cy="70104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0439400" y="3086100"/>
            <a:ext cx="1143000" cy="579120"/>
          </a:xfrm>
          <a:prstGeom prst="roundRect">
            <a:avLst/>
          </a:prstGeom>
          <a:solidFill>
            <a:srgbClr val="233046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0" y="3253740"/>
            <a:ext cx="990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4" name="Shape 22"/>
          <p:cNvSpPr/>
          <p:nvPr/>
        </p:nvSpPr>
        <p:spPr>
          <a:xfrm>
            <a:off x="10058400" y="3048000"/>
            <a:ext cx="381000" cy="32766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439400" y="4114800"/>
            <a:ext cx="1143000" cy="579120"/>
          </a:xfrm>
          <a:prstGeom prst="roundRect">
            <a:avLst/>
          </a:prstGeom>
          <a:solidFill>
            <a:srgbClr val="233046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15600" y="4282440"/>
            <a:ext cx="990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7" name="Shape 25"/>
          <p:cNvSpPr/>
          <p:nvPr/>
        </p:nvSpPr>
        <p:spPr>
          <a:xfrm>
            <a:off x="10058400" y="3048000"/>
            <a:ext cx="381000" cy="135636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305800" y="3962400"/>
            <a:ext cx="3276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B7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TRUST BOUNDARY · persistence only</a:t>
            </a:r>
            <a:endParaRPr lang="en-US" sz="9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5F3"/>
          </a:solidFill>
          <a:ln w="6350">
            <a:solidFill>
              <a:srgbClr val="F2F5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0F6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SYSTEMS · SYSTEM ARCHITECTURE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portable protocol keeps product logic above backend choice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6675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connectors and a visible trust boundary preserve system meaning.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atlas-v2-system-architecture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THEME 09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2667000"/>
            <a:ext cx="16764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8D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65120"/>
            <a:ext cx="14020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2362200" y="3048000"/>
            <a:ext cx="609600" cy="0"/>
          </a:xfrm>
          <a:prstGeom prst="line">
            <a:avLst/>
          </a:prstGeom>
          <a:noFill/>
          <a:ln w="25400">
            <a:solidFill>
              <a:srgbClr val="0F6B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971800" y="2514600"/>
            <a:ext cx="2057400" cy="1066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8D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27127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280" dirty="0"/>
          </a:p>
          <a:p>
            <a:pPr algn="ctr" indent="0" marL="0">
              <a:buNone/>
            </a:pPr>
            <a:r>
              <a:rPr lang="en-US" sz="1280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initialize · stage · commit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0" y="3048000"/>
            <a:ext cx="762000" cy="0"/>
          </a:xfrm>
          <a:prstGeom prst="line">
            <a:avLst/>
          </a:prstGeom>
          <a:noFill/>
          <a:ln w="25400">
            <a:solidFill>
              <a:srgbClr val="0F6B5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791200" y="2667000"/>
            <a:ext cx="18288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8D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28360" y="2865120"/>
            <a:ext cx="1554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7620000" y="3048000"/>
            <a:ext cx="685800" cy="0"/>
          </a:xfrm>
          <a:prstGeom prst="line">
            <a:avLst/>
          </a:prstGeom>
          <a:noFill/>
          <a:ln w="25400">
            <a:solidFill>
              <a:srgbClr val="0F6B5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05800" y="2514600"/>
            <a:ext cx="1752600" cy="1066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6B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42960" y="2712720"/>
            <a:ext cx="1478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280" dirty="0"/>
          </a:p>
        </p:txBody>
      </p:sp>
      <p:sp>
        <p:nvSpPr>
          <p:cNvPr id="19" name="Shape 17"/>
          <p:cNvSpPr/>
          <p:nvPr/>
        </p:nvSpPr>
        <p:spPr>
          <a:xfrm>
            <a:off x="10439400" y="2057400"/>
            <a:ext cx="1143000" cy="579120"/>
          </a:xfrm>
          <a:prstGeom prst="roundRect">
            <a:avLst/>
          </a:prstGeom>
          <a:solidFill>
            <a:srgbClr val="DCE7E2"/>
          </a:solidFill>
          <a:ln w="12700">
            <a:solidFill>
              <a:srgbClr val="B08D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0" y="2225040"/>
            <a:ext cx="990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 flipV="1">
            <a:off x="10058400" y="2346960"/>
            <a:ext cx="381000" cy="701040"/>
          </a:xfrm>
          <a:prstGeom prst="line">
            <a:avLst/>
          </a:prstGeom>
          <a:noFill/>
          <a:ln w="19050">
            <a:solidFill>
              <a:srgbClr val="B08D3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0439400" y="3086100"/>
            <a:ext cx="1143000" cy="579120"/>
          </a:xfrm>
          <a:prstGeom prst="roundRect">
            <a:avLst/>
          </a:prstGeom>
          <a:solidFill>
            <a:srgbClr val="DCE7E2"/>
          </a:solidFill>
          <a:ln w="12700">
            <a:solidFill>
              <a:srgbClr val="B08D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0" y="3253740"/>
            <a:ext cx="990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4" name="Shape 22"/>
          <p:cNvSpPr/>
          <p:nvPr/>
        </p:nvSpPr>
        <p:spPr>
          <a:xfrm>
            <a:off x="10058400" y="3048000"/>
            <a:ext cx="381000" cy="327660"/>
          </a:xfrm>
          <a:prstGeom prst="line">
            <a:avLst/>
          </a:prstGeom>
          <a:noFill/>
          <a:ln w="19050">
            <a:solidFill>
              <a:srgbClr val="B08D3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439400" y="4114800"/>
            <a:ext cx="1143000" cy="579120"/>
          </a:xfrm>
          <a:prstGeom prst="roundRect">
            <a:avLst/>
          </a:prstGeom>
          <a:solidFill>
            <a:srgbClr val="DCE7E2"/>
          </a:solidFill>
          <a:ln w="12700">
            <a:solidFill>
              <a:srgbClr val="B08D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15600" y="4282440"/>
            <a:ext cx="990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7" name="Shape 25"/>
          <p:cNvSpPr/>
          <p:nvPr/>
        </p:nvSpPr>
        <p:spPr>
          <a:xfrm>
            <a:off x="10058400" y="3048000"/>
            <a:ext cx="381000" cy="1356360"/>
          </a:xfrm>
          <a:prstGeom prst="line">
            <a:avLst/>
          </a:prstGeom>
          <a:noFill/>
          <a:ln w="19050">
            <a:solidFill>
              <a:srgbClr val="B08D3A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305800" y="3962400"/>
            <a:ext cx="3276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0F6B5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TRUST BOUNDARY · persistence only</a:t>
            </a:r>
            <a:endParaRPr lang="en-US" sz="9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FE7"/>
          </a:solidFill>
          <a:ln w="6350">
            <a:solidFill>
              <a:srgbClr val="F4EF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MEDIA · REAL SCREENSHOT CALLOUTS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 proof is the interface people actually use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6670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NodeSlide capture occupies most of the slide with three exact callouts.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atlas-v2-real-screenshot-callouts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THEME 10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95300" y="1676400"/>
            <a:ext cx="8534400" cy="381000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E4DDD2"/>
            </a:solidFill>
            <a:prstDash val="solid"/>
          </a:ln>
        </p:spPr>
      </p:sp>
      <p:pic>
        <p:nvPicPr>
          <p:cNvPr id="9" name="Image 0" descr="Real NodeSlide Artifact Lab gallery cap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840" y="1805940"/>
            <a:ext cx="8275320" cy="35509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89720" y="1988820"/>
            <a:ext cx="365760" cy="365760"/>
          </a:xfrm>
          <a:prstGeom prst="ellipse">
            <a:avLst/>
          </a:prstGeom>
          <a:solidFill>
            <a:srgbClr val="C45538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265920" y="2065020"/>
            <a:ext cx="2133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088" dirty="0"/>
          </a:p>
        </p:txBody>
      </p:sp>
      <p:sp>
        <p:nvSpPr>
          <p:cNvPr id="12" name="Text 9"/>
          <p:cNvSpPr/>
          <p:nvPr/>
        </p:nvSpPr>
        <p:spPr>
          <a:xfrm>
            <a:off x="9692640" y="19812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 reusable</a:t>
            </a:r>
            <a:endParaRPr lang="en-US" sz="1152" dirty="0"/>
          </a:p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patterns</a:t>
            </a:r>
            <a:endParaRPr lang="en-US" sz="1152" dirty="0"/>
          </a:p>
        </p:txBody>
      </p:sp>
      <p:sp>
        <p:nvSpPr>
          <p:cNvPr id="13" name="Shape 10"/>
          <p:cNvSpPr/>
          <p:nvPr/>
        </p:nvSpPr>
        <p:spPr>
          <a:xfrm>
            <a:off x="8991600" y="2171700"/>
            <a:ext cx="13716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none"/>
          </a:ln>
        </p:spPr>
      </p:sp>
      <p:sp>
        <p:nvSpPr>
          <p:cNvPr id="14" name="Shape 11"/>
          <p:cNvSpPr/>
          <p:nvPr/>
        </p:nvSpPr>
        <p:spPr>
          <a:xfrm>
            <a:off x="9342120" y="3284220"/>
            <a:ext cx="365760" cy="365760"/>
          </a:xfrm>
          <a:prstGeom prst="ellipse">
            <a:avLst/>
          </a:prstGeom>
          <a:solidFill>
            <a:srgbClr val="C45538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418320" y="3360420"/>
            <a:ext cx="2133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088" dirty="0"/>
          </a:p>
        </p:txBody>
      </p:sp>
      <p:sp>
        <p:nvSpPr>
          <p:cNvPr id="16" name="Text 13"/>
          <p:cNvSpPr/>
          <p:nvPr/>
        </p:nvSpPr>
        <p:spPr>
          <a:xfrm>
            <a:off x="9845040" y="32766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compare</a:t>
            </a:r>
            <a:endParaRPr lang="en-US" sz="1152" dirty="0"/>
          </a:p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keeps failures red</a:t>
            </a:r>
            <a:endParaRPr lang="en-US" sz="1152" dirty="0"/>
          </a:p>
        </p:txBody>
      </p:sp>
      <p:sp>
        <p:nvSpPr>
          <p:cNvPr id="17" name="Shape 14"/>
          <p:cNvSpPr/>
          <p:nvPr/>
        </p:nvSpPr>
        <p:spPr>
          <a:xfrm>
            <a:off x="8991600" y="3467100"/>
            <a:ext cx="28956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none"/>
          </a:ln>
        </p:spPr>
      </p:sp>
      <p:sp>
        <p:nvSpPr>
          <p:cNvPr id="18" name="Shape 15"/>
          <p:cNvSpPr/>
          <p:nvPr/>
        </p:nvSpPr>
        <p:spPr>
          <a:xfrm>
            <a:off x="9075420" y="4503420"/>
            <a:ext cx="365760" cy="365760"/>
          </a:xfrm>
          <a:prstGeom prst="ellipse">
            <a:avLst/>
          </a:prstGeom>
          <a:solidFill>
            <a:srgbClr val="C45538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51620" y="4579620"/>
            <a:ext cx="2133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088" dirty="0"/>
          </a:p>
        </p:txBody>
      </p:sp>
      <p:sp>
        <p:nvSpPr>
          <p:cNvPr id="20" name="Text 17"/>
          <p:cNvSpPr/>
          <p:nvPr/>
        </p:nvSpPr>
        <p:spPr>
          <a:xfrm>
            <a:off x="9578340" y="44958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pattern</a:t>
            </a:r>
            <a:endParaRPr lang="en-US" sz="1152" dirty="0"/>
          </a:p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starts a real workflow</a:t>
            </a:r>
            <a:endParaRPr lang="en-US" sz="1152" dirty="0"/>
          </a:p>
        </p:txBody>
      </p:sp>
      <p:sp>
        <p:nvSpPr>
          <p:cNvPr id="21" name="Shape 18"/>
          <p:cNvSpPr/>
          <p:nvPr/>
        </p:nvSpPr>
        <p:spPr>
          <a:xfrm>
            <a:off x="8991600" y="4686300"/>
            <a:ext cx="2286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non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522"/>
          </a:solidFill>
          <a:ln w="6350">
            <a:solidFill>
              <a:srgbClr val="0D152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7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MEDIA · REAL SCREENSHOT CALLOUTS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 proof is the interface people actually use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A2B0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NodeSlide capture occupies most of the slide with three exact callouts.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atlas-v2-real-screenshot-callouts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THEME 11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95300" y="1676400"/>
            <a:ext cx="8534400" cy="38100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33046"/>
            </a:solidFill>
            <a:prstDash val="solid"/>
          </a:ln>
        </p:spPr>
      </p:sp>
      <p:pic>
        <p:nvPicPr>
          <p:cNvPr id="9" name="Image 0" descr="Real NodeSlide Artifact Lab gallery cap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840" y="1805940"/>
            <a:ext cx="8275320" cy="35509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89720" y="1988820"/>
            <a:ext cx="365760" cy="365760"/>
          </a:xfrm>
          <a:prstGeom prst="ellipse">
            <a:avLst/>
          </a:prstGeom>
          <a:solidFill>
            <a:srgbClr val="B7E36B"/>
          </a:solidFill>
          <a:ln w="6350">
            <a:solidFill>
              <a:srgbClr val="B7E3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265920" y="2065020"/>
            <a:ext cx="2133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088" dirty="0"/>
          </a:p>
        </p:txBody>
      </p:sp>
      <p:sp>
        <p:nvSpPr>
          <p:cNvPr id="12" name="Text 9"/>
          <p:cNvSpPr/>
          <p:nvPr/>
        </p:nvSpPr>
        <p:spPr>
          <a:xfrm>
            <a:off x="9692640" y="19812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 reusable</a:t>
            </a:r>
            <a:endParaRPr lang="en-US" sz="1152" dirty="0"/>
          </a:p>
          <a:p>
            <a:pPr algn="l" indent="0" marL="0">
              <a:buNone/>
            </a:pPr>
            <a:r>
              <a:rPr lang="en-US" sz="115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patterns</a:t>
            </a:r>
            <a:endParaRPr lang="en-US" sz="1152" dirty="0"/>
          </a:p>
        </p:txBody>
      </p:sp>
      <p:sp>
        <p:nvSpPr>
          <p:cNvPr id="13" name="Shape 10"/>
          <p:cNvSpPr/>
          <p:nvPr/>
        </p:nvSpPr>
        <p:spPr>
          <a:xfrm>
            <a:off x="8991600" y="2171700"/>
            <a:ext cx="137160" cy="0"/>
          </a:xfrm>
          <a:prstGeom prst="line">
            <a:avLst/>
          </a:prstGeom>
          <a:noFill/>
          <a:ln w="19050">
            <a:solidFill>
              <a:srgbClr val="B7E36B"/>
            </a:solidFill>
            <a:prstDash val="solid"/>
            <a:tailEnd type="none"/>
          </a:ln>
        </p:spPr>
      </p:sp>
      <p:sp>
        <p:nvSpPr>
          <p:cNvPr id="14" name="Shape 11"/>
          <p:cNvSpPr/>
          <p:nvPr/>
        </p:nvSpPr>
        <p:spPr>
          <a:xfrm>
            <a:off x="9342120" y="3284220"/>
            <a:ext cx="365760" cy="365760"/>
          </a:xfrm>
          <a:prstGeom prst="ellipse">
            <a:avLst/>
          </a:prstGeom>
          <a:solidFill>
            <a:srgbClr val="B7E36B"/>
          </a:solidFill>
          <a:ln w="6350">
            <a:solidFill>
              <a:srgbClr val="B7E3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418320" y="3360420"/>
            <a:ext cx="2133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088" dirty="0"/>
          </a:p>
        </p:txBody>
      </p:sp>
      <p:sp>
        <p:nvSpPr>
          <p:cNvPr id="16" name="Text 13"/>
          <p:cNvSpPr/>
          <p:nvPr/>
        </p:nvSpPr>
        <p:spPr>
          <a:xfrm>
            <a:off x="9845040" y="32766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compare</a:t>
            </a:r>
            <a:endParaRPr lang="en-US" sz="1152" dirty="0"/>
          </a:p>
          <a:p>
            <a:pPr algn="l" indent="0" marL="0">
              <a:buNone/>
            </a:pPr>
            <a:r>
              <a:rPr lang="en-US" sz="115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keeps failures red</a:t>
            </a:r>
            <a:endParaRPr lang="en-US" sz="1152" dirty="0"/>
          </a:p>
        </p:txBody>
      </p:sp>
      <p:sp>
        <p:nvSpPr>
          <p:cNvPr id="17" name="Shape 14"/>
          <p:cNvSpPr/>
          <p:nvPr/>
        </p:nvSpPr>
        <p:spPr>
          <a:xfrm>
            <a:off x="8991600" y="3467100"/>
            <a:ext cx="289560" cy="0"/>
          </a:xfrm>
          <a:prstGeom prst="line">
            <a:avLst/>
          </a:prstGeom>
          <a:noFill/>
          <a:ln w="19050">
            <a:solidFill>
              <a:srgbClr val="B7E36B"/>
            </a:solidFill>
            <a:prstDash val="solid"/>
            <a:tailEnd type="none"/>
          </a:ln>
        </p:spPr>
      </p:sp>
      <p:sp>
        <p:nvSpPr>
          <p:cNvPr id="18" name="Shape 15"/>
          <p:cNvSpPr/>
          <p:nvPr/>
        </p:nvSpPr>
        <p:spPr>
          <a:xfrm>
            <a:off x="9075420" y="4503420"/>
            <a:ext cx="365760" cy="365760"/>
          </a:xfrm>
          <a:prstGeom prst="ellipse">
            <a:avLst/>
          </a:prstGeom>
          <a:solidFill>
            <a:srgbClr val="B7E36B"/>
          </a:solidFill>
          <a:ln w="6350">
            <a:solidFill>
              <a:srgbClr val="B7E36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51620" y="4579620"/>
            <a:ext cx="2133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088" dirty="0"/>
          </a:p>
        </p:txBody>
      </p:sp>
      <p:sp>
        <p:nvSpPr>
          <p:cNvPr id="20" name="Text 17"/>
          <p:cNvSpPr/>
          <p:nvPr/>
        </p:nvSpPr>
        <p:spPr>
          <a:xfrm>
            <a:off x="9578340" y="44958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pattern</a:t>
            </a:r>
            <a:endParaRPr lang="en-US" sz="1152" dirty="0"/>
          </a:p>
          <a:p>
            <a:pPr algn="l" indent="0" marL="0">
              <a:buNone/>
            </a:pPr>
            <a:r>
              <a:rPr lang="en-US" sz="115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starts a real workflow</a:t>
            </a:r>
            <a:endParaRPr lang="en-US" sz="1152" dirty="0"/>
          </a:p>
        </p:txBody>
      </p:sp>
      <p:sp>
        <p:nvSpPr>
          <p:cNvPr id="21" name="Shape 18"/>
          <p:cNvSpPr/>
          <p:nvPr/>
        </p:nvSpPr>
        <p:spPr>
          <a:xfrm>
            <a:off x="8991600" y="4686300"/>
            <a:ext cx="22860" cy="0"/>
          </a:xfrm>
          <a:prstGeom prst="line">
            <a:avLst/>
          </a:prstGeom>
          <a:noFill/>
          <a:ln w="19050">
            <a:solidFill>
              <a:srgbClr val="B7E36B"/>
            </a:solidFill>
            <a:prstDash val="solid"/>
            <a:tailEnd type="none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5F3"/>
          </a:solidFill>
          <a:ln w="6350">
            <a:solidFill>
              <a:srgbClr val="F2F5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0F6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MEDIA · REAL SCREENSHOT CALLOUTS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 proof is the interface people actually use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6675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NodeSlide capture occupies most of the slide with three exact callouts.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atlas-v2-real-screenshot-callouts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THEME 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95300" y="1676400"/>
            <a:ext cx="853440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  <a:prstDash val="solid"/>
          </a:ln>
        </p:spPr>
      </p:sp>
      <p:pic>
        <p:nvPicPr>
          <p:cNvPr id="9" name="Image 0" descr="Real NodeSlide Artifact Lab gallery cap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840" y="1805940"/>
            <a:ext cx="8275320" cy="35509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89720" y="1988820"/>
            <a:ext cx="365760" cy="365760"/>
          </a:xfrm>
          <a:prstGeom prst="ellipse">
            <a:avLst/>
          </a:prstGeom>
          <a:solidFill>
            <a:srgbClr val="0F6B5C"/>
          </a:solidFill>
          <a:ln w="6350">
            <a:solidFill>
              <a:srgbClr val="0F6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265920" y="2065020"/>
            <a:ext cx="2133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088" dirty="0"/>
          </a:p>
        </p:txBody>
      </p:sp>
      <p:sp>
        <p:nvSpPr>
          <p:cNvPr id="12" name="Text 9"/>
          <p:cNvSpPr/>
          <p:nvPr/>
        </p:nvSpPr>
        <p:spPr>
          <a:xfrm>
            <a:off x="9692640" y="19812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 reusable</a:t>
            </a:r>
            <a:endParaRPr lang="en-US" sz="1152" dirty="0"/>
          </a:p>
          <a:p>
            <a:pPr algn="l" indent="0" marL="0">
              <a:buNone/>
            </a:pPr>
            <a:r>
              <a:rPr lang="en-US" sz="115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patterns</a:t>
            </a:r>
            <a:endParaRPr lang="en-US" sz="1152" dirty="0"/>
          </a:p>
        </p:txBody>
      </p:sp>
      <p:sp>
        <p:nvSpPr>
          <p:cNvPr id="13" name="Shape 10"/>
          <p:cNvSpPr/>
          <p:nvPr/>
        </p:nvSpPr>
        <p:spPr>
          <a:xfrm>
            <a:off x="8991600" y="2171700"/>
            <a:ext cx="137160" cy="0"/>
          </a:xfrm>
          <a:prstGeom prst="line">
            <a:avLst/>
          </a:prstGeom>
          <a:noFill/>
          <a:ln w="19050">
            <a:solidFill>
              <a:srgbClr val="0F6B5C"/>
            </a:solidFill>
            <a:prstDash val="solid"/>
            <a:tailEnd type="none"/>
          </a:ln>
        </p:spPr>
      </p:sp>
      <p:sp>
        <p:nvSpPr>
          <p:cNvPr id="14" name="Shape 11"/>
          <p:cNvSpPr/>
          <p:nvPr/>
        </p:nvSpPr>
        <p:spPr>
          <a:xfrm>
            <a:off x="9342120" y="3284220"/>
            <a:ext cx="365760" cy="365760"/>
          </a:xfrm>
          <a:prstGeom prst="ellipse">
            <a:avLst/>
          </a:prstGeom>
          <a:solidFill>
            <a:srgbClr val="0F6B5C"/>
          </a:solidFill>
          <a:ln w="6350">
            <a:solidFill>
              <a:srgbClr val="0F6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418320" y="3360420"/>
            <a:ext cx="2133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088" dirty="0"/>
          </a:p>
        </p:txBody>
      </p:sp>
      <p:sp>
        <p:nvSpPr>
          <p:cNvPr id="16" name="Text 13"/>
          <p:cNvSpPr/>
          <p:nvPr/>
        </p:nvSpPr>
        <p:spPr>
          <a:xfrm>
            <a:off x="9845040" y="32766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compare</a:t>
            </a:r>
            <a:endParaRPr lang="en-US" sz="1152" dirty="0"/>
          </a:p>
          <a:p>
            <a:pPr algn="l" indent="0" marL="0">
              <a:buNone/>
            </a:pPr>
            <a:r>
              <a:rPr lang="en-US" sz="115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keeps failures red</a:t>
            </a:r>
            <a:endParaRPr lang="en-US" sz="1152" dirty="0"/>
          </a:p>
        </p:txBody>
      </p:sp>
      <p:sp>
        <p:nvSpPr>
          <p:cNvPr id="17" name="Shape 14"/>
          <p:cNvSpPr/>
          <p:nvPr/>
        </p:nvSpPr>
        <p:spPr>
          <a:xfrm>
            <a:off x="8991600" y="3467100"/>
            <a:ext cx="289560" cy="0"/>
          </a:xfrm>
          <a:prstGeom prst="line">
            <a:avLst/>
          </a:prstGeom>
          <a:noFill/>
          <a:ln w="19050">
            <a:solidFill>
              <a:srgbClr val="0F6B5C"/>
            </a:solidFill>
            <a:prstDash val="solid"/>
            <a:tailEnd type="none"/>
          </a:ln>
        </p:spPr>
      </p:sp>
      <p:sp>
        <p:nvSpPr>
          <p:cNvPr id="18" name="Shape 15"/>
          <p:cNvSpPr/>
          <p:nvPr/>
        </p:nvSpPr>
        <p:spPr>
          <a:xfrm>
            <a:off x="9075420" y="4503420"/>
            <a:ext cx="365760" cy="365760"/>
          </a:xfrm>
          <a:prstGeom prst="ellipse">
            <a:avLst/>
          </a:prstGeom>
          <a:solidFill>
            <a:srgbClr val="0F6B5C"/>
          </a:solidFill>
          <a:ln w="6350">
            <a:solidFill>
              <a:srgbClr val="0F6B5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51620" y="4579620"/>
            <a:ext cx="2133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088" dirty="0"/>
          </a:p>
        </p:txBody>
      </p:sp>
      <p:sp>
        <p:nvSpPr>
          <p:cNvPr id="20" name="Text 17"/>
          <p:cNvSpPr/>
          <p:nvPr/>
        </p:nvSpPr>
        <p:spPr>
          <a:xfrm>
            <a:off x="9578340" y="44958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pattern</a:t>
            </a:r>
            <a:endParaRPr lang="en-US" sz="1152" dirty="0"/>
          </a:p>
          <a:p>
            <a:pPr algn="l" indent="0" marL="0">
              <a:buNone/>
            </a:pPr>
            <a:r>
              <a:rPr lang="en-US" sz="115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starts a real workflow</a:t>
            </a:r>
            <a:endParaRPr lang="en-US" sz="1152" dirty="0"/>
          </a:p>
        </p:txBody>
      </p:sp>
      <p:sp>
        <p:nvSpPr>
          <p:cNvPr id="21" name="Shape 18"/>
          <p:cNvSpPr/>
          <p:nvPr/>
        </p:nvSpPr>
        <p:spPr>
          <a:xfrm>
            <a:off x="8991600" y="4686300"/>
            <a:ext cx="22860" cy="0"/>
          </a:xfrm>
          <a:prstGeom prst="line">
            <a:avLst/>
          </a:prstGeom>
          <a:noFill/>
          <a:ln w="19050">
            <a:solidFill>
              <a:srgbClr val="0F6B5C"/>
            </a:solidFill>
            <a:prstDash val="solid"/>
            <a:tailEnd type="none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NodeSlide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Artifact Atlas V2 Theme Intelligence</dc:title>
  <dc:subject>Same content and evidence under three coherent design languages</dc:subject>
  <dc:creator>NodeSlide Artifact Atlas V2</dc:creator>
  <cp:lastModifiedBy>NodeSlide Artifact Atlas V2</cp:lastModifiedBy>
  <cp:revision>1</cp:revision>
  <dcterms:created xsi:type="dcterms:W3CDTF">2026-07-22T04:54:54Z</dcterms:created>
  <dcterms:modified xsi:type="dcterms:W3CDTF">2026-07-22T04:54:54Z</dcterms:modified>
</cp:coreProperties>
</file>