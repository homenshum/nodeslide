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5696676f5f4c5d" /><Relationship Type="http://schemas.openxmlformats.org/officeDocument/2006/relationships/extended-properties" Target="/docProps/app.xml" Id="R8a71691eda3f4144" /><Relationship Type="http://schemas.openxmlformats.org/officeDocument/2006/relationships/officeDocument" Target="/ppt/presentation.xml" Id="R59d9964eaefc4f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18c420e0fa452d"/>
  </p:sldMasterIdLst>
  <p:notesMasterIdLst>
    <p:notesMasterId xmlns:r="http://schemas.openxmlformats.org/officeDocument/2006/relationships" r:id="R3e76741cb34a49a4"/>
  </p:notesMasterIdLst>
  <p:sldIdLst>
    <p:sldId xmlns:r="http://schemas.openxmlformats.org/officeDocument/2006/relationships" id="256" r:id="Rce421f688a894126"/>
    <p:sldId xmlns:r="http://schemas.openxmlformats.org/officeDocument/2006/relationships" id="257" r:id="R8d8c27ec2fd54164"/>
    <p:sldId xmlns:r="http://schemas.openxmlformats.org/officeDocument/2006/relationships" id="258" r:id="R1c1ec670dcfb459d"/>
    <p:sldId xmlns:r="http://schemas.openxmlformats.org/officeDocument/2006/relationships" id="259" r:id="Rd6010572513a4e4d"/>
    <p:sldId xmlns:r="http://schemas.openxmlformats.org/officeDocument/2006/relationships" id="260" r:id="Rd2b9246c5f564482"/>
    <p:sldId xmlns:r="http://schemas.openxmlformats.org/officeDocument/2006/relationships" id="261" r:id="Rcc0ab1635f964af9"/>
    <p:sldId xmlns:r="http://schemas.openxmlformats.org/officeDocument/2006/relationships" id="262" r:id="Rabb4de1701bf41c4"/>
    <p:sldId xmlns:r="http://schemas.openxmlformats.org/officeDocument/2006/relationships" id="263" r:id="Rc27195daeab44000"/>
    <p:sldId xmlns:r="http://schemas.openxmlformats.org/officeDocument/2006/relationships" id="264" r:id="Rc236a2c47c18488d"/>
    <p:sldId xmlns:r="http://schemas.openxmlformats.org/officeDocument/2006/relationships" id="265" r:id="R13db8fa87d2d4bda"/>
    <p:sldId xmlns:r="http://schemas.openxmlformats.org/officeDocument/2006/relationships" id="266" r:id="R7667a7b80ad54e04"/>
    <p:sldId xmlns:r="http://schemas.openxmlformats.org/officeDocument/2006/relationships" id="267" r:id="R49aa5cab2cac4f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4282522bcd4390" /><Relationship Type="http://schemas.openxmlformats.org/officeDocument/2006/relationships/slideMaster" Target="/ppt/slideMasters/slideMaster1.xml" Id="R9818c420e0fa452d" /><Relationship Type="http://schemas.openxmlformats.org/officeDocument/2006/relationships/notesMaster" Target="/ppt/notesMasters/notesMaster1.xml" Id="R3e76741cb34a49a4" /><Relationship Type="http://schemas.openxmlformats.org/officeDocument/2006/relationships/presProps" Target="/ppt/presProps.xml" Id="Rf1042cbc27204490" /><Relationship Type="http://schemas.openxmlformats.org/officeDocument/2006/relationships/tableStyles" Target="/ppt/tableStyles.xml" Id="Re989bdcb7d8142c5" /><Relationship Type="http://schemas.openxmlformats.org/officeDocument/2006/relationships/slide" Target="/ppt/slides/slide1.xml" Id="Rce421f688a894126" /><Relationship Type="http://schemas.openxmlformats.org/officeDocument/2006/relationships/slide" Target="/ppt/slides/slide2.xml" Id="R8d8c27ec2fd54164" /><Relationship Type="http://schemas.openxmlformats.org/officeDocument/2006/relationships/slide" Target="/ppt/slides/slide3.xml" Id="R1c1ec670dcfb459d" /><Relationship Type="http://schemas.openxmlformats.org/officeDocument/2006/relationships/slide" Target="/ppt/slides/slide4.xml" Id="Rd6010572513a4e4d" /><Relationship Type="http://schemas.openxmlformats.org/officeDocument/2006/relationships/slide" Target="/ppt/slides/slide5.xml" Id="Rd2b9246c5f564482" /><Relationship Type="http://schemas.openxmlformats.org/officeDocument/2006/relationships/slide" Target="/ppt/slides/slide6.xml" Id="Rcc0ab1635f964af9" /><Relationship Type="http://schemas.openxmlformats.org/officeDocument/2006/relationships/slide" Target="/ppt/slides/slide7.xml" Id="Rabb4de1701bf41c4" /><Relationship Type="http://schemas.openxmlformats.org/officeDocument/2006/relationships/slide" Target="/ppt/slides/slide8.xml" Id="Rc27195daeab44000" /><Relationship Type="http://schemas.openxmlformats.org/officeDocument/2006/relationships/slide" Target="/ppt/slides/slide9.xml" Id="Rc236a2c47c18488d" /><Relationship Type="http://schemas.openxmlformats.org/officeDocument/2006/relationships/slide" Target="/ppt/slides/slide10.xml" Id="R13db8fa87d2d4bda" /><Relationship Type="http://schemas.openxmlformats.org/officeDocument/2006/relationships/slide" Target="/ppt/slides/slide11.xml" Id="R7667a7b80ad54e04" /><Relationship Type="http://schemas.openxmlformats.org/officeDocument/2006/relationships/slide" Target="/ppt/slides/slide12.xml" Id="R49aa5cab2cac4f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f15c6d22e94c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777c001d664820" /><Relationship Type="http://schemas.openxmlformats.org/officeDocument/2006/relationships/notesMaster" Target="/ppt/notesMasters/notesMaster1.xml" Id="R86b8fafc5aad4a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89aaa42f744d4a" /><Relationship Type="http://schemas.openxmlformats.org/officeDocument/2006/relationships/notesMaster" Target="/ppt/notesMasters/notesMaster1.xml" Id="R42b79cec20e14d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1240197c394e92" /><Relationship Type="http://schemas.openxmlformats.org/officeDocument/2006/relationships/notesMaster" Target="/ppt/notesMasters/notesMaster1.xml" Id="Re4afded387f84f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bb3cd8fd664310" /><Relationship Type="http://schemas.openxmlformats.org/officeDocument/2006/relationships/notesMaster" Target="/ppt/notesMasters/notesMaster1.xml" Id="Raf383d2d651a4b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18b3c81b334163" /><Relationship Type="http://schemas.openxmlformats.org/officeDocument/2006/relationships/notesMaster" Target="/ppt/notesMasters/notesMaster1.xml" Id="R0496c5cfbb6645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e3d1db3d8c4271" /><Relationship Type="http://schemas.openxmlformats.org/officeDocument/2006/relationships/notesMaster" Target="/ppt/notesMasters/notesMaster1.xml" Id="Ra161099ae52d41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dd85297910417f" /><Relationship Type="http://schemas.openxmlformats.org/officeDocument/2006/relationships/notesMaster" Target="/ppt/notesMasters/notesMaster1.xml" Id="R228c06be32f945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fb367de104cfe" /><Relationship Type="http://schemas.openxmlformats.org/officeDocument/2006/relationships/notesMaster" Target="/ppt/notesMasters/notesMaster1.xml" Id="R3c559eeb7a4543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c59a0c8e754ff5" /><Relationship Type="http://schemas.openxmlformats.org/officeDocument/2006/relationships/notesMaster" Target="/ppt/notesMasters/notesMaster1.xml" Id="Rf6ea0a1398654a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1dda71b0cf4e34" /><Relationship Type="http://schemas.openxmlformats.org/officeDocument/2006/relationships/notesMaster" Target="/ppt/notesMasters/notesMaster1.xml" Id="R9e564b717af94e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6e44d44c814b8d" /><Relationship Type="http://schemas.openxmlformats.org/officeDocument/2006/relationships/notesMaster" Target="/ppt/notesMasters/notesMaster1.xml" Id="R1df58cb61ea641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b9a333375547ff" /><Relationship Type="http://schemas.openxmlformats.org/officeDocument/2006/relationships/notesMaster" Target="/ppt/notesMasters/notesMaster1.xml" Id="R539eee3839d046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777d3357542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231b9f02794359" /><Relationship Type="http://schemas.openxmlformats.org/officeDocument/2006/relationships/slideLayout" Target="/ppt/slideLayouts/slideLayout1.xml" Id="R064124dad940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4124dad940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8fa89508e4945" /><Relationship Type="http://schemas.openxmlformats.org/officeDocument/2006/relationships/image" Target="/ppt/media/image.png" Id="R1d0daea0b6934bb8" /><Relationship Type="http://schemas.openxmlformats.org/officeDocument/2006/relationships/notesSlide" Target="/ppt/notesSlides/notesSlide1.xml" Id="R21190ab60bcc44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90e51f3c24a00" /><Relationship Type="http://schemas.openxmlformats.org/officeDocument/2006/relationships/image" Target="/ppt/media/image2.png" Id="R0b76b27d26374753" /><Relationship Type="http://schemas.openxmlformats.org/officeDocument/2006/relationships/notesSlide" Target="/ppt/notesSlides/notesSlide2.xml" Id="R6989b69c2d6341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1b773d30f445c" /><Relationship Type="http://schemas.openxmlformats.org/officeDocument/2006/relationships/image" Target="/ppt/media/image3.png" Id="R23571093bedc4849" /><Relationship Type="http://schemas.openxmlformats.org/officeDocument/2006/relationships/notesSlide" Target="/ppt/notesSlides/notesSlide3.xml" Id="R7723c4ce1b24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bc9ba5bf84f74" /><Relationship Type="http://schemas.openxmlformats.org/officeDocument/2006/relationships/image" Target="/ppt/media/image4.png" Id="Rb712f3bf6a314647" /><Relationship Type="http://schemas.openxmlformats.org/officeDocument/2006/relationships/notesSlide" Target="/ppt/notesSlides/notesSlide4.xml" Id="R0f541178fc9f49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af7060e6f414b" /><Relationship Type="http://schemas.openxmlformats.org/officeDocument/2006/relationships/image" Target="/ppt/media/image5.png" Id="Rf603a2e8e24745de" /><Relationship Type="http://schemas.openxmlformats.org/officeDocument/2006/relationships/notesSlide" Target="/ppt/notesSlides/notesSlide5.xml" Id="R7d77e1efa32b45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0c78e94cd4c80" /><Relationship Type="http://schemas.openxmlformats.org/officeDocument/2006/relationships/image" Target="/ppt/media/image6.png" Id="R89988131dc0b49db" /><Relationship Type="http://schemas.openxmlformats.org/officeDocument/2006/relationships/notesSlide" Target="/ppt/notesSlides/notesSlide6.xml" Id="R2d67943e103c4c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fd32ce2464898" /><Relationship Type="http://schemas.openxmlformats.org/officeDocument/2006/relationships/image" Target="/ppt/media/image7.png" Id="R231e2830ad6a495d" /><Relationship Type="http://schemas.openxmlformats.org/officeDocument/2006/relationships/notesSlide" Target="/ppt/notesSlides/notesSlide7.xml" Id="R0159ff414cae4d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047c02c044f86" /><Relationship Type="http://schemas.openxmlformats.org/officeDocument/2006/relationships/image" Target="/ppt/media/image8.png" Id="Rc67b850a1de246de" /><Relationship Type="http://schemas.openxmlformats.org/officeDocument/2006/relationships/notesSlide" Target="/ppt/notesSlides/notesSlide8.xml" Id="R6886846a489b41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14b532c8f474d" /><Relationship Type="http://schemas.openxmlformats.org/officeDocument/2006/relationships/image" Target="/ppt/media/image9.png" Id="R884be217541b481b" /><Relationship Type="http://schemas.openxmlformats.org/officeDocument/2006/relationships/notesSlide" Target="/ppt/notesSlides/notesSlide9.xml" Id="Rd705ba65914844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2afa1ad124b4b" /><Relationship Type="http://schemas.openxmlformats.org/officeDocument/2006/relationships/image" Target="/ppt/media/image10.png" Id="R599ccbdab0f04bcb" /><Relationship Type="http://schemas.openxmlformats.org/officeDocument/2006/relationships/notesSlide" Target="/ppt/notesSlides/notesSlide10.xml" Id="Ree085dbbb4dc42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48482622a428a" /><Relationship Type="http://schemas.openxmlformats.org/officeDocument/2006/relationships/image" Target="/ppt/media/image11.png" Id="R8d32068a9ce54a55" /><Relationship Type="http://schemas.openxmlformats.org/officeDocument/2006/relationships/notesSlide" Target="/ppt/notesSlides/notesSlide11.xml" Id="Rae97c691774c4c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5e9871d154933" /><Relationship Type="http://schemas.openxmlformats.org/officeDocument/2006/relationships/image" Target="/ppt/media/image12.png" Id="R15f8d6b509814b95" /><Relationship Type="http://schemas.openxmlformats.org/officeDocument/2006/relationships/notesSlide" Target="/ppt/notesSlides/notesSlide12.xml" Id="Rbef584e5bbbf41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A1417-DB9E-4747-BE20-0730B84A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5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45538"/>
                </a:solidFill>
                <a:latin typeface="Arial"/>
                <a:ea typeface="Arial"/>
                <a:cs typeface="Arial"/>
              </a:rPr>
              <a:t>ATLAS 01  ·  HERO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4C149-2981-45A6-BB9F-1FF3D419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Reviewable Generation Makes Presentation Automation Safer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5B3E1-CCA5-4284-A361-28ACFF02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81150"/>
            <a:ext cx="6877050" cy="3933825"/>
          </a:xfrm>
          <a:prstGeom xmlns:a="http://schemas.openxmlformats.org/drawingml/2006/main" prst="roundRect">
            <a:avLst>
              <a:gd name="adj" fmla="val 2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daea0b6934bb8"/>
          <a:stretch xmlns:a="http://schemas.openxmlformats.org/drawingml/2006/main"/>
        </p:blipFill>
        <p:spPr>
          <a:xfrm xmlns:a="http://schemas.openxmlformats.org/drawingml/2006/main">
            <a:off x="5011208" y="1657350"/>
            <a:ext cx="6722533" cy="3781425"/>
          </a:xfrm>
          <a:prstGeom xmlns:a="http://schemas.openxmlformats.org/drawingml/2006/main" prst="roundRect">
            <a:avLst>
              <a:gd name="adj" fmla="val 20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56F21-579E-41F0-A698-A355060B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Review before acceptance turns automated drafting into a trustworthy workflow, not a blind 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07369-BB15-4175-821F-B5BC51B5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4000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A24AE-4FFF-43A2-BB3C-5690A24C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Claude Sonnet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5FD09-AA8F-4F4D-BDBE-937BAED7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365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evidence editorial</a:t>
            </a:r>
          </a:p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PPTX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19FDE-DFFE-4636-81EE-8C6E5E6D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SOURCE · hero-workflow  |  machine provisional · human preference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80F9C-2CF0-4EDE-87F4-A8BEA85A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5073689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8138A-DA0D-4AB0-9721-F3CE7E9C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E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E36B"/>
                </a:solidFill>
                <a:latin typeface="Arial"/>
                <a:ea typeface="Arial"/>
                <a:cs typeface="Arial"/>
              </a:rPr>
              <a:t>ATLAS 02  ·  KPI STRIP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400F2-1F4A-4C69-A7CC-DE3ACD77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Q2 Operating Review: KPI Strip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41841-B6C1-464B-BEE1-6656E31A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962900" cy="454342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72132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6b27d26374753"/>
          <a:stretch xmlns:a="http://schemas.openxmlformats.org/drawingml/2006/main"/>
        </p:blipFill>
        <p:spPr>
          <a:xfrm xmlns:a="http://schemas.openxmlformats.org/drawingml/2006/main">
            <a:off x="459317" y="1600200"/>
            <a:ext cx="7806267" cy="4391025"/>
          </a:xfrm>
          <a:prstGeom xmlns:a="http://schemas.openxmlformats.org/drawingml/2006/main" prst="roundRect">
            <a:avLst>
              <a:gd name="adj" fmla="val 173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F6249-6473-4988-8F5D-370F2D1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00200"/>
            <a:ext cx="31051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72132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4E2CE-2E5D-483C-A29D-7CF9F388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Kimi K3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FFF19-F116-4524-802B-E135F88B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288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expressive technical</a:t>
            </a:r>
          </a:p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native PPTX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6E429-EC38-42DC-9C98-F46CA6EC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3105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Q2 shows revenue and retention near target, but pipeline and win rate are material misses against plan.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C3D3F-AE43-4BF8-A249-A2735149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SOURCE · q2-kpis  |  machine provisional · human preference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63EFC-EBA4-4D06-B81F-2811A7C9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551640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4BDB4-76B3-469D-9049-162980C6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7A78"/>
                </a:solidFill>
                <a:latin typeface="Arial"/>
                <a:ea typeface="Arial"/>
                <a:cs typeface="Arial"/>
              </a:rPr>
              <a:t>ATLAS 03  ·  MULTI SERIES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CEBF9-94C2-4CFF-BC32-36B7A32B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City Mobility Ridership Trends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A8540-A140-48D9-B637-5CC09AE3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Local bus ridership shows the lowest growth rate compared to rapid bus and rail.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92595-E1CD-4CAC-92CC-C1601DF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71750"/>
            <a:ext cx="84201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71093bedc4849"/>
          <a:stretch xmlns:a="http://schemas.openxmlformats.org/drawingml/2006/main"/>
        </p:blipFill>
        <p:spPr>
          <a:xfrm xmlns:a="http://schemas.openxmlformats.org/drawingml/2006/main">
            <a:off x="3335867" y="2647950"/>
            <a:ext cx="5520267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54082-3A05-4DE8-916E-212365FB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200150" cy="3105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D7F0C-0B68-4E62-9C5F-F7785E2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857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Gemma</a:t>
            </a:r>
          </a:p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9ABE0-DA2C-4381-B43F-8AE9DA3C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evidence editorial</a:t>
            </a:r>
          </a:p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PPTX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8D811-362E-4A82-B838-76A35E5C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48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00" b="1">
                <a:solidFill>
                  <a:srgbClr val="2B7A7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B7A7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43800-0784-4514-9EB5-CB8AEC2A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SOURCE · ridership-series  |  machine provisional · human preference 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FE1D0-0FDA-402A-A964-765F9C4E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17939037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8AB64-CAA7-4E03-A865-A6F74489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5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45538"/>
                </a:solidFill>
                <a:latin typeface="Arial"/>
                <a:ea typeface="Arial"/>
                <a:cs typeface="Arial"/>
              </a:rPr>
              <a:t>ATLAS 04  ·  UNCERTAINTY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F588D-7C89-47A6-91D2-7C38EC5C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Forecast vs. Actual: Widening Uncertainty Ahead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D544B-3CCF-42BA-8045-84901F1C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81150"/>
            <a:ext cx="6877050" cy="3933825"/>
          </a:xfrm>
          <a:prstGeom xmlns:a="http://schemas.openxmlformats.org/drawingml/2006/main" prst="roundRect">
            <a:avLst>
              <a:gd name="adj" fmla="val 2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2f3bf6a314647"/>
          <a:stretch xmlns:a="http://schemas.openxmlformats.org/drawingml/2006/main"/>
        </p:blipFill>
        <p:spPr>
          <a:xfrm xmlns:a="http://schemas.openxmlformats.org/drawingml/2006/main">
            <a:off x="5011208" y="1657350"/>
            <a:ext cx="6722533" cy="3781425"/>
          </a:xfrm>
          <a:prstGeom xmlns:a="http://schemas.openxmlformats.org/drawingml/2006/main" prst="roundRect">
            <a:avLst>
              <a:gd name="adj" fmla="val 20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D2E47-772E-45F6-BF4F-5D8A4347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Base forecast reaches 11.4 by Q5, but the modeled range widens to 9.0–13.8, showing growing uncertainty rather than false precision.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BAE6E-6D4B-42FF-8E75-58F56255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4000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7303C-49EB-4E00-B34E-3AC9AC12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Claude Sonnet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54136-2EFC-4AD3-B9CE-56DFD9F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365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expressive technical</a:t>
            </a:r>
          </a:p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PPTX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F50FE-116E-4B8D-80E7-43B07CCC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SOURCE · forecast-range-data  |  machine provisional · human preference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1D7A7-40B5-4411-A340-1DAD68D0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17723633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AF016-BF5E-4F31-9B92-44475AA6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E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E36B"/>
                </a:solidFill>
                <a:latin typeface="Arial"/>
                <a:ea typeface="Arial"/>
                <a:cs typeface="Arial"/>
              </a:rPr>
              <a:t>ATLAS 05  ·  ARCHITECTURE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96868-D5D8-4CA7-A2F8-0D7667A0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Portable Protocol &amp; Adapter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C1081-7012-4119-8CF0-206FE2DF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962900" cy="454342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72132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3a2e8e24745de"/>
          <a:stretch xmlns:a="http://schemas.openxmlformats.org/drawingml/2006/main"/>
        </p:blipFill>
        <p:spPr>
          <a:xfrm xmlns:a="http://schemas.openxmlformats.org/drawingml/2006/main">
            <a:off x="459317" y="1600200"/>
            <a:ext cx="7806267" cy="4391025"/>
          </a:xfrm>
          <a:prstGeom xmlns:a="http://schemas.openxmlformats.org/drawingml/2006/main" prst="roundRect">
            <a:avLst>
              <a:gd name="adj" fmla="val 173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1FBFF-1F7C-48A1-8EED-46380BF9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00200"/>
            <a:ext cx="31051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72132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A05AF-1B40-4023-898E-26E192D8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Kimi K3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EF53B-78A0-401B-A554-425DBC06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288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evidence editorial</a:t>
            </a:r>
          </a:p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native PPTX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6C150-8A0E-4072-86D5-CD148961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3105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6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Client calls flow through a portable protocol and validation engine before commit, with memory, Convex, and Postgres adapters implementing persistence behind a distinct adapter trust boundary.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5176E-D141-4A10-AE45-826A02D7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SOURCE · architecture-contract  |  machine provisional · human preference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C6D4E-5D94-4D68-8BDE-2FB49B70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1681315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C8554-234D-44E1-9883-6FD80BB4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7A78"/>
                </a:solidFill>
                <a:latin typeface="Arial"/>
                <a:ea typeface="Arial"/>
                <a:cs typeface="Arial"/>
              </a:rPr>
              <a:t>ATLAS 06  ·  SEQUENCE DIAGRAM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48E0B-2615-468E-8305-BE1992A7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Request Lifecycle &amp; Validation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37520-07F0-47B4-8F57-3F25A57C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Validation acts as the critical gatekeeper between planning and human review/adapter commitment.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1F36D-CCC6-4171-A2ED-94B2F7FD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71750"/>
            <a:ext cx="84201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88131dc0b49db"/>
          <a:stretch xmlns:a="http://schemas.openxmlformats.org/drawingml/2006/main"/>
        </p:blipFill>
        <p:spPr>
          <a:xfrm xmlns:a="http://schemas.openxmlformats.org/drawingml/2006/main">
            <a:off x="3335867" y="2647950"/>
            <a:ext cx="5520267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03188-2E44-4C93-AAD3-6AAF4079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200150" cy="3105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27178-96FC-4EED-9511-E19FB7FD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857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Gemma</a:t>
            </a:r>
          </a:p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37090-F701-49C7-A4BA-117E65C7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expressive technical</a:t>
            </a:r>
          </a:p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PPTX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5F436-A10B-48C6-AAFA-34D5BA95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48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00" b="1">
                <a:solidFill>
                  <a:srgbClr val="2B7A7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B7A7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C9CB1-799E-4A40-A0F8-550C9DD5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SOURCE · sequence-events  |  machine provisional · human preference 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CE103-06FC-49B8-8FFB-91A885AA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1592315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BE863-7CD9-4985-9CF8-081DFF80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5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45538"/>
                </a:solidFill>
                <a:latin typeface="Arial"/>
                <a:ea typeface="Arial"/>
                <a:cs typeface="Arial"/>
              </a:rPr>
              <a:t>ATLAS 07  · 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89C0E-1BE7-4CA3-B024-11C57C3B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Research Timeline: Question to Approved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66434-3123-4A40-974E-68FC94D1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81150"/>
            <a:ext cx="6877050" cy="3933825"/>
          </a:xfrm>
          <a:prstGeom xmlns:a="http://schemas.openxmlformats.org/drawingml/2006/main" prst="roundRect">
            <a:avLst>
              <a:gd name="adj" fmla="val 2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e2830ad6a495d"/>
          <a:stretch xmlns:a="http://schemas.openxmlformats.org/drawingml/2006/main"/>
        </p:blipFill>
        <p:spPr>
          <a:xfrm xmlns:a="http://schemas.openxmlformats.org/drawingml/2006/main">
            <a:off x="5011208" y="1657350"/>
            <a:ext cx="6722533" cy="3781425"/>
          </a:xfrm>
          <a:prstGeom xmlns:a="http://schemas.openxmlformats.org/drawingml/2006/main" prst="roundRect">
            <a:avLst>
              <a:gd name="adj" fmla="val 20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1C528-CF35-4652-BA40-9F7DD9F2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Five milestones spaced by elapsed days show a deliberate path from framing to approval, with blind review as the gate before harness update.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7DD0A-0FFE-40A9-8732-F3775D6C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4000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AD344-67E0-4447-B30D-F51B0B74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Claude Sonnet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9317C-528F-4F3F-A81B-D05FF1F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365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evidence editorial</a:t>
            </a:r>
          </a:p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PPTX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52AF4-79DF-4ECC-BBE9-2FA58A9B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SOURCE · research-dates  |  machine provisional · human preference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DD9C4-5E9E-4D0F-BF4F-451A0E77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1854963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388D9-27EB-42E7-BBAF-36556203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E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E36B"/>
                </a:solidFill>
                <a:latin typeface="Arial"/>
                <a:ea typeface="Arial"/>
                <a:cs typeface="Arial"/>
              </a:rPr>
              <a:t>ATLAS 08  ·  SCREENSHOT CALLOUTS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DB793-AAE2-4AFB-9CA9-DC78E0AD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Reviewable Generation: Product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A883D-0262-4CB1-BEC9-00C0D13E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962900" cy="454342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72132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b850a1de246de"/>
          <a:stretch xmlns:a="http://schemas.openxmlformats.org/drawingml/2006/main"/>
        </p:blipFill>
        <p:spPr>
          <a:xfrm xmlns:a="http://schemas.openxmlformats.org/drawingml/2006/main">
            <a:off x="459317" y="1600200"/>
            <a:ext cx="7806267" cy="4391025"/>
          </a:xfrm>
          <a:prstGeom xmlns:a="http://schemas.openxmlformats.org/drawingml/2006/main" prst="roundRect">
            <a:avLst>
              <a:gd name="adj" fmla="val 173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C1053-8D8F-4A9B-8B2F-47BB85AC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00200"/>
            <a:ext cx="31051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72132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676EE-5D86-410A-8D37-9530CA2D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Kimi K3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76106-E974-408F-9B72-29B891A1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288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evidence editorial</a:t>
            </a:r>
          </a:p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grouped-editable PPTX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22BC9-B2E8-4BFC-AEEA-6E2FC048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3105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64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Model selection, validation status, and trace inspection are the verified surfaces of the reviewable-generation workflow; the screenshot itself must be supplied before this slide is final.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51767-865B-4BF6-B36E-5C342AE4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SOURCE · screenshot-absence  |  machine provisional · human preference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FB525-1E6B-487A-8851-2915F31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1854699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343F3-C6CD-443B-87F1-4DA30D78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7A78"/>
                </a:solidFill>
                <a:latin typeface="Arial"/>
                <a:ea typeface="Arial"/>
                <a:cs typeface="Arial"/>
              </a:rPr>
              <a:t>ATLAS 09  ·  CLAIM SOURCE LINEAGE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8F9D0-D41B-477F-ADA3-B64FF426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Evidence Lineage: Human Acceptance 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D6A4C-F2EB-47A1-B03B-D3CDED8C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The claim of 52-second human acceptance is directly traced to the journey receipt, while the 'zero errors' claim is rejected due to lack of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B05C9-FBF2-46EE-9483-C3E12BD4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71750"/>
            <a:ext cx="84201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be217541b481b"/>
          <a:stretch xmlns:a="http://schemas.openxmlformats.org/drawingml/2006/main"/>
        </p:blipFill>
        <p:spPr>
          <a:xfrm xmlns:a="http://schemas.openxmlformats.org/drawingml/2006/main">
            <a:off x="3335867" y="2647950"/>
            <a:ext cx="5520267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9B195-990A-4DDA-B193-DBBC0DA2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200150" cy="3105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7D9CD-595D-4F32-93C2-55240654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857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Gemma</a:t>
            </a:r>
          </a:p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2D4A1-536E-498D-986E-2C451DBC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evidence editorial</a:t>
            </a:r>
          </a:p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PPTX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E2E38-6229-4ADE-84A4-9909BCF0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48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00" b="1">
                <a:solidFill>
                  <a:srgbClr val="2B7A7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B7A7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B2260-AD49-4F1B-9D07-F810F592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SOURCE · journey-receipt  |  machine provisional · human preference 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E8B8A-6639-4D78-98DA-E889DCD8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20122011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3A93F-0D6C-4699-AD89-E2179445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55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45538"/>
                </a:solidFill>
                <a:latin typeface="Arial"/>
                <a:ea typeface="Arial"/>
                <a:cs typeface="Arial"/>
              </a:rPr>
              <a:t>ATLAS 10  ·  KATEX EQUATION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FF6A8-FC09-4F62-A9BC-3CE291EF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Cost-Adjusted Quality Measure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67C60-0A4C-44EA-BCE0-25325E57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81150"/>
            <a:ext cx="6877050" cy="3933825"/>
          </a:xfrm>
          <a:prstGeom xmlns:a="http://schemas.openxmlformats.org/drawingml/2006/main" prst="roundRect">
            <a:avLst>
              <a:gd name="adj" fmla="val 2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ccbdab0f04bcb"/>
          <a:stretch xmlns:a="http://schemas.openxmlformats.org/drawingml/2006/main"/>
        </p:blipFill>
        <p:spPr>
          <a:xfrm xmlns:a="http://schemas.openxmlformats.org/drawingml/2006/main">
            <a:off x="5011208" y="1657350"/>
            <a:ext cx="6722533" cy="3781425"/>
          </a:xfrm>
          <a:prstGeom xmlns:a="http://schemas.openxmlformats.org/drawingml/2006/main" prst="roundRect">
            <a:avLst>
              <a:gd name="adj" fmla="val 20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5912D-DBA6-449F-AE6F-E9B2286F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Q divided by C is approximately 19.74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2E281-0A40-4961-B405-8BD03F28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40005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77AC7-3A48-414B-A378-B7569071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Claude Sonnet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32748-0500-48DC-A0DB-F251331D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365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expressive technical</a:t>
            </a:r>
          </a:p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l">
              <a:defRPr sz="10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grouped-editable PPTX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D86E4-6CA3-4EB0-B0D7-86C6F549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SOURCE · retrieval-result  |  machine provisional · human preference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00360-F83F-4630-97C4-3B1C5861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271559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AAD5C-ED53-4F40-800F-FABB0AAF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6E3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6E36B"/>
                </a:solidFill>
                <a:latin typeface="Arial"/>
                <a:ea typeface="Arial"/>
                <a:cs typeface="Arial"/>
              </a:rPr>
              <a:t>ATLAS 11  ·  CODE RUNTIME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73237-C1AA-4880-9108-4A462C32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Caseflow Adapter: Contract Meets Measured Runtime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295AD-5DC8-4E0F-AA7D-04169143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962900" cy="454342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72132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2068a9ce54a55"/>
          <a:stretch xmlns:a="http://schemas.openxmlformats.org/drawingml/2006/main"/>
        </p:blipFill>
        <p:spPr>
          <a:xfrm xmlns:a="http://schemas.openxmlformats.org/drawingml/2006/main">
            <a:off x="459317" y="1600200"/>
            <a:ext cx="7806267" cy="4391025"/>
          </a:xfrm>
          <a:prstGeom xmlns:a="http://schemas.openxmlformats.org/drawingml/2006/main" prst="roundRect">
            <a:avLst>
              <a:gd name="adj" fmla="val 173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F6604-EABC-4F1D-BB7A-B2CEB3D5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00200"/>
            <a:ext cx="31051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72132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85E25-6C4E-4C5F-9FD5-4E052687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71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Kimi K3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C7423-9854-46E4-8F13-F90C3C03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28850"/>
            <a:ext cx="276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evidence editorial</a:t>
            </a:r>
          </a:p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l">
              <a:defRPr sz="10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grouped-editable PPTX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C900A-741B-4962-9A7E-AE12C85D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3105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64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3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3E8"/>
                </a:solidFill>
                <a:latin typeface="Arial"/>
                <a:ea typeface="Arial"/>
                <a:cs typeface="Arial"/>
              </a:rPr>
              <a:t>The TypeScript contract's commit path returns a Receipt, and the Convex adapter benchmark measures p50 at 38 milliseconds and p95 at 92 milliseconds for that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EEA6BB-A0F9-40C8-B95F-527659C7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SOURCE · adapter-interface · adapter-benchmark  |  machine provisional · human preference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DB40E-18F5-43F4-BFAC-14E69765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7B2C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B2C0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18883423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634BF-F126-4DB5-9569-E976733E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7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7A78"/>
                </a:solidFill>
                <a:latin typeface="Arial"/>
                <a:ea typeface="Arial"/>
                <a:cs typeface="Arial"/>
              </a:rPr>
              <a:t>ATLAS 12  ·  RISK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C4EF2-4370-4ADE-8D3A-2151A80F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Operating Risk Prioritization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E1EE7-4AE6-4323-A908-779A85A7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Pipeline coverage is highest priority.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C35D7-25BE-490E-AACF-782E41BF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71750"/>
            <a:ext cx="84201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8d6b509814b95"/>
          <a:stretch xmlns:a="http://schemas.openxmlformats.org/drawingml/2006/main"/>
        </p:blipFill>
        <p:spPr>
          <a:xfrm xmlns:a="http://schemas.openxmlformats.org/drawingml/2006/main">
            <a:off x="3335867" y="2647950"/>
            <a:ext cx="5520267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6EF18-D262-490F-966B-F0802710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200150" cy="3105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8570F-5AFD-4A16-B657-73A8BC74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857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Gemma</a:t>
            </a:r>
          </a:p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algn="ctr">
              <a:defRPr sz="1200" b="1">
                <a:solidFill>
                  <a:srgbClr val="17241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41E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1FD0D-BDAE-4C42-B888-089048F0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expressive technical</a:t>
            </a:r>
          </a:p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web</a:t>
            </a:r>
          </a:p>
          <a:p xmlns:a="http://schemas.openxmlformats.org/drawingml/2006/main">
            <a:pPr algn="ctr">
              <a:defRPr sz="90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native PPTX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6025E-93E8-4108-A06E-01315968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4815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400" b="1">
                <a:solidFill>
                  <a:srgbClr val="2B7A7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B7A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3E604-E024-4298-B865-EE77499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SOURCE · q2-risks  |  machine provisional · human preference pending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7E9C2-C19E-4F8A-B0B2-5BE7ED30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16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8716A"/>
                </a:solidFill>
                <a:latin typeface="Arial"/>
                <a:ea typeface="Arial"/>
                <a:cs typeface="Arial"/>
              </a:rPr>
              <a:t>NodeSlide Ultra Showcase RC1</a:t>
            </a:r>
          </a:p>
        </p:txBody>
      </p:sp>
    </p:spTree>
    <p:extLst>
      <p:ext uri="{BB962C8B-B14F-4D97-AF65-F5344CB8AC3E}">
        <p14:creationId xmlns:p14="http://schemas.microsoft.com/office/powerpoint/2010/main" val="132060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2026-07-22T03:43:28.0380000Z</dcterms:created>
  <dcterms:modified xsi:type="dcterms:W3CDTF">2026-07-22T03:43:28.0380000Z</dcterms:modified>
</coreProperties>
</file>