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6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7.xml" ContentType="application/vnd.openxmlformats-officedocument.drawingml.chart+xml"/>
  <Override PartName="/ppt/notesSlides/notesSlide20.xml" ContentType="application/vnd.openxmlformats-officedocument.presentationml.notesSlide+xml"/>
  <Override PartName="/ppt/charts/chart8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rts/chart9.xml" ContentType="application/vnd.openxmlformats-officedocument.drawingml.chart+xml"/>
  <Override PartName="/ppt/notesSlides/notesSlide35.xml" ContentType="application/vnd.openxmlformats-officedocument.presentationml.notesSlide+xml"/>
  <Override PartName="/ppt/charts/chart10.xml" ContentType="application/vnd.openxmlformats-officedocument.drawingml.chart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8263"/>
  <p:notesSz cx="5148263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series-1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4A2-43E2-810E-34848A3CC3A2}"/>
              </c:ext>
            </c:extLst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4A2-43E2-810E-34848A3CC3A2}"/>
              </c:ext>
            </c:extLst>
          </c:dPt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4A2-43E2-810E-34848A3CC3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series-1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A7A-420E-8D77-06795BF4CE81}"/>
              </c:ext>
            </c:extLst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A7A-420E-8D77-06795BF4CE81}"/>
              </c:ext>
            </c:extLst>
          </c:dPt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A7A-420E-8D77-06795BF4C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Q1 observed</c:v>
                </c:pt>
                <c:pt idx="1">
                  <c:v>Q2 observed</c:v>
                </c:pt>
                <c:pt idx="2">
                  <c:v>Q3 modeled</c:v>
                </c:pt>
                <c:pt idx="3">
                  <c:v>Q4 modeled</c:v>
                </c:pt>
                <c:pt idx="4">
                  <c:v>Q5 modeled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9.6</c:v>
                </c:pt>
                <c:pt idx="3">
                  <c:v>9.1999999999999993</c:v>
                </c:pt>
                <c:pt idx="4">
                  <c:v>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04-4F96-B0B6-6405288DAF4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Q1 observed</c:v>
                </c:pt>
                <c:pt idx="1">
                  <c:v>Q2 observed</c:v>
                </c:pt>
                <c:pt idx="2">
                  <c:v>Q3 modeled</c:v>
                </c:pt>
                <c:pt idx="3">
                  <c:v>Q4 modeled</c:v>
                </c:pt>
                <c:pt idx="4">
                  <c:v>Q5 modeled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10.199999999999999</c:v>
                </c:pt>
                <c:pt idx="3">
                  <c:v>10.8</c:v>
                </c:pt>
                <c:pt idx="4">
                  <c:v>11.4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04-4F96-B0B6-6405288DAF4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</c:v>
                </c:pt>
              </c:strCache>
            </c:strRef>
          </c:tx>
          <c:spPr>
            <a:ln w="25400" cap="flat">
              <a:solidFill>
                <a:srgbClr val="B886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8862A"/>
              </a:solidFill>
              <a:ln w="9525" cap="flat">
                <a:solidFill>
                  <a:srgbClr val="B8862A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Q1 observed</c:v>
                </c:pt>
                <c:pt idx="1">
                  <c:v>Q2 observed</c:v>
                </c:pt>
                <c:pt idx="2">
                  <c:v>Q3 modeled</c:v>
                </c:pt>
                <c:pt idx="3">
                  <c:v>Q4 modeled</c:v>
                </c:pt>
                <c:pt idx="4">
                  <c:v>Q5 modeled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10.8</c:v>
                </c:pt>
                <c:pt idx="3">
                  <c:v>12</c:v>
                </c:pt>
                <c:pt idx="4">
                  <c:v>13.8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304-4F96-B0B6-6405288DAF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points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280-4595-9E9B-8CDE445E1709}"/>
              </c:ext>
            </c:extLst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280-4595-9E9B-8CDE445E1709}"/>
              </c:ext>
            </c:extLst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280-4595-9E9B-8CDE445E170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4280-4595-9E9B-8CDE445E1709}"/>
              </c:ext>
            </c:extLst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280-4595-9E9B-8CDE445E1709}"/>
              </c:ext>
            </c:extLst>
          </c:dPt>
          <c:dPt>
            <c:idx val="5"/>
            <c:invertIfNegative val="0"/>
            <c:bubble3D val="0"/>
            <c:spPr>
              <a:solidFill>
                <a:srgbClr val="B886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280-4595-9E9B-8CDE445E1709}"/>
              </c:ext>
            </c:extLst>
          </c:dPt>
          <c:cat>
            <c:strRef>
              <c:f>Sheet1!$A$2:$A$7</c:f>
              <c:strCache>
                <c:ptCount val="6"/>
                <c:pt idx="0">
                  <c:v>Baseline</c:v>
                </c:pt>
                <c:pt idx="1">
                  <c:v>Plan</c:v>
                </c:pt>
                <c:pt idx="2">
                  <c:v>Tools</c:v>
                </c:pt>
                <c:pt idx="3">
                  <c:v>Repair</c:v>
                </c:pt>
                <c:pt idx="4">
                  <c:v>Deck CI</c:v>
                </c:pt>
                <c:pt idx="5">
                  <c:v>Final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8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280-4595-9E9B-8CDE445E17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  <c:pt idx="3">
                  <c:v>nemotron</c:v>
                </c:pt>
                <c:pt idx="4">
                  <c:v>gpt-oss</c:v>
                </c:pt>
                <c:pt idx="5">
                  <c:v>ensemble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0.95833333333333337</c:v>
                </c:pt>
                <c:pt idx="2">
                  <c:v>0.95833333333333337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69-4BB5-A705-8497A7729E5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  <c:pt idx="3">
                  <c:v>nemotron</c:v>
                </c:pt>
                <c:pt idx="4">
                  <c:v>gpt-oss</c:v>
                </c:pt>
                <c:pt idx="5">
                  <c:v>ensemble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8.6199999999999992E-3</c:v>
                </c:pt>
                <c:pt idx="1">
                  <c:v>1.3029999999999999E-3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E69-4BB5-A705-8497A7729E5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B8862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  <c:pt idx="3">
                  <c:v>nemotron</c:v>
                </c:pt>
                <c:pt idx="4">
                  <c:v>gpt-oss</c:v>
                </c:pt>
                <c:pt idx="5">
                  <c:v>ensemble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8.1929999999999996</c:v>
                </c:pt>
                <c:pt idx="1">
                  <c:v>17.617000000000001</c:v>
                </c:pt>
                <c:pt idx="2">
                  <c:v>17.271000000000001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E69-4BB5-A705-8497A7729E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series-1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2BE-4A56-8A32-EF349A6D35CF}"/>
              </c:ext>
            </c:extLst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2BE-4A56-8A32-EF349A6D35CF}"/>
              </c:ext>
            </c:extLst>
          </c:dPt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2BE-4A56-8A32-EF349A6D35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(day)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04F-4C55-AF11-E0391E016804}"/>
              </c:ext>
            </c:extLst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04F-4C55-AF11-E0391E016804}"/>
              </c:ext>
            </c:extLst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04F-4C55-AF11-E0391E016804}"/>
              </c:ext>
            </c:extLst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04F-4C55-AF11-E0391E016804}"/>
              </c:ext>
            </c:extLst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04F-4C55-AF11-E0391E016804}"/>
              </c:ext>
            </c:extLst>
          </c:dPt>
          <c:cat>
            <c:numRef>
              <c:f>Sheet1!$A$2:$A$6</c:f>
              <c:numCache>
                <c:formatCode>yyyy\-mm\-dd</c:formatCode>
                <c:ptCount val="5"/>
                <c:pt idx="0">
                  <c:v>46024</c:v>
                </c:pt>
                <c:pt idx="1">
                  <c:v>46026</c:v>
                </c:pt>
                <c:pt idx="2">
                  <c:v>46029</c:v>
                </c:pt>
                <c:pt idx="3">
                  <c:v>46032</c:v>
                </c:pt>
                <c:pt idx="4">
                  <c:v>46034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04F-4C55-AF11-E0391E0168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dateAx>
        <c:axId val="2094734554"/>
        <c:scaling>
          <c:orientation val="minMax"/>
        </c:scaling>
        <c:delete val="0"/>
        <c:axPos val="b"/>
        <c:numFmt formatCode="yyyy\-mm\-dd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Offset val="100"/>
        <c:baseTimeUnit val="days"/>
      </c:date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(week)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A22-4DE6-BE55-1686EEAD9147}"/>
              </c:ext>
            </c:extLst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A22-4DE6-BE55-1686EEAD9147}"/>
              </c:ext>
            </c:extLst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A22-4DE6-BE55-1686EEAD9147}"/>
              </c:ext>
            </c:extLst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A22-4DE6-BE55-1686EEAD9147}"/>
              </c:ext>
            </c:extLst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A22-4DE6-BE55-1686EEAD9147}"/>
              </c:ext>
            </c:extLst>
          </c:dPt>
          <c:cat>
            <c:numRef>
              <c:f>Sheet1!$A$2:$A$6</c:f>
              <c:numCache>
                <c:formatCode>yyyy\-mm\-dd</c:formatCode>
                <c:ptCount val="5"/>
                <c:pt idx="0">
                  <c:v>46030</c:v>
                </c:pt>
                <c:pt idx="1">
                  <c:v>46037</c:v>
                </c:pt>
                <c:pt idx="2">
                  <c:v>46044</c:v>
                </c:pt>
                <c:pt idx="3">
                  <c:v>46044</c:v>
                </c:pt>
                <c:pt idx="4">
                  <c:v>46065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A22-4DE6-BE55-1686EEAD91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dateAx>
        <c:axId val="2094734554"/>
        <c:scaling>
          <c:orientation val="minMax"/>
        </c:scaling>
        <c:delete val="0"/>
        <c:axPos val="b"/>
        <c:numFmt formatCode="yyyy\-mm\-dd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Offset val="100"/>
        <c:baseTimeUnit val="days"/>
      </c:date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likelihood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pipeline</c:v>
                </c:pt>
                <c:pt idx="1">
                  <c:v>capacity</c:v>
                </c:pt>
                <c:pt idx="2">
                  <c:v>retention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88-4B4E-88DF-D6203313BA2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pipeline</c:v>
                </c:pt>
                <c:pt idx="1">
                  <c:v>capacity</c:v>
                </c:pt>
                <c:pt idx="2">
                  <c:v>retention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88-4B4E-88DF-D6203313BA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  <c:pt idx="3">
                  <c:v>nemotron</c:v>
                </c:pt>
                <c:pt idx="4">
                  <c:v>gpt-oss</c:v>
                </c:pt>
                <c:pt idx="5">
                  <c:v>ensemble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0.95833333333333337</c:v>
                </c:pt>
                <c:pt idx="2">
                  <c:v>0.95833333333333337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1A-41CE-99B7-7DAF86476E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  <c:pt idx="3">
                  <c:v>nemotron</c:v>
                </c:pt>
                <c:pt idx="4">
                  <c:v>gpt-oss</c:v>
                </c:pt>
                <c:pt idx="5">
                  <c:v>ensemble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8.6199999999999992E-3</c:v>
                </c:pt>
                <c:pt idx="1">
                  <c:v>1.3029999999999999E-3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61A-41CE-99B7-7DAF86476E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B8862A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claude</c:v>
                </c:pt>
                <c:pt idx="1">
                  <c:v>kimi</c:v>
                </c:pt>
                <c:pt idx="2">
                  <c:v>gemma</c:v>
                </c:pt>
                <c:pt idx="3">
                  <c:v>nemotron</c:v>
                </c:pt>
                <c:pt idx="4">
                  <c:v>gpt-oss</c:v>
                </c:pt>
                <c:pt idx="5">
                  <c:v>ensemble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8.1929999999999996</c:v>
                </c:pt>
                <c:pt idx="1">
                  <c:v>17.617000000000001</c:v>
                </c:pt>
                <c:pt idx="2">
                  <c:v>17.271000000000001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61A-41CE-99B7-7DAF86476E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4229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enShum/NodeSlide/pull/52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HomenShum/parity-studio/pull/61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openspecs/office_standards/ms-oi29500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enShum/NodeSlide/pull/52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enShum/NodeSlide/actions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NARRATIVE.HERO-THESIS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Reviewability turns generation into a product decision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1F1C"/>
                </a:solidFill>
              </a:rPr>
              <a:t>Reviewability turns generation into a product decision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NARRATIVE.SECTION-OPENER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museum needs chapters, not a wall of thumbnails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1F1C"/>
                </a:solidFill>
              </a:rPr>
              <a:t>A museum needs chapters, not a wall of thumbnails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NARRATIVE.BIG-METRIC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82 of 84 candidates cleared browser and PowerPoint proof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1F1C"/>
                </a:solidFill>
              </a:rPr>
              <a:t>82 of 84 candidates cleared browser and PowerPoint proof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NARRATIVE.QUOTE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useful promise is editable evidence, not instant polish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1F1C"/>
                </a:solidFill>
              </a:rPr>
              <a:t>The useful promise is editable evidence, not instant polish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PROGRESSION.BEFORE-AFTER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harness removes clutter before it adds decoration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5</a:t>
            </a:r>
            <a:endParaRPr lang="en-US" sz="1000" dirty="0"/>
          </a:p>
        </p:txBody>
      </p:sp>
      <p:pic>
        <p:nvPicPr>
          <p:cNvPr id="5" name="Image 0" descr="Screenshot of the NodeSlide workspace in light theme (befor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3931920" cy="2201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D635A"/>
                </a:solidFill>
              </a:rPr>
              <a:t>Before · light</a:t>
            </a:r>
            <a:endParaRPr lang="en-US" sz="1100" dirty="0"/>
          </a:p>
        </p:txBody>
      </p:sp>
      <p:pic>
        <p:nvPicPr>
          <p:cNvPr id="7" name="Image 1" descr="Screenshot of the NodeSlide workspace in dark theme (after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371600"/>
            <a:ext cx="3931920" cy="2201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D635A"/>
                </a:solidFill>
              </a:rPr>
              <a:t>After · dark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DATA.KPI-STRIP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operating verdict should scan in under five seconds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6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DATA.MULTI-SERIES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Direct labels make divergence visible without inventing a cause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7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DATA.UNCERTAINTY-RANGE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forecast is more credible when its range is impossible to miss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8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DATA.WATERFALL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Harness gains come from several small controls, not one magic prompt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9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DATA.DISTRIBUTION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best route sits on a frontier, not at one universal optimum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10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DATA.TABLE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Dense tables stay readable when hierarchy does the filtering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Series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series-1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62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86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DATA.FUNNEL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dashboard can be dense without becoming a card graveyard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12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SYSTEMS.ARCHITECTURE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portable protocol keeps product logic above backend choice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13</a:t>
            </a:r>
            <a:endParaRPr lang="en-US" sz="1000" dirty="0"/>
          </a:p>
        </p:txBody>
      </p:sp>
      <p:sp>
        <p:nvSpPr>
          <p:cNvPr id="5" name="node-source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source</a:t>
            </a:r>
            <a:endParaRPr lang="en-US" sz="1400" dirty="0"/>
          </a:p>
        </p:txBody>
      </p:sp>
      <p:sp>
        <p:nvSpPr>
          <p:cNvPr id="7" name="node-output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output</a:t>
            </a:r>
            <a:endParaRPr lang="en-US" sz="1400" dirty="0"/>
          </a:p>
        </p:txBody>
      </p:sp>
      <p:cxnSp>
        <p:nvCxnSpPr>
          <p:cNvPr id="9" name="edge-source-output"/>
          <p:cNvCxnSpPr>
            <a:stCxn id="5" idx="3"/>
            <a:endCxn id="7" idx="1"/>
          </p:cNvCxnSpPr>
          <p:nvPr/>
        </p:nvCxnSpPr>
        <p:spPr>
          <a:xfrm>
            <a:off x="35052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SYSTEMS.SEQUENCE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 custody is visible at every handoff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14</a:t>
            </a:r>
            <a:endParaRPr lang="en-US" sz="1000" dirty="0"/>
          </a:p>
        </p:txBody>
      </p:sp>
      <p:sp>
        <p:nvSpPr>
          <p:cNvPr id="5" name="node-source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source</a:t>
            </a:r>
            <a:endParaRPr lang="en-US" sz="1400" dirty="0"/>
          </a:p>
        </p:txBody>
      </p:sp>
      <p:sp>
        <p:nvSpPr>
          <p:cNvPr id="7" name="node-output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output</a:t>
            </a:r>
            <a:endParaRPr lang="en-US" sz="1400" dirty="0"/>
          </a:p>
        </p:txBody>
      </p:sp>
      <p:cxnSp>
        <p:nvCxnSpPr>
          <p:cNvPr id="9" name="edge-source-output"/>
          <p:cNvCxnSpPr>
            <a:stCxn id="5" idx="3"/>
            <a:endCxn id="7" idx="1"/>
          </p:cNvCxnSpPr>
          <p:nvPr/>
        </p:nvCxnSpPr>
        <p:spPr>
          <a:xfrm>
            <a:off x="35052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Better receipts reinforce trust; unchecked complexity pushes back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15</a:t>
            </a:r>
            <a:endParaRPr lang="en-US" sz="1000" dirty="0"/>
          </a:p>
        </p:txBody>
      </p:sp>
      <p:sp>
        <p:nvSpPr>
          <p:cNvPr id="5" name="node-receipt"/>
          <p:cNvSpPr/>
          <p:nvPr/>
        </p:nvSpPr>
        <p:spPr>
          <a:xfrm>
            <a:off x="381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1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receipt</a:t>
            </a:r>
            <a:endParaRPr lang="en-US" sz="1400" dirty="0"/>
          </a:p>
        </p:txBody>
      </p:sp>
      <p:sp>
        <p:nvSpPr>
          <p:cNvPr id="7" name="node-trust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trust</a:t>
            </a:r>
            <a:endParaRPr lang="en-US" sz="1400" dirty="0"/>
          </a:p>
        </p:txBody>
      </p:sp>
      <p:sp>
        <p:nvSpPr>
          <p:cNvPr id="9" name="node-reuse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reuse</a:t>
            </a:r>
            <a:endParaRPr lang="en-US" sz="1400" dirty="0"/>
          </a:p>
        </p:txBody>
      </p:sp>
      <p:sp>
        <p:nvSpPr>
          <p:cNvPr id="11" name="node-signal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signal</a:t>
            </a:r>
            <a:endParaRPr lang="en-US" sz="1400" dirty="0"/>
          </a:p>
        </p:txBody>
      </p:sp>
      <p:sp>
        <p:nvSpPr>
          <p:cNvPr id="13" name="node-complexity"/>
          <p:cNvSpPr/>
          <p:nvPr/>
        </p:nvSpPr>
        <p:spPr>
          <a:xfrm>
            <a:off x="7391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1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complexity</a:t>
            </a:r>
            <a:endParaRPr lang="en-US" sz="1400" dirty="0"/>
          </a:p>
        </p:txBody>
      </p:sp>
      <p:cxnSp>
        <p:nvCxnSpPr>
          <p:cNvPr id="15" name="edge-receipt-trust"/>
          <p:cNvCxnSpPr>
            <a:stCxn id="5" idx="3"/>
            <a:endCxn id="7" idx="1"/>
          </p:cNvCxnSpPr>
          <p:nvPr/>
        </p:nvCxnSpPr>
        <p:spPr>
          <a:xfrm>
            <a:off x="17526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trust-reuse"/>
          <p:cNvCxnSpPr>
            <a:stCxn id="7" idx="3"/>
            <a:endCxn id="9" idx="1"/>
          </p:cNvCxnSpPr>
          <p:nvPr/>
        </p:nvCxnSpPr>
        <p:spPr>
          <a:xfrm>
            <a:off x="35052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reuse-signal"/>
          <p:cNvCxnSpPr>
            <a:stCxn id="9" idx="3"/>
            <a:endCxn id="11" idx="1"/>
          </p:cNvCxnSpPr>
          <p:nvPr/>
        </p:nvCxnSpPr>
        <p:spPr>
          <a:xfrm>
            <a:off x="52578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signal-receipt"/>
          <p:cNvCxnSpPr>
            <a:stCxn id="11" idx="3"/>
            <a:endCxn id="5" idx="1"/>
          </p:cNvCxnSpPr>
          <p:nvPr/>
        </p:nvCxnSpPr>
        <p:spPr>
          <a:xfrm>
            <a:off x="70104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dge-reuse-complexity"/>
          <p:cNvCxnSpPr>
            <a:stCxn id="9" idx="3"/>
            <a:endCxn id="13" idx="1"/>
          </p:cNvCxnSpPr>
          <p:nvPr/>
        </p:nvCxnSpPr>
        <p:spPr>
          <a:xfrm>
            <a:off x="52578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dge-complexity-trust"/>
          <p:cNvCxnSpPr>
            <a:stCxn id="13" idx="3"/>
            <a:endCxn id="7" idx="1"/>
          </p:cNvCxnSpPr>
          <p:nvPr/>
        </p:nvCxnSpPr>
        <p:spPr>
          <a:xfrm>
            <a:off x="87630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Every visual can retain the path from source to slide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16</a:t>
            </a:r>
            <a:endParaRPr lang="en-US" sz="1000" dirty="0"/>
          </a:p>
        </p:txBody>
      </p:sp>
      <p:sp>
        <p:nvSpPr>
          <p:cNvPr id="5" name="node-source-a"/>
          <p:cNvSpPr/>
          <p:nvPr/>
        </p:nvSpPr>
        <p:spPr>
          <a:xfrm>
            <a:off x="-203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-203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Source A</a:t>
            </a:r>
            <a:endParaRPr lang="en-US" sz="1400" dirty="0"/>
          </a:p>
        </p:txBody>
      </p:sp>
      <p:sp>
        <p:nvSpPr>
          <p:cNvPr id="7" name="node-source-b"/>
          <p:cNvSpPr/>
          <p:nvPr/>
        </p:nvSpPr>
        <p:spPr>
          <a:xfrm>
            <a:off x="965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5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Source B</a:t>
            </a:r>
            <a:endParaRPr lang="en-US" sz="1400" dirty="0"/>
          </a:p>
        </p:txBody>
      </p:sp>
      <p:sp>
        <p:nvSpPr>
          <p:cNvPr id="9" name="node-source-c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Source C</a:t>
            </a:r>
            <a:endParaRPr lang="en-US" sz="1400" dirty="0"/>
          </a:p>
        </p:txBody>
      </p:sp>
      <p:sp>
        <p:nvSpPr>
          <p:cNvPr id="11" name="node-claims"/>
          <p:cNvSpPr/>
          <p:nvPr/>
        </p:nvSpPr>
        <p:spPr>
          <a:xfrm>
            <a:off x="3302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02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Claims</a:t>
            </a:r>
            <a:endParaRPr lang="en-US" sz="1400" dirty="0"/>
          </a:p>
        </p:txBody>
      </p:sp>
      <p:sp>
        <p:nvSpPr>
          <p:cNvPr id="13" name="node-rejections"/>
          <p:cNvSpPr/>
          <p:nvPr/>
        </p:nvSpPr>
        <p:spPr>
          <a:xfrm>
            <a:off x="4470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70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Rejections</a:t>
            </a:r>
            <a:endParaRPr lang="en-US" sz="1400" dirty="0"/>
          </a:p>
        </p:txBody>
      </p:sp>
      <p:sp>
        <p:nvSpPr>
          <p:cNvPr id="15" name="node-charts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Charts</a:t>
            </a:r>
            <a:endParaRPr lang="en-US" sz="1400" dirty="0"/>
          </a:p>
        </p:txBody>
      </p:sp>
      <p:sp>
        <p:nvSpPr>
          <p:cNvPr id="17" name="node-diagrams"/>
          <p:cNvSpPr/>
          <p:nvPr/>
        </p:nvSpPr>
        <p:spPr>
          <a:xfrm>
            <a:off x="6807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07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Diagrams</a:t>
            </a:r>
            <a:endParaRPr lang="en-US" sz="1400" dirty="0"/>
          </a:p>
        </p:txBody>
      </p:sp>
      <p:sp>
        <p:nvSpPr>
          <p:cNvPr id="19" name="node-proof"/>
          <p:cNvSpPr/>
          <p:nvPr/>
        </p:nvSpPr>
        <p:spPr>
          <a:xfrm>
            <a:off x="7975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75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Proof</a:t>
            </a:r>
            <a:endParaRPr lang="en-US" sz="1400" dirty="0"/>
          </a:p>
        </p:txBody>
      </p:sp>
      <p:cxnSp>
        <p:nvCxnSpPr>
          <p:cNvPr id="21" name="edge-source-a-claims"/>
          <p:cNvCxnSpPr>
            <a:stCxn id="5" idx="3"/>
            <a:endCxn id="11" idx="1"/>
          </p:cNvCxnSpPr>
          <p:nvPr/>
        </p:nvCxnSpPr>
        <p:spPr>
          <a:xfrm>
            <a:off x="11684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dge-source-b-claims"/>
          <p:cNvCxnSpPr>
            <a:stCxn id="7" idx="3"/>
            <a:endCxn id="11" idx="1"/>
          </p:cNvCxnSpPr>
          <p:nvPr/>
        </p:nvCxnSpPr>
        <p:spPr>
          <a:xfrm>
            <a:off x="2336800" y="2606040"/>
            <a:ext cx="965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dge-source-c-claims"/>
          <p:cNvCxnSpPr>
            <a:stCxn id="9" idx="3"/>
            <a:endCxn id="11" idx="1"/>
          </p:cNvCxnSpPr>
          <p:nvPr/>
        </p:nvCxnSpPr>
        <p:spPr>
          <a:xfrm>
            <a:off x="35052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dge-source-c-rejections"/>
          <p:cNvCxnSpPr>
            <a:stCxn id="9" idx="3"/>
            <a:endCxn id="13" idx="1"/>
          </p:cNvCxnSpPr>
          <p:nvPr/>
        </p:nvCxnSpPr>
        <p:spPr>
          <a:xfrm>
            <a:off x="3505200" y="2606040"/>
            <a:ext cx="965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dge-source-a-rejections"/>
          <p:cNvCxnSpPr>
            <a:stCxn id="5" idx="3"/>
            <a:endCxn id="13" idx="1"/>
          </p:cNvCxnSpPr>
          <p:nvPr/>
        </p:nvCxnSpPr>
        <p:spPr>
          <a:xfrm>
            <a:off x="1168400" y="2606040"/>
            <a:ext cx="3302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dge-claims-charts"/>
          <p:cNvCxnSpPr>
            <a:stCxn id="11" idx="3"/>
            <a:endCxn id="15" idx="1"/>
          </p:cNvCxnSpPr>
          <p:nvPr/>
        </p:nvCxnSpPr>
        <p:spPr>
          <a:xfrm>
            <a:off x="4673600" y="2606040"/>
            <a:ext cx="965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dge-claims-diagrams"/>
          <p:cNvCxnSpPr>
            <a:stCxn id="11" idx="3"/>
            <a:endCxn id="17" idx="1"/>
          </p:cNvCxnSpPr>
          <p:nvPr/>
        </p:nvCxnSpPr>
        <p:spPr>
          <a:xfrm>
            <a:off x="46736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dge-claims-proof"/>
          <p:cNvCxnSpPr>
            <a:stCxn id="11" idx="3"/>
            <a:endCxn id="19" idx="1"/>
          </p:cNvCxnSpPr>
          <p:nvPr/>
        </p:nvCxnSpPr>
        <p:spPr>
          <a:xfrm>
            <a:off x="4673600" y="2606040"/>
            <a:ext cx="3302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dge-rejections-diagrams"/>
          <p:cNvCxnSpPr>
            <a:stCxn id="13" idx="3"/>
            <a:endCxn id="17" idx="1"/>
          </p:cNvCxnSpPr>
          <p:nvPr/>
        </p:nvCxnSpPr>
        <p:spPr>
          <a:xfrm>
            <a:off x="5842000" y="2606040"/>
            <a:ext cx="965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dge-rejections-proof"/>
          <p:cNvCxnSpPr>
            <a:stCxn id="13" idx="3"/>
            <a:endCxn id="19" idx="1"/>
          </p:cNvCxnSpPr>
          <p:nvPr/>
        </p:nvCxnSpPr>
        <p:spPr>
          <a:xfrm>
            <a:off x="58420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SYSTEMS.HIERARCHY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Routing should spend capability only where the task needs 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17</a:t>
            </a:r>
            <a:endParaRPr lang="en-US" sz="1000" dirty="0"/>
          </a:p>
        </p:txBody>
      </p:sp>
      <p:sp>
        <p:nvSpPr>
          <p:cNvPr id="5" name="node-source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source</a:t>
            </a:r>
            <a:endParaRPr lang="en-US" sz="1400" dirty="0"/>
          </a:p>
        </p:txBody>
      </p:sp>
      <p:sp>
        <p:nvSpPr>
          <p:cNvPr id="7" name="node-output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output</a:t>
            </a:r>
            <a:endParaRPr lang="en-US" sz="1400" dirty="0"/>
          </a:p>
        </p:txBody>
      </p:sp>
      <p:cxnSp>
        <p:nvCxnSpPr>
          <p:cNvPr id="9" name="edge-source-output"/>
          <p:cNvCxnSpPr>
            <a:stCxn id="5" idx="3"/>
            <a:endCxn id="7" idx="1"/>
          </p:cNvCxnSpPr>
          <p:nvPr/>
        </p:nvCxnSpPr>
        <p:spPr>
          <a:xfrm>
            <a:off x="35052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NodeKit connects the stack while NodeSlide proves the journey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18</a:t>
            </a:r>
            <a:endParaRPr lang="en-US" sz="1000" dirty="0"/>
          </a:p>
        </p:txBody>
      </p:sp>
      <p:sp>
        <p:nvSpPr>
          <p:cNvPr id="5" name="node-hub"/>
          <p:cNvSpPr/>
          <p:nvPr/>
        </p:nvSpPr>
        <p:spPr>
          <a:xfrm>
            <a:off x="381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1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Hub</a:t>
            </a:r>
            <a:endParaRPr lang="en-US" sz="1400" dirty="0"/>
          </a:p>
        </p:txBody>
      </p:sp>
      <p:sp>
        <p:nvSpPr>
          <p:cNvPr id="7" name="node-americas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Americas</a:t>
            </a:r>
            <a:endParaRPr lang="en-US" sz="1400" dirty="0"/>
          </a:p>
        </p:txBody>
      </p:sp>
      <p:sp>
        <p:nvSpPr>
          <p:cNvPr id="9" name="node-emea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EMEA</a:t>
            </a:r>
            <a:endParaRPr lang="en-US" sz="1400" dirty="0"/>
          </a:p>
        </p:txBody>
      </p:sp>
      <p:sp>
        <p:nvSpPr>
          <p:cNvPr id="11" name="node-apac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APAC</a:t>
            </a:r>
            <a:endParaRPr lang="en-US" sz="1400" dirty="0"/>
          </a:p>
        </p:txBody>
      </p:sp>
      <p:sp>
        <p:nvSpPr>
          <p:cNvPr id="13" name="node-edge"/>
          <p:cNvSpPr/>
          <p:nvPr/>
        </p:nvSpPr>
        <p:spPr>
          <a:xfrm>
            <a:off x="7391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1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Edge</a:t>
            </a:r>
            <a:endParaRPr lang="en-US" sz="1400" dirty="0"/>
          </a:p>
        </p:txBody>
      </p:sp>
      <p:cxnSp>
        <p:nvCxnSpPr>
          <p:cNvPr id="15" name="edge-hub-americas"/>
          <p:cNvCxnSpPr>
            <a:stCxn id="5" idx="3"/>
            <a:endCxn id="7" idx="1"/>
          </p:cNvCxnSpPr>
          <p:nvPr/>
        </p:nvCxnSpPr>
        <p:spPr>
          <a:xfrm>
            <a:off x="17526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hub-emea"/>
          <p:cNvCxnSpPr>
            <a:stCxn id="5" idx="3"/>
            <a:endCxn id="9" idx="1"/>
          </p:cNvCxnSpPr>
          <p:nvPr/>
        </p:nvCxnSpPr>
        <p:spPr>
          <a:xfrm>
            <a:off x="17526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hub-apac"/>
          <p:cNvCxnSpPr>
            <a:stCxn id="5" idx="3"/>
            <a:endCxn id="11" idx="1"/>
          </p:cNvCxnSpPr>
          <p:nvPr/>
        </p:nvCxnSpPr>
        <p:spPr>
          <a:xfrm>
            <a:off x="1752600" y="2606040"/>
            <a:ext cx="3886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hub-edge"/>
          <p:cNvCxnSpPr>
            <a:stCxn id="5" idx="3"/>
            <a:endCxn id="13" idx="1"/>
          </p:cNvCxnSpPr>
          <p:nvPr/>
        </p:nvCxnSpPr>
        <p:spPr>
          <a:xfrm>
            <a:off x="1752600" y="2606040"/>
            <a:ext cx="563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PROGRESSION.TIMELINE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Human approval remains the gate between experiment and harness change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19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PROGRESSION.ROADMAP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next release sequence exposes dependencies and confidence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20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PROGRESSION.SCROLLYTELLING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Evidence becomes a decision through five inspectable states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21</a:t>
            </a:r>
            <a:endParaRPr lang="en-US" sz="1000" dirty="0"/>
          </a:p>
        </p:txBody>
      </p:sp>
      <p:pic>
        <p:nvPicPr>
          <p:cNvPr id="5" name="ns:motion:evidence-scrollytelling:pinned:scene" descr="Pinned scene visual — Full-bleed screenshot of the NodeSlide workspace, captured by the 2026-07-22 baseline ru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754880" cy="2670048"/>
          </a:xfrm>
          <a:prstGeom prst="rect">
            <a:avLst/>
          </a:prstGeom>
        </p:spPr>
      </p:pic>
      <p:sp>
        <p:nvSpPr>
          <p:cNvPr id="6" name="ns:motion:evidence-scrollytelling:state-1:source"/>
          <p:cNvSpPr/>
          <p:nvPr/>
        </p:nvSpPr>
        <p:spPr>
          <a:xfrm>
            <a:off x="5486400" y="1234440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1234440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1. source</a:t>
            </a:r>
            <a:endParaRPr lang="en-US" sz="1100" dirty="0"/>
          </a:p>
        </p:txBody>
      </p:sp>
      <p:sp>
        <p:nvSpPr>
          <p:cNvPr id="8" name="ns:motion:evidence-scrollytelling:state-2:capture"/>
          <p:cNvSpPr/>
          <p:nvPr/>
        </p:nvSpPr>
        <p:spPr>
          <a:xfrm>
            <a:off x="5486400" y="1801368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801368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2. capture</a:t>
            </a:r>
            <a:endParaRPr lang="en-US" sz="1100" dirty="0"/>
          </a:p>
        </p:txBody>
      </p:sp>
      <p:sp>
        <p:nvSpPr>
          <p:cNvPr id="10" name="ns:motion:evidence-scrollytelling:state-3:fact"/>
          <p:cNvSpPr/>
          <p:nvPr/>
        </p:nvSpPr>
        <p:spPr>
          <a:xfrm>
            <a:off x="5486400" y="2368296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368296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3. fact</a:t>
            </a:r>
            <a:endParaRPr lang="en-US" sz="1100" dirty="0"/>
          </a:p>
        </p:txBody>
      </p:sp>
      <p:sp>
        <p:nvSpPr>
          <p:cNvPr id="12" name="ns:motion:evidence-scrollytelling:state-4:claim"/>
          <p:cNvSpPr/>
          <p:nvPr/>
        </p:nvSpPr>
        <p:spPr>
          <a:xfrm>
            <a:off x="5486400" y="2935224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935224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4. claim</a:t>
            </a:r>
            <a:endParaRPr lang="en-US" sz="1100" dirty="0"/>
          </a:p>
        </p:txBody>
      </p:sp>
      <p:sp>
        <p:nvSpPr>
          <p:cNvPr id="14" name="ns:motion:evidence-scrollytelling:state-5:slide-element"/>
          <p:cNvSpPr/>
          <p:nvPr/>
        </p:nvSpPr>
        <p:spPr>
          <a:xfrm>
            <a:off x="5486400" y="3502152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0" y="3502152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5. slide-element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5-step build sequence (transition: scrub) — each state reveals on advance over the pinned visual.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0" presetID="1" presetClass="entr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PROGRESSION.SCROLLYTELLING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trend means more when the audience sees the baseline move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22</a:t>
            </a:r>
            <a:endParaRPr lang="en-US" sz="1000" dirty="0"/>
          </a:p>
        </p:txBody>
      </p:sp>
      <p:pic>
        <p:nvPicPr>
          <p:cNvPr id="5" name="ns:motion:animated-chart-progression:pinned:scene" descr="Pinned scene visual — Full-bleed screenshot of the NodeSlide workspace, captured by the 2026-07-22 baseline ru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754880" cy="2670048"/>
          </a:xfrm>
          <a:prstGeom prst="rect">
            <a:avLst/>
          </a:prstGeom>
        </p:spPr>
      </p:pic>
      <p:sp>
        <p:nvSpPr>
          <p:cNvPr id="6" name="ns:motion:animated-chart-progression:state-1:baseline-series"/>
          <p:cNvSpPr/>
          <p:nvPr/>
        </p:nvSpPr>
        <p:spPr>
          <a:xfrm>
            <a:off x="5486400" y="1234440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1234440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1. baseline-series — 62</a:t>
            </a:r>
            <a:endParaRPr lang="en-US" sz="1100" dirty="0"/>
          </a:p>
        </p:txBody>
      </p:sp>
      <p:sp>
        <p:nvSpPr>
          <p:cNvPr id="8" name="ns:motion:animated-chart-progression:state-2:plan-delta"/>
          <p:cNvSpPr/>
          <p:nvPr/>
        </p:nvSpPr>
        <p:spPr>
          <a:xfrm>
            <a:off x="5486400" y="1801368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801368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2. plan-delta — 68</a:t>
            </a:r>
            <a:endParaRPr lang="en-US" sz="1100" dirty="0"/>
          </a:p>
        </p:txBody>
      </p:sp>
      <p:sp>
        <p:nvSpPr>
          <p:cNvPr id="10" name="ns:motion:animated-chart-progression:state-3:measured-delta"/>
          <p:cNvSpPr/>
          <p:nvPr/>
        </p:nvSpPr>
        <p:spPr>
          <a:xfrm>
            <a:off x="5486400" y="2368296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368296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3. measured-delta — 74</a:t>
            </a:r>
            <a:endParaRPr lang="en-US" sz="1100" dirty="0"/>
          </a:p>
        </p:txBody>
      </p:sp>
      <p:sp>
        <p:nvSpPr>
          <p:cNvPr id="12" name="ns:motion:animated-chart-progression:state-4:variance-band"/>
          <p:cNvSpPr/>
          <p:nvPr/>
        </p:nvSpPr>
        <p:spPr>
          <a:xfrm>
            <a:off x="5486400" y="2935224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935224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4. variance-band — 80</a:t>
            </a:r>
            <a:endParaRPr lang="en-US" sz="1100" dirty="0"/>
          </a:p>
        </p:txBody>
      </p:sp>
      <p:sp>
        <p:nvSpPr>
          <p:cNvPr id="14" name="ns:motion:animated-chart-progression:state-5:final-series"/>
          <p:cNvSpPr/>
          <p:nvPr/>
        </p:nvSpPr>
        <p:spPr>
          <a:xfrm>
            <a:off x="5486400" y="3502152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0" y="3502152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21F1C"/>
                </a:solidFill>
              </a:rPr>
              <a:t>5. final-series — 86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5-step build sequence (transition: step) — each state reveals on advance over the pinned visual.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0" presetID="1" presetClass="entr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MEDIA.IMAGE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visual story can lead with atmosphere and still preserve proof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23</a:t>
            </a:r>
            <a:endParaRPr lang="en-US" sz="1000" dirty="0"/>
          </a:p>
        </p:txBody>
      </p:sp>
      <p:pic>
        <p:nvPicPr>
          <p:cNvPr id="5" name="Image 0" descr="Full-bleed screenshot of the NodeSlide workspace, captured by the 2026-07-22 baseline ru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PRODUCT-EVIDENCE.SCREENSHOT-CALLOUTS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product proof is the interface people actually use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24</a:t>
            </a:r>
            <a:endParaRPr lang="en-US" sz="1000" dirty="0"/>
          </a:p>
        </p:txBody>
      </p:sp>
      <p:pic>
        <p:nvPicPr>
          <p:cNvPr id="5" name="Image 0" descr="Screenshot of the NodeSlide export capability menu captured during the 2026-07-20 production camera proo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6D54"/>
                </a:solidFill>
              </a:rPr>
              <a:t>1. Capability menu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6D54"/>
                </a:solidFill>
              </a:rPr>
              <a:t>2. Blocked export path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PRODUCT-EVIDENCE.INTERACTION-CLIP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One bounded interaction carries the story from selection to receipt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25</a:t>
            </a:r>
            <a:endParaRPr lang="en-US" sz="1000" dirty="0"/>
          </a:p>
        </p:txBody>
      </p:sp>
      <p:pic>
        <p:nvPicPr>
          <p:cNvPr id="5" name="Image 0" descr="Poster frame screenshot of the blocked insert interac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Declared poster frame — a still is not an interaction clip.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PROGRESSION.BEFORE-AFTER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 transforms a rough generation into a governed workspace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26</a:t>
            </a:r>
            <a:endParaRPr lang="en-US" sz="1000" dirty="0"/>
          </a:p>
        </p:txBody>
      </p:sp>
      <p:pic>
        <p:nvPicPr>
          <p:cNvPr id="5" name="Image 0" descr="Screenshot of the NodeSlide workspace in light theme (before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3931920" cy="2201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D635A"/>
                </a:solidFill>
              </a:rPr>
              <a:t>Before · light</a:t>
            </a:r>
            <a:endParaRPr lang="en-US" sz="1100" dirty="0"/>
          </a:p>
        </p:txBody>
      </p:sp>
      <p:pic>
        <p:nvPicPr>
          <p:cNvPr id="7" name="Image 1" descr="Screenshot of the NodeSlide workspace in dark theme (after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371600"/>
            <a:ext cx="3931920" cy="2201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D635A"/>
                </a:solidFill>
              </a:rPr>
              <a:t>After · dark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MEDIA.IMAGE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canvas can move from whole system to exact evidence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27</a:t>
            </a:r>
            <a:endParaRPr lang="en-US" sz="1000" dirty="0"/>
          </a:p>
        </p:txBody>
      </p:sp>
      <p:pic>
        <p:nvPicPr>
          <p:cNvPr id="5" name="Image 0" descr="Full-bleed screenshot of the NodeSlide workspace, captured by the 2026-07-22 baseline ru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PRODUCT-EVIDENCE.CLAIM-LINEAGE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claim is trustworthy when its entire path remains inspectable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Atlas v3 shipped zero native chart parts — </a:t>
            </a:r>
            <a:r>
              <a:rPr lang="en-US" sz="1000" u="sng" dirty="0">
                <a:solidFill>
                  <a:srgbClr val="C76D54"/>
                </a:solidFill>
                <a:hlinkClick r:id="rId3" tooltip="Atlas v3 shipped zero native chart part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5171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The topology gate that measured it — </a:t>
            </a:r>
            <a:r>
              <a:rPr lang="en-US" sz="1000" u="sng" dirty="0">
                <a:solidFill>
                  <a:srgbClr val="C76D54"/>
                </a:solidFill>
                <a:hlinkClick r:id="rId4" tooltip="The topology gate that measured i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endParaRPr lang="en-US" sz="1000" dirty="0"/>
          </a:p>
        </p:txBody>
      </p:sp>
      <p:sp>
        <p:nvSpPr>
          <p:cNvPr id="7" name="node-source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source</a:t>
            </a:r>
            <a:endParaRPr lang="en-US" sz="1400" dirty="0"/>
          </a:p>
        </p:txBody>
      </p:sp>
      <p:sp>
        <p:nvSpPr>
          <p:cNvPr id="9" name="node-output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output</a:t>
            </a:r>
            <a:endParaRPr lang="en-US" sz="1400" dirty="0"/>
          </a:p>
        </p:txBody>
      </p:sp>
      <p:cxnSp>
        <p:nvCxnSpPr>
          <p:cNvPr id="11" name="edge-source-output"/>
          <p:cNvCxnSpPr>
            <a:stCxn id="7" idx="3"/>
            <a:endCxn id="9" idx="1"/>
          </p:cNvCxnSpPr>
          <p:nvPr/>
        </p:nvCxnSpPr>
        <p:spPr>
          <a:xfrm>
            <a:off x="3505200" y="2606040"/>
            <a:ext cx="2133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PRODUCT-EVIDENCE.CITATION-CARD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Citation quality depends on the exact source region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29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OOXML c:dateAx (ECMA-376 time axis) — </a:t>
            </a:r>
            <a:r>
              <a:rPr lang="en-US" sz="1000" u="sng" dirty="0">
                <a:solidFill>
                  <a:srgbClr val="C76D54"/>
                </a:solidFill>
                <a:hlinkClick r:id="rId3" tooltip="OOXML c:dateAx (ECMA-376 time axi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endParaRPr lang="en-US" sz="1000" dirty="0"/>
          </a:p>
        </p:txBody>
      </p:sp>
      <p:pic>
        <p:nvPicPr>
          <p:cNvPr id="6" name="Image 0" descr="Screenshot of the parent/child trace waterfall region cited as evide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TECHNICAL.CODE-AND-RESULT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Runtime claims require a reproducible benchmark receipt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206240" cy="3108960"/>
          </a:xfrm>
          <a:prstGeom prst="rect">
            <a:avLst/>
          </a:prstGeom>
          <a:solidFill>
            <a:srgbClr val="F4EFE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raw = await pptx.write("nodebuffer");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a   = await injectOmml(raw, equations);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b   = await injectConnectors(a, diagrams);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out = await injectDateAxes(b, timelines);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6304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Measured ms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pptx.write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307.757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inject.omml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37.151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inject.connectors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34.243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inject.dateAxes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23.64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inject.timing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23.099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425.89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sample size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TECHNICAL.TRACE-WATERFALL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Trace anatomy is illustrative until trace and span IDs are bound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Measured build spans (build-measurements.json) — </a:t>
            </a:r>
            <a:r>
              <a:rPr lang="en-US" sz="1000" u="sng" dirty="0">
                <a:solidFill>
                  <a:srgbClr val="C76D54"/>
                </a:solidFill>
                <a:hlinkClick r:id="rId3" tooltip="Measured build spans (build-measurements.json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endParaRPr lang="en-US" sz="1000" dirty="0"/>
          </a:p>
        </p:txBody>
      </p:sp>
      <p:sp>
        <p:nvSpPr>
          <p:cNvPr id="6" name="node-pptx-write"/>
          <p:cNvSpPr/>
          <p:nvPr/>
        </p:nvSpPr>
        <p:spPr>
          <a:xfrm>
            <a:off x="381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1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pptx.write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307.757ms</a:t>
            </a:r>
            <a:endParaRPr lang="en-US" sz="1400" dirty="0"/>
          </a:p>
        </p:txBody>
      </p:sp>
      <p:sp>
        <p:nvSpPr>
          <p:cNvPr id="8" name="node-inject-omml"/>
          <p:cNvSpPr/>
          <p:nvPr/>
        </p:nvSpPr>
        <p:spPr>
          <a:xfrm>
            <a:off x="2133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3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inject.omml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37.151ms</a:t>
            </a:r>
            <a:endParaRPr lang="en-US" sz="1400" dirty="0"/>
          </a:p>
        </p:txBody>
      </p:sp>
      <p:sp>
        <p:nvSpPr>
          <p:cNvPr id="10" name="node-inject-connectors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inject.connectors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34.243ms</a:t>
            </a:r>
            <a:endParaRPr lang="en-US" sz="1400" dirty="0"/>
          </a:p>
        </p:txBody>
      </p:sp>
      <p:sp>
        <p:nvSpPr>
          <p:cNvPr id="12" name="node-inject-dateaxes"/>
          <p:cNvSpPr/>
          <p:nvPr/>
        </p:nvSpPr>
        <p:spPr>
          <a:xfrm>
            <a:off x="5638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8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inject.dateAxes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23.64ms</a:t>
            </a:r>
            <a:endParaRPr lang="en-US" sz="1400" dirty="0"/>
          </a:p>
        </p:txBody>
      </p:sp>
      <p:sp>
        <p:nvSpPr>
          <p:cNvPr id="14" name="node-inject-timing"/>
          <p:cNvSpPr/>
          <p:nvPr/>
        </p:nvSpPr>
        <p:spPr>
          <a:xfrm>
            <a:off x="7391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91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inject.timing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221F1C"/>
                </a:solidFill>
              </a:rPr>
              <a:t>23.099ms</a:t>
            </a:r>
            <a:endParaRPr lang="en-US" sz="1400" dirty="0"/>
          </a:p>
        </p:txBody>
      </p:sp>
      <p:cxnSp>
        <p:nvCxnSpPr>
          <p:cNvPr id="16" name="edge-pptx-write-inject-omml"/>
          <p:cNvCxnSpPr>
            <a:stCxn id="6" idx="3"/>
            <a:endCxn id="8" idx="1"/>
          </p:cNvCxnSpPr>
          <p:nvPr/>
        </p:nvCxnSpPr>
        <p:spPr>
          <a:xfrm>
            <a:off x="17526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inject-omml-inject-connectors"/>
          <p:cNvCxnSpPr>
            <a:stCxn id="8" idx="3"/>
            <a:endCxn id="10" idx="1"/>
          </p:cNvCxnSpPr>
          <p:nvPr/>
        </p:nvCxnSpPr>
        <p:spPr>
          <a:xfrm>
            <a:off x="35052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inject-connectors-inject-dateaxes"/>
          <p:cNvCxnSpPr>
            <a:stCxn id="10" idx="3"/>
            <a:endCxn id="12" idx="1"/>
          </p:cNvCxnSpPr>
          <p:nvPr/>
        </p:nvCxnSpPr>
        <p:spPr>
          <a:xfrm>
            <a:off x="52578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dge-inject-dateaxes-inject-timing"/>
          <p:cNvCxnSpPr>
            <a:stCxn id="12" idx="3"/>
            <a:endCxn id="14" idx="1"/>
          </p:cNvCxnSpPr>
          <p:nvPr/>
        </p:nvCxnSpPr>
        <p:spPr>
          <a:xfrm>
            <a:off x="7010400" y="2606040"/>
            <a:ext cx="381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TECHNICAL.EQUATION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score is only useful when every symbol maps to evidence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PRODUCT-EVIDENCE.DECK-CI-RECEIPT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deck is not done until both pixels and semantics pass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Native builder CI run — </a:t>
            </a:r>
            <a:r>
              <a:rPr lang="en-US" sz="1000" u="sng" dirty="0">
                <a:solidFill>
                  <a:srgbClr val="C76D54"/>
                </a:solidFill>
                <a:hlinkClick r:id="rId3" tooltip="Native builder CI ru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artifact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deck-ci-receipt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generic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DECISION.RISK-MATRIX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Pipeline coverage is the risk that deserves action first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DECISION.COST-QUALITY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Routing improves when quality, cost, and latency are judged together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46304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Different models fail differently under the same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36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quality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cost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latency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claude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0.00862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8.193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kimi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0.9583333333333334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0.001303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17.617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gemma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0.9583333333333334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17.271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nemotron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gpt-oss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ensemble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V2 expands the harness without crediting the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37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artifactCoverage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v1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v2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38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D635A"/>
                </a:solidFill>
              </a:rPr>
              <a:t>DECISION.RECOMMENDATION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Reuse the visual vocabulary, then adapt the communication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D635A"/>
                </a:solidFill>
              </a:rPr>
              <a:t>38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1F1C"/>
                </a:solidFill>
              </a:rPr>
              <a:t>Reuse the visual vocabulary, then adapt the communication contract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917</Words>
  <Application>Microsoft Office PowerPoint</Application>
  <PresentationFormat>Custom</PresentationFormat>
  <Paragraphs>283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Homen Shum</cp:lastModifiedBy>
  <cp:revision>1</cp:revision>
  <dcterms:created xsi:type="dcterms:W3CDTF">2026-07-23T03:03:02Z</dcterms:created>
  <dcterms:modified xsi:type="dcterms:W3CDTF">2026-07-23T03:10:18Z</dcterms:modified>
</cp:coreProperties>
</file>