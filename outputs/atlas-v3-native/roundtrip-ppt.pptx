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rts/colors3.xml" ContentType="application/vnd.ms-office.chartcolorstyle+xml"/>
  <Override PartName="/ppt/charts/style2.xml" ContentType="application/vnd.ms-office.chartstyl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style1.xml" ContentType="application/vnd.ms-office.chartstyle+xml"/>
  <Override PartName="/ppt/charts/chart3.xml" ContentType="application/vnd.openxmlformats-officedocument.drawingml.chart+xml"/>
  <Override PartName="/ppt/charts/colors10.xml" ContentType="application/vnd.ms-office.chartcolorstyle+xml"/>
  <Override PartName="/ppt/charts/colors1.xml" ContentType="application/vnd.ms-office.chartcolorstyle+xml"/>
  <Override PartName="/ppt/charts/colors2.xml" ContentType="application/vnd.ms-office.chartcolorstyle+xml"/>
  <Override PartName="/ppt/charts/style3.xml" ContentType="application/vnd.ms-office.chartstyle+xml"/>
  <Override PartName="/ppt/charts/chart4.xml" ContentType="application/vnd.openxmlformats-officedocument.drawingml.chart+xml"/>
  <Override PartName="/ppt/charts/colors5.xml" ContentType="application/vnd.ms-office.chartcolorstyle+xml"/>
  <Override PartName="/ppt/charts/style4.xml" ContentType="application/vnd.ms-office.chartstyle+xml"/>
  <Override PartName="/ppt/charts/style5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olors7.xml" ContentType="application/vnd.ms-office.chartcolorstyle+xml"/>
  <Override PartName="/ppt/charts/style6.xml" ContentType="application/vnd.ms-office.chartstyle+xml"/>
  <Override PartName="/ppt/charts/style7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olors9.xml" ContentType="application/vnd.ms-office.chartcolorstyle+xml"/>
  <Override PartName="/ppt/charts/style8.xml" ContentType="application/vnd.ms-office.chartstyle+xml"/>
  <Override PartName="/ppt/charts/style9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style10.xml" ContentType="application/vnd.ms-office.chartstyle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media/image6.emf" ContentType="image/x-emf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7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</p:sldIdLst>
  <p:sldSz cx="9144000" cy="5148263"/>
  <p:notesSz cx="5148263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presProps" Target="presProps.xml"/>
</Relationships>
</file>

<file path=ppt/charts/_rels/chart1.xml.rels><?xml version="1.0" encoding="UTF-8"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
</Relationships>
</file>

<file path=ppt/charts/_rels/chart2.xml.rels><?xml version="1.0" encoding="UTF-8"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
</Relationships>
</file>

<file path=ppt/charts/_rels/chart3.xml.rels><?xml version="1.0" encoding="UTF-8"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
</Relationships>
</file>

<file path=ppt/charts/_rels/chart4.xml.rels><?xml version="1.0" encoding="UTF-8"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
</Relationships>
</file>

<file path=ppt/charts/_rels/chart5.xml.rels><?xml version="1.0" encoding="UTF-8"?>
<Relationships xmlns="http://schemas.openxmlformats.org/package/2006/relationships"><Relationship Id="rId1" Type="http://schemas.microsoft.com/office/2011/relationships/chartStyle" Target="style5.xml"/><Relationship Id="rId2" Type="http://schemas.microsoft.com/office/2011/relationships/chartColorStyle" Target="colors5.xml"/>
</Relationships>
</file>

<file path=ppt/charts/_rels/chart6.xml.rels><?xml version="1.0" encoding="UTF-8"?>
<Relationships xmlns="http://schemas.openxmlformats.org/package/2006/relationships"><Relationship Id="rId1" Type="http://schemas.microsoft.com/office/2011/relationships/chartStyle" Target="style6.xml"/><Relationship Id="rId2" Type="http://schemas.microsoft.com/office/2011/relationships/chartColorStyle" Target="colors6.xml"/>
</Relationships>
</file>

<file path=ppt/charts/_rels/chart7.xml.rels><?xml version="1.0" encoding="UTF-8"?>
<Relationships xmlns="http://schemas.openxmlformats.org/package/2006/relationships"><Relationship Id="rId1" Type="http://schemas.microsoft.com/office/2011/relationships/chartStyle" Target="style7.xml"/><Relationship Id="rId2" Type="http://schemas.microsoft.com/office/2011/relationships/chartColorStyle" Target="colors7.xml"/>
</Relationships>
</file>

<file path=ppt/charts/_rels/chart8.xml.rels><?xml version="1.0" encoding="UTF-8"?>
<Relationships xmlns="http://schemas.openxmlformats.org/package/2006/relationships"><Relationship Id="rId1" Type="http://schemas.microsoft.com/office/2011/relationships/chartStyle" Target="style8.xml"/><Relationship Id="rId2" Type="http://schemas.microsoft.com/office/2011/relationships/chartColorStyle" Target="colors8.xml"/>
</Relationships>
</file>

<file path=ppt/charts/_rels/chart9.xml.rels><?xml version="1.0" encoding="UTF-8"?>
<Relationships xmlns="http://schemas.openxmlformats.org/package/2006/relationships"><Relationship Id="rId1" Type="http://schemas.microsoft.com/office/2011/relationships/chartStyle" Target="style9.xml"/><Relationship Id="rId2" Type="http://schemas.microsoft.com/office/2011/relationships/chartColorStyle" Target="colors9.xml"/>
</Relationships>
</file>

<file path=ppt/charts/_rels/chart10.xml.rels><?xml version="1.0" encoding="UTF-8"?>
<Relationships xmlns="http://schemas.openxmlformats.org/package/2006/relationships"><Relationship Id="rId1" Type="http://schemas.microsoft.com/office/2011/relationships/chartStyle" Target="style10.xml"/><Relationship Id="rId2" Type="http://schemas.microsoft.com/office/2011/relationships/chartColorStyle" Target="colors10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this run</c:v>
                </c:pt>
              </c:strCache>
            </c:strRef>
          </c:tx>
          <c:spPr>
            <a:solidFill>
              <a:srgbClr val="C76D54"/>
            </a:solidFill>
            <a:ln w="25560">
              <a:solidFill>
                <a:srgbClr val="C76D54"/>
              </a:solidFill>
              <a:round/>
            </a:ln>
          </c:spPr>
          <c:marker>
            <c:symbol val="circle"/>
            <c:size val="6"/>
            <c:spPr>
              <a:solidFill>
                <a:srgbClr val="C76D54"/>
              </a:solidFill>
            </c:spPr>
          </c:marker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5"/>
                <c:pt idx="0">
                  <c:v>Requested</c:v>
                </c:pt>
                <c:pt idx="1">
                  <c:v>Passed gates</c:v>
                </c:pt>
                <c:pt idx="2">
                  <c:v>Eligible</c:v>
                </c:pt>
                <c:pt idx="3">
                  <c:v>Model-authored</c:v>
                </c:pt>
                <c:pt idx="4">
                  <c:v>Human-preferred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84</c:v>
                </c:pt>
                <c:pt idx="1">
                  <c:v>84</c:v>
                </c:pt>
                <c:pt idx="2">
                  <c:v>82</c:v>
                </c:pt>
                <c:pt idx="3">
                  <c:v>72</c:v>
                </c:pt>
                <c:pt idx="4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prior run</c:v>
                </c:pt>
              </c:strCache>
            </c:strRef>
          </c:tx>
          <c:spPr>
            <a:solidFill>
              <a:srgbClr val="4F7A52"/>
            </a:solidFill>
            <a:ln w="25560">
              <a:solidFill>
                <a:srgbClr val="4F7A52"/>
              </a:solidFill>
              <a:round/>
            </a:ln>
          </c:spPr>
          <c:marker>
            <c:symbol val="circle"/>
            <c:size val="6"/>
            <c:spPr>
              <a:solidFill>
                <a:srgbClr val="4F7A52"/>
              </a:solidFill>
            </c:spPr>
          </c:marker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5"/>
                <c:pt idx="0">
                  <c:v>Requested</c:v>
                </c:pt>
                <c:pt idx="1">
                  <c:v>Passed gates</c:v>
                </c:pt>
                <c:pt idx="2">
                  <c:v>Eligible</c:v>
                </c:pt>
                <c:pt idx="3">
                  <c:v>Model-authored</c:v>
                </c:pt>
                <c:pt idx="4">
                  <c:v>Human-preferred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5"/>
                <c:pt idx="0">
                  <c:v>38</c:v>
                </c:pt>
                <c:pt idx="1">
                  <c:v>32</c:v>
                </c:pt>
                <c:pt idx="2">
                  <c:v>30</c:v>
                </c:pt>
                <c:pt idx="3">
                  <c:v>24</c:v>
                </c:pt>
                <c:pt idx="4">
                  <c:v>0</c:v>
                </c:pt>
              </c:numCache>
            </c:numRef>
          </c:val>
          <c:smooth val="0"/>
        </c:ser>
        <c:hiLowLines>
          <c:spPr>
            <a:ln w="0">
              <a:noFill/>
            </a:ln>
          </c:spPr>
        </c:hiLowLines>
        <c:marker val="1"/>
        <c:axId val="89479044"/>
        <c:axId val="27646864"/>
      </c:lineChart>
      <c:catAx>
        <c:axId val="8947904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6D635A"/>
                </a:solidFill>
                <a:uFillTx/>
                <a:latin typeface="Arial"/>
              </a:defRPr>
            </a:pPr>
          </a:p>
        </c:txPr>
        <c:crossAx val="27646864"/>
        <c:crosses val="autoZero"/>
        <c:auto val="1"/>
        <c:lblAlgn val="ctr"/>
        <c:lblOffset val="100"/>
        <c:noMultiLvlLbl val="0"/>
      </c:catAx>
      <c:valAx>
        <c:axId val="27646864"/>
        <c:scaling>
          <c:orientation val="minMax"/>
        </c:scaling>
        <c:delete val="0"/>
        <c:axPos val="l"/>
        <c:majorGridlines>
          <c:spPr>
            <a:ln w="12600">
              <a:solidFill>
                <a:srgbClr val="888888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6D635A"/>
                </a:solidFill>
                <a:uFillTx/>
                <a:latin typeface="Arial"/>
              </a:defRPr>
            </a:pPr>
          </a:p>
        </c:txPr>
        <c:crossAx val="89479044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sz="1000" b="0" u="none" strike="noStrike">
              <a:solidFill>
                <a:srgbClr val="000000"/>
              </a:solidFill>
              <a:uFillTx/>
              <a:latin typeface="Calibri"/>
            </a:defRPr>
          </a:pPr>
        </a:p>
      </c:txPr>
    </c:legend>
    <c:plotVisOnly val="1"/>
    <c:dispBlanksAs val="span"/>
  </c:chart>
  <c:spPr>
    <a:noFill/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kimi-k3</c:v>
                </c:pt>
              </c:strCache>
            </c:strRef>
          </c:tx>
          <c:spPr>
            <a:solidFill>
              <a:srgbClr val="C76D54"/>
            </a:solidFill>
            <a:ln w="25560">
              <a:solidFill>
                <a:srgbClr val="C76D54"/>
              </a:solidFill>
              <a:round/>
            </a:ln>
          </c:spPr>
          <c:marker>
            <c:symbol val="circle"/>
            <c:size val="6"/>
            <c:spPr>
              <a:solidFill>
                <a:srgbClr val="C76D54"/>
              </a:solidFill>
            </c:spPr>
          </c:marker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5"/>
                <c:pt idx="0">
                  <c:v>Plan</c:v>
                </c:pt>
                <c:pt idx="1">
                  <c:v>Compile</c:v>
                </c:pt>
                <c:pt idx="2">
                  <c:v>Emit</c:v>
                </c:pt>
                <c:pt idx="3">
                  <c:v>Inspect</c:v>
                </c:pt>
                <c:pt idx="4">
                  <c:v>Gate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6.2</c:v>
                </c:pt>
                <c:pt idx="1">
                  <c:v>14.8</c:v>
                </c:pt>
                <c:pt idx="2">
                  <c:v>21.1</c:v>
                </c:pt>
                <c:pt idx="3">
                  <c:v>26.4</c:v>
                </c:pt>
                <c:pt idx="4">
                  <c:v>31.9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claude-sonnet-5</c:v>
                </c:pt>
              </c:strCache>
            </c:strRef>
          </c:tx>
          <c:spPr>
            <a:solidFill>
              <a:srgbClr val="4F7A52"/>
            </a:solidFill>
            <a:ln w="25560">
              <a:solidFill>
                <a:srgbClr val="4F7A52"/>
              </a:solidFill>
              <a:round/>
            </a:ln>
          </c:spPr>
          <c:marker>
            <c:symbol val="circle"/>
            <c:size val="6"/>
            <c:spPr>
              <a:solidFill>
                <a:srgbClr val="4F7A52"/>
              </a:solidFill>
            </c:spPr>
          </c:marker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5"/>
                <c:pt idx="0">
                  <c:v>Plan</c:v>
                </c:pt>
                <c:pt idx="1">
                  <c:v>Compile</c:v>
                </c:pt>
                <c:pt idx="2">
                  <c:v>Emit</c:v>
                </c:pt>
                <c:pt idx="3">
                  <c:v>Inspect</c:v>
                </c:pt>
                <c:pt idx="4">
                  <c:v>Gate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5"/>
                <c:pt idx="0">
                  <c:v>7.1</c:v>
                </c:pt>
                <c:pt idx="1">
                  <c:v>12.3</c:v>
                </c:pt>
                <c:pt idx="2">
                  <c:v>16.9</c:v>
                </c:pt>
                <c:pt idx="3">
                  <c:v>20.2</c:v>
                </c:pt>
                <c:pt idx="4">
                  <c:v>23.6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gemma-4-26b</c:v>
                </c:pt>
              </c:strCache>
            </c:strRef>
          </c:tx>
          <c:spPr>
            <a:solidFill>
              <a:srgbClr val="B8862A"/>
            </a:solidFill>
            <a:ln w="25560">
              <a:solidFill>
                <a:srgbClr val="B8862A"/>
              </a:solidFill>
              <a:round/>
            </a:ln>
          </c:spPr>
          <c:marker>
            <c:symbol val="circle"/>
            <c:size val="6"/>
            <c:spPr>
              <a:solidFill>
                <a:srgbClr val="B8862A"/>
              </a:solidFill>
            </c:spPr>
          </c:marker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5"/>
                <c:pt idx="0">
                  <c:v>Plan</c:v>
                </c:pt>
                <c:pt idx="1">
                  <c:v>Compile</c:v>
                </c:pt>
                <c:pt idx="2">
                  <c:v>Emit</c:v>
                </c:pt>
                <c:pt idx="3">
                  <c:v>Inspect</c:v>
                </c:pt>
                <c:pt idx="4">
                  <c:v>Gate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5"/>
                <c:pt idx="0">
                  <c:v>9.4</c:v>
                </c:pt>
                <c:pt idx="1">
                  <c:v>19.7</c:v>
                </c:pt>
                <c:pt idx="2">
                  <c:v>28.8</c:v>
                </c:pt>
                <c:pt idx="3">
                  <c:v>30.1</c:v>
                </c:pt>
                <c:pt idx="4">
                  <c:v>31.4</c:v>
                </c:pt>
              </c:numCache>
            </c:numRef>
          </c:val>
          <c:smooth val="0"/>
        </c:ser>
        <c:hiLowLines>
          <c:spPr>
            <a:ln w="0">
              <a:noFill/>
            </a:ln>
          </c:spPr>
        </c:hiLowLines>
        <c:marker val="1"/>
        <c:axId val="60502231"/>
        <c:axId val="77290738"/>
      </c:lineChart>
      <c:catAx>
        <c:axId val="60502231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6D635A"/>
                </a:solidFill>
                <a:uFillTx/>
                <a:latin typeface="Arial"/>
              </a:defRPr>
            </a:pPr>
          </a:p>
        </c:txPr>
        <c:crossAx val="77290738"/>
        <c:crosses val="autoZero"/>
        <c:auto val="1"/>
        <c:lblAlgn val="ctr"/>
        <c:lblOffset val="100"/>
        <c:noMultiLvlLbl val="0"/>
      </c:catAx>
      <c:valAx>
        <c:axId val="77290738"/>
        <c:scaling>
          <c:orientation val="minMax"/>
        </c:scaling>
        <c:delete val="0"/>
        <c:axPos val="l"/>
        <c:majorGridlines>
          <c:spPr>
            <a:ln w="12600">
              <a:solidFill>
                <a:srgbClr val="888888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6D635A"/>
                </a:solidFill>
                <a:uFillTx/>
                <a:latin typeface="Arial"/>
              </a:defRPr>
            </a:pPr>
          </a:p>
        </c:txPr>
        <c:crossAx val="60502231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sz="1000" b="0" u="none" strike="noStrike">
              <a:solidFill>
                <a:srgbClr val="000000"/>
              </a:solidFill>
              <a:uFillTx/>
              <a:latin typeface="Calibri"/>
            </a:defRPr>
          </a:pPr>
        </a:p>
      </c:txPr>
    </c:legend>
    <c:plotVisOnly val="1"/>
    <c:dispBlanksAs val="span"/>
  </c:chart>
  <c:spPr>
    <a:noFill/>
    <a:ln w="0"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low</c:v>
                </c:pt>
              </c:strCache>
            </c:strRef>
          </c:tx>
          <c:spPr>
            <a:solidFill>
              <a:srgbClr val="C76D54"/>
            </a:solidFill>
            <a:ln w="25560">
              <a:solidFill>
                <a:srgbClr val="C76D54"/>
              </a:solidFill>
              <a:round/>
            </a:ln>
          </c:spPr>
          <c:marker>
            <c:symbol val="circle"/>
            <c:size val="6"/>
            <c:spPr>
              <a:solidFill>
                <a:srgbClr val="C76D54"/>
              </a:solidFill>
            </c:spPr>
          </c:marker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5"/>
                <c:pt idx="0">
                  <c:v>Q1 observed</c:v>
                </c:pt>
                <c:pt idx="1">
                  <c:v>Q2 observed</c:v>
                </c:pt>
                <c:pt idx="2">
                  <c:v>Q3 modeled</c:v>
                </c:pt>
                <c:pt idx="3">
                  <c:v>Q4 modeled</c:v>
                </c:pt>
                <c:pt idx="4">
                  <c:v>Q5 modeled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9</c:v>
                </c:pt>
                <c:pt idx="1">
                  <c:v>9.4</c:v>
                </c:pt>
                <c:pt idx="2">
                  <c:v>9.6</c:v>
                </c:pt>
                <c:pt idx="3">
                  <c:v>9.2</c:v>
                </c:pt>
                <c:pt idx="4">
                  <c:v>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4F7A52"/>
            </a:solidFill>
            <a:ln w="25560">
              <a:solidFill>
                <a:srgbClr val="4F7A52"/>
              </a:solidFill>
              <a:round/>
            </a:ln>
          </c:spPr>
          <c:marker>
            <c:symbol val="circle"/>
            <c:size val="6"/>
            <c:spPr>
              <a:solidFill>
                <a:srgbClr val="4F7A52"/>
              </a:solidFill>
            </c:spPr>
          </c:marker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5"/>
                <c:pt idx="0">
                  <c:v>Q1 observed</c:v>
                </c:pt>
                <c:pt idx="1">
                  <c:v>Q2 observed</c:v>
                </c:pt>
                <c:pt idx="2">
                  <c:v>Q3 modeled</c:v>
                </c:pt>
                <c:pt idx="3">
                  <c:v>Q4 modeled</c:v>
                </c:pt>
                <c:pt idx="4">
                  <c:v>Q5 modeled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5"/>
                <c:pt idx="0">
                  <c:v>9</c:v>
                </c:pt>
                <c:pt idx="1">
                  <c:v>9.4</c:v>
                </c:pt>
                <c:pt idx="2">
                  <c:v>10.2</c:v>
                </c:pt>
                <c:pt idx="3">
                  <c:v>10.8</c:v>
                </c:pt>
                <c:pt idx="4">
                  <c:v>11.4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high</c:v>
                </c:pt>
              </c:strCache>
            </c:strRef>
          </c:tx>
          <c:spPr>
            <a:solidFill>
              <a:srgbClr val="B8862A"/>
            </a:solidFill>
            <a:ln w="25560">
              <a:solidFill>
                <a:srgbClr val="B8862A"/>
              </a:solidFill>
              <a:round/>
            </a:ln>
          </c:spPr>
          <c:marker>
            <c:symbol val="circle"/>
            <c:size val="6"/>
            <c:spPr>
              <a:solidFill>
                <a:srgbClr val="B8862A"/>
              </a:solidFill>
            </c:spPr>
          </c:marker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5"/>
                <c:pt idx="0">
                  <c:v>Q1 observed</c:v>
                </c:pt>
                <c:pt idx="1">
                  <c:v>Q2 observed</c:v>
                </c:pt>
                <c:pt idx="2">
                  <c:v>Q3 modeled</c:v>
                </c:pt>
                <c:pt idx="3">
                  <c:v>Q4 modeled</c:v>
                </c:pt>
                <c:pt idx="4">
                  <c:v>Q5 modeled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5"/>
                <c:pt idx="0">
                  <c:v>9</c:v>
                </c:pt>
                <c:pt idx="1">
                  <c:v>9.4</c:v>
                </c:pt>
                <c:pt idx="2">
                  <c:v>10.8</c:v>
                </c:pt>
                <c:pt idx="3">
                  <c:v>12</c:v>
                </c:pt>
                <c:pt idx="4">
                  <c:v>13.8</c:v>
                </c:pt>
              </c:numCache>
            </c:numRef>
          </c:val>
          <c:smooth val="0"/>
        </c:ser>
        <c:hiLowLines>
          <c:spPr>
            <a:ln w="0">
              <a:noFill/>
            </a:ln>
          </c:spPr>
        </c:hiLowLines>
        <c:marker val="1"/>
        <c:axId val="66754729"/>
        <c:axId val="37816544"/>
      </c:lineChart>
      <c:catAx>
        <c:axId val="66754729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6D635A"/>
                </a:solidFill>
                <a:uFillTx/>
                <a:latin typeface="Arial"/>
              </a:defRPr>
            </a:pPr>
          </a:p>
        </c:txPr>
        <c:crossAx val="37816544"/>
        <c:crosses val="autoZero"/>
        <c:auto val="1"/>
        <c:lblAlgn val="ctr"/>
        <c:lblOffset val="100"/>
        <c:noMultiLvlLbl val="0"/>
      </c:catAx>
      <c:valAx>
        <c:axId val="37816544"/>
        <c:scaling>
          <c:orientation val="minMax"/>
        </c:scaling>
        <c:delete val="0"/>
        <c:axPos val="l"/>
        <c:majorGridlines>
          <c:spPr>
            <a:ln w="12600">
              <a:solidFill>
                <a:srgbClr val="888888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6D635A"/>
                </a:solidFill>
                <a:uFillTx/>
                <a:latin typeface="Arial"/>
              </a:defRPr>
            </a:pPr>
          </a:p>
        </c:txPr>
        <c:crossAx val="66754729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sz="1000" b="0" u="none" strike="noStrike">
              <a:solidFill>
                <a:srgbClr val="000000"/>
              </a:solidFill>
              <a:uFillTx/>
              <a:latin typeface="Calibri"/>
            </a:defRPr>
          </a:pPr>
        </a:p>
      </c:txPr>
    </c:legend>
    <c:plotVisOnly val="1"/>
    <c:dispBlanksAs val="span"/>
  </c:chart>
  <c:spPr>
    <a:noFill/>
    <a:ln w="0">
      <a:noFill/>
    </a:ln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quality points</c:v>
                </c:pt>
              </c:strCache>
            </c:strRef>
          </c:tx>
          <c:spPr>
            <a:solidFill>
              <a:srgbClr val="C76D54"/>
            </a:solidFill>
            <a:ln w="0">
              <a:noFill/>
            </a:ln>
          </c:spPr>
          <c:invertIfNegative val="0"/>
          <c:dPt>
            <c:idx val="0"/>
            <c:invertIfNegative val="0"/>
            <c:spPr>
              <a:solidFill>
                <a:srgbClr val="C76D54"/>
              </a:solidFill>
              <a:ln w="0">
                <a:noFill/>
              </a:ln>
            </c:spPr>
          </c:dPt>
          <c:dPt>
            <c:idx val="1"/>
            <c:invertIfNegative val="0"/>
            <c:spPr>
              <a:solidFill>
                <a:srgbClr val="4F7A52"/>
              </a:solidFill>
              <a:ln w="0">
                <a:noFill/>
              </a:ln>
            </c:spPr>
          </c:dPt>
          <c:dPt>
            <c:idx val="2"/>
            <c:invertIfNegative val="0"/>
            <c:spPr>
              <a:solidFill>
                <a:srgbClr val="B8862A"/>
              </a:solidFill>
              <a:ln w="0">
                <a:noFill/>
              </a:ln>
            </c:spPr>
          </c:dPt>
          <c:dPt>
            <c:idx val="3"/>
            <c:invertIfNegative val="0"/>
            <c:spPr>
              <a:solidFill>
                <a:srgbClr val="C76D54"/>
              </a:solidFill>
              <a:ln w="0">
                <a:noFill/>
              </a:ln>
            </c:spPr>
          </c:dPt>
          <c:dPt>
            <c:idx val="4"/>
            <c:invertIfNegative val="0"/>
            <c:spPr>
              <a:solidFill>
                <a:srgbClr val="4F7A52"/>
              </a:solidFill>
              <a:ln w="0">
                <a:noFill/>
              </a:ln>
            </c:spPr>
          </c:dPt>
          <c:dPt>
            <c:idx val="5"/>
            <c:invertIfNegative val="0"/>
            <c:spPr>
              <a:solidFill>
                <a:srgbClr val="B8862A"/>
              </a:solidFill>
              <a:ln w="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sz="1200" b="0" u="none" strike="noStrik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sz="1200" b="0" u="none" strike="noStrik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2"/>
              <c:txPr>
                <a:bodyPr wrap="square"/>
                <a:lstStyle/>
                <a:p>
                  <a:pPr>
                    <a:defRPr sz="1200" b="0" u="none" strike="noStrik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3"/>
              <c:txPr>
                <a:bodyPr wrap="square"/>
                <a:lstStyle/>
                <a:p>
                  <a:pPr>
                    <a:defRPr sz="1200" b="0" u="none" strike="noStrik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4"/>
              <c:txPr>
                <a:bodyPr wrap="square"/>
                <a:lstStyle/>
                <a:p>
                  <a:pPr>
                    <a:defRPr sz="1200" b="0" u="none" strike="noStrik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5"/>
              <c:txPr>
                <a:bodyPr wrap="square"/>
                <a:lstStyle/>
                <a:p>
                  <a:pPr>
                    <a:defRPr sz="1200" b="0" u="none" strike="noStrik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6"/>
                <c:pt idx="0">
                  <c:v>Baseline</c:v>
                </c:pt>
                <c:pt idx="1">
                  <c:v>Plan</c:v>
                </c:pt>
                <c:pt idx="2">
                  <c:v>Tools</c:v>
                </c:pt>
                <c:pt idx="3">
                  <c:v>Repair</c:v>
                </c:pt>
                <c:pt idx="4">
                  <c:v>Deck CI</c:v>
                </c:pt>
                <c:pt idx="5">
                  <c:v>Final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6"/>
                <c:pt idx="0">
                  <c:v>62</c:v>
                </c:pt>
                <c:pt idx="1">
                  <c:v>8</c:v>
                </c:pt>
                <c:pt idx="2">
                  <c:v>7</c:v>
                </c:pt>
                <c:pt idx="3">
                  <c:v>5</c:v>
                </c:pt>
                <c:pt idx="4">
                  <c:v>4</c:v>
                </c:pt>
                <c:pt idx="5">
                  <c:v>86</c:v>
                </c:pt>
              </c:numCache>
            </c:numRef>
          </c:val>
        </c:ser>
        <c:gapWidth val="150"/>
        <c:overlap val="0"/>
        <c:axId val="59783542"/>
        <c:axId val="21353270"/>
      </c:barChart>
      <c:catAx>
        <c:axId val="59783542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6D635A"/>
                </a:solidFill>
                <a:uFillTx/>
                <a:latin typeface="Arial"/>
              </a:defRPr>
            </a:pPr>
          </a:p>
        </c:txPr>
        <c:crossAx val="21353270"/>
        <c:crosses val="autoZero"/>
        <c:auto val="1"/>
        <c:lblAlgn val="ctr"/>
        <c:lblOffset val="100"/>
        <c:noMultiLvlLbl val="0"/>
      </c:catAx>
      <c:valAx>
        <c:axId val="21353270"/>
        <c:scaling>
          <c:orientation val="minMax"/>
        </c:scaling>
        <c:delete val="0"/>
        <c:axPos val="l"/>
        <c:majorGridlines>
          <c:spPr>
            <a:ln w="12600">
              <a:solidFill>
                <a:srgbClr val="888888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6D635A"/>
                </a:solidFill>
                <a:uFillTx/>
                <a:latin typeface="Arial"/>
              </a:defRPr>
            </a:pPr>
          </a:p>
        </c:txPr>
        <c:crossAx val="59783542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sz="1000" b="0" u="none" strike="noStrike">
              <a:solidFill>
                <a:srgbClr val="000000"/>
              </a:solidFill>
              <a:uFillTx/>
              <a:latin typeface="Calibri"/>
            </a:defRPr>
          </a:pPr>
        </a:p>
      </c:txPr>
    </c:legend>
    <c:plotVisOnly val="1"/>
    <c:dispBlanksAs val="span"/>
  </c:chart>
  <c:spPr>
    <a:noFill/>
    <a:ln w="0">
      <a:noFill/>
    </a:ln>
  </c:sp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candidates (% of max candidate count)</c:v>
                </c:pt>
              </c:strCache>
            </c:strRef>
          </c:tx>
          <c:spPr>
            <a:solidFill>
              <a:srgbClr val="C76D54"/>
            </a:solidFill>
            <a:ln w="0">
              <a:noFill/>
            </a:ln>
          </c:spPr>
          <c:invertIfNegative val="0"/>
          <c:dPt>
            <c:idx val="0"/>
            <c:invertIfNegative val="0"/>
            <c:spPr>
              <a:solidFill>
                <a:srgbClr val="C76D54"/>
              </a:solidFill>
              <a:ln w="0">
                <a:noFill/>
              </a:ln>
            </c:spPr>
          </c:dPt>
          <c:dPt>
            <c:idx val="1"/>
            <c:invertIfNegative val="0"/>
            <c:spPr>
              <a:solidFill>
                <a:srgbClr val="4F7A52"/>
              </a:solidFill>
              <a:ln w="0">
                <a:noFill/>
              </a:ln>
            </c:spPr>
          </c:dPt>
          <c:dPt>
            <c:idx val="2"/>
            <c:invertIfNegative val="0"/>
            <c:spPr>
              <a:solidFill>
                <a:srgbClr val="B8862A"/>
              </a:solidFill>
              <a:ln w="0">
                <a:noFill/>
              </a:ln>
            </c:spPr>
          </c:dPt>
          <c:dPt>
            <c:idx val="3"/>
            <c:invertIfNegative val="0"/>
            <c:spPr>
              <a:solidFill>
                <a:srgbClr val="C76D54"/>
              </a:solidFill>
              <a:ln w="0">
                <a:noFill/>
              </a:ln>
            </c:spPr>
          </c:dPt>
          <c:dPt>
            <c:idx val="4"/>
            <c:invertIfNegative val="0"/>
            <c:spPr>
              <a:solidFill>
                <a:srgbClr val="4F7A52"/>
              </a:solidFill>
              <a:ln w="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sz="1200" b="0" u="none" strike="noStrik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sz="1200" b="0" u="none" strike="noStrik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2"/>
              <c:txPr>
                <a:bodyPr wrap="square"/>
                <a:lstStyle/>
                <a:p>
                  <a:pPr>
                    <a:defRPr sz="1200" b="0" u="none" strike="noStrik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3"/>
              <c:txPr>
                <a:bodyPr wrap="square"/>
                <a:lstStyle/>
                <a:p>
                  <a:pPr>
                    <a:defRPr sz="1200" b="0" u="none" strike="noStrik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4"/>
              <c:txPr>
                <a:bodyPr wrap="square"/>
                <a:lstStyle/>
                <a:p>
                  <a:pPr>
                    <a:defRPr sz="1200" b="0" u="none" strike="noStrik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5"/>
                <c:pt idx="0">
                  <c:v>0-8s</c:v>
                </c:pt>
                <c:pt idx="1">
                  <c:v>8-16s</c:v>
                </c:pt>
                <c:pt idx="2">
                  <c:v>16-24s</c:v>
                </c:pt>
                <c:pt idx="3">
                  <c:v>24-32s</c:v>
                </c:pt>
                <c:pt idx="4">
                  <c:v>&gt;32s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29</c:v>
                </c:pt>
                <c:pt idx="1">
                  <c:v>87.1</c:v>
                </c:pt>
                <c:pt idx="2">
                  <c:v>100</c:v>
                </c:pt>
                <c:pt idx="3">
                  <c:v>48.4</c:v>
                </c:pt>
                <c:pt idx="4">
                  <c:v>6.5</c:v>
                </c:pt>
              </c:numCache>
            </c:numRef>
          </c:val>
        </c:ser>
        <c:gapWidth val="150"/>
        <c:overlap val="0"/>
        <c:axId val="11714756"/>
        <c:axId val="65144368"/>
      </c:barChart>
      <c:catAx>
        <c:axId val="1171475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6D635A"/>
                </a:solidFill>
                <a:uFillTx/>
                <a:latin typeface="Arial"/>
              </a:defRPr>
            </a:pPr>
          </a:p>
        </c:txPr>
        <c:crossAx val="65144368"/>
        <c:crosses val="autoZero"/>
        <c:auto val="1"/>
        <c:lblAlgn val="ctr"/>
        <c:lblOffset val="100"/>
        <c:noMultiLvlLbl val="0"/>
      </c:catAx>
      <c:valAx>
        <c:axId val="65144368"/>
        <c:scaling>
          <c:orientation val="minMax"/>
        </c:scaling>
        <c:delete val="0"/>
        <c:axPos val="l"/>
        <c:majorGridlines>
          <c:spPr>
            <a:ln w="12600">
              <a:solidFill>
                <a:srgbClr val="888888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6D635A"/>
                </a:solidFill>
                <a:uFillTx/>
                <a:latin typeface="Arial"/>
              </a:defRPr>
            </a:pPr>
          </a:p>
        </c:txPr>
        <c:crossAx val="11714756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sz="1000" b="0" u="none" strike="noStrike">
              <a:solidFill>
                <a:srgbClr val="000000"/>
              </a:solidFill>
              <a:uFillTx/>
              <a:latin typeface="Calibri"/>
            </a:defRPr>
          </a:pPr>
        </a:p>
      </c:txPr>
    </c:legend>
    <c:plotVisOnly val="1"/>
    <c:dispBlanksAs val="span"/>
  </c:chart>
  <c:spPr>
    <a:noFill/>
    <a:ln w="0">
      <a:noFill/>
    </a:ln>
  </c:spPr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arena funnel</c:v>
                </c:pt>
              </c:strCache>
            </c:strRef>
          </c:tx>
          <c:spPr>
            <a:solidFill>
              <a:srgbClr val="C76D54"/>
            </a:solidFill>
            <a:ln w="25560">
              <a:solidFill>
                <a:srgbClr val="C76D54"/>
              </a:solidFill>
              <a:round/>
            </a:ln>
          </c:spPr>
          <c:marker>
            <c:symbol val="circle"/>
            <c:size val="6"/>
            <c:spPr>
              <a:solidFill>
                <a:srgbClr val="C76D54"/>
              </a:solidFill>
            </c:spPr>
          </c:marker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6"/>
                <c:pt idx="0">
                  <c:v>Requested</c:v>
                </c:pt>
                <c:pt idx="1">
                  <c:v>Planned</c:v>
                </c:pt>
                <c:pt idx="2">
                  <c:v>Compiled</c:v>
                </c:pt>
                <c:pt idx="3">
                  <c:v>Exported</c:v>
                </c:pt>
                <c:pt idx="4">
                  <c:v>Gate-clean</c:v>
                </c:pt>
                <c:pt idx="5">
                  <c:v>Eligible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6"/>
                <c:pt idx="0">
                  <c:v>84</c:v>
                </c:pt>
                <c:pt idx="1">
                  <c:v>84</c:v>
                </c:pt>
                <c:pt idx="2">
                  <c:v>84</c:v>
                </c:pt>
                <c:pt idx="3">
                  <c:v>84</c:v>
                </c:pt>
                <c:pt idx="4">
                  <c:v>84</c:v>
                </c:pt>
                <c:pt idx="5">
                  <c:v>82</c:v>
                </c:pt>
              </c:numCache>
            </c:numRef>
          </c:val>
          <c:smooth val="0"/>
        </c:ser>
        <c:hiLowLines>
          <c:spPr>
            <a:ln w="0">
              <a:noFill/>
            </a:ln>
          </c:spPr>
        </c:hiLowLines>
        <c:marker val="1"/>
        <c:axId val="77133732"/>
        <c:axId val="26571579"/>
      </c:lineChart>
      <c:catAx>
        <c:axId val="77133732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6D635A"/>
                </a:solidFill>
                <a:uFillTx/>
                <a:latin typeface="Arial"/>
              </a:defRPr>
            </a:pPr>
          </a:p>
        </c:txPr>
        <c:crossAx val="26571579"/>
        <c:crosses val="autoZero"/>
        <c:auto val="1"/>
        <c:lblAlgn val="ctr"/>
        <c:lblOffset val="100"/>
        <c:noMultiLvlLbl val="0"/>
      </c:catAx>
      <c:valAx>
        <c:axId val="26571579"/>
        <c:scaling>
          <c:orientation val="minMax"/>
        </c:scaling>
        <c:delete val="0"/>
        <c:axPos val="l"/>
        <c:majorGridlines>
          <c:spPr>
            <a:ln w="12600">
              <a:solidFill>
                <a:srgbClr val="888888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6D635A"/>
                </a:solidFill>
                <a:uFillTx/>
                <a:latin typeface="Arial"/>
              </a:defRPr>
            </a:pPr>
          </a:p>
        </c:txPr>
        <c:crossAx val="77133732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sz="1000" b="0" u="none" strike="noStrike">
              <a:solidFill>
                <a:srgbClr val="000000"/>
              </a:solidFill>
              <a:uFillTx/>
              <a:latin typeface="Calibri"/>
            </a:defRPr>
          </a:pPr>
        </a:p>
      </c:txPr>
    </c:legend>
    <c:plotVisOnly val="1"/>
    <c:dispBlanksAs val="span"/>
  </c:chart>
  <c:spPr>
    <a:noFill/>
    <a:ln w="0">
      <a:noFill/>
    </a:ln>
  </c:spPr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duration (day)</c:v>
                </c:pt>
              </c:strCache>
            </c:strRef>
          </c:tx>
          <c:spPr>
            <a:solidFill>
              <a:srgbClr val="C76D54"/>
            </a:solidFill>
            <a:ln w="0">
              <a:noFill/>
            </a:ln>
          </c:spPr>
          <c:invertIfNegative val="0"/>
          <c:dPt>
            <c:idx val="0"/>
            <c:invertIfNegative val="0"/>
            <c:spPr>
              <a:solidFill>
                <a:srgbClr val="C76D54"/>
              </a:solidFill>
              <a:ln w="0">
                <a:noFill/>
              </a:ln>
            </c:spPr>
          </c:dPt>
          <c:dPt>
            <c:idx val="1"/>
            <c:invertIfNegative val="0"/>
            <c:spPr>
              <a:solidFill>
                <a:srgbClr val="4F7A52"/>
              </a:solidFill>
              <a:ln w="0">
                <a:noFill/>
              </a:ln>
            </c:spPr>
          </c:dPt>
          <c:dPt>
            <c:idx val="2"/>
            <c:invertIfNegative val="0"/>
            <c:spPr>
              <a:solidFill>
                <a:srgbClr val="B8862A"/>
              </a:solidFill>
              <a:ln w="0">
                <a:noFill/>
              </a:ln>
            </c:spPr>
          </c:dPt>
          <c:dPt>
            <c:idx val="3"/>
            <c:invertIfNegative val="0"/>
            <c:spPr>
              <a:solidFill>
                <a:srgbClr val="C76D54"/>
              </a:solidFill>
              <a:ln w="0">
                <a:noFill/>
              </a:ln>
            </c:spPr>
          </c:dPt>
          <c:dPt>
            <c:idx val="4"/>
            <c:invertIfNegative val="0"/>
            <c:spPr>
              <a:solidFill>
                <a:srgbClr val="4F7A52"/>
              </a:solidFill>
              <a:ln w="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sz="1200" b="0" u="none" strike="noStrik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sz="1200" b="0" u="none" strike="noStrik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2"/>
              <c:txPr>
                <a:bodyPr wrap="square"/>
                <a:lstStyle/>
                <a:p>
                  <a:pPr>
                    <a:defRPr sz="1200" b="0" u="none" strike="noStrik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3"/>
              <c:txPr>
                <a:bodyPr wrap="square"/>
                <a:lstStyle/>
                <a:p>
                  <a:pPr>
                    <a:defRPr sz="1200" b="0" u="none" strike="noStrik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4"/>
              <c:txPr>
                <a:bodyPr wrap="square"/>
                <a:lstStyle/>
                <a:p>
                  <a:pPr>
                    <a:defRPr sz="1200" b="0" u="none" strike="noStrik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categories</c:f>
              <c:numCache>
                <c:formatCode>yyyy\-mm\-dd</c:formatCode>
                <c:ptCount val="5"/>
                <c:pt idx="0">
                  <c:v>46024</c:v>
                </c:pt>
                <c:pt idx="1">
                  <c:v>46026</c:v>
                </c:pt>
                <c:pt idx="2">
                  <c:v>46029</c:v>
                </c:pt>
                <c:pt idx="3">
                  <c:v>46032</c:v>
                </c:pt>
                <c:pt idx="4">
                  <c:v>46034</c:v>
                </c:pt>
              </c:numCache>
            </c:numRef>
          </c:cat>
          <c:val>
            <c:numRef>
              <c:f>0</c:f>
              <c:numCache>
                <c:formatCode>General</c:formatCode>
                <c:ptCount val="5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gapWidth val="150"/>
        <c:overlap val="0"/>
        <c:axId val="89905652"/>
        <c:axId val="99305404"/>
      </c:barChart>
      <c:dateAx>
        <c:axId val="89905652"/>
        <c:scaling>
          <c:orientation val="minMax"/>
        </c:scaling>
        <c:delete val="0"/>
        <c:axPos val="b"/>
        <c:numFmt formatCode="yyyy\-mm\-dd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6D635A"/>
                </a:solidFill>
                <a:uFillTx/>
                <a:latin typeface="Arial"/>
              </a:defRPr>
            </a:pPr>
          </a:p>
        </c:txPr>
        <c:crossAx val="99305404"/>
        <c:crosses val="autoZero"/>
        <c:auto val="1"/>
        <c:lblOffset val="100"/>
        <c:baseTimeUnit val="days"/>
      </c:dateAx>
      <c:valAx>
        <c:axId val="99305404"/>
        <c:scaling>
          <c:orientation val="minMax"/>
        </c:scaling>
        <c:delete val="0"/>
        <c:axPos val="l"/>
        <c:majorGridlines>
          <c:spPr>
            <a:ln w="12600">
              <a:solidFill>
                <a:srgbClr val="888888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6D635A"/>
                </a:solidFill>
                <a:uFillTx/>
                <a:latin typeface="Arial"/>
              </a:defRPr>
            </a:pPr>
          </a:p>
        </c:txPr>
        <c:crossAx val="89905652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sz="1000" b="0" u="none" strike="noStrike">
              <a:solidFill>
                <a:srgbClr val="000000"/>
              </a:solidFill>
              <a:uFillTx/>
              <a:latin typeface="Calibri"/>
            </a:defRPr>
          </a:pPr>
        </a:p>
      </c:txPr>
    </c:legend>
    <c:plotVisOnly val="1"/>
    <c:dispBlanksAs val="span"/>
  </c:chart>
  <c:spPr>
    <a:noFill/>
    <a:ln w="0">
      <a:noFill/>
    </a:ln>
  </c:spPr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duration (week)</c:v>
                </c:pt>
              </c:strCache>
            </c:strRef>
          </c:tx>
          <c:spPr>
            <a:solidFill>
              <a:srgbClr val="C76D54"/>
            </a:solidFill>
            <a:ln w="0">
              <a:noFill/>
            </a:ln>
          </c:spPr>
          <c:invertIfNegative val="0"/>
          <c:dPt>
            <c:idx val="0"/>
            <c:invertIfNegative val="0"/>
            <c:spPr>
              <a:solidFill>
                <a:srgbClr val="C76D54"/>
              </a:solidFill>
              <a:ln w="0">
                <a:noFill/>
              </a:ln>
            </c:spPr>
          </c:dPt>
          <c:dPt>
            <c:idx val="1"/>
            <c:invertIfNegative val="0"/>
            <c:spPr>
              <a:solidFill>
                <a:srgbClr val="4F7A52"/>
              </a:solidFill>
              <a:ln w="0">
                <a:noFill/>
              </a:ln>
            </c:spPr>
          </c:dPt>
          <c:dPt>
            <c:idx val="2"/>
            <c:invertIfNegative val="0"/>
            <c:spPr>
              <a:solidFill>
                <a:srgbClr val="B8862A"/>
              </a:solidFill>
              <a:ln w="0">
                <a:noFill/>
              </a:ln>
            </c:spPr>
          </c:dPt>
          <c:dPt>
            <c:idx val="3"/>
            <c:invertIfNegative val="0"/>
            <c:spPr>
              <a:solidFill>
                <a:srgbClr val="C76D54"/>
              </a:solidFill>
              <a:ln w="0">
                <a:noFill/>
              </a:ln>
            </c:spPr>
          </c:dPt>
          <c:dPt>
            <c:idx val="4"/>
            <c:invertIfNegative val="0"/>
            <c:spPr>
              <a:solidFill>
                <a:srgbClr val="4F7A52"/>
              </a:solidFill>
              <a:ln w="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sz="1200" b="0" u="none" strike="noStrik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sz="1200" b="0" u="none" strike="noStrik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2"/>
              <c:txPr>
                <a:bodyPr wrap="square"/>
                <a:lstStyle/>
                <a:p>
                  <a:pPr>
                    <a:defRPr sz="1200" b="0" u="none" strike="noStrik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3"/>
              <c:txPr>
                <a:bodyPr wrap="square"/>
                <a:lstStyle/>
                <a:p>
                  <a:pPr>
                    <a:defRPr sz="1200" b="0" u="none" strike="noStrik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4"/>
              <c:txPr>
                <a:bodyPr wrap="square"/>
                <a:lstStyle/>
                <a:p>
                  <a:pPr>
                    <a:defRPr sz="1200" b="0" u="none" strike="noStrik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categories</c:f>
              <c:numCache>
                <c:formatCode>yyyy\-mm\-dd</c:formatCode>
                <c:ptCount val="5"/>
                <c:pt idx="0">
                  <c:v>46030</c:v>
                </c:pt>
                <c:pt idx="1">
                  <c:v>46037</c:v>
                </c:pt>
                <c:pt idx="2">
                  <c:v>46044</c:v>
                </c:pt>
                <c:pt idx="3">
                  <c:v>46044</c:v>
                </c:pt>
                <c:pt idx="4">
                  <c:v>46065</c:v>
                </c:pt>
              </c:numCache>
            </c:numRef>
          </c:cat>
          <c:val>
            <c:numRef>
              <c:f>0</c:f>
              <c:numCache>
                <c:formatCode>General</c:formatCode>
                <c:ptCount val="5"/>
                <c:pt idx="0">
                  <c:v>1</c:v>
                </c:pt>
                <c:pt idx="1">
                  <c:v>1</c:v>
                </c:pt>
                <c:pt idx="2">
                  <c:v>2</c:v>
                </c:pt>
                <c:pt idx="3">
                  <c:v>2</c:v>
                </c:pt>
                <c:pt idx="4">
                  <c:v>1</c:v>
                </c:pt>
              </c:numCache>
            </c:numRef>
          </c:val>
        </c:ser>
        <c:gapWidth val="150"/>
        <c:overlap val="0"/>
        <c:axId val="21534418"/>
        <c:axId val="20613742"/>
      </c:barChart>
      <c:dateAx>
        <c:axId val="21534418"/>
        <c:scaling>
          <c:orientation val="minMax"/>
        </c:scaling>
        <c:delete val="0"/>
        <c:axPos val="b"/>
        <c:numFmt formatCode="yyyy\-mm\-dd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6D635A"/>
                </a:solidFill>
                <a:uFillTx/>
                <a:latin typeface="Arial"/>
              </a:defRPr>
            </a:pPr>
          </a:p>
        </c:txPr>
        <c:crossAx val="20613742"/>
        <c:crosses val="autoZero"/>
        <c:auto val="1"/>
        <c:lblOffset val="100"/>
        <c:baseTimeUnit val="days"/>
      </c:dateAx>
      <c:valAx>
        <c:axId val="20613742"/>
        <c:scaling>
          <c:orientation val="minMax"/>
        </c:scaling>
        <c:delete val="0"/>
        <c:axPos val="l"/>
        <c:majorGridlines>
          <c:spPr>
            <a:ln w="12600">
              <a:solidFill>
                <a:srgbClr val="888888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6D635A"/>
                </a:solidFill>
                <a:uFillTx/>
                <a:latin typeface="Arial"/>
              </a:defRPr>
            </a:pPr>
          </a:p>
        </c:txPr>
        <c:crossAx val="21534418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sz="1000" b="0" u="none" strike="noStrike">
              <a:solidFill>
                <a:srgbClr val="000000"/>
              </a:solidFill>
              <a:uFillTx/>
              <a:latin typeface="Calibri"/>
            </a:defRPr>
          </a:pPr>
        </a:p>
      </c:txPr>
    </c:legend>
    <c:plotVisOnly val="1"/>
    <c:dispBlanksAs val="span"/>
  </c:chart>
  <c:spPr>
    <a:noFill/>
    <a:ln w="0">
      <a:noFill/>
    </a:ln>
  </c:spPr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likelihood</c:v>
                </c:pt>
              </c:strCache>
            </c:strRef>
          </c:tx>
          <c:spPr>
            <a:solidFill>
              <a:srgbClr val="C76D54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"/>
                <c:pt idx="0">
                  <c:v>pipeline</c:v>
                </c:pt>
                <c:pt idx="1">
                  <c:v>capacity</c:v>
                </c:pt>
                <c:pt idx="2">
                  <c:v>retention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"/>
                <c:pt idx="0">
                  <c:v>4</c:v>
                </c:pt>
                <c:pt idx="1">
                  <c:v>3</c:v>
                </c:pt>
                <c:pt idx="2">
                  <c:v>2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impact</c:v>
                </c:pt>
              </c:strCache>
            </c:strRef>
          </c:tx>
          <c:spPr>
            <a:solidFill>
              <a:srgbClr val="4F7A52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"/>
                <c:pt idx="0">
                  <c:v>pipeline</c:v>
                </c:pt>
                <c:pt idx="1">
                  <c:v>capacity</c:v>
                </c:pt>
                <c:pt idx="2">
                  <c:v>retention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3"/>
                <c:pt idx="0">
                  <c:v>5</c:v>
                </c:pt>
                <c:pt idx="1">
                  <c:v>4</c:v>
                </c:pt>
                <c:pt idx="2">
                  <c:v>5</c:v>
                </c:pt>
              </c:numCache>
            </c:numRef>
          </c:val>
        </c:ser>
        <c:gapWidth val="150"/>
        <c:overlap val="0"/>
        <c:axId val="74733968"/>
        <c:axId val="53471392"/>
      </c:barChart>
      <c:catAx>
        <c:axId val="74733968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6D635A"/>
                </a:solidFill>
                <a:uFillTx/>
                <a:latin typeface="Arial"/>
              </a:defRPr>
            </a:pPr>
          </a:p>
        </c:txPr>
        <c:crossAx val="53471392"/>
        <c:crosses val="autoZero"/>
        <c:auto val="1"/>
        <c:lblAlgn val="ctr"/>
        <c:lblOffset val="100"/>
        <c:noMultiLvlLbl val="0"/>
      </c:catAx>
      <c:valAx>
        <c:axId val="53471392"/>
        <c:scaling>
          <c:orientation val="minMax"/>
        </c:scaling>
        <c:delete val="0"/>
        <c:axPos val="l"/>
        <c:majorGridlines>
          <c:spPr>
            <a:ln w="12600">
              <a:solidFill>
                <a:srgbClr val="888888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6D635A"/>
                </a:solidFill>
                <a:uFillTx/>
                <a:latin typeface="Arial"/>
              </a:defRPr>
            </a:pPr>
          </a:p>
        </c:txPr>
        <c:crossAx val="74733968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sz="1000" b="0" u="none" strike="noStrike">
              <a:solidFill>
                <a:srgbClr val="000000"/>
              </a:solidFill>
              <a:uFillTx/>
              <a:latin typeface="Calibri"/>
            </a:defRPr>
          </a:pPr>
        </a:p>
      </c:txPr>
    </c:legend>
    <c:plotVisOnly val="1"/>
    <c:dispBlanksAs val="span"/>
  </c:chart>
  <c:spPr>
    <a:noFill/>
    <a:ln w="0">
      <a:noFill/>
    </a:ln>
  </c:spPr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quality (% of max eligible fraction)</c:v>
                </c:pt>
              </c:strCache>
            </c:strRef>
          </c:tx>
          <c:spPr>
            <a:solidFill>
              <a:srgbClr val="C76D54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"/>
                <c:pt idx="0">
                  <c:v>claude</c:v>
                </c:pt>
                <c:pt idx="1">
                  <c:v>kimi</c:v>
                </c:pt>
                <c:pt idx="2">
                  <c:v>gemma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"/>
                <c:pt idx="0">
                  <c:v>100</c:v>
                </c:pt>
                <c:pt idx="1">
                  <c:v>95.8</c:v>
                </c:pt>
                <c:pt idx="2">
                  <c:v>95.8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cost (% of max USD per candidate)</c:v>
                </c:pt>
              </c:strCache>
            </c:strRef>
          </c:tx>
          <c:spPr>
            <a:solidFill>
              <a:srgbClr val="4F7A52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"/>
                <c:pt idx="0">
                  <c:v>claude</c:v>
                </c:pt>
                <c:pt idx="1">
                  <c:v>kimi</c:v>
                </c:pt>
                <c:pt idx="2">
                  <c:v>gemma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3"/>
                <c:pt idx="0">
                  <c:v>100</c:v>
                </c:pt>
                <c:pt idx="1">
                  <c:v>15.1</c:v>
                </c:pt>
                <c:pt idx="2">
                  <c:v>0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latency (% of max seconds)</c:v>
                </c:pt>
              </c:strCache>
            </c:strRef>
          </c:tx>
          <c:spPr>
            <a:solidFill>
              <a:srgbClr val="B8862A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"/>
                <c:pt idx="0">
                  <c:v>claude</c:v>
                </c:pt>
                <c:pt idx="1">
                  <c:v>kimi</c:v>
                </c:pt>
                <c:pt idx="2">
                  <c:v>gemma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3"/>
                <c:pt idx="0">
                  <c:v>46.5</c:v>
                </c:pt>
                <c:pt idx="1">
                  <c:v>100</c:v>
                </c:pt>
                <c:pt idx="2">
                  <c:v>98</c:v>
                </c:pt>
              </c:numCache>
            </c:numRef>
          </c:val>
        </c:ser>
        <c:gapWidth val="150"/>
        <c:overlap val="0"/>
        <c:axId val="77450517"/>
        <c:axId val="72321853"/>
      </c:barChart>
      <c:catAx>
        <c:axId val="77450517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6D635A"/>
                </a:solidFill>
                <a:uFillTx/>
                <a:latin typeface="Arial"/>
              </a:defRPr>
            </a:pPr>
          </a:p>
        </c:txPr>
        <c:crossAx val="72321853"/>
        <c:crosses val="autoZero"/>
        <c:auto val="1"/>
        <c:lblAlgn val="ctr"/>
        <c:lblOffset val="100"/>
        <c:noMultiLvlLbl val="0"/>
      </c:catAx>
      <c:valAx>
        <c:axId val="72321853"/>
        <c:scaling>
          <c:orientation val="minMax"/>
        </c:scaling>
        <c:delete val="0"/>
        <c:axPos val="l"/>
        <c:majorGridlines>
          <c:spPr>
            <a:ln w="12600">
              <a:solidFill>
                <a:srgbClr val="888888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6D635A"/>
                </a:solidFill>
                <a:uFillTx/>
                <a:latin typeface="Arial"/>
              </a:defRPr>
            </a:pPr>
          </a:p>
        </c:txPr>
        <c:crossAx val="77450517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sz="1000" b="0" u="none" strike="noStrike">
              <a:solidFill>
                <a:srgbClr val="000000"/>
              </a:solidFill>
              <a:uFillTx/>
              <a:latin typeface="Calibri"/>
            </a:defRPr>
          </a:pPr>
        </a:p>
      </c:txPr>
    </c:legend>
    <c:plotVisOnly val="1"/>
    <c:dispBlanksAs val="span"/>
  </c:chart>
  <c:spPr>
    <a:noFill/>
    <a:ln w="0">
      <a:noFill/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2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3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4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5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6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7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8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9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10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CAD13534-DB2A-4FC4-B417-8589A40A127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AE305E0-61CC-44BC-87D6-0D26F061839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2D7A307-78BB-4688-8087-2C830C6BC2C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0B78005-ED91-4818-A922-07334629869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3BF9631-72E0-4F8E-A202-329AEC2344E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28D480C-D849-4168-94C6-A3BB2EF0CA6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5D0AB45-3F33-4BE6-8E52-A5AE09BD3B2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24E458E-CB9C-4DB3-A681-5C8ADF806B3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D0DCF9E-6D67-4120-B589-1511302B15B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E99F316-B268-47C0-B68D-0F63A4251F2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C3BD9AB-56BF-4F29-AB09-728A0F98975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D284588-1CF6-412B-AEDC-28EB35880D1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E089F2F-6923-45C8-B1CF-0DB06FCD5C7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0FAF584-4366-4FE3-9361-2785CF2E53B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E003AE0-756F-4E46-BBBA-5DF8A6ED04C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8EA6AA9-A4F6-4377-8484-645BB708AFE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955EF61-C4C4-49B0-BBC1-E9D4F6B5CA8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C4863B8-23E6-4C2F-BCD4-911C0BCEAAB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1C95EE8-4582-4943-8E39-990EF121646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2C9D533-F96B-4E03-B5E3-81B8D8A112C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47445DD-45F2-4742-986B-6FA21471F4D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AEF27C4-E5C3-4292-A30B-83170F3B840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8B309BB-7F0C-4601-B6A9-19F94D5BF05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5C58641-646D-47F5-8A19-A93CFB0620F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08C5AEC-B456-4373-AD85-E7FA4649988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028AB30-E6D6-43FF-9B17-7453783B5AC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A8EB4A5-7861-4904-8823-C5D9169DF4F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F30895F-4100-4727-975A-645ED06F819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BA87741-E819-4C4F-90B4-101E7D387F1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D85E78C-76DD-41EE-9B4B-A53D41190A8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0F9FE5C-6EA2-49ED-BCC1-AD9D63FDF0D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E0A217C-0D9F-4EA5-BD9C-147B5038F62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BF87B7C-88C6-4344-8A97-9D7BC1A04BC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1F9E1C2-D62A-4CA8-8CED-86F3C6ABA79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82B7F87-DAC8-41C6-A4B8-6D473709E33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F5C1F74-1DF6-4A61-9C23-EC3FDF2884C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56000F9-BBD3-403A-9B21-809C120AFD7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521B5DF-54EE-4111-8076-98BD346E57B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B4BA42D-D90C-4CEA-956E-40F2F856977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4560"/>
            <a:ext cx="8229240" cy="298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chart" Target="..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chart" Target="..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chart" Target="..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chart" Target="..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hyperlink" Target="https://github.com/HomenShum/NodeSlide/pull/52" TargetMode="External"/><Relationship Id="rId2" Type="http://schemas.openxmlformats.org/officeDocument/2006/relationships/hyperlink" Target="https://github.com/HomenShum/parity-studio/pull/6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hyperlink" Target="https://learn.microsoft.com/openspecs/office_standards/ms-oi29500/" TargetMode="External"/><Relationship Id="rId2" Type="http://schemas.openxmlformats.org/officeDocument/2006/relationships/image" Target="../media/image5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hyperlink" Target="https://github.com/HomenShum/NodeSlide/pull/52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6.em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hyperlink" Target="https://github.com/HomenShum/NodeSlide/actions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chart" Target="..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chart" Target="..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457200" y="29268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pc="201" strike="noStrike">
                <a:solidFill>
                  <a:srgbClr val="6D635A"/>
                </a:solidFill>
                <a:effectLst/>
                <a:uFillTx/>
                <a:latin typeface="Calibri"/>
              </a:rPr>
              <a:t>NARRATIVE.HERO-THESIS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"/>
          <p:cNvSpPr/>
          <p:nvPr/>
        </p:nvSpPr>
        <p:spPr>
          <a:xfrm>
            <a:off x="457200" y="548640"/>
            <a:ext cx="8229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Reviewability turns generation into a product decision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412480" y="2926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640080" y="1920240"/>
            <a:ext cx="786348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One evidence-bounded thesis anchors the complete visual vocabulary.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0"/>
          <p:cNvSpPr/>
          <p:nvPr/>
        </p:nvSpPr>
        <p:spPr>
          <a:xfrm>
            <a:off x="457200" y="29268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pc="201" strike="noStrike">
                <a:solidFill>
                  <a:srgbClr val="6D635A"/>
                </a:solidFill>
                <a:effectLst/>
                <a:uFillTx/>
                <a:latin typeface="Calibri"/>
              </a:rPr>
              <a:t>NARRATIVE.SECTION-OPENER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/>
          <p:cNvSpPr/>
          <p:nvPr/>
        </p:nvSpPr>
        <p:spPr>
          <a:xfrm>
            <a:off x="457200" y="548640"/>
            <a:ext cx="8229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A museum needs chapters, not a wall of thumbnails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2"/>
          <p:cNvSpPr/>
          <p:nvPr/>
        </p:nvSpPr>
        <p:spPr>
          <a:xfrm>
            <a:off x="8412480" y="2926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3"/>
          <p:cNvSpPr/>
          <p:nvPr/>
        </p:nvSpPr>
        <p:spPr>
          <a:xfrm>
            <a:off x="640080" y="1920240"/>
            <a:ext cx="786348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Seven chapters organize artifacts by the job they perform for an audience.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0"/>
          <p:cNvSpPr/>
          <p:nvPr/>
        </p:nvSpPr>
        <p:spPr>
          <a:xfrm>
            <a:off x="457200" y="29268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pc="201" strike="noStrike">
                <a:solidFill>
                  <a:srgbClr val="6D635A"/>
                </a:solidFill>
                <a:effectLst/>
                <a:uFillTx/>
                <a:latin typeface="Calibri"/>
              </a:rPr>
              <a:t>NARRATIVE.BIG-METRIC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1"/>
          <p:cNvSpPr/>
          <p:nvPr/>
        </p:nvSpPr>
        <p:spPr>
          <a:xfrm>
            <a:off x="457200" y="548640"/>
            <a:ext cx="8229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82 of 84 candidates cleared browser and PowerPoint proof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2"/>
          <p:cNvSpPr/>
          <p:nvPr/>
        </p:nvSpPr>
        <p:spPr>
          <a:xfrm>
            <a:off x="8412480" y="2926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3"/>
          <p:cNvSpPr/>
          <p:nvPr/>
        </p:nvSpPr>
        <p:spPr>
          <a:xfrm>
            <a:off x="640080" y="1920240"/>
            <a:ext cx="786348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The headline metric stays tied to the frozen Arena receipt instead of becoming marketing shorthand.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 0"/>
          <p:cNvSpPr/>
          <p:nvPr/>
        </p:nvSpPr>
        <p:spPr>
          <a:xfrm>
            <a:off x="457200" y="29268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pc="201" strike="noStrike">
                <a:solidFill>
                  <a:srgbClr val="6D635A"/>
                </a:solidFill>
                <a:effectLst/>
                <a:uFillTx/>
                <a:latin typeface="Calibri"/>
              </a:rPr>
              <a:t>NARRATIVE.QUOTE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1"/>
          <p:cNvSpPr/>
          <p:nvPr/>
        </p:nvSpPr>
        <p:spPr>
          <a:xfrm>
            <a:off x="457200" y="548640"/>
            <a:ext cx="8229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The useful promise is editable evidence, not instant polish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2"/>
          <p:cNvSpPr/>
          <p:nvPr/>
        </p:nvSpPr>
        <p:spPr>
          <a:xfrm>
            <a:off x="8412480" y="2926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3"/>
          <p:cNvSpPr/>
          <p:nvPr/>
        </p:nvSpPr>
        <p:spPr>
          <a:xfrm>
            <a:off x="640080" y="1920240"/>
            <a:ext cx="786348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A customer-voice treatment demonstrates editorial rhythm without inventing a customer.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0"/>
          <p:cNvSpPr/>
          <p:nvPr/>
        </p:nvSpPr>
        <p:spPr>
          <a:xfrm>
            <a:off x="457200" y="29268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pc="201" strike="noStrike">
                <a:solidFill>
                  <a:srgbClr val="6D635A"/>
                </a:solidFill>
                <a:effectLst/>
                <a:uFillTx/>
                <a:latin typeface="Calibri"/>
              </a:rPr>
              <a:t>PROGRESSION.BEFORE-AFTER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"/>
          <p:cNvSpPr/>
          <p:nvPr/>
        </p:nvSpPr>
        <p:spPr>
          <a:xfrm>
            <a:off x="457200" y="548640"/>
            <a:ext cx="8229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The harness removes clutter before it adds decoration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2"/>
          <p:cNvSpPr/>
          <p:nvPr/>
        </p:nvSpPr>
        <p:spPr>
          <a:xfrm>
            <a:off x="8412480" y="2926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" name="Image 0" descr="Screenshot of the NodeSlide workspace in light theme (before)"/>
          <p:cNvPicPr/>
          <p:nvPr/>
        </p:nvPicPr>
        <p:blipFill>
          <a:blip r:embed="rId1"/>
          <a:stretch/>
        </p:blipFill>
        <p:spPr>
          <a:xfrm>
            <a:off x="457200" y="1371600"/>
            <a:ext cx="3931560" cy="2201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" name="Text 3"/>
          <p:cNvSpPr/>
          <p:nvPr/>
        </p:nvSpPr>
        <p:spPr>
          <a:xfrm>
            <a:off x="457200" y="3619080"/>
            <a:ext cx="3931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Before · light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" name="Image 1" descr="Screenshot of the NodeSlide workspace in dark theme (after)"/>
          <p:cNvPicPr/>
          <p:nvPr/>
        </p:nvPicPr>
        <p:blipFill>
          <a:blip r:embed="rId2"/>
          <a:stretch/>
        </p:blipFill>
        <p:spPr>
          <a:xfrm>
            <a:off x="4754880" y="1371600"/>
            <a:ext cx="3931560" cy="2201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" name="Text 4"/>
          <p:cNvSpPr/>
          <p:nvPr/>
        </p:nvSpPr>
        <p:spPr>
          <a:xfrm>
            <a:off x="4754880" y="3619080"/>
            <a:ext cx="3931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After · dark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 0"/>
          <p:cNvSpPr/>
          <p:nvPr/>
        </p:nvSpPr>
        <p:spPr>
          <a:xfrm>
            <a:off x="457200" y="29268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pc="201" strike="noStrike">
                <a:solidFill>
                  <a:srgbClr val="6D635A"/>
                </a:solidFill>
                <a:effectLst/>
                <a:uFillTx/>
                <a:latin typeface="Calibri"/>
              </a:rPr>
              <a:t>DATA.KPI-STRIP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"/>
          <p:cNvSpPr/>
          <p:nvPr/>
        </p:nvSpPr>
        <p:spPr>
          <a:xfrm>
            <a:off x="457200" y="548640"/>
            <a:ext cx="8229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The operating verdict should scan in under five seconds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2"/>
          <p:cNvSpPr/>
          <p:nvPr/>
        </p:nvSpPr>
        <p:spPr>
          <a:xfrm>
            <a:off x="8412480" y="2926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" name="Chart 0"/>
          <p:cNvGraphicFramePr/>
          <p:nvPr/>
        </p:nvGraphicFramePr>
        <p:xfrm>
          <a:off x="457200" y="1463040"/>
          <a:ext cx="8229240" cy="3291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0"/>
          <p:cNvSpPr/>
          <p:nvPr/>
        </p:nvSpPr>
        <p:spPr>
          <a:xfrm>
            <a:off x="457200" y="29268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pc="201" strike="noStrike">
                <a:solidFill>
                  <a:srgbClr val="6D635A"/>
                </a:solidFill>
                <a:effectLst/>
                <a:uFillTx/>
                <a:latin typeface="Calibri"/>
              </a:rPr>
              <a:t>DATA.MULTI-SERIES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"/>
          <p:cNvSpPr/>
          <p:nvPr/>
        </p:nvSpPr>
        <p:spPr>
          <a:xfrm>
            <a:off x="457200" y="548640"/>
            <a:ext cx="8229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Direct labels make divergence visible without inventing a cause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2"/>
          <p:cNvSpPr/>
          <p:nvPr/>
        </p:nvSpPr>
        <p:spPr>
          <a:xfrm>
            <a:off x="8412480" y="2926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0" name="Chart 0"/>
          <p:cNvGraphicFramePr/>
          <p:nvPr/>
        </p:nvGraphicFramePr>
        <p:xfrm>
          <a:off x="457200" y="1463040"/>
          <a:ext cx="8229240" cy="3291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 0"/>
          <p:cNvSpPr/>
          <p:nvPr/>
        </p:nvSpPr>
        <p:spPr>
          <a:xfrm>
            <a:off x="457200" y="29268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pc="201" strike="noStrike">
                <a:solidFill>
                  <a:srgbClr val="6D635A"/>
                </a:solidFill>
                <a:effectLst/>
                <a:uFillTx/>
                <a:latin typeface="Calibri"/>
              </a:rPr>
              <a:t>DATA.UNCERTAINTY-RANGE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"/>
          <p:cNvSpPr/>
          <p:nvPr/>
        </p:nvSpPr>
        <p:spPr>
          <a:xfrm>
            <a:off x="457200" y="548640"/>
            <a:ext cx="8229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A forecast is more credible when its range is impossible to miss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2"/>
          <p:cNvSpPr/>
          <p:nvPr/>
        </p:nvSpPr>
        <p:spPr>
          <a:xfrm>
            <a:off x="8412480" y="2926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4" name="Chart 0"/>
          <p:cNvGraphicFramePr/>
          <p:nvPr/>
        </p:nvGraphicFramePr>
        <p:xfrm>
          <a:off x="457200" y="1463040"/>
          <a:ext cx="8229240" cy="3291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0"/>
          <p:cNvSpPr/>
          <p:nvPr/>
        </p:nvSpPr>
        <p:spPr>
          <a:xfrm>
            <a:off x="457200" y="29268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pc="201" strike="noStrike">
                <a:solidFill>
                  <a:srgbClr val="6D635A"/>
                </a:solidFill>
                <a:effectLst/>
                <a:uFillTx/>
                <a:latin typeface="Calibri"/>
              </a:rPr>
              <a:t>DATA.WATERFALL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"/>
          <p:cNvSpPr/>
          <p:nvPr/>
        </p:nvSpPr>
        <p:spPr>
          <a:xfrm>
            <a:off x="457200" y="548640"/>
            <a:ext cx="8229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Harness gains come from several small controls, not one magic prompt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2"/>
          <p:cNvSpPr/>
          <p:nvPr/>
        </p:nvSpPr>
        <p:spPr>
          <a:xfrm>
            <a:off x="8412480" y="2926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8" name="Chart 0"/>
          <p:cNvGraphicFramePr/>
          <p:nvPr/>
        </p:nvGraphicFramePr>
        <p:xfrm>
          <a:off x="457200" y="1463040"/>
          <a:ext cx="8229240" cy="3291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 0"/>
          <p:cNvSpPr/>
          <p:nvPr/>
        </p:nvSpPr>
        <p:spPr>
          <a:xfrm>
            <a:off x="457200" y="29268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pc="201" strike="noStrike">
                <a:solidFill>
                  <a:srgbClr val="6D635A"/>
                </a:solidFill>
                <a:effectLst/>
                <a:uFillTx/>
                <a:latin typeface="Calibri"/>
              </a:rPr>
              <a:t>DATA.DISTRIBUTION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"/>
          <p:cNvSpPr/>
          <p:nvPr/>
        </p:nvSpPr>
        <p:spPr>
          <a:xfrm>
            <a:off x="457200" y="548640"/>
            <a:ext cx="8229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The best route sits on a frontier, not at one universal optimum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2"/>
          <p:cNvSpPr/>
          <p:nvPr/>
        </p:nvSpPr>
        <p:spPr>
          <a:xfrm>
            <a:off x="8412480" y="2926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10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2" name="Chart 0"/>
          <p:cNvGraphicFramePr/>
          <p:nvPr/>
        </p:nvGraphicFramePr>
        <p:xfrm>
          <a:off x="457200" y="1463040"/>
          <a:ext cx="8229240" cy="3291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 0"/>
          <p:cNvSpPr/>
          <p:nvPr/>
        </p:nvSpPr>
        <p:spPr>
          <a:xfrm>
            <a:off x="457200" y="29268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pc="201" strike="noStrike">
                <a:solidFill>
                  <a:srgbClr val="6D635A"/>
                </a:solidFill>
                <a:effectLst/>
                <a:uFillTx/>
                <a:latin typeface="Calibri"/>
              </a:rPr>
              <a:t>DATA.TABLE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"/>
          <p:cNvSpPr/>
          <p:nvPr/>
        </p:nvSpPr>
        <p:spPr>
          <a:xfrm>
            <a:off x="457200" y="548640"/>
            <a:ext cx="8229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Dense tables stay readable when hierarchy does the filtering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2"/>
          <p:cNvSpPr/>
          <p:nvPr/>
        </p:nvSpPr>
        <p:spPr>
          <a:xfrm>
            <a:off x="8412480" y="2926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11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6" name="Table 0"/>
          <p:cNvGraphicFramePr/>
          <p:nvPr/>
        </p:nvGraphicFramePr>
        <p:xfrm>
          <a:off x="457200" y="1463040"/>
          <a:ext cx="8229240" cy="244224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Series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Archetypes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Distinct artifacts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Native objects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Declared fallback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solidFill>
                      <a:srgbClr val="C76D54"/>
                    </a:solidFill>
                  </a:tcPr>
                </a:tc>
              </a:tr>
              <a:tr h="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Narrative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Data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Systems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Progression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Product evidence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Technical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Decision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 0"/>
          <p:cNvSpPr/>
          <p:nvPr/>
        </p:nvSpPr>
        <p:spPr>
          <a:xfrm>
            <a:off x="457200" y="29268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pc="201" strike="noStrike">
                <a:solidFill>
                  <a:srgbClr val="6D635A"/>
                </a:solidFill>
                <a:effectLst/>
                <a:uFillTx/>
                <a:latin typeface="Calibri"/>
              </a:rPr>
              <a:t>DATA.FUNNEL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"/>
          <p:cNvSpPr/>
          <p:nvPr/>
        </p:nvSpPr>
        <p:spPr>
          <a:xfrm>
            <a:off x="457200" y="548640"/>
            <a:ext cx="8229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A dashboard can be dense without becoming a card graveyard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2"/>
          <p:cNvSpPr/>
          <p:nvPr/>
        </p:nvSpPr>
        <p:spPr>
          <a:xfrm>
            <a:off x="8412480" y="2926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12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0" name="Chart 0"/>
          <p:cNvGraphicFramePr/>
          <p:nvPr/>
        </p:nvGraphicFramePr>
        <p:xfrm>
          <a:off x="457200" y="1463040"/>
          <a:ext cx="8229240" cy="3291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0"/>
          <p:cNvSpPr/>
          <p:nvPr/>
        </p:nvSpPr>
        <p:spPr>
          <a:xfrm>
            <a:off x="457200" y="29268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pc="201" strike="noStrike">
                <a:solidFill>
                  <a:srgbClr val="6D635A"/>
                </a:solidFill>
                <a:effectLst/>
                <a:uFillTx/>
                <a:latin typeface="Calibri"/>
              </a:rPr>
              <a:t>SYSTEMS.ARCHITECTURE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"/>
          <p:cNvSpPr/>
          <p:nvPr/>
        </p:nvSpPr>
        <p:spPr>
          <a:xfrm>
            <a:off x="457200" y="548640"/>
            <a:ext cx="8229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The portable protocol keeps product logic above backend choice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2"/>
          <p:cNvSpPr/>
          <p:nvPr/>
        </p:nvSpPr>
        <p:spPr>
          <a:xfrm>
            <a:off x="8412480" y="2926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13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node-brief"/>
          <p:cNvSpPr/>
          <p:nvPr/>
        </p:nvSpPr>
        <p:spPr>
          <a:xfrm>
            <a:off x="685800" y="2194560"/>
            <a:ext cx="1371240" cy="82260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905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4"/>
          <p:cNvSpPr/>
          <p:nvPr/>
        </p:nvSpPr>
        <p:spPr>
          <a:xfrm>
            <a:off x="685800" y="2194560"/>
            <a:ext cx="1371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brief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node-planner"/>
          <p:cNvSpPr/>
          <p:nvPr/>
        </p:nvSpPr>
        <p:spPr>
          <a:xfrm>
            <a:off x="2286000" y="2194560"/>
            <a:ext cx="1371240" cy="82260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905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6"/>
          <p:cNvSpPr/>
          <p:nvPr/>
        </p:nvSpPr>
        <p:spPr>
          <a:xfrm>
            <a:off x="2286000" y="2194560"/>
            <a:ext cx="1371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planner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node-artifact-compiler"/>
          <p:cNvSpPr/>
          <p:nvPr/>
        </p:nvSpPr>
        <p:spPr>
          <a:xfrm>
            <a:off x="3886200" y="2194560"/>
            <a:ext cx="1371240" cy="82260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905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8"/>
          <p:cNvSpPr/>
          <p:nvPr/>
        </p:nvSpPr>
        <p:spPr>
          <a:xfrm>
            <a:off x="3886200" y="2194560"/>
            <a:ext cx="1371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artifact-compiler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node-ooxml-emitter"/>
          <p:cNvSpPr/>
          <p:nvPr/>
        </p:nvSpPr>
        <p:spPr>
          <a:xfrm>
            <a:off x="5486400" y="2194560"/>
            <a:ext cx="1371240" cy="82260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905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0"/>
          <p:cNvSpPr/>
          <p:nvPr/>
        </p:nvSpPr>
        <p:spPr>
          <a:xfrm>
            <a:off x="5486400" y="2194560"/>
            <a:ext cx="1371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ooxml-emitter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node-deck-ci"/>
          <p:cNvSpPr/>
          <p:nvPr/>
        </p:nvSpPr>
        <p:spPr>
          <a:xfrm>
            <a:off x="7086600" y="2194560"/>
            <a:ext cx="1371240" cy="82260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905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12"/>
          <p:cNvSpPr/>
          <p:nvPr/>
        </p:nvSpPr>
        <p:spPr>
          <a:xfrm>
            <a:off x="7086600" y="2194560"/>
            <a:ext cx="1371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deck-ci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4" name="edge-brief-planner"/>
          <p:cNvCxnSpPr>
            <a:stCxn id="64" idx="3"/>
            <a:endCxn id="66" idx="1"/>
          </p:cNvCxnSpPr>
          <p:nvPr/>
        </p:nvCxnSpPr>
        <p:spPr>
          <a:xfrm>
            <a:off x="2057040" y="2606040"/>
            <a:ext cx="229320" cy="360"/>
          </a:xfrm>
          <a:prstGeom prst="straightConnector1">
            <a:avLst/>
          </a:prstGeom>
          <a:ln w="19050">
            <a:solidFill>
              <a:srgbClr val="221F1C"/>
            </a:solidFill>
            <a:tailEnd len="med" type="triangle" w="med"/>
          </a:ln>
        </p:spPr>
      </p:cxnSp>
      <p:cxnSp>
        <p:nvCxnSpPr>
          <p:cNvPr id="75" name="edge-planner-artifact-compiler"/>
          <p:cNvCxnSpPr>
            <a:stCxn id="66" idx="3"/>
            <a:endCxn id="68" idx="1"/>
          </p:cNvCxnSpPr>
          <p:nvPr/>
        </p:nvCxnSpPr>
        <p:spPr>
          <a:xfrm>
            <a:off x="3657240" y="2606040"/>
            <a:ext cx="229320" cy="360"/>
          </a:xfrm>
          <a:prstGeom prst="straightConnector1">
            <a:avLst/>
          </a:prstGeom>
          <a:ln w="19050">
            <a:solidFill>
              <a:srgbClr val="221F1C"/>
            </a:solidFill>
            <a:tailEnd len="med" type="triangle" w="med"/>
          </a:ln>
        </p:spPr>
      </p:cxnSp>
      <p:cxnSp>
        <p:nvCxnSpPr>
          <p:cNvPr id="76" name="edge-artifact-compiler-ooxml-emitter"/>
          <p:cNvCxnSpPr>
            <a:stCxn id="68" idx="3"/>
            <a:endCxn id="70" idx="1"/>
          </p:cNvCxnSpPr>
          <p:nvPr/>
        </p:nvCxnSpPr>
        <p:spPr>
          <a:xfrm>
            <a:off x="5257440" y="2606040"/>
            <a:ext cx="229320" cy="360"/>
          </a:xfrm>
          <a:prstGeom prst="straightConnector1">
            <a:avLst/>
          </a:prstGeom>
          <a:ln w="19050">
            <a:solidFill>
              <a:srgbClr val="221F1C"/>
            </a:solidFill>
            <a:tailEnd len="med" type="triangle" w="med"/>
          </a:ln>
        </p:spPr>
      </p:cxnSp>
      <p:cxnSp>
        <p:nvCxnSpPr>
          <p:cNvPr id="77" name="edge-ooxml-emitter-deck-ci"/>
          <p:cNvCxnSpPr>
            <a:stCxn id="70" idx="3"/>
            <a:endCxn id="72" idx="1"/>
          </p:cNvCxnSpPr>
          <p:nvPr/>
        </p:nvCxnSpPr>
        <p:spPr>
          <a:xfrm>
            <a:off x="6857640" y="2606040"/>
            <a:ext cx="229320" cy="360"/>
          </a:xfrm>
          <a:prstGeom prst="straightConnector1">
            <a:avLst/>
          </a:prstGeom>
          <a:ln w="19050">
            <a:solidFill>
              <a:srgbClr val="221F1C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 0"/>
          <p:cNvSpPr/>
          <p:nvPr/>
        </p:nvSpPr>
        <p:spPr>
          <a:xfrm>
            <a:off x="457200" y="29268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pc="201" strike="noStrike">
                <a:solidFill>
                  <a:srgbClr val="6D635A"/>
                </a:solidFill>
                <a:effectLst/>
                <a:uFillTx/>
                <a:latin typeface="Calibri"/>
              </a:rPr>
              <a:t>SYSTEMS.SEQUENCE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"/>
          <p:cNvSpPr/>
          <p:nvPr/>
        </p:nvSpPr>
        <p:spPr>
          <a:xfrm>
            <a:off x="457200" y="548640"/>
            <a:ext cx="8229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Review custody is visible at every handoff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2"/>
          <p:cNvSpPr/>
          <p:nvPr/>
        </p:nvSpPr>
        <p:spPr>
          <a:xfrm>
            <a:off x="8412480" y="2926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14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node-author"/>
          <p:cNvSpPr/>
          <p:nvPr/>
        </p:nvSpPr>
        <p:spPr>
          <a:xfrm>
            <a:off x="1486080" y="2194560"/>
            <a:ext cx="1371240" cy="82260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905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4"/>
          <p:cNvSpPr/>
          <p:nvPr/>
        </p:nvSpPr>
        <p:spPr>
          <a:xfrm>
            <a:off x="1486080" y="2194560"/>
            <a:ext cx="1371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author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node-agent"/>
          <p:cNvSpPr/>
          <p:nvPr/>
        </p:nvSpPr>
        <p:spPr>
          <a:xfrm>
            <a:off x="3086280" y="2194560"/>
            <a:ext cx="1371240" cy="82260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905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6"/>
          <p:cNvSpPr/>
          <p:nvPr/>
        </p:nvSpPr>
        <p:spPr>
          <a:xfrm>
            <a:off x="3086280" y="2194560"/>
            <a:ext cx="1371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agent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node-reviewer"/>
          <p:cNvSpPr/>
          <p:nvPr/>
        </p:nvSpPr>
        <p:spPr>
          <a:xfrm>
            <a:off x="4686480" y="2194560"/>
            <a:ext cx="1371240" cy="82260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905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8"/>
          <p:cNvSpPr/>
          <p:nvPr/>
        </p:nvSpPr>
        <p:spPr>
          <a:xfrm>
            <a:off x="4686480" y="2194560"/>
            <a:ext cx="1371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reviewer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node-countersign"/>
          <p:cNvSpPr/>
          <p:nvPr/>
        </p:nvSpPr>
        <p:spPr>
          <a:xfrm>
            <a:off x="6286680" y="2194560"/>
            <a:ext cx="1371240" cy="82260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905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0"/>
          <p:cNvSpPr/>
          <p:nvPr/>
        </p:nvSpPr>
        <p:spPr>
          <a:xfrm>
            <a:off x="6286680" y="2194560"/>
            <a:ext cx="1371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countersign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9" name="edge-author-agent"/>
          <p:cNvCxnSpPr>
            <a:stCxn id="81" idx="3"/>
            <a:endCxn id="83" idx="1"/>
          </p:cNvCxnSpPr>
          <p:nvPr/>
        </p:nvCxnSpPr>
        <p:spPr>
          <a:xfrm>
            <a:off x="2857320" y="2606040"/>
            <a:ext cx="229320" cy="360"/>
          </a:xfrm>
          <a:prstGeom prst="straightConnector1">
            <a:avLst/>
          </a:prstGeom>
          <a:ln w="19050">
            <a:solidFill>
              <a:srgbClr val="221F1C"/>
            </a:solidFill>
            <a:tailEnd len="med" type="triangle" w="med"/>
          </a:ln>
        </p:spPr>
      </p:cxnSp>
      <p:cxnSp>
        <p:nvCxnSpPr>
          <p:cNvPr id="90" name="edge-agent-reviewer"/>
          <p:cNvCxnSpPr>
            <a:stCxn id="83" idx="3"/>
            <a:endCxn id="85" idx="1"/>
          </p:cNvCxnSpPr>
          <p:nvPr/>
        </p:nvCxnSpPr>
        <p:spPr>
          <a:xfrm>
            <a:off x="4457520" y="2606040"/>
            <a:ext cx="229320" cy="360"/>
          </a:xfrm>
          <a:prstGeom prst="straightConnector1">
            <a:avLst/>
          </a:prstGeom>
          <a:ln w="19050">
            <a:solidFill>
              <a:srgbClr val="221F1C"/>
            </a:solidFill>
            <a:tailEnd len="med" type="triangle" w="med"/>
          </a:ln>
        </p:spPr>
      </p:cxnSp>
      <p:cxnSp>
        <p:nvCxnSpPr>
          <p:cNvPr id="91" name="edge-reviewer-countersign"/>
          <p:cNvCxnSpPr>
            <a:stCxn id="85" idx="3"/>
            <a:endCxn id="87" idx="1"/>
          </p:cNvCxnSpPr>
          <p:nvPr/>
        </p:nvCxnSpPr>
        <p:spPr>
          <a:xfrm>
            <a:off x="6057720" y="2606040"/>
            <a:ext cx="229320" cy="360"/>
          </a:xfrm>
          <a:prstGeom prst="straightConnector1">
            <a:avLst/>
          </a:prstGeom>
          <a:ln w="19050">
            <a:solidFill>
              <a:srgbClr val="221F1C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ext 0"/>
          <p:cNvSpPr/>
          <p:nvPr/>
        </p:nvSpPr>
        <p:spPr>
          <a:xfrm>
            <a:off x="457200" y="29268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pc="201" strike="noStrike">
                <a:solidFill>
                  <a:srgbClr val="6D635A"/>
                </a:solidFill>
                <a:effectLst/>
                <a:uFillTx/>
                <a:latin typeface="Calibri"/>
              </a:rPr>
              <a:t>SYSTEMS.NODE-EDGE-GRAPH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"/>
          <p:cNvSpPr/>
          <p:nvPr/>
        </p:nvSpPr>
        <p:spPr>
          <a:xfrm>
            <a:off x="457200" y="548640"/>
            <a:ext cx="8229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Better receipts reinforce trust; unchecked complexity pushes back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2"/>
          <p:cNvSpPr/>
          <p:nvPr/>
        </p:nvSpPr>
        <p:spPr>
          <a:xfrm>
            <a:off x="8412480" y="2926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15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node-receipt"/>
          <p:cNvSpPr/>
          <p:nvPr/>
        </p:nvSpPr>
        <p:spPr>
          <a:xfrm>
            <a:off x="685800" y="2194560"/>
            <a:ext cx="1371240" cy="82260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905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4"/>
          <p:cNvSpPr/>
          <p:nvPr/>
        </p:nvSpPr>
        <p:spPr>
          <a:xfrm>
            <a:off x="685800" y="2194560"/>
            <a:ext cx="1371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receipt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node-trust"/>
          <p:cNvSpPr/>
          <p:nvPr/>
        </p:nvSpPr>
        <p:spPr>
          <a:xfrm>
            <a:off x="2286000" y="2194560"/>
            <a:ext cx="1371240" cy="82260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905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6"/>
          <p:cNvSpPr/>
          <p:nvPr/>
        </p:nvSpPr>
        <p:spPr>
          <a:xfrm>
            <a:off x="2286000" y="2194560"/>
            <a:ext cx="1371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trust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node-reuse"/>
          <p:cNvSpPr/>
          <p:nvPr/>
        </p:nvSpPr>
        <p:spPr>
          <a:xfrm>
            <a:off x="3886200" y="2194560"/>
            <a:ext cx="1371240" cy="82260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905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8"/>
          <p:cNvSpPr/>
          <p:nvPr/>
        </p:nvSpPr>
        <p:spPr>
          <a:xfrm>
            <a:off x="3886200" y="2194560"/>
            <a:ext cx="1371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reuse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node-signal"/>
          <p:cNvSpPr/>
          <p:nvPr/>
        </p:nvSpPr>
        <p:spPr>
          <a:xfrm>
            <a:off x="5486400" y="2194560"/>
            <a:ext cx="1371240" cy="82260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905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0"/>
          <p:cNvSpPr/>
          <p:nvPr/>
        </p:nvSpPr>
        <p:spPr>
          <a:xfrm>
            <a:off x="5486400" y="2194560"/>
            <a:ext cx="1371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signal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node-complexity"/>
          <p:cNvSpPr/>
          <p:nvPr/>
        </p:nvSpPr>
        <p:spPr>
          <a:xfrm>
            <a:off x="7086600" y="2194560"/>
            <a:ext cx="1371240" cy="82260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905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12"/>
          <p:cNvSpPr/>
          <p:nvPr/>
        </p:nvSpPr>
        <p:spPr>
          <a:xfrm>
            <a:off x="7086600" y="2194560"/>
            <a:ext cx="1371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complexity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5" name="edge-receipt-trust"/>
          <p:cNvCxnSpPr>
            <a:stCxn id="95" idx="3"/>
            <a:endCxn id="97" idx="1"/>
          </p:cNvCxnSpPr>
          <p:nvPr/>
        </p:nvCxnSpPr>
        <p:spPr>
          <a:xfrm>
            <a:off x="2057040" y="2606040"/>
            <a:ext cx="229320" cy="360"/>
          </a:xfrm>
          <a:prstGeom prst="straightConnector1">
            <a:avLst/>
          </a:prstGeom>
          <a:ln w="19050">
            <a:solidFill>
              <a:srgbClr val="221F1C"/>
            </a:solidFill>
            <a:tailEnd len="med" type="triangle" w="med"/>
          </a:ln>
        </p:spPr>
      </p:cxnSp>
      <p:cxnSp>
        <p:nvCxnSpPr>
          <p:cNvPr id="106" name="edge-trust-reuse"/>
          <p:cNvCxnSpPr>
            <a:stCxn id="97" idx="3"/>
            <a:endCxn id="99" idx="1"/>
          </p:cNvCxnSpPr>
          <p:nvPr/>
        </p:nvCxnSpPr>
        <p:spPr>
          <a:xfrm>
            <a:off x="3657240" y="2606040"/>
            <a:ext cx="229320" cy="360"/>
          </a:xfrm>
          <a:prstGeom prst="straightConnector1">
            <a:avLst/>
          </a:prstGeom>
          <a:ln w="19050">
            <a:solidFill>
              <a:srgbClr val="221F1C"/>
            </a:solidFill>
            <a:tailEnd len="med" type="triangle" w="med"/>
          </a:ln>
        </p:spPr>
      </p:cxnSp>
      <p:cxnSp>
        <p:nvCxnSpPr>
          <p:cNvPr id="107" name="edge-reuse-signal"/>
          <p:cNvCxnSpPr>
            <a:stCxn id="99" idx="3"/>
            <a:endCxn id="101" idx="1"/>
          </p:cNvCxnSpPr>
          <p:nvPr/>
        </p:nvCxnSpPr>
        <p:spPr>
          <a:xfrm>
            <a:off x="5257440" y="2606040"/>
            <a:ext cx="229320" cy="360"/>
          </a:xfrm>
          <a:prstGeom prst="straightConnector1">
            <a:avLst/>
          </a:prstGeom>
          <a:ln w="19050">
            <a:solidFill>
              <a:srgbClr val="221F1C"/>
            </a:solidFill>
            <a:tailEnd len="med" type="triangle" w="med"/>
          </a:ln>
        </p:spPr>
      </p:cxnSp>
      <p:cxnSp>
        <p:nvCxnSpPr>
          <p:cNvPr id="108" name="edge-signal-receipt"/>
          <p:cNvCxnSpPr>
            <a:stCxn id="101" idx="3"/>
            <a:endCxn id="95" idx="1"/>
          </p:cNvCxnSpPr>
          <p:nvPr/>
        </p:nvCxnSpPr>
        <p:spPr>
          <a:xfrm flipH="1">
            <a:off x="685800" y="2606040"/>
            <a:ext cx="6172200" cy="360"/>
          </a:xfrm>
          <a:prstGeom prst="straightConnector1">
            <a:avLst/>
          </a:prstGeom>
          <a:ln w="19050">
            <a:solidFill>
              <a:srgbClr val="221F1C"/>
            </a:solidFill>
            <a:tailEnd len="med" type="triangle" w="med"/>
          </a:ln>
        </p:spPr>
      </p:cxnSp>
      <p:cxnSp>
        <p:nvCxnSpPr>
          <p:cNvPr id="109" name="edge-reuse-complexity"/>
          <p:cNvCxnSpPr>
            <a:stCxn id="99" idx="3"/>
            <a:endCxn id="103" idx="1"/>
          </p:cNvCxnSpPr>
          <p:nvPr/>
        </p:nvCxnSpPr>
        <p:spPr>
          <a:xfrm>
            <a:off x="5257440" y="2606040"/>
            <a:ext cx="1829520" cy="360"/>
          </a:xfrm>
          <a:prstGeom prst="straightConnector1">
            <a:avLst/>
          </a:prstGeom>
          <a:ln w="19050">
            <a:solidFill>
              <a:srgbClr val="221F1C"/>
            </a:solidFill>
            <a:tailEnd len="med" type="triangle" w="med"/>
          </a:ln>
        </p:spPr>
      </p:cxnSp>
      <p:cxnSp>
        <p:nvCxnSpPr>
          <p:cNvPr id="110" name="edge-complexity-trust"/>
          <p:cNvCxnSpPr>
            <a:stCxn id="103" idx="3"/>
            <a:endCxn id="97" idx="1"/>
          </p:cNvCxnSpPr>
          <p:nvPr/>
        </p:nvCxnSpPr>
        <p:spPr>
          <a:xfrm flipH="1">
            <a:off x="2286000" y="2606040"/>
            <a:ext cx="6172200" cy="360"/>
          </a:xfrm>
          <a:prstGeom prst="straightConnector1">
            <a:avLst/>
          </a:prstGeom>
          <a:ln w="19050">
            <a:solidFill>
              <a:srgbClr val="221F1C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ext 0"/>
          <p:cNvSpPr/>
          <p:nvPr/>
        </p:nvSpPr>
        <p:spPr>
          <a:xfrm>
            <a:off x="457200" y="29268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pc="201" strike="noStrike">
                <a:solidFill>
                  <a:srgbClr val="6D635A"/>
                </a:solidFill>
                <a:effectLst/>
                <a:uFillTx/>
                <a:latin typeface="Calibri"/>
              </a:rPr>
              <a:t>SYSTEMS.NODE-EDGE-GRAPH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"/>
          <p:cNvSpPr/>
          <p:nvPr/>
        </p:nvSpPr>
        <p:spPr>
          <a:xfrm>
            <a:off x="457200" y="548640"/>
            <a:ext cx="8229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Every visual can retain the path from source to slide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2"/>
          <p:cNvSpPr/>
          <p:nvPr/>
        </p:nvSpPr>
        <p:spPr>
          <a:xfrm>
            <a:off x="8412480" y="2926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16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node-source-a"/>
          <p:cNvSpPr/>
          <p:nvPr/>
        </p:nvSpPr>
        <p:spPr>
          <a:xfrm>
            <a:off x="457200" y="2194560"/>
            <a:ext cx="828360" cy="82260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905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4"/>
          <p:cNvSpPr/>
          <p:nvPr/>
        </p:nvSpPr>
        <p:spPr>
          <a:xfrm>
            <a:off x="457200" y="2194560"/>
            <a:ext cx="8283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Source 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node-source-b"/>
          <p:cNvSpPr/>
          <p:nvPr/>
        </p:nvSpPr>
        <p:spPr>
          <a:xfrm>
            <a:off x="1514520" y="2194560"/>
            <a:ext cx="828360" cy="82260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905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6"/>
          <p:cNvSpPr/>
          <p:nvPr/>
        </p:nvSpPr>
        <p:spPr>
          <a:xfrm>
            <a:off x="1514520" y="2194560"/>
            <a:ext cx="8283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Source B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node-source-c"/>
          <p:cNvSpPr/>
          <p:nvPr/>
        </p:nvSpPr>
        <p:spPr>
          <a:xfrm>
            <a:off x="2571840" y="2194560"/>
            <a:ext cx="828360" cy="82260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905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8"/>
          <p:cNvSpPr/>
          <p:nvPr/>
        </p:nvSpPr>
        <p:spPr>
          <a:xfrm>
            <a:off x="2571840" y="2194560"/>
            <a:ext cx="8283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Source 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node-claims"/>
          <p:cNvSpPr/>
          <p:nvPr/>
        </p:nvSpPr>
        <p:spPr>
          <a:xfrm>
            <a:off x="3629160" y="2194560"/>
            <a:ext cx="828360" cy="82260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905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0"/>
          <p:cNvSpPr/>
          <p:nvPr/>
        </p:nvSpPr>
        <p:spPr>
          <a:xfrm>
            <a:off x="3629160" y="2194560"/>
            <a:ext cx="8283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Claims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node-rejections"/>
          <p:cNvSpPr/>
          <p:nvPr/>
        </p:nvSpPr>
        <p:spPr>
          <a:xfrm>
            <a:off x="4686480" y="2194560"/>
            <a:ext cx="828360" cy="82260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905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12"/>
          <p:cNvSpPr/>
          <p:nvPr/>
        </p:nvSpPr>
        <p:spPr>
          <a:xfrm>
            <a:off x="4686480" y="2194560"/>
            <a:ext cx="8283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Rejections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node-charts"/>
          <p:cNvSpPr/>
          <p:nvPr/>
        </p:nvSpPr>
        <p:spPr>
          <a:xfrm>
            <a:off x="5743440" y="2194560"/>
            <a:ext cx="828360" cy="82260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905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4"/>
          <p:cNvSpPr/>
          <p:nvPr/>
        </p:nvSpPr>
        <p:spPr>
          <a:xfrm>
            <a:off x="5743440" y="2194560"/>
            <a:ext cx="8283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Charts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node-diagrams"/>
          <p:cNvSpPr/>
          <p:nvPr/>
        </p:nvSpPr>
        <p:spPr>
          <a:xfrm>
            <a:off x="6800760" y="2194560"/>
            <a:ext cx="828360" cy="82260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905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6"/>
          <p:cNvSpPr/>
          <p:nvPr/>
        </p:nvSpPr>
        <p:spPr>
          <a:xfrm>
            <a:off x="6800760" y="2194560"/>
            <a:ext cx="8283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Diagrams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node-proof"/>
          <p:cNvSpPr/>
          <p:nvPr/>
        </p:nvSpPr>
        <p:spPr>
          <a:xfrm>
            <a:off x="7858080" y="2194560"/>
            <a:ext cx="828360" cy="82260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905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8"/>
          <p:cNvSpPr/>
          <p:nvPr/>
        </p:nvSpPr>
        <p:spPr>
          <a:xfrm>
            <a:off x="7858080" y="2194560"/>
            <a:ext cx="8283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Proof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0" name="edge-source-a-claims"/>
          <p:cNvCxnSpPr>
            <a:stCxn id="114" idx="3"/>
            <a:endCxn id="120" idx="1"/>
          </p:cNvCxnSpPr>
          <p:nvPr/>
        </p:nvCxnSpPr>
        <p:spPr>
          <a:xfrm>
            <a:off x="1285560" y="2606040"/>
            <a:ext cx="2343960" cy="360"/>
          </a:xfrm>
          <a:prstGeom prst="straightConnector1">
            <a:avLst/>
          </a:prstGeom>
          <a:ln w="19050">
            <a:solidFill>
              <a:srgbClr val="221F1C"/>
            </a:solidFill>
            <a:tailEnd len="med" type="triangle" w="med"/>
          </a:ln>
        </p:spPr>
      </p:cxnSp>
      <p:cxnSp>
        <p:nvCxnSpPr>
          <p:cNvPr id="131" name="edge-source-b-claims"/>
          <p:cNvCxnSpPr>
            <a:stCxn id="116" idx="3"/>
            <a:endCxn id="120" idx="1"/>
          </p:cNvCxnSpPr>
          <p:nvPr/>
        </p:nvCxnSpPr>
        <p:spPr>
          <a:xfrm>
            <a:off x="2342880" y="2606040"/>
            <a:ext cx="1286640" cy="360"/>
          </a:xfrm>
          <a:prstGeom prst="straightConnector1">
            <a:avLst/>
          </a:prstGeom>
          <a:ln w="19050">
            <a:solidFill>
              <a:srgbClr val="221F1C"/>
            </a:solidFill>
            <a:tailEnd len="med" type="triangle" w="med"/>
          </a:ln>
        </p:spPr>
      </p:cxnSp>
      <p:cxnSp>
        <p:nvCxnSpPr>
          <p:cNvPr id="132" name="edge-source-c-claims"/>
          <p:cNvCxnSpPr>
            <a:stCxn id="118" idx="3"/>
            <a:endCxn id="120" idx="1"/>
          </p:cNvCxnSpPr>
          <p:nvPr/>
        </p:nvCxnSpPr>
        <p:spPr>
          <a:xfrm>
            <a:off x="3400200" y="2606040"/>
            <a:ext cx="229320" cy="360"/>
          </a:xfrm>
          <a:prstGeom prst="straightConnector1">
            <a:avLst/>
          </a:prstGeom>
          <a:ln w="19050">
            <a:solidFill>
              <a:srgbClr val="221F1C"/>
            </a:solidFill>
            <a:tailEnd len="med" type="triangle" w="med"/>
          </a:ln>
        </p:spPr>
      </p:cxnSp>
      <p:cxnSp>
        <p:nvCxnSpPr>
          <p:cNvPr id="133" name="edge-source-c-rejections"/>
          <p:cNvCxnSpPr>
            <a:stCxn id="118" idx="3"/>
            <a:endCxn id="122" idx="1"/>
          </p:cNvCxnSpPr>
          <p:nvPr/>
        </p:nvCxnSpPr>
        <p:spPr>
          <a:xfrm>
            <a:off x="3400200" y="2606040"/>
            <a:ext cx="1286640" cy="360"/>
          </a:xfrm>
          <a:prstGeom prst="straightConnector1">
            <a:avLst/>
          </a:prstGeom>
          <a:ln w="19050">
            <a:solidFill>
              <a:srgbClr val="221F1C"/>
            </a:solidFill>
            <a:tailEnd len="med" type="triangle" w="med"/>
          </a:ln>
        </p:spPr>
      </p:cxnSp>
      <p:cxnSp>
        <p:nvCxnSpPr>
          <p:cNvPr id="134" name="edge-source-a-rejections"/>
          <p:cNvCxnSpPr>
            <a:stCxn id="114" idx="3"/>
            <a:endCxn id="122" idx="1"/>
          </p:cNvCxnSpPr>
          <p:nvPr/>
        </p:nvCxnSpPr>
        <p:spPr>
          <a:xfrm>
            <a:off x="1285560" y="2606040"/>
            <a:ext cx="3401280" cy="360"/>
          </a:xfrm>
          <a:prstGeom prst="straightConnector1">
            <a:avLst/>
          </a:prstGeom>
          <a:ln w="19050">
            <a:solidFill>
              <a:srgbClr val="221F1C"/>
            </a:solidFill>
            <a:tailEnd len="med" type="triangle" w="med"/>
          </a:ln>
        </p:spPr>
      </p:cxnSp>
      <p:cxnSp>
        <p:nvCxnSpPr>
          <p:cNvPr id="135" name="edge-claims-charts"/>
          <p:cNvCxnSpPr>
            <a:stCxn id="120" idx="3"/>
            <a:endCxn id="124" idx="1"/>
          </p:cNvCxnSpPr>
          <p:nvPr/>
        </p:nvCxnSpPr>
        <p:spPr>
          <a:xfrm>
            <a:off x="4457520" y="2606040"/>
            <a:ext cx="1286280" cy="360"/>
          </a:xfrm>
          <a:prstGeom prst="straightConnector1">
            <a:avLst/>
          </a:prstGeom>
          <a:ln w="19050">
            <a:solidFill>
              <a:srgbClr val="221F1C"/>
            </a:solidFill>
            <a:tailEnd len="med" type="triangle" w="med"/>
          </a:ln>
        </p:spPr>
      </p:cxnSp>
      <p:cxnSp>
        <p:nvCxnSpPr>
          <p:cNvPr id="136" name="edge-claims-diagrams"/>
          <p:cNvCxnSpPr>
            <a:stCxn id="120" idx="3"/>
            <a:endCxn id="126" idx="1"/>
          </p:cNvCxnSpPr>
          <p:nvPr/>
        </p:nvCxnSpPr>
        <p:spPr>
          <a:xfrm>
            <a:off x="4457520" y="2606040"/>
            <a:ext cx="2343600" cy="360"/>
          </a:xfrm>
          <a:prstGeom prst="straightConnector1">
            <a:avLst/>
          </a:prstGeom>
          <a:ln w="19050">
            <a:solidFill>
              <a:srgbClr val="221F1C"/>
            </a:solidFill>
            <a:tailEnd len="med" type="triangle" w="med"/>
          </a:ln>
        </p:spPr>
      </p:cxnSp>
      <p:cxnSp>
        <p:nvCxnSpPr>
          <p:cNvPr id="137" name="edge-claims-proof"/>
          <p:cNvCxnSpPr>
            <a:stCxn id="120" idx="3"/>
            <a:endCxn id="128" idx="1"/>
          </p:cNvCxnSpPr>
          <p:nvPr/>
        </p:nvCxnSpPr>
        <p:spPr>
          <a:xfrm>
            <a:off x="4457520" y="2606040"/>
            <a:ext cx="3400920" cy="360"/>
          </a:xfrm>
          <a:prstGeom prst="straightConnector1">
            <a:avLst/>
          </a:prstGeom>
          <a:ln w="19050">
            <a:solidFill>
              <a:srgbClr val="221F1C"/>
            </a:solidFill>
            <a:tailEnd len="med" type="triangle" w="med"/>
          </a:ln>
        </p:spPr>
      </p:cxnSp>
      <p:cxnSp>
        <p:nvCxnSpPr>
          <p:cNvPr id="138" name="edge-rejections-diagrams"/>
          <p:cNvCxnSpPr>
            <a:stCxn id="122" idx="3"/>
            <a:endCxn id="126" idx="1"/>
          </p:cNvCxnSpPr>
          <p:nvPr/>
        </p:nvCxnSpPr>
        <p:spPr>
          <a:xfrm>
            <a:off x="5514840" y="2606040"/>
            <a:ext cx="1286280" cy="360"/>
          </a:xfrm>
          <a:prstGeom prst="straightConnector1">
            <a:avLst/>
          </a:prstGeom>
          <a:ln w="19050">
            <a:solidFill>
              <a:srgbClr val="221F1C"/>
            </a:solidFill>
            <a:tailEnd len="med" type="triangle" w="med"/>
          </a:ln>
        </p:spPr>
      </p:cxnSp>
      <p:cxnSp>
        <p:nvCxnSpPr>
          <p:cNvPr id="139" name="edge-rejections-proof"/>
          <p:cNvCxnSpPr>
            <a:stCxn id="122" idx="3"/>
            <a:endCxn id="128" idx="1"/>
          </p:cNvCxnSpPr>
          <p:nvPr/>
        </p:nvCxnSpPr>
        <p:spPr>
          <a:xfrm>
            <a:off x="5514840" y="2606040"/>
            <a:ext cx="2343600" cy="360"/>
          </a:xfrm>
          <a:prstGeom prst="straightConnector1">
            <a:avLst/>
          </a:prstGeom>
          <a:ln w="19050">
            <a:solidFill>
              <a:srgbClr val="221F1C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Text 0"/>
          <p:cNvSpPr/>
          <p:nvPr/>
        </p:nvSpPr>
        <p:spPr>
          <a:xfrm>
            <a:off x="457200" y="29268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pc="201" strike="noStrike">
                <a:solidFill>
                  <a:srgbClr val="6D635A"/>
                </a:solidFill>
                <a:effectLst/>
                <a:uFillTx/>
                <a:latin typeface="Calibri"/>
              </a:rPr>
              <a:t>SYSTEMS.HIERARCHY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1"/>
          <p:cNvSpPr/>
          <p:nvPr/>
        </p:nvSpPr>
        <p:spPr>
          <a:xfrm>
            <a:off x="457200" y="548640"/>
            <a:ext cx="8229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Routing should spend capability only where the task needs it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2"/>
          <p:cNvSpPr/>
          <p:nvPr/>
        </p:nvSpPr>
        <p:spPr>
          <a:xfrm>
            <a:off x="8412480" y="2926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17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node-routing-budget"/>
          <p:cNvSpPr/>
          <p:nvPr/>
        </p:nvSpPr>
        <p:spPr>
          <a:xfrm>
            <a:off x="685800" y="2194560"/>
            <a:ext cx="1371240" cy="82260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905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4"/>
          <p:cNvSpPr/>
          <p:nvPr/>
        </p:nvSpPr>
        <p:spPr>
          <a:xfrm>
            <a:off x="685800" y="2194560"/>
            <a:ext cx="1371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routing-budget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node-high-capability"/>
          <p:cNvSpPr/>
          <p:nvPr/>
        </p:nvSpPr>
        <p:spPr>
          <a:xfrm>
            <a:off x="2286000" y="2194560"/>
            <a:ext cx="1371240" cy="82260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905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6"/>
          <p:cNvSpPr/>
          <p:nvPr/>
        </p:nvSpPr>
        <p:spPr>
          <a:xfrm>
            <a:off x="2286000" y="2194560"/>
            <a:ext cx="1371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high-capability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node-low-cost"/>
          <p:cNvSpPr/>
          <p:nvPr/>
        </p:nvSpPr>
        <p:spPr>
          <a:xfrm>
            <a:off x="3886200" y="2194560"/>
            <a:ext cx="1371240" cy="82260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905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8"/>
          <p:cNvSpPr/>
          <p:nvPr/>
        </p:nvSpPr>
        <p:spPr>
          <a:xfrm>
            <a:off x="3886200" y="2194560"/>
            <a:ext cx="1371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low-cost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node-kimi-k3"/>
          <p:cNvSpPr/>
          <p:nvPr/>
        </p:nvSpPr>
        <p:spPr>
          <a:xfrm>
            <a:off x="5486400" y="2194560"/>
            <a:ext cx="1371240" cy="82260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905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10"/>
          <p:cNvSpPr/>
          <p:nvPr/>
        </p:nvSpPr>
        <p:spPr>
          <a:xfrm>
            <a:off x="5486400" y="2194560"/>
            <a:ext cx="1371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kimi-k3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node-gemma-4"/>
          <p:cNvSpPr/>
          <p:nvPr/>
        </p:nvSpPr>
        <p:spPr>
          <a:xfrm>
            <a:off x="7086600" y="2194560"/>
            <a:ext cx="1371240" cy="82260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905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12"/>
          <p:cNvSpPr/>
          <p:nvPr/>
        </p:nvSpPr>
        <p:spPr>
          <a:xfrm>
            <a:off x="7086600" y="2194560"/>
            <a:ext cx="1371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gemma-4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53" name="edge-routing-budget-high-capability"/>
          <p:cNvCxnSpPr>
            <a:stCxn id="143" idx="3"/>
            <a:endCxn id="145" idx="1"/>
          </p:cNvCxnSpPr>
          <p:nvPr/>
        </p:nvCxnSpPr>
        <p:spPr>
          <a:xfrm>
            <a:off x="2057040" y="2606040"/>
            <a:ext cx="229320" cy="360"/>
          </a:xfrm>
          <a:prstGeom prst="straightConnector1">
            <a:avLst/>
          </a:prstGeom>
          <a:ln w="19050">
            <a:solidFill>
              <a:srgbClr val="221F1C"/>
            </a:solidFill>
            <a:tailEnd len="med" type="triangle" w="med"/>
          </a:ln>
        </p:spPr>
      </p:cxnSp>
      <p:cxnSp>
        <p:nvCxnSpPr>
          <p:cNvPr id="154" name="edge-routing-budget-low-cost"/>
          <p:cNvCxnSpPr>
            <a:stCxn id="143" idx="3"/>
            <a:endCxn id="147" idx="1"/>
          </p:cNvCxnSpPr>
          <p:nvPr/>
        </p:nvCxnSpPr>
        <p:spPr>
          <a:xfrm>
            <a:off x="2057040" y="2606040"/>
            <a:ext cx="1829520" cy="360"/>
          </a:xfrm>
          <a:prstGeom prst="straightConnector1">
            <a:avLst/>
          </a:prstGeom>
          <a:ln w="19050">
            <a:solidFill>
              <a:srgbClr val="221F1C"/>
            </a:solidFill>
            <a:tailEnd len="med" type="triangle" w="med"/>
          </a:ln>
        </p:spPr>
      </p:cxnSp>
      <p:cxnSp>
        <p:nvCxnSpPr>
          <p:cNvPr id="155" name="edge-high-capability-kimi-k3"/>
          <p:cNvCxnSpPr>
            <a:stCxn id="145" idx="3"/>
            <a:endCxn id="149" idx="1"/>
          </p:cNvCxnSpPr>
          <p:nvPr/>
        </p:nvCxnSpPr>
        <p:spPr>
          <a:xfrm>
            <a:off x="3657240" y="2606040"/>
            <a:ext cx="1829520" cy="360"/>
          </a:xfrm>
          <a:prstGeom prst="straightConnector1">
            <a:avLst/>
          </a:prstGeom>
          <a:ln w="19050">
            <a:solidFill>
              <a:srgbClr val="221F1C"/>
            </a:solidFill>
            <a:tailEnd len="med" type="triangle" w="med"/>
          </a:ln>
        </p:spPr>
      </p:cxnSp>
      <p:cxnSp>
        <p:nvCxnSpPr>
          <p:cNvPr id="156" name="edge-low-cost-gemma-4"/>
          <p:cNvCxnSpPr>
            <a:stCxn id="147" idx="3"/>
            <a:endCxn id="151" idx="1"/>
          </p:cNvCxnSpPr>
          <p:nvPr/>
        </p:nvCxnSpPr>
        <p:spPr>
          <a:xfrm>
            <a:off x="5257440" y="2606040"/>
            <a:ext cx="1829520" cy="360"/>
          </a:xfrm>
          <a:prstGeom prst="straightConnector1">
            <a:avLst/>
          </a:prstGeom>
          <a:ln w="19050">
            <a:solidFill>
              <a:srgbClr val="221F1C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Text 0"/>
          <p:cNvSpPr/>
          <p:nvPr/>
        </p:nvSpPr>
        <p:spPr>
          <a:xfrm>
            <a:off x="457200" y="29268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pc="201" strike="noStrike">
                <a:solidFill>
                  <a:srgbClr val="6D635A"/>
                </a:solidFill>
                <a:effectLst/>
                <a:uFillTx/>
                <a:latin typeface="Calibri"/>
              </a:rPr>
              <a:t>SYSTEMS.NODE-EDGE-GRAPH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1"/>
          <p:cNvSpPr/>
          <p:nvPr/>
        </p:nvSpPr>
        <p:spPr>
          <a:xfrm>
            <a:off x="457200" y="548640"/>
            <a:ext cx="8229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NodeKit connects the stack while NodeSlide proves the journey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2"/>
          <p:cNvSpPr/>
          <p:nvPr/>
        </p:nvSpPr>
        <p:spPr>
          <a:xfrm>
            <a:off x="8412480" y="2926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18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node-hub"/>
          <p:cNvSpPr/>
          <p:nvPr/>
        </p:nvSpPr>
        <p:spPr>
          <a:xfrm>
            <a:off x="685800" y="2194560"/>
            <a:ext cx="1371240" cy="82260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905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4"/>
          <p:cNvSpPr/>
          <p:nvPr/>
        </p:nvSpPr>
        <p:spPr>
          <a:xfrm>
            <a:off x="685800" y="2194560"/>
            <a:ext cx="1371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Hub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node-americas"/>
          <p:cNvSpPr/>
          <p:nvPr/>
        </p:nvSpPr>
        <p:spPr>
          <a:xfrm>
            <a:off x="2286000" y="2194560"/>
            <a:ext cx="1371240" cy="82260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905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6"/>
          <p:cNvSpPr/>
          <p:nvPr/>
        </p:nvSpPr>
        <p:spPr>
          <a:xfrm>
            <a:off x="2286000" y="2194560"/>
            <a:ext cx="1371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Americas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node-emea"/>
          <p:cNvSpPr/>
          <p:nvPr/>
        </p:nvSpPr>
        <p:spPr>
          <a:xfrm>
            <a:off x="3886200" y="2194560"/>
            <a:ext cx="1371240" cy="82260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905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8"/>
          <p:cNvSpPr/>
          <p:nvPr/>
        </p:nvSpPr>
        <p:spPr>
          <a:xfrm>
            <a:off x="3886200" y="2194560"/>
            <a:ext cx="1371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EMEA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node-apac"/>
          <p:cNvSpPr/>
          <p:nvPr/>
        </p:nvSpPr>
        <p:spPr>
          <a:xfrm>
            <a:off x="5486400" y="2194560"/>
            <a:ext cx="1371240" cy="82260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905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10"/>
          <p:cNvSpPr/>
          <p:nvPr/>
        </p:nvSpPr>
        <p:spPr>
          <a:xfrm>
            <a:off x="5486400" y="2194560"/>
            <a:ext cx="1371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APAC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node-edge"/>
          <p:cNvSpPr/>
          <p:nvPr/>
        </p:nvSpPr>
        <p:spPr>
          <a:xfrm>
            <a:off x="7086600" y="2194560"/>
            <a:ext cx="1371240" cy="82260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905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12"/>
          <p:cNvSpPr/>
          <p:nvPr/>
        </p:nvSpPr>
        <p:spPr>
          <a:xfrm>
            <a:off x="7086600" y="2194560"/>
            <a:ext cx="1371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Edge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70" name="edge-hub-americas"/>
          <p:cNvCxnSpPr>
            <a:stCxn id="160" idx="3"/>
            <a:endCxn id="162" idx="1"/>
          </p:cNvCxnSpPr>
          <p:nvPr/>
        </p:nvCxnSpPr>
        <p:spPr>
          <a:xfrm>
            <a:off x="2057040" y="2606040"/>
            <a:ext cx="229320" cy="360"/>
          </a:xfrm>
          <a:prstGeom prst="straightConnector1">
            <a:avLst/>
          </a:prstGeom>
          <a:ln w="19050">
            <a:solidFill>
              <a:srgbClr val="221F1C"/>
            </a:solidFill>
            <a:tailEnd len="med" type="triangle" w="med"/>
          </a:ln>
        </p:spPr>
      </p:cxnSp>
      <p:cxnSp>
        <p:nvCxnSpPr>
          <p:cNvPr id="171" name="edge-hub-emea"/>
          <p:cNvCxnSpPr>
            <a:stCxn id="160" idx="3"/>
            <a:endCxn id="164" idx="1"/>
          </p:cNvCxnSpPr>
          <p:nvPr/>
        </p:nvCxnSpPr>
        <p:spPr>
          <a:xfrm>
            <a:off x="2057040" y="2606040"/>
            <a:ext cx="1829520" cy="360"/>
          </a:xfrm>
          <a:prstGeom prst="straightConnector1">
            <a:avLst/>
          </a:prstGeom>
          <a:ln w="19050">
            <a:solidFill>
              <a:srgbClr val="221F1C"/>
            </a:solidFill>
            <a:tailEnd len="med" type="triangle" w="med"/>
          </a:ln>
        </p:spPr>
      </p:cxnSp>
      <p:cxnSp>
        <p:nvCxnSpPr>
          <p:cNvPr id="172" name="edge-hub-apac"/>
          <p:cNvCxnSpPr>
            <a:stCxn id="160" idx="3"/>
            <a:endCxn id="166" idx="1"/>
          </p:cNvCxnSpPr>
          <p:nvPr/>
        </p:nvCxnSpPr>
        <p:spPr>
          <a:xfrm>
            <a:off x="2057040" y="2606040"/>
            <a:ext cx="3429720" cy="360"/>
          </a:xfrm>
          <a:prstGeom prst="straightConnector1">
            <a:avLst/>
          </a:prstGeom>
          <a:ln w="19050">
            <a:solidFill>
              <a:srgbClr val="221F1C"/>
            </a:solidFill>
            <a:tailEnd len="med" type="triangle" w="med"/>
          </a:ln>
        </p:spPr>
      </p:cxnSp>
      <p:cxnSp>
        <p:nvCxnSpPr>
          <p:cNvPr id="173" name="edge-hub-edge"/>
          <p:cNvCxnSpPr>
            <a:stCxn id="160" idx="3"/>
            <a:endCxn id="168" idx="1"/>
          </p:cNvCxnSpPr>
          <p:nvPr/>
        </p:nvCxnSpPr>
        <p:spPr>
          <a:xfrm>
            <a:off x="2057040" y="2606040"/>
            <a:ext cx="5029920" cy="360"/>
          </a:xfrm>
          <a:prstGeom prst="straightConnector1">
            <a:avLst/>
          </a:prstGeom>
          <a:ln w="19050">
            <a:solidFill>
              <a:srgbClr val="221F1C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Text 0"/>
          <p:cNvSpPr/>
          <p:nvPr/>
        </p:nvSpPr>
        <p:spPr>
          <a:xfrm>
            <a:off x="457200" y="29268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pc="201" strike="noStrike">
                <a:solidFill>
                  <a:srgbClr val="6D635A"/>
                </a:solidFill>
                <a:effectLst/>
                <a:uFillTx/>
                <a:latin typeface="Calibri"/>
              </a:rPr>
              <a:t>PROGRESSION.TIMELINE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1"/>
          <p:cNvSpPr/>
          <p:nvPr/>
        </p:nvSpPr>
        <p:spPr>
          <a:xfrm>
            <a:off x="457200" y="548640"/>
            <a:ext cx="8229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Human approval remains the gate between experiment and harness change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2"/>
          <p:cNvSpPr/>
          <p:nvPr/>
        </p:nvSpPr>
        <p:spPr>
          <a:xfrm>
            <a:off x="8412480" y="2926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19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7" name="Chart 0"/>
          <p:cNvGraphicFramePr/>
          <p:nvPr/>
        </p:nvGraphicFramePr>
        <p:xfrm>
          <a:off x="457200" y="1463040"/>
          <a:ext cx="8229240" cy="3291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Text 0"/>
          <p:cNvSpPr/>
          <p:nvPr/>
        </p:nvSpPr>
        <p:spPr>
          <a:xfrm>
            <a:off x="457200" y="29268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pc="201" strike="noStrike">
                <a:solidFill>
                  <a:srgbClr val="6D635A"/>
                </a:solidFill>
                <a:effectLst/>
                <a:uFillTx/>
                <a:latin typeface="Calibri"/>
              </a:rPr>
              <a:t>PROGRESSION.ROADMAP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1"/>
          <p:cNvSpPr/>
          <p:nvPr/>
        </p:nvSpPr>
        <p:spPr>
          <a:xfrm>
            <a:off x="457200" y="548640"/>
            <a:ext cx="8229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The next release sequence exposes dependencies and confidence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2"/>
          <p:cNvSpPr/>
          <p:nvPr/>
        </p:nvSpPr>
        <p:spPr>
          <a:xfrm>
            <a:off x="8412480" y="2926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20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1" name="Chart 0"/>
          <p:cNvGraphicFramePr/>
          <p:nvPr/>
        </p:nvGraphicFramePr>
        <p:xfrm>
          <a:off x="457200" y="1463040"/>
          <a:ext cx="8229240" cy="3291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Text 0"/>
          <p:cNvSpPr/>
          <p:nvPr/>
        </p:nvSpPr>
        <p:spPr>
          <a:xfrm>
            <a:off x="457200" y="29268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pc="201" strike="noStrike">
                <a:solidFill>
                  <a:srgbClr val="6D635A"/>
                </a:solidFill>
                <a:effectLst/>
                <a:uFillTx/>
                <a:latin typeface="Calibri"/>
              </a:rPr>
              <a:t>PROGRESSION.SCROLLYTELLING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1"/>
          <p:cNvSpPr/>
          <p:nvPr/>
        </p:nvSpPr>
        <p:spPr>
          <a:xfrm>
            <a:off x="457200" y="548640"/>
            <a:ext cx="8229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Evidence becomes a decision through five inspectable states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2"/>
          <p:cNvSpPr/>
          <p:nvPr/>
        </p:nvSpPr>
        <p:spPr>
          <a:xfrm>
            <a:off x="8412480" y="2926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21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5" name="ns:motion:evidence-scrollytelling:pinned:scene" descr="Pinned scene visual — Full-bleed screenshot of the NodeSlide workspace, captured by the 2026-07-22 baseline run"/>
          <p:cNvPicPr/>
          <p:nvPr/>
        </p:nvPicPr>
        <p:blipFill>
          <a:blip r:embed="rId1"/>
          <a:stretch/>
        </p:blipFill>
        <p:spPr>
          <a:xfrm>
            <a:off x="457200" y="1234440"/>
            <a:ext cx="4754520" cy="266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6" name="ns:motion:evidence-scrollytelling:state-1:source"/>
          <p:cNvSpPr/>
          <p:nvPr/>
        </p:nvSpPr>
        <p:spPr>
          <a:xfrm>
            <a:off x="5486400" y="1234440"/>
            <a:ext cx="3200040" cy="45684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270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4"/>
          <p:cNvSpPr/>
          <p:nvPr/>
        </p:nvSpPr>
        <p:spPr>
          <a:xfrm>
            <a:off x="5486400" y="1234440"/>
            <a:ext cx="3200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1. source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ns:motion:evidence-scrollytelling:state-2:capture"/>
          <p:cNvSpPr/>
          <p:nvPr/>
        </p:nvSpPr>
        <p:spPr>
          <a:xfrm>
            <a:off x="5486400" y="1801440"/>
            <a:ext cx="3200040" cy="45684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270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6"/>
          <p:cNvSpPr/>
          <p:nvPr/>
        </p:nvSpPr>
        <p:spPr>
          <a:xfrm>
            <a:off x="5486400" y="1801440"/>
            <a:ext cx="3200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2. capture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ns:motion:evidence-scrollytelling:state-3:fact"/>
          <p:cNvSpPr/>
          <p:nvPr/>
        </p:nvSpPr>
        <p:spPr>
          <a:xfrm>
            <a:off x="5486400" y="2368440"/>
            <a:ext cx="3200040" cy="45684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270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8"/>
          <p:cNvSpPr/>
          <p:nvPr/>
        </p:nvSpPr>
        <p:spPr>
          <a:xfrm>
            <a:off x="5486400" y="2368440"/>
            <a:ext cx="3200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3. fact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ns:motion:evidence-scrollytelling:state-4:claim"/>
          <p:cNvSpPr/>
          <p:nvPr/>
        </p:nvSpPr>
        <p:spPr>
          <a:xfrm>
            <a:off x="5486400" y="2935080"/>
            <a:ext cx="3200040" cy="45684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270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10"/>
          <p:cNvSpPr/>
          <p:nvPr/>
        </p:nvSpPr>
        <p:spPr>
          <a:xfrm>
            <a:off x="5486400" y="2935080"/>
            <a:ext cx="3200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4. claim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ns:motion:evidence-scrollytelling:state-5:slide-element"/>
          <p:cNvSpPr/>
          <p:nvPr/>
        </p:nvSpPr>
        <p:spPr>
          <a:xfrm>
            <a:off x="5486400" y="3502080"/>
            <a:ext cx="3200040" cy="45684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270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12"/>
          <p:cNvSpPr/>
          <p:nvPr/>
        </p:nvSpPr>
        <p:spPr>
          <a:xfrm>
            <a:off x="5486400" y="3502080"/>
            <a:ext cx="3200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5. slide-element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13"/>
          <p:cNvSpPr/>
          <p:nvPr/>
        </p:nvSpPr>
        <p:spPr>
          <a:xfrm>
            <a:off x="457200" y="41605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5-step build sequence (transition: scrub) — each state reveals on advance over the pinned visual.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Text 0"/>
          <p:cNvSpPr/>
          <p:nvPr/>
        </p:nvSpPr>
        <p:spPr>
          <a:xfrm>
            <a:off x="457200" y="29268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pc="201" strike="noStrike">
                <a:solidFill>
                  <a:srgbClr val="6D635A"/>
                </a:solidFill>
                <a:effectLst/>
                <a:uFillTx/>
                <a:latin typeface="Calibri"/>
              </a:rPr>
              <a:t>PROGRESSION.SCROLLYTELLING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1"/>
          <p:cNvSpPr/>
          <p:nvPr/>
        </p:nvSpPr>
        <p:spPr>
          <a:xfrm>
            <a:off x="457200" y="548640"/>
            <a:ext cx="8229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The trend means more when the audience sees the baseline move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2"/>
          <p:cNvSpPr/>
          <p:nvPr/>
        </p:nvSpPr>
        <p:spPr>
          <a:xfrm>
            <a:off x="8412480" y="2926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22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0" name="ns:motion:animated-chart-progression:pinned:scene" descr="Pinned scene visual — Full-bleed screenshot of the NodeSlide workspace, captured by the 2026-07-22 baseline run"/>
          <p:cNvPicPr/>
          <p:nvPr/>
        </p:nvPicPr>
        <p:blipFill>
          <a:blip r:embed="rId1"/>
          <a:stretch/>
        </p:blipFill>
        <p:spPr>
          <a:xfrm>
            <a:off x="457200" y="1234440"/>
            <a:ext cx="4754520" cy="266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1" name="ns:motion:animated-chart-progression:state-1:baseline-series"/>
          <p:cNvSpPr/>
          <p:nvPr/>
        </p:nvSpPr>
        <p:spPr>
          <a:xfrm>
            <a:off x="5486400" y="1234440"/>
            <a:ext cx="3200040" cy="45684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270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4"/>
          <p:cNvSpPr/>
          <p:nvPr/>
        </p:nvSpPr>
        <p:spPr>
          <a:xfrm>
            <a:off x="5486400" y="1234440"/>
            <a:ext cx="3200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1. baseline-series — 62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ns:motion:animated-chart-progression:state-2:plan-delta"/>
          <p:cNvSpPr/>
          <p:nvPr/>
        </p:nvSpPr>
        <p:spPr>
          <a:xfrm>
            <a:off x="5486400" y="1801440"/>
            <a:ext cx="3200040" cy="45684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270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6"/>
          <p:cNvSpPr/>
          <p:nvPr/>
        </p:nvSpPr>
        <p:spPr>
          <a:xfrm>
            <a:off x="5486400" y="1801440"/>
            <a:ext cx="3200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2. plan-delta — 68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ns:motion:animated-chart-progression:state-3:measured-delta"/>
          <p:cNvSpPr/>
          <p:nvPr/>
        </p:nvSpPr>
        <p:spPr>
          <a:xfrm>
            <a:off x="5486400" y="2368440"/>
            <a:ext cx="3200040" cy="45684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270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8"/>
          <p:cNvSpPr/>
          <p:nvPr/>
        </p:nvSpPr>
        <p:spPr>
          <a:xfrm>
            <a:off x="5486400" y="2368440"/>
            <a:ext cx="3200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3. measured-delta — 74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ns:motion:animated-chart-progression:state-4:variance-band"/>
          <p:cNvSpPr/>
          <p:nvPr/>
        </p:nvSpPr>
        <p:spPr>
          <a:xfrm>
            <a:off x="5486400" y="2935080"/>
            <a:ext cx="3200040" cy="45684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270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10"/>
          <p:cNvSpPr/>
          <p:nvPr/>
        </p:nvSpPr>
        <p:spPr>
          <a:xfrm>
            <a:off x="5486400" y="2935080"/>
            <a:ext cx="3200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4. variance-band — 80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ns:motion:animated-chart-progression:state-5:final-series"/>
          <p:cNvSpPr/>
          <p:nvPr/>
        </p:nvSpPr>
        <p:spPr>
          <a:xfrm>
            <a:off x="5486400" y="3502080"/>
            <a:ext cx="3200040" cy="45684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270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12"/>
          <p:cNvSpPr/>
          <p:nvPr/>
        </p:nvSpPr>
        <p:spPr>
          <a:xfrm>
            <a:off x="5486400" y="3502080"/>
            <a:ext cx="3200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5. final-series — 86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13"/>
          <p:cNvSpPr/>
          <p:nvPr/>
        </p:nvSpPr>
        <p:spPr>
          <a:xfrm>
            <a:off x="457200" y="41605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5-step build sequence (transition: step) — each state reveals on advance over the pinned visual.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9" dur="indefinite" restart="never" nodeType="tmRoot">
          <p:childTnLst>
            <p:seq>
              <p:cTn id="20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Text 0"/>
          <p:cNvSpPr/>
          <p:nvPr/>
        </p:nvSpPr>
        <p:spPr>
          <a:xfrm>
            <a:off x="457200" y="29268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pc="201" strike="noStrike">
                <a:solidFill>
                  <a:srgbClr val="6D635A"/>
                </a:solidFill>
                <a:effectLst/>
                <a:uFillTx/>
                <a:latin typeface="Calibri"/>
              </a:rPr>
              <a:t>MEDIA.IMAGE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1"/>
          <p:cNvSpPr/>
          <p:nvPr/>
        </p:nvSpPr>
        <p:spPr>
          <a:xfrm>
            <a:off x="457200" y="548640"/>
            <a:ext cx="8229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A visual story can lead with atmosphere and still preserve proof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2"/>
          <p:cNvSpPr/>
          <p:nvPr/>
        </p:nvSpPr>
        <p:spPr>
          <a:xfrm>
            <a:off x="8412480" y="2926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23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5" name="Image 0" descr="Full-bleed screenshot of the NodeSlide workspace, captured by the 2026-07-22 baseline run"/>
          <p:cNvPicPr/>
          <p:nvPr/>
        </p:nvPicPr>
        <p:blipFill>
          <a:blip r:embed="rId1"/>
          <a:stretch/>
        </p:blipFill>
        <p:spPr>
          <a:xfrm>
            <a:off x="1554480" y="1371600"/>
            <a:ext cx="6034680" cy="3379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Text 0"/>
          <p:cNvSpPr/>
          <p:nvPr/>
        </p:nvSpPr>
        <p:spPr>
          <a:xfrm>
            <a:off x="457200" y="29268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pc="201" strike="noStrike">
                <a:solidFill>
                  <a:srgbClr val="6D635A"/>
                </a:solidFill>
                <a:effectLst/>
                <a:uFillTx/>
                <a:latin typeface="Calibri"/>
              </a:rPr>
              <a:t>PRODUCT-EVIDENCE.SCREENSHOT-CALLOUTS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1"/>
          <p:cNvSpPr/>
          <p:nvPr/>
        </p:nvSpPr>
        <p:spPr>
          <a:xfrm>
            <a:off x="457200" y="548640"/>
            <a:ext cx="8229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The product proof is the interface people actually use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2"/>
          <p:cNvSpPr/>
          <p:nvPr/>
        </p:nvSpPr>
        <p:spPr>
          <a:xfrm>
            <a:off x="8412480" y="2926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24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9" name="Image 0" descr="Screenshot of the NodeSlide export capability menu captured during the 2026-07-20 production camera proof"/>
          <p:cNvPicPr/>
          <p:nvPr/>
        </p:nvPicPr>
        <p:blipFill>
          <a:blip r:embed="rId1"/>
          <a:stretch/>
        </p:blipFill>
        <p:spPr>
          <a:xfrm>
            <a:off x="1554480" y="1371600"/>
            <a:ext cx="6034680" cy="337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0" name="Text 3"/>
          <p:cNvSpPr/>
          <p:nvPr/>
        </p:nvSpPr>
        <p:spPr>
          <a:xfrm>
            <a:off x="457200" y="4114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C76D54"/>
                </a:solidFill>
                <a:effectLst/>
                <a:uFillTx/>
                <a:latin typeface="Calibri"/>
              </a:rPr>
              <a:t>1. Capability menu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4"/>
          <p:cNvSpPr/>
          <p:nvPr/>
        </p:nvSpPr>
        <p:spPr>
          <a:xfrm>
            <a:off x="457200" y="440748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C76D54"/>
                </a:solidFill>
                <a:effectLst/>
                <a:uFillTx/>
                <a:latin typeface="Calibri"/>
              </a:rPr>
              <a:t>2. Blocked export path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Text 0"/>
          <p:cNvSpPr/>
          <p:nvPr/>
        </p:nvSpPr>
        <p:spPr>
          <a:xfrm>
            <a:off x="457200" y="29268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pc="201" strike="noStrike">
                <a:solidFill>
                  <a:srgbClr val="6D635A"/>
                </a:solidFill>
                <a:effectLst/>
                <a:uFillTx/>
                <a:latin typeface="Calibri"/>
              </a:rPr>
              <a:t>PRODUCT-EVIDENCE.INTERACTION-CLIP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1"/>
          <p:cNvSpPr/>
          <p:nvPr/>
        </p:nvSpPr>
        <p:spPr>
          <a:xfrm>
            <a:off x="457200" y="548640"/>
            <a:ext cx="8229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One bounded interaction carries the story from selection to receipt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2"/>
          <p:cNvSpPr/>
          <p:nvPr/>
        </p:nvSpPr>
        <p:spPr>
          <a:xfrm>
            <a:off x="8412480" y="2926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25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5" name="Image 0" descr="Poster frame screenshot of the blocked insert interaction"/>
          <p:cNvPicPr/>
          <p:nvPr/>
        </p:nvPicPr>
        <p:blipFill>
          <a:blip r:embed="rId1"/>
          <a:stretch/>
        </p:blipFill>
        <p:spPr>
          <a:xfrm>
            <a:off x="1554480" y="1371600"/>
            <a:ext cx="6034680" cy="337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6" name="Text 3"/>
          <p:cNvSpPr/>
          <p:nvPr/>
        </p:nvSpPr>
        <p:spPr>
          <a:xfrm>
            <a:off x="457200" y="448056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Declared poster frame — a still is not an interaction clip.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Text 0"/>
          <p:cNvSpPr/>
          <p:nvPr/>
        </p:nvSpPr>
        <p:spPr>
          <a:xfrm>
            <a:off x="457200" y="29268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pc="201" strike="noStrike">
                <a:solidFill>
                  <a:srgbClr val="6D635A"/>
                </a:solidFill>
                <a:effectLst/>
                <a:uFillTx/>
                <a:latin typeface="Calibri"/>
              </a:rPr>
              <a:t>PROGRESSION.BEFORE-AFTER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1"/>
          <p:cNvSpPr/>
          <p:nvPr/>
        </p:nvSpPr>
        <p:spPr>
          <a:xfrm>
            <a:off x="457200" y="548640"/>
            <a:ext cx="8229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Review transforms a rough generation into a governed workspace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2"/>
          <p:cNvSpPr/>
          <p:nvPr/>
        </p:nvSpPr>
        <p:spPr>
          <a:xfrm>
            <a:off x="8412480" y="2926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0" name="Image 0" descr="Screenshot of the NodeSlide workspace in light theme (before)"/>
          <p:cNvPicPr/>
          <p:nvPr/>
        </p:nvPicPr>
        <p:blipFill>
          <a:blip r:embed="rId1"/>
          <a:stretch/>
        </p:blipFill>
        <p:spPr>
          <a:xfrm>
            <a:off x="457200" y="1371600"/>
            <a:ext cx="3931560" cy="2201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1" name="Text 3"/>
          <p:cNvSpPr/>
          <p:nvPr/>
        </p:nvSpPr>
        <p:spPr>
          <a:xfrm>
            <a:off x="457200" y="3619080"/>
            <a:ext cx="3931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Before · light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2" name="Image 1" descr="Screenshot of the NodeSlide workspace in dark theme (after)"/>
          <p:cNvPicPr/>
          <p:nvPr/>
        </p:nvPicPr>
        <p:blipFill>
          <a:blip r:embed="rId2"/>
          <a:stretch/>
        </p:blipFill>
        <p:spPr>
          <a:xfrm>
            <a:off x="4754880" y="1371600"/>
            <a:ext cx="3931560" cy="2201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3" name="Text 4"/>
          <p:cNvSpPr/>
          <p:nvPr/>
        </p:nvSpPr>
        <p:spPr>
          <a:xfrm>
            <a:off x="4754880" y="3619080"/>
            <a:ext cx="3931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After · dark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Text 0"/>
          <p:cNvSpPr/>
          <p:nvPr/>
        </p:nvSpPr>
        <p:spPr>
          <a:xfrm>
            <a:off x="457200" y="29268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pc="201" strike="noStrike">
                <a:solidFill>
                  <a:srgbClr val="6D635A"/>
                </a:solidFill>
                <a:effectLst/>
                <a:uFillTx/>
                <a:latin typeface="Calibri"/>
              </a:rPr>
              <a:t>MEDIA.IMAGE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1"/>
          <p:cNvSpPr/>
          <p:nvPr/>
        </p:nvSpPr>
        <p:spPr>
          <a:xfrm>
            <a:off x="457200" y="548640"/>
            <a:ext cx="8229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The canvas can move from whole system to exact evidence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2"/>
          <p:cNvSpPr/>
          <p:nvPr/>
        </p:nvSpPr>
        <p:spPr>
          <a:xfrm>
            <a:off x="8412480" y="2926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27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7" name="Image 0" descr="Full-bleed screenshot of the NodeSlide workspace, captured by the 2026-07-22 baseline run"/>
          <p:cNvPicPr/>
          <p:nvPr/>
        </p:nvPicPr>
        <p:blipFill>
          <a:blip r:embed="rId1"/>
          <a:stretch/>
        </p:blipFill>
        <p:spPr>
          <a:xfrm>
            <a:off x="1554480" y="1371600"/>
            <a:ext cx="6034680" cy="3379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Text 0"/>
          <p:cNvSpPr/>
          <p:nvPr/>
        </p:nvSpPr>
        <p:spPr>
          <a:xfrm>
            <a:off x="457200" y="29268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pc="201" strike="noStrike">
                <a:solidFill>
                  <a:srgbClr val="6D635A"/>
                </a:solidFill>
                <a:effectLst/>
                <a:uFillTx/>
                <a:latin typeface="Calibri"/>
              </a:rPr>
              <a:t>PRODUCT-EVIDENCE.CLAIM-LINEAGE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1"/>
          <p:cNvSpPr/>
          <p:nvPr/>
        </p:nvSpPr>
        <p:spPr>
          <a:xfrm>
            <a:off x="457200" y="548640"/>
            <a:ext cx="8229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A claim is trustworthy when its entire path remains inspectable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2"/>
          <p:cNvSpPr/>
          <p:nvPr/>
        </p:nvSpPr>
        <p:spPr>
          <a:xfrm>
            <a:off x="8412480" y="2926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28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3"/>
          <p:cNvSpPr/>
          <p:nvPr/>
        </p:nvSpPr>
        <p:spPr>
          <a:xfrm>
            <a:off x="457200" y="42246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Atlas v3 shipped zero native chart parts — </a:t>
            </a:r>
            <a:r>
              <a:rPr lang="en-US" sz="1000" b="0" u="sng" strike="noStrike">
                <a:solidFill>
                  <a:srgbClr val="C76D54"/>
                </a:solidFill>
                <a:effectLst/>
                <a:uFillTx/>
                <a:latin typeface="Calibri"/>
                <a:hlinkClick r:id="rId1"/>
              </a:rPr>
              <a:t>source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4"/>
          <p:cNvSpPr/>
          <p:nvPr/>
        </p:nvSpPr>
        <p:spPr>
          <a:xfrm>
            <a:off x="457200" y="451728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The topology gate that measured it — </a:t>
            </a:r>
            <a:r>
              <a:rPr lang="en-US" sz="1000" b="0" u="sng" strike="noStrike">
                <a:solidFill>
                  <a:srgbClr val="C76D54"/>
                </a:solidFill>
                <a:effectLst/>
                <a:uFillTx/>
                <a:latin typeface="Calibri"/>
                <a:hlinkClick r:id="rId2"/>
              </a:rPr>
              <a:t>source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node-capture"/>
          <p:cNvSpPr/>
          <p:nvPr/>
        </p:nvSpPr>
        <p:spPr>
          <a:xfrm>
            <a:off x="1486080" y="2194560"/>
            <a:ext cx="1371240" cy="82260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905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6"/>
          <p:cNvSpPr/>
          <p:nvPr/>
        </p:nvSpPr>
        <p:spPr>
          <a:xfrm>
            <a:off x="1486080" y="2194560"/>
            <a:ext cx="1371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capture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node-extracted-fact"/>
          <p:cNvSpPr/>
          <p:nvPr/>
        </p:nvSpPr>
        <p:spPr>
          <a:xfrm>
            <a:off x="3086280" y="2194560"/>
            <a:ext cx="1371240" cy="82260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905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8"/>
          <p:cNvSpPr/>
          <p:nvPr/>
        </p:nvSpPr>
        <p:spPr>
          <a:xfrm>
            <a:off x="3086280" y="2194560"/>
            <a:ext cx="1371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extracted-fact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node-claim"/>
          <p:cNvSpPr/>
          <p:nvPr/>
        </p:nvSpPr>
        <p:spPr>
          <a:xfrm>
            <a:off x="4686480" y="2194560"/>
            <a:ext cx="1371240" cy="82260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905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10"/>
          <p:cNvSpPr/>
          <p:nvPr/>
        </p:nvSpPr>
        <p:spPr>
          <a:xfrm>
            <a:off x="4686480" y="2194560"/>
            <a:ext cx="1371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claim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node-slide-element"/>
          <p:cNvSpPr/>
          <p:nvPr/>
        </p:nvSpPr>
        <p:spPr>
          <a:xfrm>
            <a:off x="6286680" y="2194560"/>
            <a:ext cx="1371240" cy="82260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905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12"/>
          <p:cNvSpPr/>
          <p:nvPr/>
        </p:nvSpPr>
        <p:spPr>
          <a:xfrm>
            <a:off x="6286680" y="2194560"/>
            <a:ext cx="1371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slide-element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51" name="edge-capture-extracted-fact"/>
          <p:cNvCxnSpPr>
            <a:stCxn id="243" idx="3"/>
            <a:endCxn id="245" idx="1"/>
          </p:cNvCxnSpPr>
          <p:nvPr/>
        </p:nvCxnSpPr>
        <p:spPr>
          <a:xfrm>
            <a:off x="2857320" y="2606040"/>
            <a:ext cx="229320" cy="360"/>
          </a:xfrm>
          <a:prstGeom prst="straightConnector1">
            <a:avLst/>
          </a:prstGeom>
          <a:ln w="19050">
            <a:solidFill>
              <a:srgbClr val="221F1C"/>
            </a:solidFill>
            <a:tailEnd len="med" type="triangle" w="med"/>
          </a:ln>
        </p:spPr>
      </p:cxnSp>
      <p:cxnSp>
        <p:nvCxnSpPr>
          <p:cNvPr id="252" name="edge-extracted-fact-claim"/>
          <p:cNvCxnSpPr>
            <a:stCxn id="245" idx="3"/>
            <a:endCxn id="247" idx="1"/>
          </p:cNvCxnSpPr>
          <p:nvPr/>
        </p:nvCxnSpPr>
        <p:spPr>
          <a:xfrm>
            <a:off x="4457520" y="2606040"/>
            <a:ext cx="229320" cy="360"/>
          </a:xfrm>
          <a:prstGeom prst="straightConnector1">
            <a:avLst/>
          </a:prstGeom>
          <a:ln w="19050">
            <a:solidFill>
              <a:srgbClr val="221F1C"/>
            </a:solidFill>
            <a:tailEnd len="med" type="triangle" w="med"/>
          </a:ln>
        </p:spPr>
      </p:cxnSp>
      <p:cxnSp>
        <p:nvCxnSpPr>
          <p:cNvPr id="253" name="edge-claim-slide-element"/>
          <p:cNvCxnSpPr>
            <a:stCxn id="247" idx="3"/>
            <a:endCxn id="249" idx="1"/>
          </p:cNvCxnSpPr>
          <p:nvPr/>
        </p:nvCxnSpPr>
        <p:spPr>
          <a:xfrm>
            <a:off x="6057720" y="2606040"/>
            <a:ext cx="229320" cy="360"/>
          </a:xfrm>
          <a:prstGeom prst="straightConnector1">
            <a:avLst/>
          </a:prstGeom>
          <a:ln w="19050">
            <a:solidFill>
              <a:srgbClr val="221F1C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Text 0"/>
          <p:cNvSpPr/>
          <p:nvPr/>
        </p:nvSpPr>
        <p:spPr>
          <a:xfrm>
            <a:off x="457200" y="29268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pc="201" strike="noStrike">
                <a:solidFill>
                  <a:srgbClr val="6D635A"/>
                </a:solidFill>
                <a:effectLst/>
                <a:uFillTx/>
                <a:latin typeface="Calibri"/>
              </a:rPr>
              <a:t>PRODUCT-EVIDENCE.CITATION-CARD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1"/>
          <p:cNvSpPr/>
          <p:nvPr/>
        </p:nvSpPr>
        <p:spPr>
          <a:xfrm>
            <a:off x="457200" y="548640"/>
            <a:ext cx="8229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Citation quality depends on the exact source region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2"/>
          <p:cNvSpPr/>
          <p:nvPr/>
        </p:nvSpPr>
        <p:spPr>
          <a:xfrm>
            <a:off x="8412480" y="2926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29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3"/>
          <p:cNvSpPr/>
          <p:nvPr/>
        </p:nvSpPr>
        <p:spPr>
          <a:xfrm>
            <a:off x="457200" y="42246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OOXML c:dateAx (ECMA-376 time axis) — </a:t>
            </a:r>
            <a:r>
              <a:rPr lang="en-US" sz="1000" b="0" u="sng" strike="noStrike">
                <a:solidFill>
                  <a:srgbClr val="C76D54"/>
                </a:solidFill>
                <a:effectLst/>
                <a:uFillTx/>
                <a:latin typeface="Calibri"/>
                <a:hlinkClick r:id="rId1"/>
              </a:rPr>
              <a:t>source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8" name="Image 0" descr="Screenshot of the parent/child trace waterfall region cited as evidence"/>
          <p:cNvPicPr/>
          <p:nvPr/>
        </p:nvPicPr>
        <p:blipFill>
          <a:blip r:embed="rId2"/>
          <a:stretch/>
        </p:blipFill>
        <p:spPr>
          <a:xfrm>
            <a:off x="1554480" y="1371600"/>
            <a:ext cx="6034680" cy="3379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Text 0"/>
          <p:cNvSpPr/>
          <p:nvPr/>
        </p:nvSpPr>
        <p:spPr>
          <a:xfrm>
            <a:off x="457200" y="29268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pc="201" strike="noStrike">
                <a:solidFill>
                  <a:srgbClr val="6D635A"/>
                </a:solidFill>
                <a:effectLst/>
                <a:uFillTx/>
                <a:latin typeface="Calibri"/>
              </a:rPr>
              <a:t>TECHNICAL.CODE-AND-RESULT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1"/>
          <p:cNvSpPr/>
          <p:nvPr/>
        </p:nvSpPr>
        <p:spPr>
          <a:xfrm>
            <a:off x="457200" y="548640"/>
            <a:ext cx="8229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Runtime claims require a reproducible benchmark receipt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2"/>
          <p:cNvSpPr/>
          <p:nvPr/>
        </p:nvSpPr>
        <p:spPr>
          <a:xfrm>
            <a:off x="8412480" y="2926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30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3"/>
          <p:cNvSpPr/>
          <p:nvPr/>
        </p:nvSpPr>
        <p:spPr>
          <a:xfrm>
            <a:off x="457200" y="1371600"/>
            <a:ext cx="4205880" cy="3108600"/>
          </a:xfrm>
          <a:prstGeom prst="rect">
            <a:avLst/>
          </a:prstGeom>
          <a:solidFill>
            <a:srgbClr val="F4EF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221F1C"/>
                </a:solidFill>
                <a:effectLst/>
                <a:uFillTx/>
                <a:latin typeface="Consolas"/>
                <a:ea typeface="Consolas"/>
              </a:rPr>
              <a:t>const raw = await pptx.write("nodebuffer");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221F1C"/>
                </a:solidFill>
                <a:effectLst/>
                <a:uFillTx/>
                <a:latin typeface="Consolas"/>
                <a:ea typeface="Consolas"/>
              </a:rPr>
              <a:t>const a   = await injectOmml(raw, equations);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221F1C"/>
                </a:solidFill>
                <a:effectLst/>
                <a:uFillTx/>
                <a:latin typeface="Consolas"/>
                <a:ea typeface="Consolas"/>
              </a:rPr>
              <a:t>const b   = await injectConnectors(a, diagrams);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221F1C"/>
                </a:solidFill>
                <a:effectLst/>
                <a:uFillTx/>
                <a:latin typeface="Consolas"/>
                <a:ea typeface="Consolas"/>
              </a:rPr>
              <a:t>const out = await injectDateAxes(b, timelines);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63" name="Table 0"/>
          <p:cNvGraphicFramePr/>
          <p:nvPr/>
        </p:nvGraphicFramePr>
        <p:xfrm>
          <a:off x="4937760" y="1463040"/>
          <a:ext cx="3748680" cy="244224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</a:tblGrid>
              <a:tr h="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Phase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Measured ms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solidFill>
                      <a:srgbClr val="C76D54"/>
                    </a:solidFill>
                  </a:tcPr>
                </a:tc>
              </a:tr>
              <a:tr h="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pptx.write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228.409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inject.omml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32.979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inject.connectors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35.949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inject.dateAxes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30.248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inject.timing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23.325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total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350.91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sample size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Text 0"/>
          <p:cNvSpPr/>
          <p:nvPr/>
        </p:nvSpPr>
        <p:spPr>
          <a:xfrm>
            <a:off x="457200" y="29268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pc="201" strike="noStrike">
                <a:solidFill>
                  <a:srgbClr val="6D635A"/>
                </a:solidFill>
                <a:effectLst/>
                <a:uFillTx/>
                <a:latin typeface="Calibri"/>
              </a:rPr>
              <a:t>TECHNICAL.TRACE-WATERFALL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1"/>
          <p:cNvSpPr/>
          <p:nvPr/>
        </p:nvSpPr>
        <p:spPr>
          <a:xfrm>
            <a:off x="457200" y="548640"/>
            <a:ext cx="8229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Trace anatomy is illustrative until trace and span IDs are bound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2"/>
          <p:cNvSpPr/>
          <p:nvPr/>
        </p:nvSpPr>
        <p:spPr>
          <a:xfrm>
            <a:off x="8412480" y="2926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31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3"/>
          <p:cNvSpPr/>
          <p:nvPr/>
        </p:nvSpPr>
        <p:spPr>
          <a:xfrm>
            <a:off x="457200" y="42246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Measured build spans (build-measurements.json) — </a:t>
            </a:r>
            <a:r>
              <a:rPr lang="en-US" sz="1000" b="0" u="sng" strike="noStrike">
                <a:solidFill>
                  <a:srgbClr val="C76D54"/>
                </a:solidFill>
                <a:effectLst/>
                <a:uFillTx/>
                <a:latin typeface="Calibri"/>
                <a:hlinkClick r:id="rId1"/>
              </a:rPr>
              <a:t>source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node-pptx-write"/>
          <p:cNvSpPr/>
          <p:nvPr/>
        </p:nvSpPr>
        <p:spPr>
          <a:xfrm>
            <a:off x="685800" y="2194560"/>
            <a:ext cx="1371240" cy="82260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905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5"/>
          <p:cNvSpPr/>
          <p:nvPr/>
        </p:nvSpPr>
        <p:spPr>
          <a:xfrm>
            <a:off x="685800" y="2194560"/>
            <a:ext cx="1371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pptx.write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228.409ms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node-inject-omml"/>
          <p:cNvSpPr/>
          <p:nvPr/>
        </p:nvSpPr>
        <p:spPr>
          <a:xfrm>
            <a:off x="2286000" y="2194560"/>
            <a:ext cx="1371240" cy="82260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905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7"/>
          <p:cNvSpPr/>
          <p:nvPr/>
        </p:nvSpPr>
        <p:spPr>
          <a:xfrm>
            <a:off x="2286000" y="2194560"/>
            <a:ext cx="1371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inject.omml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32.979ms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node-inject-connectors"/>
          <p:cNvSpPr/>
          <p:nvPr/>
        </p:nvSpPr>
        <p:spPr>
          <a:xfrm>
            <a:off x="3886200" y="2194560"/>
            <a:ext cx="1371240" cy="82260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905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9"/>
          <p:cNvSpPr/>
          <p:nvPr/>
        </p:nvSpPr>
        <p:spPr>
          <a:xfrm>
            <a:off x="3886200" y="2194560"/>
            <a:ext cx="1371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inject.connectors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35.949ms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node-inject-dateaxes"/>
          <p:cNvSpPr/>
          <p:nvPr/>
        </p:nvSpPr>
        <p:spPr>
          <a:xfrm>
            <a:off x="5486400" y="2194560"/>
            <a:ext cx="1371240" cy="82260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905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11"/>
          <p:cNvSpPr/>
          <p:nvPr/>
        </p:nvSpPr>
        <p:spPr>
          <a:xfrm>
            <a:off x="5486400" y="2194560"/>
            <a:ext cx="1371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inject.dateAxes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30.248ms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node-inject-timing"/>
          <p:cNvSpPr/>
          <p:nvPr/>
        </p:nvSpPr>
        <p:spPr>
          <a:xfrm>
            <a:off x="7086600" y="2194560"/>
            <a:ext cx="1371240" cy="822600"/>
          </a:xfrm>
          <a:prstGeom prst="roundRect">
            <a:avLst>
              <a:gd name="adj" fmla="val 16667"/>
            </a:avLst>
          </a:prstGeom>
          <a:solidFill>
            <a:srgbClr val="FDFCFA"/>
          </a:solidFill>
          <a:ln w="19050">
            <a:solidFill>
              <a:srgbClr val="C76D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13"/>
          <p:cNvSpPr/>
          <p:nvPr/>
        </p:nvSpPr>
        <p:spPr>
          <a:xfrm>
            <a:off x="7086600" y="2194560"/>
            <a:ext cx="1371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inject.timing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23.325ms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78" name="edge-pptx-write-inject-omml"/>
          <p:cNvCxnSpPr>
            <a:stCxn id="268" idx="3"/>
            <a:endCxn id="270" idx="1"/>
          </p:cNvCxnSpPr>
          <p:nvPr/>
        </p:nvCxnSpPr>
        <p:spPr>
          <a:xfrm>
            <a:off x="2057040" y="2606040"/>
            <a:ext cx="229320" cy="360"/>
          </a:xfrm>
          <a:prstGeom prst="straightConnector1">
            <a:avLst/>
          </a:prstGeom>
          <a:ln w="19050">
            <a:solidFill>
              <a:srgbClr val="221F1C"/>
            </a:solidFill>
            <a:tailEnd len="med" type="triangle" w="med"/>
          </a:ln>
        </p:spPr>
      </p:cxnSp>
      <p:cxnSp>
        <p:nvCxnSpPr>
          <p:cNvPr id="279" name="edge-inject-omml-inject-connectors"/>
          <p:cNvCxnSpPr>
            <a:stCxn id="270" idx="3"/>
            <a:endCxn id="272" idx="1"/>
          </p:cNvCxnSpPr>
          <p:nvPr/>
        </p:nvCxnSpPr>
        <p:spPr>
          <a:xfrm>
            <a:off x="3657240" y="2606040"/>
            <a:ext cx="229320" cy="360"/>
          </a:xfrm>
          <a:prstGeom prst="straightConnector1">
            <a:avLst/>
          </a:prstGeom>
          <a:ln w="19050">
            <a:solidFill>
              <a:srgbClr val="221F1C"/>
            </a:solidFill>
            <a:tailEnd len="med" type="triangle" w="med"/>
          </a:ln>
        </p:spPr>
      </p:cxnSp>
      <p:cxnSp>
        <p:nvCxnSpPr>
          <p:cNvPr id="280" name="edge-inject-connectors-inject-dateaxes"/>
          <p:cNvCxnSpPr>
            <a:stCxn id="272" idx="3"/>
            <a:endCxn id="274" idx="1"/>
          </p:cNvCxnSpPr>
          <p:nvPr/>
        </p:nvCxnSpPr>
        <p:spPr>
          <a:xfrm>
            <a:off x="5257440" y="2606040"/>
            <a:ext cx="229320" cy="360"/>
          </a:xfrm>
          <a:prstGeom prst="straightConnector1">
            <a:avLst/>
          </a:prstGeom>
          <a:ln w="19050">
            <a:solidFill>
              <a:srgbClr val="221F1C"/>
            </a:solidFill>
            <a:tailEnd len="med" type="triangle" w="med"/>
          </a:ln>
        </p:spPr>
      </p:cxnSp>
      <p:cxnSp>
        <p:nvCxnSpPr>
          <p:cNvPr id="281" name="edge-inject-dateaxes-inject-timing"/>
          <p:cNvCxnSpPr>
            <a:stCxn id="274" idx="3"/>
            <a:endCxn id="276" idx="1"/>
          </p:cNvCxnSpPr>
          <p:nvPr/>
        </p:nvCxnSpPr>
        <p:spPr>
          <a:xfrm>
            <a:off x="6857640" y="2606040"/>
            <a:ext cx="229320" cy="360"/>
          </a:xfrm>
          <a:prstGeom prst="straightConnector1">
            <a:avLst/>
          </a:prstGeom>
          <a:ln w="19050">
            <a:solidFill>
              <a:srgbClr val="221F1C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Text 0"/>
          <p:cNvSpPr/>
          <p:nvPr/>
        </p:nvSpPr>
        <p:spPr>
          <a:xfrm>
            <a:off x="457200" y="29268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pc="201" strike="noStrike">
                <a:solidFill>
                  <a:srgbClr val="6D635A"/>
                </a:solidFill>
                <a:effectLst/>
                <a:uFillTx/>
                <a:latin typeface="Calibri"/>
              </a:rPr>
              <a:t>TECHNICAL.EQUATION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1"/>
          <p:cNvSpPr/>
          <p:nvPr/>
        </p:nvSpPr>
        <p:spPr>
          <a:xfrm>
            <a:off x="457200" y="548640"/>
            <a:ext cx="8229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The score is only useful when every symbol maps to evidence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2"/>
          <p:cNvSpPr/>
          <p:nvPr/>
        </p:nvSpPr>
        <p:spPr>
          <a:xfrm>
            <a:off x="8412480" y="2926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32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mc:AlternateContent>
        <mc:Choice xmlns:a14="http://schemas.microsoft.com/office/drawing/2010/main" Requires="a14">
          <p:sp>
            <p:nvSpPr>
              <p:cNvPr id="285" name="Text 3"/>
              <p:cNvSpPr txBox="1"/>
              <p:nvPr/>
            </p:nvSpPr>
            <p:spPr>
              <a:xfrm>
                <a:off x="457200" y="2011680"/>
                <a:ext cx="8229240" cy="1279800"/>
              </a:xfrm>
              <a:prstGeom prst="rect">
                <a:avLst/>
              </a:prstGeom>
            </p:spPr>
            <p:txBody>
              <a:bodyPr/>
              <a:p>
                <a14:m>
                  <m:oMath xmlns:m="http://schemas.openxmlformats.org/officeDocument/2006/math">
                    <m:f>
                      <m:num>
                        <m:r>
                          <m:t xml:space="preserve">Q</m:t>
                        </m:r>
                      </m:num>
                      <m:den>
                        <m:r>
                          <m:t xml:space="preserve">1</m:t>
                        </m:r>
                        <m:r>
                          <m:rPr>
                            <m:lit/>
                            <m:nor/>
                          </m:rPr>
                          <m:t xml:space="preserve">+</m:t>
                        </m:r>
                        <m:r>
                          <m:t xml:space="preserve">α</m:t>
                        </m:r>
                        <m:r>
                          <m:t xml:space="preserve">·</m:t>
                        </m:r>
                        <m:r>
                          <m:t xml:space="preserve">C</m:t>
                        </m:r>
                        <m:r>
                          <m:rPr>
                            <m:lit/>
                            <m:nor/>
                          </m:rPr>
                          <m:t xml:space="preserve">+</m:t>
                        </m:r>
                        <m:r>
                          <m:t xml:space="preserve">β</m:t>
                        </m:r>
                        <m:r>
                          <m:t xml:space="preserve">·</m:t>
                        </m:r>
                        <m:r>
                          <m:t xml:space="preserve">L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285" name="Text 3"/>
              <p:cNvSpPr txBox="1"/>
              <p:nvPr/>
            </p:nvSpPr>
            <p:spPr>
              <a:xfrm>
                <a:off x="457200" y="2011680"/>
                <a:ext cx="8229240" cy="1279800"/>
              </a:xfrm>
              <a:prstGeom prst="rect">
                <a:avLst/>
              </a:prstGeom>
              <a:blipFill>
                <a:blip r:embed="rId1"/>
                <a:stretch>
                  <a:fillRect/>
                </a:stretch>
              </a:blipFill>
            </p:spPr>
          </p:sp>
        </mc:Fallback>
      </mc:AlternateContent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Text 0"/>
          <p:cNvSpPr/>
          <p:nvPr/>
        </p:nvSpPr>
        <p:spPr>
          <a:xfrm>
            <a:off x="457200" y="29268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pc="201" strike="noStrike">
                <a:solidFill>
                  <a:srgbClr val="6D635A"/>
                </a:solidFill>
                <a:effectLst/>
                <a:uFillTx/>
                <a:latin typeface="Calibri"/>
              </a:rPr>
              <a:t>PRODUCT-EVIDENCE.DECK-CI-RECEIPT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1"/>
          <p:cNvSpPr/>
          <p:nvPr/>
        </p:nvSpPr>
        <p:spPr>
          <a:xfrm>
            <a:off x="457200" y="548640"/>
            <a:ext cx="8229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A deck is not done until both pixels and semantics pass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2"/>
          <p:cNvSpPr/>
          <p:nvPr/>
        </p:nvSpPr>
        <p:spPr>
          <a:xfrm>
            <a:off x="8412480" y="2926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33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3"/>
          <p:cNvSpPr/>
          <p:nvPr/>
        </p:nvSpPr>
        <p:spPr>
          <a:xfrm>
            <a:off x="457200" y="42246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Native builder CI run — </a:t>
            </a:r>
            <a:r>
              <a:rPr lang="en-US" sz="1000" b="0" u="sng" strike="noStrike">
                <a:solidFill>
                  <a:srgbClr val="C76D54"/>
                </a:solidFill>
                <a:effectLst/>
                <a:uFillTx/>
                <a:latin typeface="Calibri"/>
                <a:hlinkClick r:id="rId1"/>
              </a:rPr>
              <a:t>source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0" name="Table 0"/>
          <p:cNvGraphicFramePr/>
          <p:nvPr/>
        </p:nvGraphicFramePr>
        <p:xfrm>
          <a:off x="457200" y="1463040"/>
          <a:ext cx="8229240" cy="91584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Field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Value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solidFill>
                      <a:srgbClr val="C76D54"/>
                    </a:solidFill>
                  </a:tcPr>
                </a:tc>
              </a:tr>
              <a:tr h="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artifact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deck-ci-receipt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kind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generic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Text 0"/>
          <p:cNvSpPr/>
          <p:nvPr/>
        </p:nvSpPr>
        <p:spPr>
          <a:xfrm>
            <a:off x="457200" y="29268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pc="201" strike="noStrike">
                <a:solidFill>
                  <a:srgbClr val="6D635A"/>
                </a:solidFill>
                <a:effectLst/>
                <a:uFillTx/>
                <a:latin typeface="Calibri"/>
              </a:rPr>
              <a:t>DECISION.RISK-MATRIX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1"/>
          <p:cNvSpPr/>
          <p:nvPr/>
        </p:nvSpPr>
        <p:spPr>
          <a:xfrm>
            <a:off x="457200" y="548640"/>
            <a:ext cx="8229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Pipeline coverage is the risk that deserves action first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2"/>
          <p:cNvSpPr/>
          <p:nvPr/>
        </p:nvSpPr>
        <p:spPr>
          <a:xfrm>
            <a:off x="8412480" y="2926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34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4" name="Chart 0"/>
          <p:cNvGraphicFramePr/>
          <p:nvPr/>
        </p:nvGraphicFramePr>
        <p:xfrm>
          <a:off x="457200" y="1463040"/>
          <a:ext cx="8229240" cy="3291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Text 0"/>
          <p:cNvSpPr/>
          <p:nvPr/>
        </p:nvSpPr>
        <p:spPr>
          <a:xfrm>
            <a:off x="457200" y="29268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pc="201" strike="noStrike">
                <a:solidFill>
                  <a:srgbClr val="6D635A"/>
                </a:solidFill>
                <a:effectLst/>
                <a:uFillTx/>
                <a:latin typeface="Calibri"/>
              </a:rPr>
              <a:t>DECISION.COST-QUALITY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1"/>
          <p:cNvSpPr/>
          <p:nvPr/>
        </p:nvSpPr>
        <p:spPr>
          <a:xfrm>
            <a:off x="457200" y="548640"/>
            <a:ext cx="8229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Routing improves when quality, cost, and latency are judged together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2"/>
          <p:cNvSpPr/>
          <p:nvPr/>
        </p:nvSpPr>
        <p:spPr>
          <a:xfrm>
            <a:off x="8412480" y="2926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35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8" name="Chart 0"/>
          <p:cNvGraphicFramePr/>
          <p:nvPr/>
        </p:nvGraphicFramePr>
        <p:xfrm>
          <a:off x="457200" y="1463040"/>
          <a:ext cx="8229240" cy="3291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Text 0"/>
          <p:cNvSpPr/>
          <p:nvPr/>
        </p:nvSpPr>
        <p:spPr>
          <a:xfrm>
            <a:off x="457200" y="29268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pc="201" strike="noStrike">
                <a:solidFill>
                  <a:srgbClr val="6D635A"/>
                </a:solidFill>
                <a:effectLst/>
                <a:uFillTx/>
                <a:latin typeface="Calibri"/>
              </a:rPr>
              <a:t>SYSTEMS.COMPARISON-MATRIX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1"/>
          <p:cNvSpPr/>
          <p:nvPr/>
        </p:nvSpPr>
        <p:spPr>
          <a:xfrm>
            <a:off x="457200" y="548640"/>
            <a:ext cx="8229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Different models fail differently under the same contract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2"/>
          <p:cNvSpPr/>
          <p:nvPr/>
        </p:nvSpPr>
        <p:spPr>
          <a:xfrm>
            <a:off x="8412480" y="2926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36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02" name="Table 0"/>
          <p:cNvGraphicFramePr/>
          <p:nvPr/>
        </p:nvGraphicFramePr>
        <p:xfrm>
          <a:off x="457200" y="1463040"/>
          <a:ext cx="8229240" cy="2136960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Cohort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quality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cost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latency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solidFill>
                      <a:srgbClr val="C76D54"/>
                    </a:solidFill>
                  </a:tcPr>
                </a:tc>
              </a:tr>
              <a:tr h="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claude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0.00862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8.19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kimi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0.958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0.0013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17.62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gemma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0.958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17.27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nemotron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gpt-oss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ensemble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Text 0"/>
          <p:cNvSpPr/>
          <p:nvPr/>
        </p:nvSpPr>
        <p:spPr>
          <a:xfrm>
            <a:off x="457200" y="29268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pc="201" strike="noStrike">
                <a:solidFill>
                  <a:srgbClr val="6D635A"/>
                </a:solidFill>
                <a:effectLst/>
                <a:uFillTx/>
                <a:latin typeface="Calibri"/>
              </a:rPr>
              <a:t>SYSTEMS.COMPARISON-MATRIX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1"/>
          <p:cNvSpPr/>
          <p:nvPr/>
        </p:nvSpPr>
        <p:spPr>
          <a:xfrm>
            <a:off x="457200" y="548640"/>
            <a:ext cx="8229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V2 expands the harness without crediting the model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2"/>
          <p:cNvSpPr/>
          <p:nvPr/>
        </p:nvSpPr>
        <p:spPr>
          <a:xfrm>
            <a:off x="8412480" y="2926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37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06" name="Table 0"/>
          <p:cNvGraphicFramePr/>
          <p:nvPr/>
        </p:nvGraphicFramePr>
        <p:xfrm>
          <a:off x="457200" y="1463040"/>
          <a:ext cx="8229240" cy="91584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Cohort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artifactCoverage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solidFill>
                      <a:srgbClr val="C76D54"/>
                    </a:solidFill>
                  </a:tcPr>
                </a:tc>
              </a:tr>
              <a:tr h="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v1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v2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221F1C"/>
                          </a:solidFill>
                          <a:effectLst/>
                          <a:uFillTx/>
                          <a:latin typeface="Calibri"/>
                        </a:rPr>
                        <a:t>38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E0D9D1"/>
                      </a:solidFill>
                      <a:prstDash val="solid"/>
                    </a:lnL>
                    <a:lnR w="12240">
                      <a:solidFill>
                        <a:srgbClr val="E0D9D1"/>
                      </a:solidFill>
                      <a:prstDash val="solid"/>
                    </a:lnR>
                    <a:lnT w="12240">
                      <a:solidFill>
                        <a:srgbClr val="E0D9D1"/>
                      </a:solidFill>
                      <a:prstDash val="solid"/>
                    </a:lnT>
                    <a:lnB w="12240">
                      <a:solidFill>
                        <a:srgbClr val="E0D9D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Text 0"/>
          <p:cNvSpPr/>
          <p:nvPr/>
        </p:nvSpPr>
        <p:spPr>
          <a:xfrm>
            <a:off x="457200" y="29268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pc="201" strike="noStrike">
                <a:solidFill>
                  <a:srgbClr val="6D635A"/>
                </a:solidFill>
                <a:effectLst/>
                <a:uFillTx/>
                <a:latin typeface="Calibri"/>
              </a:rPr>
              <a:t>DECISION.RECOMMENDATION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1"/>
          <p:cNvSpPr/>
          <p:nvPr/>
        </p:nvSpPr>
        <p:spPr>
          <a:xfrm>
            <a:off x="457200" y="548640"/>
            <a:ext cx="8229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Reuse the visual vocabulary, then adapt the communication contract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2"/>
          <p:cNvSpPr/>
          <p:nvPr/>
        </p:nvSpPr>
        <p:spPr>
          <a:xfrm>
            <a:off x="8412480" y="2926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D635A"/>
                </a:solidFill>
                <a:effectLst/>
                <a:uFillTx/>
                <a:latin typeface="Calibri"/>
              </a:rPr>
              <a:t>38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3"/>
          <p:cNvSpPr/>
          <p:nvPr/>
        </p:nvSpPr>
        <p:spPr>
          <a:xfrm>
            <a:off x="640080" y="1920240"/>
            <a:ext cx="786348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221F1C"/>
                </a:solidFill>
                <a:effectLst/>
                <a:uFillTx/>
                <a:latin typeface="Calibri"/>
              </a:rPr>
              <a:t>Researcher, investor, and plain-language Chinese versions share the same evidence.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LibreOffice/26.2.4.2$Windows_X86_64 LibreOffice_project/0229ac93fcf0d7cbc6376066c6f35021cef002dc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2026-07-23T03:59:26Z</dcterms:created>
  <dc:creator>PptxGenJS</dc:creator>
  <dc:description/>
  <dc:language>en-US</dc:language>
  <cp:lastModifiedBy>PptxGenJS</cp:lastModifiedBy>
  <dcterms:modified xsi:type="dcterms:W3CDTF">2026-07-23T03:59:26Z</dcterms:modified>
  <cp:revision>1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38</vt:r8>
  </property>
  <property fmtid="{D5CDD505-2E9C-101B-9397-08002B2CF9AE}" pid="3" name="PresentationFormat">
    <vt:lpwstr>On-screen Show (16:9)</vt:lpwstr>
  </property>
  <property fmtid="{D5CDD505-2E9C-101B-9397-08002B2CF9AE}" pid="4" name="Slides">
    <vt:r8>38</vt:r8>
  </property>
</Properties>
</file>