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3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4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5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6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7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charts/chart8.xml" ContentType="application/vnd.openxmlformats-officedocument.drawingml.chart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charts/chart9.xml" ContentType="application/vnd.openxmlformats-officedocument.drawingml.chart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charts/chart10.xml" ContentType="application/vnd.openxmlformats-officedocument.drawingml.chart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notesMasterIdLst>
    <p:notesMasterId r:id="rId40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notesMaster" Target="notesMasters/notes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series-1</c:v>
                </c:pt>
              </c:strCache>
            </c:strRef>
          </c:tx>
          <c:spPr>
            <a:solidFill>
              <a:srgbClr val="C76D5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76D5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F7A52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A</c:v>
                  </c:pt>
                  <c:pt idx="1">
                    <c:v>B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62</c:v>
                </c:pt>
                <c:pt idx="1">
                  <c:v>86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D635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D635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series-1</c:v>
                </c:pt>
              </c:strCache>
            </c:strRef>
          </c:tx>
          <c:spPr>
            <a:solidFill>
              <a:srgbClr val="C76D5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76D5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F7A52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A</c:v>
                  </c:pt>
                  <c:pt idx="1">
                    <c:v>B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62</c:v>
                </c:pt>
                <c:pt idx="1">
                  <c:v>86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D635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D635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low</c:v>
                </c:pt>
              </c:strCache>
            </c:strRef>
          </c:tx>
          <c:spPr>
            <a:solidFill>
              <a:srgbClr val="C76D54"/>
            </a:solidFill>
            <a:ln w="25400" cap="flat">
              <a:solidFill>
                <a:srgbClr val="C76D5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C76D54"/>
              </a:solidFill>
              <a:ln w="9525" cap="flat">
                <a:solidFill>
                  <a:srgbClr val="C76D5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Q1 observed</c:v>
                  </c:pt>
                  <c:pt idx="1">
                    <c:v>Q2 observed</c:v>
                  </c:pt>
                  <c:pt idx="2">
                    <c:v>Q3 modeled</c:v>
                  </c:pt>
                  <c:pt idx="3">
                    <c:v>Q4 modeled</c:v>
                  </c:pt>
                  <c:pt idx="4">
                    <c:v>Q5 modeled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</c:v>
                </c:pt>
                <c:pt idx="1">
                  <c:v>9.4</c:v>
                </c:pt>
                <c:pt idx="2">
                  <c:v>9.6</c:v>
                </c:pt>
                <c:pt idx="3">
                  <c:v>9.2</c:v>
                </c:pt>
                <c:pt idx="4">
                  <c:v>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base</c:v>
                </c:pt>
              </c:strCache>
            </c:strRef>
          </c:tx>
          <c:spPr>
            <a:solidFill>
              <a:srgbClr val="4F7A52"/>
            </a:solidFill>
            <a:ln w="25400" cap="flat">
              <a:solidFill>
                <a:srgbClr val="4F7A5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4F7A52"/>
              </a:solidFill>
              <a:ln w="9525" cap="flat">
                <a:solidFill>
                  <a:srgbClr val="4F7A5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Q1 observed</c:v>
                  </c:pt>
                  <c:pt idx="1">
                    <c:v>Q2 observed</c:v>
                  </c:pt>
                  <c:pt idx="2">
                    <c:v>Q3 modeled</c:v>
                  </c:pt>
                  <c:pt idx="3">
                    <c:v>Q4 modeled</c:v>
                  </c:pt>
                  <c:pt idx="4">
                    <c:v>Q5 modeled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9</c:v>
                </c:pt>
                <c:pt idx="1">
                  <c:v>9.4</c:v>
                </c:pt>
                <c:pt idx="2">
                  <c:v>10.2</c:v>
                </c:pt>
                <c:pt idx="3">
                  <c:v>10.8</c:v>
                </c:pt>
                <c:pt idx="4">
                  <c:v>11.4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high</c:v>
                </c:pt>
              </c:strCache>
            </c:strRef>
          </c:tx>
          <c:spPr>
            <a:solidFill>
              <a:srgbClr val="B8862A"/>
            </a:solidFill>
            <a:ln w="25400" cap="flat">
              <a:solidFill>
                <a:srgbClr val="B8862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B8862A"/>
              </a:solidFill>
              <a:ln w="9525" cap="flat">
                <a:solidFill>
                  <a:srgbClr val="B8862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Q1 observed</c:v>
                  </c:pt>
                  <c:pt idx="1">
                    <c:v>Q2 observed</c:v>
                  </c:pt>
                  <c:pt idx="2">
                    <c:v>Q3 modeled</c:v>
                  </c:pt>
                  <c:pt idx="3">
                    <c:v>Q4 modeled</c:v>
                  </c:pt>
                  <c:pt idx="4">
                    <c:v>Q5 modeled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9</c:v>
                </c:pt>
                <c:pt idx="1">
                  <c:v>9.4</c:v>
                </c:pt>
                <c:pt idx="2">
                  <c:v>10.8</c:v>
                </c:pt>
                <c:pt idx="3">
                  <c:v>12</c:v>
                </c:pt>
                <c:pt idx="4">
                  <c:v>13.8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D635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D635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quality points</c:v>
                </c:pt>
              </c:strCache>
            </c:strRef>
          </c:tx>
          <c:spPr>
            <a:solidFill>
              <a:srgbClr val="C76D5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76D5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F7A52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B8862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76D54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F7A52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B8862A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Baseline</c:v>
                  </c:pt>
                  <c:pt idx="1">
                    <c:v>Plan</c:v>
                  </c:pt>
                  <c:pt idx="2">
                    <c:v>Tools</c:v>
                  </c:pt>
                  <c:pt idx="3">
                    <c:v>Repair</c:v>
                  </c:pt>
                  <c:pt idx="4">
                    <c:v>Deck CI</c:v>
                  </c:pt>
                  <c:pt idx="5">
                    <c:v>Final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62</c:v>
                </c:pt>
                <c:pt idx="1">
                  <c:v>8</c:v>
                </c:pt>
                <c:pt idx="2">
                  <c:v>7</c:v>
                </c:pt>
                <c:pt idx="3">
                  <c:v>5</c:v>
                </c:pt>
                <c:pt idx="4">
                  <c:v>4</c:v>
                </c:pt>
                <c:pt idx="5">
                  <c:v>86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D635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D635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quality</c:v>
                </c:pt>
              </c:strCache>
            </c:strRef>
          </c:tx>
          <c:spPr>
            <a:solidFill>
              <a:srgbClr val="C76D5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claude</c:v>
                  </c:pt>
                  <c:pt idx="1">
                    <c:v>kimi</c:v>
                  </c:pt>
                  <c:pt idx="2">
                    <c:v>gemma</c:v>
                  </c:pt>
                  <c:pt idx="3">
                    <c:v>nemotron</c:v>
                  </c:pt>
                  <c:pt idx="4">
                    <c:v>gpt-oss</c:v>
                  </c:pt>
                  <c:pt idx="5">
                    <c:v>ensemble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</c:v>
                </c:pt>
                <c:pt idx="1">
                  <c:v>0.9583333333333334</c:v>
                </c:pt>
                <c:pt idx="2">
                  <c:v>0.9583333333333334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cost</c:v>
                </c:pt>
              </c:strCache>
            </c:strRef>
          </c:tx>
          <c:spPr>
            <a:solidFill>
              <a:srgbClr val="4F7A5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claude</c:v>
                  </c:pt>
                  <c:pt idx="1">
                    <c:v>kimi</c:v>
                  </c:pt>
                  <c:pt idx="2">
                    <c:v>gemma</c:v>
                  </c:pt>
                  <c:pt idx="3">
                    <c:v>nemotron</c:v>
                  </c:pt>
                  <c:pt idx="4">
                    <c:v>gpt-oss</c:v>
                  </c:pt>
                  <c:pt idx="5">
                    <c:v>ensemble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0.00862</c:v>
                </c:pt>
                <c:pt idx="1">
                  <c:v>0.001303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latency</c:v>
                </c:pt>
              </c:strCache>
            </c:strRef>
          </c:tx>
          <c:spPr>
            <a:solidFill>
              <a:srgbClr val="B8862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claude</c:v>
                  </c:pt>
                  <c:pt idx="1">
                    <c:v>kimi</c:v>
                  </c:pt>
                  <c:pt idx="2">
                    <c:v>gemma</c:v>
                  </c:pt>
                  <c:pt idx="3">
                    <c:v>nemotron</c:v>
                  </c:pt>
                  <c:pt idx="4">
                    <c:v>gpt-oss</c:v>
                  </c:pt>
                  <c:pt idx="5">
                    <c:v>ensemble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8.193</c:v>
                </c:pt>
                <c:pt idx="1">
                  <c:v>17.617</c:v>
                </c:pt>
                <c:pt idx="2">
                  <c:v>17.271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D635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D635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series-1</c:v>
                </c:pt>
              </c:strCache>
            </c:strRef>
          </c:tx>
          <c:spPr>
            <a:solidFill>
              <a:srgbClr val="C76D5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76D5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F7A52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A</c:v>
                  </c:pt>
                  <c:pt idx="1">
                    <c:v>B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62</c:v>
                </c:pt>
                <c:pt idx="1">
                  <c:v>86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D635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D635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start (day)</c:v>
                </c:pt>
              </c:strCache>
            </c:strRef>
          </c:tx>
          <c:spPr>
            <a:solidFill>
              <a:srgbClr val="C76D5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event-1</c:v>
                  </c:pt>
                  <c:pt idx="1">
                    <c:v>event-2</c:v>
                  </c:pt>
                  <c:pt idx="2">
                    <c:v>event-3</c:v>
                  </c:pt>
                  <c:pt idx="3">
                    <c:v>event-4</c:v>
                  </c:pt>
                  <c:pt idx="4">
                    <c:v>event-5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</c:v>
                </c:pt>
                <c:pt idx="1">
                  <c:v>3</c:v>
                </c:pt>
                <c:pt idx="2">
                  <c:v>6</c:v>
                </c:pt>
                <c:pt idx="3">
                  <c:v>9</c:v>
                </c:pt>
                <c:pt idx="4">
                  <c:v>11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duration (day)</c:v>
                </c:pt>
              </c:strCache>
            </c:strRef>
          </c:tx>
          <c:spPr>
            <a:solidFill>
              <a:srgbClr val="4F7A5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event-1</c:v>
                  </c:pt>
                  <c:pt idx="1">
                    <c:v>event-2</c:v>
                  </c:pt>
                  <c:pt idx="2">
                    <c:v>event-3</c:v>
                  </c:pt>
                  <c:pt idx="3">
                    <c:v>event-4</c:v>
                  </c:pt>
                  <c:pt idx="4">
                    <c:v>event-5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D635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D635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start (week)</c:v>
                </c:pt>
              </c:strCache>
            </c:strRef>
          </c:tx>
          <c:spPr>
            <a:solidFill>
              <a:srgbClr val="C76D5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media</c:v>
                  </c:pt>
                  <c:pt idx="1">
                    <c:v>data</c:v>
                  </c:pt>
                  <c:pt idx="2">
                    <c:v>motion</c:v>
                  </c:pt>
                  <c:pt idx="3">
                    <c:v>domains</c:v>
                  </c:pt>
                  <c:pt idx="4">
                    <c:v>review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3</c:v>
                </c:pt>
                <c:pt idx="4">
                  <c:v>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duration (week)</c:v>
                </c:pt>
              </c:strCache>
            </c:strRef>
          </c:tx>
          <c:spPr>
            <a:solidFill>
              <a:srgbClr val="4F7A5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media</c:v>
                  </c:pt>
                  <c:pt idx="1">
                    <c:v>data</c:v>
                  </c:pt>
                  <c:pt idx="2">
                    <c:v>motion</c:v>
                  </c:pt>
                  <c:pt idx="3">
                    <c:v>domains</c:v>
                  </c:pt>
                  <c:pt idx="4">
                    <c:v>review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</c:v>
                </c:pt>
                <c:pt idx="1">
                  <c:v>1</c:v>
                </c:pt>
                <c:pt idx="2">
                  <c:v>2</c:v>
                </c:pt>
                <c:pt idx="3">
                  <c:v>2</c:v>
                </c:pt>
                <c:pt idx="4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D635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D635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likelihood</c:v>
                </c:pt>
              </c:strCache>
            </c:strRef>
          </c:tx>
          <c:spPr>
            <a:solidFill>
              <a:srgbClr val="C76D5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pipeline</c:v>
                  </c:pt>
                  <c:pt idx="1">
                    <c:v>capacity</c:v>
                  </c:pt>
                  <c:pt idx="2">
                    <c:v>retention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</c:v>
                </c:pt>
                <c:pt idx="1">
                  <c:v>3</c:v>
                </c:pt>
                <c:pt idx="2">
                  <c:v>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impact</c:v>
                </c:pt>
              </c:strCache>
            </c:strRef>
          </c:tx>
          <c:spPr>
            <a:solidFill>
              <a:srgbClr val="4F7A5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pipeline</c:v>
                  </c:pt>
                  <c:pt idx="1">
                    <c:v>capacity</c:v>
                  </c:pt>
                  <c:pt idx="2">
                    <c:v>retention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5</c:v>
                </c:pt>
                <c:pt idx="1">
                  <c:v>4</c:v>
                </c:pt>
                <c:pt idx="2">
                  <c:v>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D635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D635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quality</c:v>
                </c:pt>
              </c:strCache>
            </c:strRef>
          </c:tx>
          <c:spPr>
            <a:solidFill>
              <a:srgbClr val="C76D5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claude</c:v>
                  </c:pt>
                  <c:pt idx="1">
                    <c:v>kimi</c:v>
                  </c:pt>
                  <c:pt idx="2">
                    <c:v>gemma</c:v>
                  </c:pt>
                  <c:pt idx="3">
                    <c:v>nemotron</c:v>
                  </c:pt>
                  <c:pt idx="4">
                    <c:v>gpt-oss</c:v>
                  </c:pt>
                  <c:pt idx="5">
                    <c:v>ensemble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</c:v>
                </c:pt>
                <c:pt idx="1">
                  <c:v>0.9583333333333334</c:v>
                </c:pt>
                <c:pt idx="2">
                  <c:v>0.9583333333333334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cost</c:v>
                </c:pt>
              </c:strCache>
            </c:strRef>
          </c:tx>
          <c:spPr>
            <a:solidFill>
              <a:srgbClr val="4F7A5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claude</c:v>
                  </c:pt>
                  <c:pt idx="1">
                    <c:v>kimi</c:v>
                  </c:pt>
                  <c:pt idx="2">
                    <c:v>gemma</c:v>
                  </c:pt>
                  <c:pt idx="3">
                    <c:v>nemotron</c:v>
                  </c:pt>
                  <c:pt idx="4">
                    <c:v>gpt-oss</c:v>
                  </c:pt>
                  <c:pt idx="5">
                    <c:v>ensemble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0.00862</c:v>
                </c:pt>
                <c:pt idx="1">
                  <c:v>0.001303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latency</c:v>
                </c:pt>
              </c:strCache>
            </c:strRef>
          </c:tx>
          <c:spPr>
            <a:solidFill>
              <a:srgbClr val="B8862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claude</c:v>
                  </c:pt>
                  <c:pt idx="1">
                    <c:v>kimi</c:v>
                  </c:pt>
                  <c:pt idx="2">
                    <c:v>gemma</c:v>
                  </c:pt>
                  <c:pt idx="3">
                    <c:v>nemotron</c:v>
                  </c:pt>
                  <c:pt idx="4">
                    <c:v>gpt-oss</c:v>
                  </c:pt>
                  <c:pt idx="5">
                    <c:v>ensemble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8.193</c:v>
                </c:pt>
                <c:pt idx="1">
                  <c:v>17.617</c:v>
                </c:pt>
                <c:pt idx="2">
                  <c:v>17.271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D635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D635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6D635A"/>
                </a:solidFill>
              </a:rPr>
              <a:t>NARRATIVE.HERO-THESIS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21F1C"/>
                </a:solidFill>
              </a:rPr>
              <a:t>Reviewability turns generation into a product decision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29260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D635A"/>
                </a:solidFill>
              </a:rPr>
              <a:t>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1920240"/>
            <a:ext cx="78638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21F1C"/>
                </a:solidFill>
              </a:rPr>
              <a:t>Reviewability turns generation into a product decision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6D635A"/>
                </a:solidFill>
              </a:rPr>
              <a:t>NARRATIVE.SECTION-OPENER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21F1C"/>
                </a:solidFill>
              </a:rPr>
              <a:t>A museum needs chapters, not a wall of thumbnails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29260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D635A"/>
                </a:solidFill>
              </a:rPr>
              <a:t>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1920240"/>
            <a:ext cx="78638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21F1C"/>
                </a:solidFill>
              </a:rPr>
              <a:t>A museum needs chapters, not a wall of thumbnails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6D635A"/>
                </a:solidFill>
              </a:rPr>
              <a:t>NARRATIVE.BIG-METRIC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21F1C"/>
                </a:solidFill>
              </a:rPr>
              <a:t>82 of 84 candidates cleared browser and PowerPoint proof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29260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D635A"/>
                </a:solidFill>
              </a:rPr>
              <a:t>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1920240"/>
            <a:ext cx="78638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21F1C"/>
                </a:solidFill>
              </a:rPr>
              <a:t>82 of 84 candidates cleared browser and PowerPoint proof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6D635A"/>
                </a:solidFill>
              </a:rPr>
              <a:t>NARRATIVE.QUOTE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21F1C"/>
                </a:solidFill>
              </a:rPr>
              <a:t>The useful promise is editable evidence, not instant polish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29260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D635A"/>
                </a:solidFill>
              </a:rPr>
              <a:t>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1920240"/>
            <a:ext cx="78638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21F1C"/>
                </a:solidFill>
              </a:rPr>
              <a:t>The useful promise is editable evidence, not instant polish</a:t>
            </a:r>
            <a:endParaRPr lang="en-US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6D635A"/>
                </a:solidFill>
              </a:rPr>
              <a:t>PROGRESSION.BEFORE-AFTER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21F1C"/>
                </a:solidFill>
              </a:rPr>
              <a:t>The harness removes clutter before it adds decoration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29260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D635A"/>
                </a:solidFill>
              </a:rPr>
              <a:t>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2011680"/>
            <a:ext cx="78638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21F1C"/>
                </a:solidFill>
              </a:rPr>
              <a:t>The fixture carries only a narrative caption — no before/after pair of screenshots, charts or diagrams — so no comparison artifact is drawn.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356616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D635A"/>
                </a:solidFill>
              </a:rPr>
              <a:t>declared fallback · capability.pptx = unsupported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6D635A"/>
                </a:solidFill>
              </a:rPr>
              <a:t>DATA.KPI-STRIP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21F1C"/>
                </a:solidFill>
              </a:rPr>
              <a:t>The operating verdict should scan in under five seconds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29260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D635A"/>
                </a:solidFill>
              </a:rPr>
              <a:t>6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463040"/>
          <a:ext cx="822960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6D635A"/>
                </a:solidFill>
              </a:rPr>
              <a:t>DATA.MULTI-SERIES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21F1C"/>
                </a:solidFill>
              </a:rPr>
              <a:t>Direct labels make divergence visible without inventing a cause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29260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D635A"/>
                </a:solidFill>
              </a:rPr>
              <a:t>7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463040"/>
          <a:ext cx="822960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6D635A"/>
                </a:solidFill>
              </a:rPr>
              <a:t>DATA.UNCERTAINTY-RANGE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21F1C"/>
                </a:solidFill>
              </a:rPr>
              <a:t>A forecast is more credible when its range is impossible to miss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29260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D635A"/>
                </a:solidFill>
              </a:rPr>
              <a:t>8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463040"/>
          <a:ext cx="822960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6D635A"/>
                </a:solidFill>
              </a:rPr>
              <a:t>DATA.WATERFALL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21F1C"/>
                </a:solidFill>
              </a:rPr>
              <a:t>Harness gains come from several small controls, not one magic prompt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29260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D635A"/>
                </a:solidFill>
              </a:rPr>
              <a:t>9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463040"/>
          <a:ext cx="822960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6D635A"/>
                </a:solidFill>
              </a:rPr>
              <a:t>DATA.DISTRIBUTION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21F1C"/>
                </a:solidFill>
              </a:rPr>
              <a:t>The best route sits on a frontier, not at one universal optimum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29260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D635A"/>
                </a:solidFill>
              </a:rPr>
              <a:t>10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463040"/>
          <a:ext cx="822960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6D635A"/>
                </a:solidFill>
              </a:rPr>
              <a:t>DATA.TABLE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21F1C"/>
                </a:solidFill>
              </a:rPr>
              <a:t>Dense tables stay readable when hierarchy does the filtering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29260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D635A"/>
                </a:solidFill>
              </a:rPr>
              <a:t>11</a:t>
            </a:r>
            <a:endParaRPr lang="en-US" sz="1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6304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Series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6D5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A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6D5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B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6D5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series-1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62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86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6D635A"/>
                </a:solidFill>
              </a:rPr>
              <a:t>DATA.FUNNEL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21F1C"/>
                </a:solidFill>
              </a:rPr>
              <a:t>A dashboard can be dense without becoming a card graveyard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29260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D635A"/>
                </a:solidFill>
              </a:rPr>
              <a:t>12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463040"/>
          <a:ext cx="822960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6D635A"/>
                </a:solidFill>
              </a:rPr>
              <a:t>SYSTEMS.ARCHITECTURE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21F1C"/>
                </a:solidFill>
              </a:rPr>
              <a:t>The portable protocol keeps product logic above backend choice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29260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D635A"/>
                </a:solidFill>
              </a:rPr>
              <a:t>13</a:t>
            </a:r>
            <a:endParaRPr lang="en-US" sz="1000" dirty="0"/>
          </a:p>
        </p:txBody>
      </p:sp>
      <p:sp>
        <p:nvSpPr>
          <p:cNvPr id="5" name="node-source"/>
          <p:cNvSpPr/>
          <p:nvPr/>
        </p:nvSpPr>
        <p:spPr>
          <a:xfrm>
            <a:off x="2133600" y="2194560"/>
            <a:ext cx="1371600" cy="822960"/>
          </a:xfrm>
          <a:prstGeom prst="roundRect">
            <a:avLst/>
          </a:prstGeom>
          <a:solidFill>
            <a:srgbClr val="FDFCFA"/>
          </a:solidFill>
          <a:ln w="19050">
            <a:solidFill>
              <a:srgbClr val="C76D5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133600" y="219456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21F1C"/>
                </a:solidFill>
              </a:rPr>
              <a:t>source</a:t>
            </a:r>
            <a:endParaRPr lang="en-US" sz="1400" dirty="0"/>
          </a:p>
        </p:txBody>
      </p:sp>
      <p:sp>
        <p:nvSpPr>
          <p:cNvPr id="7" name="node-output"/>
          <p:cNvSpPr/>
          <p:nvPr/>
        </p:nvSpPr>
        <p:spPr>
          <a:xfrm>
            <a:off x="5638800" y="2194560"/>
            <a:ext cx="1371600" cy="822960"/>
          </a:xfrm>
          <a:prstGeom prst="roundRect">
            <a:avLst/>
          </a:prstGeom>
          <a:solidFill>
            <a:srgbClr val="FDFCFA"/>
          </a:solidFill>
          <a:ln w="19050">
            <a:solidFill>
              <a:srgbClr val="C76D5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638800" y="219456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21F1C"/>
                </a:solidFill>
              </a:rPr>
              <a:t>output</a:t>
            </a:r>
            <a:endParaRPr lang="en-US" sz="1400" dirty="0"/>
          </a:p>
        </p:txBody>
      </p:sp>
      <p:cxnSp>
        <p:nvCxnSpPr>
          <p:cNvPr id="9" name="edge-source-output"/>
          <p:cNvCxnSpPr>
            <a:stCxn id="5" idx="3"/>
            <a:endCxn id="7" idx="1"/>
          </p:cNvCxnSpPr>
          <p:nvPr/>
        </p:nvCxnSpPr>
        <p:spPr>
          <a:xfrm>
            <a:off x="3505200" y="2606040"/>
            <a:ext cx="2133600" cy="1"/>
          </a:xfrm>
          <a:prstGeom prst="straightConnector1">
            <a:avLst/>
          </a:prstGeom>
          <a:ln w="19050">
            <a:solidFill>
              <a:srgbClr val="221F1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6D635A"/>
                </a:solidFill>
              </a:rPr>
              <a:t>SYSTEMS.SEQUENCE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21F1C"/>
                </a:solidFill>
              </a:rPr>
              <a:t>Review custody is visible at every handoff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29260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D635A"/>
                </a:solidFill>
              </a:rPr>
              <a:t>14</a:t>
            </a:r>
            <a:endParaRPr lang="en-US" sz="1000" dirty="0"/>
          </a:p>
        </p:txBody>
      </p:sp>
      <p:sp>
        <p:nvSpPr>
          <p:cNvPr id="5" name="node-source"/>
          <p:cNvSpPr/>
          <p:nvPr/>
        </p:nvSpPr>
        <p:spPr>
          <a:xfrm>
            <a:off x="2133600" y="2194560"/>
            <a:ext cx="1371600" cy="822960"/>
          </a:xfrm>
          <a:prstGeom prst="roundRect">
            <a:avLst/>
          </a:prstGeom>
          <a:solidFill>
            <a:srgbClr val="FDFCFA"/>
          </a:solidFill>
          <a:ln w="19050">
            <a:solidFill>
              <a:srgbClr val="C76D5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133600" y="219456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21F1C"/>
                </a:solidFill>
              </a:rPr>
              <a:t>source</a:t>
            </a:r>
            <a:endParaRPr lang="en-US" sz="1400" dirty="0"/>
          </a:p>
        </p:txBody>
      </p:sp>
      <p:sp>
        <p:nvSpPr>
          <p:cNvPr id="7" name="node-output"/>
          <p:cNvSpPr/>
          <p:nvPr/>
        </p:nvSpPr>
        <p:spPr>
          <a:xfrm>
            <a:off x="5638800" y="2194560"/>
            <a:ext cx="1371600" cy="822960"/>
          </a:xfrm>
          <a:prstGeom prst="roundRect">
            <a:avLst/>
          </a:prstGeom>
          <a:solidFill>
            <a:srgbClr val="FDFCFA"/>
          </a:solidFill>
          <a:ln w="19050">
            <a:solidFill>
              <a:srgbClr val="C76D5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638800" y="219456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21F1C"/>
                </a:solidFill>
              </a:rPr>
              <a:t>output</a:t>
            </a:r>
            <a:endParaRPr lang="en-US" sz="1400" dirty="0"/>
          </a:p>
        </p:txBody>
      </p:sp>
      <p:cxnSp>
        <p:nvCxnSpPr>
          <p:cNvPr id="9" name="edge-source-output"/>
          <p:cNvCxnSpPr>
            <a:stCxn id="5" idx="3"/>
            <a:endCxn id="7" idx="1"/>
          </p:cNvCxnSpPr>
          <p:nvPr/>
        </p:nvCxnSpPr>
        <p:spPr>
          <a:xfrm>
            <a:off x="3505200" y="2606040"/>
            <a:ext cx="2133600" cy="1"/>
          </a:xfrm>
          <a:prstGeom prst="straightConnector1">
            <a:avLst/>
          </a:prstGeom>
          <a:ln w="19050">
            <a:solidFill>
              <a:srgbClr val="221F1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6D635A"/>
                </a:solidFill>
              </a:rPr>
              <a:t>SYSTEMS.NODE-EDGE-GRAPH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21F1C"/>
                </a:solidFill>
              </a:rPr>
              <a:t>Better receipts reinforce trust; unchecked complexity pushes back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29260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D635A"/>
                </a:solidFill>
              </a:rPr>
              <a:t>15</a:t>
            </a:r>
            <a:endParaRPr lang="en-US" sz="1000" dirty="0"/>
          </a:p>
        </p:txBody>
      </p:sp>
      <p:sp>
        <p:nvSpPr>
          <p:cNvPr id="5" name="node-receipt"/>
          <p:cNvSpPr/>
          <p:nvPr/>
        </p:nvSpPr>
        <p:spPr>
          <a:xfrm>
            <a:off x="381000" y="2194560"/>
            <a:ext cx="1371600" cy="822960"/>
          </a:xfrm>
          <a:prstGeom prst="roundRect">
            <a:avLst/>
          </a:prstGeom>
          <a:solidFill>
            <a:srgbClr val="FDFCFA"/>
          </a:solidFill>
          <a:ln w="19050">
            <a:solidFill>
              <a:srgbClr val="C76D5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81000" y="219456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21F1C"/>
                </a:solidFill>
              </a:rPr>
              <a:t>receipt</a:t>
            </a:r>
            <a:endParaRPr lang="en-US" sz="1400" dirty="0"/>
          </a:p>
        </p:txBody>
      </p:sp>
      <p:sp>
        <p:nvSpPr>
          <p:cNvPr id="7" name="node-trust"/>
          <p:cNvSpPr/>
          <p:nvPr/>
        </p:nvSpPr>
        <p:spPr>
          <a:xfrm>
            <a:off x="2133600" y="2194560"/>
            <a:ext cx="1371600" cy="822960"/>
          </a:xfrm>
          <a:prstGeom prst="roundRect">
            <a:avLst/>
          </a:prstGeom>
          <a:solidFill>
            <a:srgbClr val="FDFCFA"/>
          </a:solidFill>
          <a:ln w="19050">
            <a:solidFill>
              <a:srgbClr val="C76D5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33600" y="219456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21F1C"/>
                </a:solidFill>
              </a:rPr>
              <a:t>trust</a:t>
            </a:r>
            <a:endParaRPr lang="en-US" sz="1400" dirty="0"/>
          </a:p>
        </p:txBody>
      </p:sp>
      <p:sp>
        <p:nvSpPr>
          <p:cNvPr id="9" name="node-reuse"/>
          <p:cNvSpPr/>
          <p:nvPr/>
        </p:nvSpPr>
        <p:spPr>
          <a:xfrm>
            <a:off x="3886200" y="2194560"/>
            <a:ext cx="1371600" cy="822960"/>
          </a:xfrm>
          <a:prstGeom prst="roundRect">
            <a:avLst/>
          </a:prstGeom>
          <a:solidFill>
            <a:srgbClr val="FDFCFA"/>
          </a:solidFill>
          <a:ln w="19050">
            <a:solidFill>
              <a:srgbClr val="C76D5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886200" y="219456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21F1C"/>
                </a:solidFill>
              </a:rPr>
              <a:t>reuse</a:t>
            </a:r>
            <a:endParaRPr lang="en-US" sz="1400" dirty="0"/>
          </a:p>
        </p:txBody>
      </p:sp>
      <p:sp>
        <p:nvSpPr>
          <p:cNvPr id="11" name="node-signal"/>
          <p:cNvSpPr/>
          <p:nvPr/>
        </p:nvSpPr>
        <p:spPr>
          <a:xfrm>
            <a:off x="5638800" y="2194560"/>
            <a:ext cx="1371600" cy="822960"/>
          </a:xfrm>
          <a:prstGeom prst="roundRect">
            <a:avLst/>
          </a:prstGeom>
          <a:solidFill>
            <a:srgbClr val="FDFCFA"/>
          </a:solidFill>
          <a:ln w="19050">
            <a:solidFill>
              <a:srgbClr val="C76D5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38800" y="219456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21F1C"/>
                </a:solidFill>
              </a:rPr>
              <a:t>signal</a:t>
            </a:r>
            <a:endParaRPr lang="en-US" sz="1400" dirty="0"/>
          </a:p>
        </p:txBody>
      </p:sp>
      <p:sp>
        <p:nvSpPr>
          <p:cNvPr id="13" name="node-complexity"/>
          <p:cNvSpPr/>
          <p:nvPr/>
        </p:nvSpPr>
        <p:spPr>
          <a:xfrm>
            <a:off x="7391400" y="2194560"/>
            <a:ext cx="1371600" cy="822960"/>
          </a:xfrm>
          <a:prstGeom prst="roundRect">
            <a:avLst/>
          </a:prstGeom>
          <a:solidFill>
            <a:srgbClr val="FDFCFA"/>
          </a:solidFill>
          <a:ln w="19050">
            <a:solidFill>
              <a:srgbClr val="C76D5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91400" y="219456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21F1C"/>
                </a:solidFill>
              </a:rPr>
              <a:t>complexity</a:t>
            </a:r>
            <a:endParaRPr lang="en-US" sz="1400" dirty="0"/>
          </a:p>
        </p:txBody>
      </p:sp>
      <p:cxnSp>
        <p:nvCxnSpPr>
          <p:cNvPr id="15" name="edge-receipt-trust"/>
          <p:cNvCxnSpPr>
            <a:stCxn id="5" idx="3"/>
            <a:endCxn id="7" idx="1"/>
          </p:cNvCxnSpPr>
          <p:nvPr/>
        </p:nvCxnSpPr>
        <p:spPr>
          <a:xfrm>
            <a:off x="1752600" y="2606040"/>
            <a:ext cx="381000" cy="1"/>
          </a:xfrm>
          <a:prstGeom prst="straightConnector1">
            <a:avLst/>
          </a:prstGeom>
          <a:ln w="19050">
            <a:solidFill>
              <a:srgbClr val="221F1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edge-trust-reuse"/>
          <p:cNvCxnSpPr>
            <a:stCxn id="7" idx="3"/>
            <a:endCxn id="9" idx="1"/>
          </p:cNvCxnSpPr>
          <p:nvPr/>
        </p:nvCxnSpPr>
        <p:spPr>
          <a:xfrm>
            <a:off x="3505200" y="2606040"/>
            <a:ext cx="381000" cy="1"/>
          </a:xfrm>
          <a:prstGeom prst="straightConnector1">
            <a:avLst/>
          </a:prstGeom>
          <a:ln w="19050">
            <a:solidFill>
              <a:srgbClr val="221F1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edge-reuse-signal"/>
          <p:cNvCxnSpPr>
            <a:stCxn id="9" idx="3"/>
            <a:endCxn id="11" idx="1"/>
          </p:cNvCxnSpPr>
          <p:nvPr/>
        </p:nvCxnSpPr>
        <p:spPr>
          <a:xfrm>
            <a:off x="5257800" y="2606040"/>
            <a:ext cx="381000" cy="1"/>
          </a:xfrm>
          <a:prstGeom prst="straightConnector1">
            <a:avLst/>
          </a:prstGeom>
          <a:ln w="19050">
            <a:solidFill>
              <a:srgbClr val="221F1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edge-signal-receipt"/>
          <p:cNvCxnSpPr>
            <a:stCxn id="11" idx="3"/>
            <a:endCxn id="5" idx="1"/>
          </p:cNvCxnSpPr>
          <p:nvPr/>
        </p:nvCxnSpPr>
        <p:spPr>
          <a:xfrm>
            <a:off x="7010400" y="2606040"/>
            <a:ext cx="1" cy="1"/>
          </a:xfrm>
          <a:prstGeom prst="straightConnector1">
            <a:avLst/>
          </a:prstGeom>
          <a:ln w="19050">
            <a:solidFill>
              <a:srgbClr val="221F1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edge-reuse-complexity"/>
          <p:cNvCxnSpPr>
            <a:stCxn id="9" idx="3"/>
            <a:endCxn id="13" idx="1"/>
          </p:cNvCxnSpPr>
          <p:nvPr/>
        </p:nvCxnSpPr>
        <p:spPr>
          <a:xfrm>
            <a:off x="5257800" y="2606040"/>
            <a:ext cx="2133600" cy="1"/>
          </a:xfrm>
          <a:prstGeom prst="straightConnector1">
            <a:avLst/>
          </a:prstGeom>
          <a:ln w="19050">
            <a:solidFill>
              <a:srgbClr val="221F1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edge-complexity-trust"/>
          <p:cNvCxnSpPr>
            <a:stCxn id="13" idx="3"/>
            <a:endCxn id="7" idx="1"/>
          </p:cNvCxnSpPr>
          <p:nvPr/>
        </p:nvCxnSpPr>
        <p:spPr>
          <a:xfrm>
            <a:off x="8763000" y="2606040"/>
            <a:ext cx="1" cy="1"/>
          </a:xfrm>
          <a:prstGeom prst="straightConnector1">
            <a:avLst/>
          </a:prstGeom>
          <a:ln w="19050">
            <a:solidFill>
              <a:srgbClr val="221F1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6D635A"/>
                </a:solidFill>
              </a:rPr>
              <a:t>SYSTEMS.NODE-EDGE-GRAPH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21F1C"/>
                </a:solidFill>
              </a:rPr>
              <a:t>Every visual can retain the path from source to slide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29260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D635A"/>
                </a:solidFill>
              </a:rPr>
              <a:t>16</a:t>
            </a:r>
            <a:endParaRPr lang="en-US" sz="1000" dirty="0"/>
          </a:p>
        </p:txBody>
      </p:sp>
      <p:sp>
        <p:nvSpPr>
          <p:cNvPr id="5" name="node-source-a"/>
          <p:cNvSpPr/>
          <p:nvPr/>
        </p:nvSpPr>
        <p:spPr>
          <a:xfrm>
            <a:off x="-203200" y="2194560"/>
            <a:ext cx="1371600" cy="822960"/>
          </a:xfrm>
          <a:prstGeom prst="roundRect">
            <a:avLst/>
          </a:prstGeom>
          <a:solidFill>
            <a:srgbClr val="FDFCFA"/>
          </a:solidFill>
          <a:ln w="19050">
            <a:solidFill>
              <a:srgbClr val="C76D5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-203200" y="219456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21F1C"/>
                </a:solidFill>
              </a:rPr>
              <a:t>Source A</a:t>
            </a:r>
            <a:endParaRPr lang="en-US" sz="1400" dirty="0"/>
          </a:p>
        </p:txBody>
      </p:sp>
      <p:sp>
        <p:nvSpPr>
          <p:cNvPr id="7" name="node-source-b"/>
          <p:cNvSpPr/>
          <p:nvPr/>
        </p:nvSpPr>
        <p:spPr>
          <a:xfrm>
            <a:off x="965200" y="2194560"/>
            <a:ext cx="1371600" cy="822960"/>
          </a:xfrm>
          <a:prstGeom prst="roundRect">
            <a:avLst/>
          </a:prstGeom>
          <a:solidFill>
            <a:srgbClr val="FDFCFA"/>
          </a:solidFill>
          <a:ln w="19050">
            <a:solidFill>
              <a:srgbClr val="C76D5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5200" y="219456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21F1C"/>
                </a:solidFill>
              </a:rPr>
              <a:t>Source B</a:t>
            </a:r>
            <a:endParaRPr lang="en-US" sz="1400" dirty="0"/>
          </a:p>
        </p:txBody>
      </p:sp>
      <p:sp>
        <p:nvSpPr>
          <p:cNvPr id="9" name="node-source-c"/>
          <p:cNvSpPr/>
          <p:nvPr/>
        </p:nvSpPr>
        <p:spPr>
          <a:xfrm>
            <a:off x="2133600" y="2194560"/>
            <a:ext cx="1371600" cy="822960"/>
          </a:xfrm>
          <a:prstGeom prst="roundRect">
            <a:avLst/>
          </a:prstGeom>
          <a:solidFill>
            <a:srgbClr val="FDFCFA"/>
          </a:solidFill>
          <a:ln w="19050">
            <a:solidFill>
              <a:srgbClr val="C76D5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133600" y="219456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21F1C"/>
                </a:solidFill>
              </a:rPr>
              <a:t>Source C</a:t>
            </a:r>
            <a:endParaRPr lang="en-US" sz="1400" dirty="0"/>
          </a:p>
        </p:txBody>
      </p:sp>
      <p:sp>
        <p:nvSpPr>
          <p:cNvPr id="11" name="node-claims"/>
          <p:cNvSpPr/>
          <p:nvPr/>
        </p:nvSpPr>
        <p:spPr>
          <a:xfrm>
            <a:off x="3302000" y="2194560"/>
            <a:ext cx="1371600" cy="822960"/>
          </a:xfrm>
          <a:prstGeom prst="roundRect">
            <a:avLst/>
          </a:prstGeom>
          <a:solidFill>
            <a:srgbClr val="FDFCFA"/>
          </a:solidFill>
          <a:ln w="19050">
            <a:solidFill>
              <a:srgbClr val="C76D5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302000" y="219456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21F1C"/>
                </a:solidFill>
              </a:rPr>
              <a:t>Claims</a:t>
            </a:r>
            <a:endParaRPr lang="en-US" sz="1400" dirty="0"/>
          </a:p>
        </p:txBody>
      </p:sp>
      <p:sp>
        <p:nvSpPr>
          <p:cNvPr id="13" name="node-rejections"/>
          <p:cNvSpPr/>
          <p:nvPr/>
        </p:nvSpPr>
        <p:spPr>
          <a:xfrm>
            <a:off x="4470400" y="2194560"/>
            <a:ext cx="1371600" cy="822960"/>
          </a:xfrm>
          <a:prstGeom prst="roundRect">
            <a:avLst/>
          </a:prstGeom>
          <a:solidFill>
            <a:srgbClr val="FDFCFA"/>
          </a:solidFill>
          <a:ln w="19050">
            <a:solidFill>
              <a:srgbClr val="C76D5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470400" y="219456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21F1C"/>
                </a:solidFill>
              </a:rPr>
              <a:t>Rejections</a:t>
            </a:r>
            <a:endParaRPr lang="en-US" sz="1400" dirty="0"/>
          </a:p>
        </p:txBody>
      </p:sp>
      <p:sp>
        <p:nvSpPr>
          <p:cNvPr id="15" name="node-charts"/>
          <p:cNvSpPr/>
          <p:nvPr/>
        </p:nvSpPr>
        <p:spPr>
          <a:xfrm>
            <a:off x="5638800" y="2194560"/>
            <a:ext cx="1371600" cy="822960"/>
          </a:xfrm>
          <a:prstGeom prst="roundRect">
            <a:avLst/>
          </a:prstGeom>
          <a:solidFill>
            <a:srgbClr val="FDFCFA"/>
          </a:solidFill>
          <a:ln w="19050">
            <a:solidFill>
              <a:srgbClr val="C76D5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638800" y="219456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21F1C"/>
                </a:solidFill>
              </a:rPr>
              <a:t>Charts</a:t>
            </a:r>
            <a:endParaRPr lang="en-US" sz="1400" dirty="0"/>
          </a:p>
        </p:txBody>
      </p:sp>
      <p:sp>
        <p:nvSpPr>
          <p:cNvPr id="17" name="node-diagrams"/>
          <p:cNvSpPr/>
          <p:nvPr/>
        </p:nvSpPr>
        <p:spPr>
          <a:xfrm>
            <a:off x="6807200" y="2194560"/>
            <a:ext cx="1371600" cy="822960"/>
          </a:xfrm>
          <a:prstGeom prst="roundRect">
            <a:avLst/>
          </a:prstGeom>
          <a:solidFill>
            <a:srgbClr val="FDFCFA"/>
          </a:solidFill>
          <a:ln w="19050">
            <a:solidFill>
              <a:srgbClr val="C76D5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807200" y="219456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21F1C"/>
                </a:solidFill>
              </a:rPr>
              <a:t>Diagrams</a:t>
            </a:r>
            <a:endParaRPr lang="en-US" sz="1400" dirty="0"/>
          </a:p>
        </p:txBody>
      </p:sp>
      <p:sp>
        <p:nvSpPr>
          <p:cNvPr id="19" name="node-proof"/>
          <p:cNvSpPr/>
          <p:nvPr/>
        </p:nvSpPr>
        <p:spPr>
          <a:xfrm>
            <a:off x="7975600" y="2194560"/>
            <a:ext cx="1371600" cy="822960"/>
          </a:xfrm>
          <a:prstGeom prst="roundRect">
            <a:avLst/>
          </a:prstGeom>
          <a:solidFill>
            <a:srgbClr val="FDFCFA"/>
          </a:solidFill>
          <a:ln w="19050">
            <a:solidFill>
              <a:srgbClr val="C76D5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75600" y="219456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21F1C"/>
                </a:solidFill>
              </a:rPr>
              <a:t>Proof</a:t>
            </a:r>
            <a:endParaRPr lang="en-US" sz="1400" dirty="0"/>
          </a:p>
        </p:txBody>
      </p:sp>
      <p:cxnSp>
        <p:nvCxnSpPr>
          <p:cNvPr id="21" name="edge-source-a-claims"/>
          <p:cNvCxnSpPr>
            <a:stCxn id="5" idx="3"/>
            <a:endCxn id="11" idx="1"/>
          </p:cNvCxnSpPr>
          <p:nvPr/>
        </p:nvCxnSpPr>
        <p:spPr>
          <a:xfrm>
            <a:off x="1168400" y="2606040"/>
            <a:ext cx="2133600" cy="1"/>
          </a:xfrm>
          <a:prstGeom prst="straightConnector1">
            <a:avLst/>
          </a:prstGeom>
          <a:ln w="19050">
            <a:solidFill>
              <a:srgbClr val="221F1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edge-source-b-claims"/>
          <p:cNvCxnSpPr>
            <a:stCxn id="7" idx="3"/>
            <a:endCxn id="11" idx="1"/>
          </p:cNvCxnSpPr>
          <p:nvPr/>
        </p:nvCxnSpPr>
        <p:spPr>
          <a:xfrm>
            <a:off x="2336800" y="2606040"/>
            <a:ext cx="965200" cy="1"/>
          </a:xfrm>
          <a:prstGeom prst="straightConnector1">
            <a:avLst/>
          </a:prstGeom>
          <a:ln w="19050">
            <a:solidFill>
              <a:srgbClr val="221F1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edge-source-c-claims"/>
          <p:cNvCxnSpPr>
            <a:stCxn id="9" idx="3"/>
            <a:endCxn id="11" idx="1"/>
          </p:cNvCxnSpPr>
          <p:nvPr/>
        </p:nvCxnSpPr>
        <p:spPr>
          <a:xfrm>
            <a:off x="3505200" y="2606040"/>
            <a:ext cx="1" cy="1"/>
          </a:xfrm>
          <a:prstGeom prst="straightConnector1">
            <a:avLst/>
          </a:prstGeom>
          <a:ln w="19050">
            <a:solidFill>
              <a:srgbClr val="221F1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edge-source-c-rejections"/>
          <p:cNvCxnSpPr>
            <a:stCxn id="9" idx="3"/>
            <a:endCxn id="13" idx="1"/>
          </p:cNvCxnSpPr>
          <p:nvPr/>
        </p:nvCxnSpPr>
        <p:spPr>
          <a:xfrm>
            <a:off x="3505200" y="2606040"/>
            <a:ext cx="965200" cy="1"/>
          </a:xfrm>
          <a:prstGeom prst="straightConnector1">
            <a:avLst/>
          </a:prstGeom>
          <a:ln w="19050">
            <a:solidFill>
              <a:srgbClr val="221F1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edge-source-a-rejections"/>
          <p:cNvCxnSpPr>
            <a:stCxn id="5" idx="3"/>
            <a:endCxn id="13" idx="1"/>
          </p:cNvCxnSpPr>
          <p:nvPr/>
        </p:nvCxnSpPr>
        <p:spPr>
          <a:xfrm>
            <a:off x="1168400" y="2606040"/>
            <a:ext cx="3302000" cy="1"/>
          </a:xfrm>
          <a:prstGeom prst="straightConnector1">
            <a:avLst/>
          </a:prstGeom>
          <a:ln w="19050">
            <a:solidFill>
              <a:srgbClr val="221F1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edge-claims-charts"/>
          <p:cNvCxnSpPr>
            <a:stCxn id="11" idx="3"/>
            <a:endCxn id="15" idx="1"/>
          </p:cNvCxnSpPr>
          <p:nvPr/>
        </p:nvCxnSpPr>
        <p:spPr>
          <a:xfrm>
            <a:off x="4673600" y="2606040"/>
            <a:ext cx="965200" cy="1"/>
          </a:xfrm>
          <a:prstGeom prst="straightConnector1">
            <a:avLst/>
          </a:prstGeom>
          <a:ln w="19050">
            <a:solidFill>
              <a:srgbClr val="221F1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edge-claims-diagrams"/>
          <p:cNvCxnSpPr>
            <a:stCxn id="11" idx="3"/>
            <a:endCxn id="17" idx="1"/>
          </p:cNvCxnSpPr>
          <p:nvPr/>
        </p:nvCxnSpPr>
        <p:spPr>
          <a:xfrm>
            <a:off x="4673600" y="2606040"/>
            <a:ext cx="2133600" cy="1"/>
          </a:xfrm>
          <a:prstGeom prst="straightConnector1">
            <a:avLst/>
          </a:prstGeom>
          <a:ln w="19050">
            <a:solidFill>
              <a:srgbClr val="221F1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edge-claims-proof"/>
          <p:cNvCxnSpPr>
            <a:stCxn id="11" idx="3"/>
            <a:endCxn id="19" idx="1"/>
          </p:cNvCxnSpPr>
          <p:nvPr/>
        </p:nvCxnSpPr>
        <p:spPr>
          <a:xfrm>
            <a:off x="4673600" y="2606040"/>
            <a:ext cx="3302000" cy="1"/>
          </a:xfrm>
          <a:prstGeom prst="straightConnector1">
            <a:avLst/>
          </a:prstGeom>
          <a:ln w="19050">
            <a:solidFill>
              <a:srgbClr val="221F1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edge-rejections-diagrams"/>
          <p:cNvCxnSpPr>
            <a:stCxn id="13" idx="3"/>
            <a:endCxn id="17" idx="1"/>
          </p:cNvCxnSpPr>
          <p:nvPr/>
        </p:nvCxnSpPr>
        <p:spPr>
          <a:xfrm>
            <a:off x="5842000" y="2606040"/>
            <a:ext cx="965200" cy="1"/>
          </a:xfrm>
          <a:prstGeom prst="straightConnector1">
            <a:avLst/>
          </a:prstGeom>
          <a:ln w="19050">
            <a:solidFill>
              <a:srgbClr val="221F1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edge-rejections-proof"/>
          <p:cNvCxnSpPr>
            <a:stCxn id="13" idx="3"/>
            <a:endCxn id="19" idx="1"/>
          </p:cNvCxnSpPr>
          <p:nvPr/>
        </p:nvCxnSpPr>
        <p:spPr>
          <a:xfrm>
            <a:off x="5842000" y="2606040"/>
            <a:ext cx="2133600" cy="1"/>
          </a:xfrm>
          <a:prstGeom prst="straightConnector1">
            <a:avLst/>
          </a:prstGeom>
          <a:ln w="19050">
            <a:solidFill>
              <a:srgbClr val="221F1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6D635A"/>
                </a:solidFill>
              </a:rPr>
              <a:t>SYSTEMS.HIERARCHY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21F1C"/>
                </a:solidFill>
              </a:rPr>
              <a:t>Routing should spend capability only where the task needs it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29260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D635A"/>
                </a:solidFill>
              </a:rPr>
              <a:t>17</a:t>
            </a:r>
            <a:endParaRPr lang="en-US" sz="1000" dirty="0"/>
          </a:p>
        </p:txBody>
      </p:sp>
      <p:sp>
        <p:nvSpPr>
          <p:cNvPr id="5" name="node-source"/>
          <p:cNvSpPr/>
          <p:nvPr/>
        </p:nvSpPr>
        <p:spPr>
          <a:xfrm>
            <a:off x="2133600" y="2194560"/>
            <a:ext cx="1371600" cy="822960"/>
          </a:xfrm>
          <a:prstGeom prst="roundRect">
            <a:avLst/>
          </a:prstGeom>
          <a:solidFill>
            <a:srgbClr val="FDFCFA"/>
          </a:solidFill>
          <a:ln w="19050">
            <a:solidFill>
              <a:srgbClr val="C76D5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133600" y="219456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21F1C"/>
                </a:solidFill>
              </a:rPr>
              <a:t>source</a:t>
            </a:r>
            <a:endParaRPr lang="en-US" sz="1400" dirty="0"/>
          </a:p>
        </p:txBody>
      </p:sp>
      <p:sp>
        <p:nvSpPr>
          <p:cNvPr id="7" name="node-output"/>
          <p:cNvSpPr/>
          <p:nvPr/>
        </p:nvSpPr>
        <p:spPr>
          <a:xfrm>
            <a:off x="5638800" y="2194560"/>
            <a:ext cx="1371600" cy="822960"/>
          </a:xfrm>
          <a:prstGeom prst="roundRect">
            <a:avLst/>
          </a:prstGeom>
          <a:solidFill>
            <a:srgbClr val="FDFCFA"/>
          </a:solidFill>
          <a:ln w="19050">
            <a:solidFill>
              <a:srgbClr val="C76D5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638800" y="219456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21F1C"/>
                </a:solidFill>
              </a:rPr>
              <a:t>output</a:t>
            </a:r>
            <a:endParaRPr lang="en-US" sz="1400" dirty="0"/>
          </a:p>
        </p:txBody>
      </p:sp>
      <p:cxnSp>
        <p:nvCxnSpPr>
          <p:cNvPr id="9" name="edge-source-output"/>
          <p:cNvCxnSpPr>
            <a:stCxn id="5" idx="3"/>
            <a:endCxn id="7" idx="1"/>
          </p:cNvCxnSpPr>
          <p:nvPr/>
        </p:nvCxnSpPr>
        <p:spPr>
          <a:xfrm>
            <a:off x="3505200" y="2606040"/>
            <a:ext cx="2133600" cy="1"/>
          </a:xfrm>
          <a:prstGeom prst="straightConnector1">
            <a:avLst/>
          </a:prstGeom>
          <a:ln w="19050">
            <a:solidFill>
              <a:srgbClr val="221F1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A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6D635A"/>
                </a:solidFill>
              </a:rPr>
              <a:t>ECOSYSTEM-GEOGRAPHY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21F1C"/>
                </a:solidFill>
              </a:rPr>
              <a:t>NodeKit connects the stack while NodeSlide proves the journey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29260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D635A"/>
                </a:solidFill>
              </a:rPr>
              <a:t>18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1920240"/>
            <a:ext cx="78638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21F1C"/>
                </a:solidFill>
              </a:rPr>
              <a:t>NodeKit connects the stack while NodeSlide proves the journey</a:t>
            </a:r>
            <a:endParaRPr lang="en-US" sz="2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A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6D635A"/>
                </a:solidFill>
              </a:rPr>
              <a:t>PROGRESSION.TIMELINE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21F1C"/>
                </a:solidFill>
              </a:rPr>
              <a:t>Human approval remains the gate between experiment and harness change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29260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D635A"/>
                </a:solidFill>
              </a:rPr>
              <a:t>19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463040"/>
          <a:ext cx="822960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A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6D635A"/>
                </a:solidFill>
              </a:rPr>
              <a:t>PROGRESSION.ROADMAP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21F1C"/>
                </a:solidFill>
              </a:rPr>
              <a:t>The next release sequence exposes dependencies and confidence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29260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D635A"/>
                </a:solidFill>
              </a:rPr>
              <a:t>20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463040"/>
          <a:ext cx="822960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A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6D635A"/>
                </a:solidFill>
              </a:rPr>
              <a:t>PROGRESSION.SCROLLYTELLING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21F1C"/>
                </a:solidFill>
              </a:rPr>
              <a:t>Evidence becomes a decision through five inspectable states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29260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D635A"/>
                </a:solidFill>
              </a:rPr>
              <a:t>21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2011680"/>
            <a:ext cx="78638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21F1C"/>
                </a:solidFill>
              </a:rPr>
              <a:t>Web-only motion. PowerPoint receives the declared static fallback state as a poster frame plus a storyboard caption.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356616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D635A"/>
                </a:solidFill>
              </a:rPr>
              <a:t>declared fallback · capability.pptx = poster-frame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A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6D635A"/>
                </a:solidFill>
              </a:rPr>
              <a:t>ANIMATED-CHART-PROGRESSION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21F1C"/>
                </a:solidFill>
              </a:rPr>
              <a:t>The trend means more when the audience sees the baseline move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29260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D635A"/>
                </a:solidFill>
              </a:rPr>
              <a:t>22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2011680"/>
            <a:ext cx="78638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21F1C"/>
                </a:solidFill>
              </a:rPr>
              <a:t>Web-only motion. PowerPoint receives the declared static fallback state as a poster frame plus a storyboard caption.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356616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D635A"/>
                </a:solidFill>
              </a:rPr>
              <a:t>declared fallback · capability.pptx = poster-frame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A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6D635A"/>
                </a:solidFill>
              </a:rPr>
              <a:t>FULL-BLEED-EDITORIAL-IMAGE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21F1C"/>
                </a:solidFill>
              </a:rPr>
              <a:t>A visual story can lead with atmosphere and still preserve proof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29260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D635A"/>
                </a:solidFill>
              </a:rPr>
              <a:t>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1920240"/>
            <a:ext cx="78638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21F1C"/>
                </a:solidFill>
              </a:rPr>
              <a:t>A visual story can lead with atmosphere and still preserve proof</a:t>
            </a:r>
            <a:endParaRPr lang="en-US" sz="2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A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6D635A"/>
                </a:solidFill>
              </a:rPr>
              <a:t>PRODUCT-EVIDENCE.SCREENSHOT-CALLOUTS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21F1C"/>
                </a:solidFill>
              </a:rPr>
              <a:t>The product proof is the interface people actually use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29260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D635A"/>
                </a:solidFill>
              </a:rPr>
              <a:t>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2011680"/>
            <a:ext cx="78638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21F1C"/>
                </a:solidFill>
              </a:rPr>
              <a:t>Asset-bound capture. PowerPoint receives the captured image as a poster frame; no live region highlight.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356616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D635A"/>
                </a:solidFill>
              </a:rPr>
              <a:t>declared fallback · capability.pptx = poster-frame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A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6D635A"/>
                </a:solidFill>
              </a:rPr>
              <a:t>PRODUCT-EVIDENCE.INTERACTION-CLIP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21F1C"/>
                </a:solidFill>
              </a:rPr>
              <a:t>One bounded interaction carries the story from selection to receipt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29260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D635A"/>
                </a:solidFill>
              </a:rPr>
              <a:t>25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2011680"/>
            <a:ext cx="78638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21F1C"/>
                </a:solidFill>
              </a:rPr>
              <a:t>Web-only motion. PowerPoint receives the declared static fallback state as a poster frame plus a storyboard caption.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356616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D635A"/>
                </a:solidFill>
              </a:rPr>
              <a:t>declared fallback · capability.pptx = poster-frame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A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6D635A"/>
                </a:solidFill>
              </a:rPr>
              <a:t>PROGRESSION.BEFORE-AFTER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21F1C"/>
                </a:solidFill>
              </a:rPr>
              <a:t>Review transforms a rough generation into a governed workspace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29260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D635A"/>
                </a:solidFill>
              </a:rPr>
              <a:t>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2011680"/>
            <a:ext cx="78638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21F1C"/>
                </a:solidFill>
              </a:rPr>
              <a:t>Asset-bound capture. PowerPoint receives the captured image as a poster frame; no live region highlight.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356616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D635A"/>
                </a:solidFill>
              </a:rPr>
              <a:t>declared fallback · capability.pptx = poster-frame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A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6D635A"/>
                </a:solidFill>
              </a:rPr>
              <a:t>SPATIAL-SCENE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21F1C"/>
                </a:solidFill>
              </a:rPr>
              <a:t>The canvas can move from whole system to exact evidence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29260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D635A"/>
                </a:solidFill>
              </a:rPr>
              <a:t>27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2011680"/>
            <a:ext cx="78638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21F1C"/>
                </a:solidFill>
              </a:rPr>
              <a:t>Web-only spatial scene. PowerPoint receives a poster frame of the primary viewport.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356616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D635A"/>
                </a:solidFill>
              </a:rPr>
              <a:t>declared fallback · capability.pptx = poster-frame</a:t>
            </a:r>
            <a:endParaRPr lang="en-US" sz="11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A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6D635A"/>
                </a:solidFill>
              </a:rPr>
              <a:t>PRODUCT-EVIDENCE.CLAIM-LINEAGE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21F1C"/>
                </a:solidFill>
              </a:rPr>
              <a:t>A claim is trustworthy when its entire path remains inspectable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29260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D635A"/>
                </a:solidFill>
              </a:rPr>
              <a:t>28</a:t>
            </a:r>
            <a:endParaRPr lang="en-US" sz="1000" dirty="0"/>
          </a:p>
        </p:txBody>
      </p:sp>
      <p:sp>
        <p:nvSpPr>
          <p:cNvPr id="5" name="node-source"/>
          <p:cNvSpPr/>
          <p:nvPr/>
        </p:nvSpPr>
        <p:spPr>
          <a:xfrm>
            <a:off x="2133600" y="2194560"/>
            <a:ext cx="1371600" cy="822960"/>
          </a:xfrm>
          <a:prstGeom prst="roundRect">
            <a:avLst/>
          </a:prstGeom>
          <a:solidFill>
            <a:srgbClr val="FDFCFA"/>
          </a:solidFill>
          <a:ln w="19050">
            <a:solidFill>
              <a:srgbClr val="C76D5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133600" y="219456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21F1C"/>
                </a:solidFill>
              </a:rPr>
              <a:t>source</a:t>
            </a:r>
            <a:endParaRPr lang="en-US" sz="1400" dirty="0"/>
          </a:p>
        </p:txBody>
      </p:sp>
      <p:sp>
        <p:nvSpPr>
          <p:cNvPr id="7" name="node-output"/>
          <p:cNvSpPr/>
          <p:nvPr/>
        </p:nvSpPr>
        <p:spPr>
          <a:xfrm>
            <a:off x="5638800" y="2194560"/>
            <a:ext cx="1371600" cy="822960"/>
          </a:xfrm>
          <a:prstGeom prst="roundRect">
            <a:avLst/>
          </a:prstGeom>
          <a:solidFill>
            <a:srgbClr val="FDFCFA"/>
          </a:solidFill>
          <a:ln w="19050">
            <a:solidFill>
              <a:srgbClr val="C76D5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638800" y="219456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21F1C"/>
                </a:solidFill>
              </a:rPr>
              <a:t>output</a:t>
            </a:r>
            <a:endParaRPr lang="en-US" sz="1400" dirty="0"/>
          </a:p>
        </p:txBody>
      </p:sp>
      <p:cxnSp>
        <p:nvCxnSpPr>
          <p:cNvPr id="9" name="edge-source-output"/>
          <p:cNvCxnSpPr>
            <a:stCxn id="5" idx="3"/>
            <a:endCxn id="7" idx="1"/>
          </p:cNvCxnSpPr>
          <p:nvPr/>
        </p:nvCxnSpPr>
        <p:spPr>
          <a:xfrm>
            <a:off x="3505200" y="2606040"/>
            <a:ext cx="2133600" cy="1"/>
          </a:xfrm>
          <a:prstGeom prst="straightConnector1">
            <a:avLst/>
          </a:prstGeom>
          <a:ln w="19050">
            <a:solidFill>
              <a:srgbClr val="221F1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A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6D635A"/>
                </a:solidFill>
              </a:rPr>
              <a:t>PRODUCT-EVIDENCE.CITATION-CARD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21F1C"/>
                </a:solidFill>
              </a:rPr>
              <a:t>Citation quality depends on the exact source region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29260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D635A"/>
                </a:solidFill>
              </a:rPr>
              <a:t>29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2011680"/>
            <a:ext cx="78638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21F1C"/>
                </a:solidFill>
              </a:rPr>
              <a:t>Asset-bound capture. PowerPoint receives the captured image as a poster frame; no live region highlight.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356616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D635A"/>
                </a:solidFill>
              </a:rPr>
              <a:t>declared fallback · capability.pptx = poster-frame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A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6D635A"/>
                </a:solidFill>
              </a:rPr>
              <a:t>TECHNICAL.CODE-AND-RESULT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21F1C"/>
                </a:solidFill>
              </a:rPr>
              <a:t>Runtime claims require a reproducible benchmark receipt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29260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D635A"/>
                </a:solidFill>
              </a:rPr>
              <a:t>30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2011680"/>
            <a:ext cx="78638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21F1C"/>
                </a:solidFill>
              </a:rPr>
              <a:t>No measured runtime and no code body in the fixture (status: illustrative-not-measured). Code-plus-runtime-result is not fabricated; supply the code and a run receipt to satisfy this archetype.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356616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D635A"/>
                </a:solidFill>
              </a:rPr>
              <a:t>declared fallback · capability.pptx = unsupported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A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6D635A"/>
                </a:solidFill>
              </a:rPr>
              <a:t>TECHNICAL.TRACE-WATERFALL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21F1C"/>
                </a:solidFill>
              </a:rPr>
              <a:t>Trace anatomy is illustrative until trace and span IDs are bound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29260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D635A"/>
                </a:solidFill>
              </a:rPr>
              <a:t>31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2011680"/>
            <a:ext cx="78638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21F1C"/>
                </a:solidFill>
              </a:rPr>
              <a:t>No measured spans exist (status: illustrative-not-observed). A trace waterfall is not drawn, because rendering illustrative timing as an observed trace is a forbidden substitute. Wire a real OTel span source to satisfy this archetype.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356616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D635A"/>
                </a:solidFill>
              </a:rPr>
              <a:t>declared fallback · capability.pptx = unsupported</a:t>
            </a:r>
            <a:endParaRPr lang="en-US" sz="1100" dirty="0"/>
          </a:p>
        </p:txBody>
      </p:sp>
    </p:spTree>
  </p:cSld>
  <p:clrMapOvr>
    <a:masterClrMapping/>
  </p:clrMapOvr>
</p:sld>
</file>

<file path=ppt/slides/slide32.xml><?xml version="1.0" encoding="utf-8"?>
<p:sld xmlns:m="http://schemas.openxmlformats.org/officeDocument/2006/math"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A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6D635A"/>
                </a:solidFill>
              </a:rPr>
              <a:t>TECHNICAL.EQUATION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21F1C"/>
                </a:solidFill>
              </a:rPr>
              <a:t>The score is only useful when every symbol maps to evidence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29260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D635A"/>
                </a:solidFill>
              </a:rPr>
              <a:t>32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2011680"/>
            <a:ext cx="8229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m:oMathPara>
              <m:oMath>
                <m:f>
                  <m:num>
                    <m:r>
                      <m:t>Q</m:t>
                    </m:r>
                  </m:num>
                  <m:den>
                    <m:r>
                      <m:t>1</m:t>
                    </m:r>
                    <m:r>
                      <m:t> + </m:t>
                    </m:r>
                    <m:r>
                      <m:t>α</m:t>
                    </m:r>
                    <m:r>
                      <m:t>·</m:t>
                    </m:r>
                    <m:r>
                      <m:t>C</m:t>
                    </m:r>
                    <m:r>
                      <m:t> + </m:t>
                    </m:r>
                    <m:r>
                      <m:t>β</m:t>
                    </m:r>
                    <m:r>
                      <m:t>·</m:t>
                    </m:r>
                    <m:r>
                      <m:t>L</m:t>
                    </m:r>
                  </m:den>
                </m:f>
              </m:oMath>
            </m:oMathPara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A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6D635A"/>
                </a:solidFill>
              </a:rPr>
              <a:t>PRODUCT-EVIDENCE.DECK-CI-RECEIPT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21F1C"/>
                </a:solidFill>
              </a:rPr>
              <a:t>A deck is not done until both pixels and semantics pass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29260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D635A"/>
                </a:solidFill>
              </a:rPr>
              <a:t>33</a:t>
            </a:r>
            <a:endParaRPr lang="en-US" sz="10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63040"/>
          <a:ext cx="8229600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Field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6D5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Value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6D5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artifact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deck-ci-receipt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kind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generic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A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6D635A"/>
                </a:solidFill>
              </a:rPr>
              <a:t>DECISION.RISK-MATRIX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21F1C"/>
                </a:solidFill>
              </a:rPr>
              <a:t>Pipeline coverage is the risk that deserves action first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29260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D635A"/>
                </a:solidFill>
              </a:rPr>
              <a:t>34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463040"/>
          <a:ext cx="822960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A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6D635A"/>
                </a:solidFill>
              </a:rPr>
              <a:t>DECISION.COST-QUALITY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21F1C"/>
                </a:solidFill>
              </a:rPr>
              <a:t>Routing improves when quality, cost, and latency are judged together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29260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D635A"/>
                </a:solidFill>
              </a:rPr>
              <a:t>35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463040"/>
          <a:ext cx="822960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A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6D635A"/>
                </a:solidFill>
              </a:rPr>
              <a:t>SYSTEMS.COMPARISON-MATRIX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21F1C"/>
                </a:solidFill>
              </a:rPr>
              <a:t>Different models fail differently under the same contract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29260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D635A"/>
                </a:solidFill>
              </a:rPr>
              <a:t>36</a:t>
            </a:r>
            <a:endParaRPr lang="en-US" sz="10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63040"/>
          <a:ext cx="8229600" cy="914400"/>
        </p:xfrm>
        <a:graphic>
          <a:graphicData uri="http://schemas.openxmlformats.org/drawingml/2006/table">
            <a:tbl>
              <a:tblPr/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Cohort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6D5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quality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6D5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cost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6D5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latency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6D5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claude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1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0.00862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8.193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kimi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0.9583333333333334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0.001303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17.617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gemma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0.9583333333333334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0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17.271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nemotron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gpt-oss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ensemble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A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6D635A"/>
                </a:solidFill>
              </a:rPr>
              <a:t>SYSTEMS.COMPARISON-MATRIX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21F1C"/>
                </a:solidFill>
              </a:rPr>
              <a:t>V2 expands the harness without crediting the model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29260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D635A"/>
                </a:solidFill>
              </a:rPr>
              <a:t>37</a:t>
            </a:r>
            <a:endParaRPr lang="en-US" sz="10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63040"/>
          <a:ext cx="8229600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Cohort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6D5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artifactCoverage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6D5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v1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12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v2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38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A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6D635A"/>
                </a:solidFill>
              </a:rPr>
              <a:t>DECISION.RECOMMENDATION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21F1C"/>
                </a:solidFill>
              </a:rPr>
              <a:t>Reuse the visual vocabulary, then adapt the communication contract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29260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D635A"/>
                </a:solidFill>
              </a:rPr>
              <a:t>38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1920240"/>
            <a:ext cx="78638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21F1C"/>
                </a:solidFill>
              </a:rPr>
              <a:t>Reuse the visual vocabulary, then adapt the communication contract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38</Slides>
  <Notes>38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2026-07-23T00:40:10Z</dcterms:created>
  <dcterms:modified xsi:type="dcterms:W3CDTF">2026-07-23T00:40:10Z</dcterms:modified>
</cp:coreProperties>
</file>