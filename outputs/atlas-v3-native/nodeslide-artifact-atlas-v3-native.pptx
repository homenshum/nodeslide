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9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20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run</c:v>
                </c:pt>
              </c:strCache>
            </c:strRef>
          </c:tx>
          <c:spPr>
            <a:solidFill>
              <a:srgbClr val="C76D54"/>
            </a:solidFill>
            <a:ln w="25400" cap="flat">
              <a:solidFill>
                <a:srgbClr val="C76D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6D54"/>
              </a:solidFill>
              <a:ln w="9525" cap="flat">
                <a:solidFill>
                  <a:srgbClr val="C76D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Requested</c:v>
                  </c:pt>
                  <c:pt idx="1">
                    <c:v>Passed gates</c:v>
                  </c:pt>
                  <c:pt idx="2">
                    <c:v>Eligible</c:v>
                  </c:pt>
                  <c:pt idx="3">
                    <c:v>Model-authored</c:v>
                  </c:pt>
                  <c:pt idx="4">
                    <c:v>Human-preferred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84</c:v>
                </c:pt>
                <c:pt idx="2">
                  <c:v>82</c:v>
                </c:pt>
                <c:pt idx="3">
                  <c:v>72</c:v>
                </c:pt>
                <c:pt idx="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 run</c:v>
                </c:pt>
              </c:strCache>
            </c:strRef>
          </c:tx>
          <c:spPr>
            <a:solidFill>
              <a:srgbClr val="4F7A52"/>
            </a:solidFill>
            <a:ln w="25400" cap="flat">
              <a:solidFill>
                <a:srgbClr val="4F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7A52"/>
              </a:solidFill>
              <a:ln w="9525" cap="flat">
                <a:solidFill>
                  <a:srgbClr val="4F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Requested</c:v>
                  </c:pt>
                  <c:pt idx="1">
                    <c:v>Passed gates</c:v>
                  </c:pt>
                  <c:pt idx="2">
                    <c:v>Eligible</c:v>
                  </c:pt>
                  <c:pt idx="3">
                    <c:v>Model-authored</c:v>
                  </c:pt>
                  <c:pt idx="4">
                    <c:v>Human-preferred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</c:v>
                </c:pt>
                <c:pt idx="1">
                  <c:v>32</c:v>
                </c:pt>
                <c:pt idx="2">
                  <c:v>30</c:v>
                </c:pt>
                <c:pt idx="3">
                  <c:v>24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kimi-k3</c:v>
                </c:pt>
              </c:strCache>
            </c:strRef>
          </c:tx>
          <c:spPr>
            <a:solidFill>
              <a:srgbClr val="C76D54"/>
            </a:solidFill>
            <a:ln w="25400" cap="flat">
              <a:solidFill>
                <a:srgbClr val="C76D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6D54"/>
              </a:solidFill>
              <a:ln w="9525" cap="flat">
                <a:solidFill>
                  <a:srgbClr val="C76D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Plan</c:v>
                  </c:pt>
                  <c:pt idx="1">
                    <c:v>Compile</c:v>
                  </c:pt>
                  <c:pt idx="2">
                    <c:v>Emit</c:v>
                  </c:pt>
                  <c:pt idx="3">
                    <c:v>Inspect</c:v>
                  </c:pt>
                  <c:pt idx="4">
                    <c:v>Gate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6.2</c:v>
                </c:pt>
                <c:pt idx="1">
                  <c:v>14.8</c:v>
                </c:pt>
                <c:pt idx="2">
                  <c:v>21.1</c:v>
                </c:pt>
                <c:pt idx="3">
                  <c:v>26.4</c:v>
                </c:pt>
                <c:pt idx="4">
                  <c:v>31.9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claude-sonnet-5</c:v>
                </c:pt>
              </c:strCache>
            </c:strRef>
          </c:tx>
          <c:spPr>
            <a:solidFill>
              <a:srgbClr val="4F7A52"/>
            </a:solidFill>
            <a:ln w="25400" cap="flat">
              <a:solidFill>
                <a:srgbClr val="4F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7A52"/>
              </a:solidFill>
              <a:ln w="9525" cap="flat">
                <a:solidFill>
                  <a:srgbClr val="4F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Plan</c:v>
                  </c:pt>
                  <c:pt idx="1">
                    <c:v>Compile</c:v>
                  </c:pt>
                  <c:pt idx="2">
                    <c:v>Emit</c:v>
                  </c:pt>
                  <c:pt idx="3">
                    <c:v>Inspect</c:v>
                  </c:pt>
                  <c:pt idx="4">
                    <c:v>Gate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7.1</c:v>
                </c:pt>
                <c:pt idx="1">
                  <c:v>12.3</c:v>
                </c:pt>
                <c:pt idx="2">
                  <c:v>16.9</c:v>
                </c:pt>
                <c:pt idx="3">
                  <c:v>20.2</c:v>
                </c:pt>
                <c:pt idx="4">
                  <c:v>23.6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gemma-4-26b</c:v>
                </c:pt>
              </c:strCache>
            </c:strRef>
          </c:tx>
          <c:spPr>
            <a:solidFill>
              <a:srgbClr val="B8862A"/>
            </a:solidFill>
            <a:ln w="25400" cap="flat">
              <a:solidFill>
                <a:srgbClr val="B886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862A"/>
              </a:solidFill>
              <a:ln w="9525" cap="flat">
                <a:solidFill>
                  <a:srgbClr val="B886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Plan</c:v>
                  </c:pt>
                  <c:pt idx="1">
                    <c:v>Compile</c:v>
                  </c:pt>
                  <c:pt idx="2">
                    <c:v>Emit</c:v>
                  </c:pt>
                  <c:pt idx="3">
                    <c:v>Inspect</c:v>
                  </c:pt>
                  <c:pt idx="4">
                    <c:v>Gate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9.4</c:v>
                </c:pt>
                <c:pt idx="1">
                  <c:v>19.7</c:v>
                </c:pt>
                <c:pt idx="2">
                  <c:v>28.8</c:v>
                </c:pt>
                <c:pt idx="3">
                  <c:v>30.1</c:v>
                </c:pt>
                <c:pt idx="4">
                  <c:v>31.4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C76D54"/>
            </a:solidFill>
            <a:ln w="25400" cap="flat">
              <a:solidFill>
                <a:srgbClr val="C76D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6D54"/>
              </a:solidFill>
              <a:ln w="9525" cap="flat">
                <a:solidFill>
                  <a:srgbClr val="C76D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Q1 observed</c:v>
                  </c:pt>
                  <c:pt idx="1">
                    <c:v>Q2 observed</c:v>
                  </c:pt>
                  <c:pt idx="2">
                    <c:v>Q3 modeled</c:v>
                  </c:pt>
                  <c:pt idx="3">
                    <c:v>Q4 modeled</c:v>
                  </c:pt>
                  <c:pt idx="4">
                    <c:v>Q5 modeled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9.4</c:v>
                </c:pt>
                <c:pt idx="2">
                  <c:v>9.6</c:v>
                </c:pt>
                <c:pt idx="3">
                  <c:v>9.2</c:v>
                </c:pt>
                <c:pt idx="4">
                  <c:v>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4F7A52"/>
            </a:solidFill>
            <a:ln w="25400" cap="flat">
              <a:solidFill>
                <a:srgbClr val="4F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7A52"/>
              </a:solidFill>
              <a:ln w="9525" cap="flat">
                <a:solidFill>
                  <a:srgbClr val="4F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Q1 observed</c:v>
                  </c:pt>
                  <c:pt idx="1">
                    <c:v>Q2 observed</c:v>
                  </c:pt>
                  <c:pt idx="2">
                    <c:v>Q3 modeled</c:v>
                  </c:pt>
                  <c:pt idx="3">
                    <c:v>Q4 modeled</c:v>
                  </c:pt>
                  <c:pt idx="4">
                    <c:v>Q5 modeled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9.4</c:v>
                </c:pt>
                <c:pt idx="2">
                  <c:v>10.2</c:v>
                </c:pt>
                <c:pt idx="3">
                  <c:v>10.8</c:v>
                </c:pt>
                <c:pt idx="4">
                  <c:v>11.4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B8862A"/>
            </a:solidFill>
            <a:ln w="25400" cap="flat">
              <a:solidFill>
                <a:srgbClr val="B886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862A"/>
              </a:solidFill>
              <a:ln w="9525" cap="flat">
                <a:solidFill>
                  <a:srgbClr val="B886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Q1 observed</c:v>
                  </c:pt>
                  <c:pt idx="1">
                    <c:v>Q2 observed</c:v>
                  </c:pt>
                  <c:pt idx="2">
                    <c:v>Q3 modeled</c:v>
                  </c:pt>
                  <c:pt idx="3">
                    <c:v>Q4 modeled</c:v>
                  </c:pt>
                  <c:pt idx="4">
                    <c:v>Q5 modeled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</c:v>
                </c:pt>
                <c:pt idx="1">
                  <c:v>9.4</c:v>
                </c:pt>
                <c:pt idx="2">
                  <c:v>10.8</c:v>
                </c:pt>
                <c:pt idx="3">
                  <c:v>12</c:v>
                </c:pt>
                <c:pt idx="4">
                  <c:v>13.8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points</c:v>
                </c:pt>
              </c:strCache>
            </c:strRef>
          </c:tx>
          <c:spPr>
            <a:solidFill>
              <a:srgbClr val="C76D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86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8862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Baseline</c:v>
                  </c:pt>
                  <c:pt idx="1">
                    <c:v>Plan</c:v>
                  </c:pt>
                  <c:pt idx="2">
                    <c:v>Tools</c:v>
                  </c:pt>
                  <c:pt idx="3">
                    <c:v>Repair</c:v>
                  </c:pt>
                  <c:pt idx="4">
                    <c:v>Deck CI</c:v>
                  </c:pt>
                  <c:pt idx="5">
                    <c:v>Final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8</c:v>
                </c:pt>
                <c:pt idx="2">
                  <c:v>7</c:v>
                </c:pt>
                <c:pt idx="3">
                  <c:v>5</c:v>
                </c:pt>
                <c:pt idx="4">
                  <c:v>4</c:v>
                </c:pt>
                <c:pt idx="5">
                  <c:v>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 (% of max candidate count)</c:v>
                </c:pt>
              </c:strCache>
            </c:strRef>
          </c:tx>
          <c:spPr>
            <a:solidFill>
              <a:srgbClr val="C76D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86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0-8s</c:v>
                  </c:pt>
                  <c:pt idx="1">
                    <c:v>8-16s</c:v>
                  </c:pt>
                  <c:pt idx="2">
                    <c:v>16-24s</c:v>
                  </c:pt>
                  <c:pt idx="3">
                    <c:v>24-32s</c:v>
                  </c:pt>
                  <c:pt idx="4">
                    <c:v>&gt;32s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87.1</c:v>
                </c:pt>
                <c:pt idx="2">
                  <c:v>100</c:v>
                </c:pt>
                <c:pt idx="3">
                  <c:v>48.4</c:v>
                </c:pt>
                <c:pt idx="4">
                  <c:v>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arena funnel</c:v>
                </c:pt>
              </c:strCache>
            </c:strRef>
          </c:tx>
          <c:spPr>
            <a:solidFill>
              <a:srgbClr val="C76D54"/>
            </a:solidFill>
            <a:ln w="25400" cap="flat">
              <a:solidFill>
                <a:srgbClr val="C76D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6D54"/>
              </a:solidFill>
              <a:ln w="9525" cap="flat">
                <a:solidFill>
                  <a:srgbClr val="C76D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Requested</c:v>
                  </c:pt>
                  <c:pt idx="1">
                    <c:v>Planned</c:v>
                  </c:pt>
                  <c:pt idx="2">
                    <c:v>Compiled</c:v>
                  </c:pt>
                  <c:pt idx="3">
                    <c:v>Exported</c:v>
                  </c:pt>
                  <c:pt idx="4">
                    <c:v>Gate-clean</c:v>
                  </c:pt>
                  <c:pt idx="5">
                    <c:v>Eligible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84</c:v>
                </c:pt>
                <c:pt idx="2">
                  <c:v>84</c:v>
                </c:pt>
                <c:pt idx="3">
                  <c:v>84</c:v>
                </c:pt>
                <c:pt idx="4">
                  <c:v>84</c:v>
                </c:pt>
                <c:pt idx="5">
                  <c:v>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(day)</c:v>
                </c:pt>
              </c:strCache>
            </c:strRef>
          </c:tx>
          <c:spPr>
            <a:solidFill>
              <a:srgbClr val="C76D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86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cat>
            <c:numRef>
              <c:f>Sheet1!$A$2:$A$6</c:f>
              <c:numCache>
                <c:formatCode>yyyy-mm-dd</c:formatCode>
                <c:ptCount val="5"/>
                <c:pt idx="0">
                  <c:v>46024</c:v>
                </c:pt>
                <c:pt idx="1">
                  <c:v>46026</c:v>
                </c:pt>
                <c:pt idx="2">
                  <c:v>46029</c:v>
                </c:pt>
                <c:pt idx="3">
                  <c:v>46032</c:v>
                </c:pt>
                <c:pt idx="4">
                  <c:v>46034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dateAx>
        <c:axId val="2094734554"/>
        <c:scaling>
          <c:orientation val="minMax"/>
        </c:scaling>
        <c:delete val="0"/>
        <c:axPos val="b"/>
        <c:numFmt formatCode="yyyy-mm-dd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baseTimeUnit val="days"/>
      </c:date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(week)</c:v>
                </c:pt>
              </c:strCache>
            </c:strRef>
          </c:tx>
          <c:spPr>
            <a:solidFill>
              <a:srgbClr val="C76D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86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cat>
            <c:numRef>
              <c:f>Sheet1!$A$2:$A$6</c:f>
              <c:numCache>
                <c:formatCode>yyyy-mm-dd</c:formatCode>
                <c:ptCount val="5"/>
                <c:pt idx="0">
                  <c:v>46030</c:v>
                </c:pt>
                <c:pt idx="1">
                  <c:v>46037</c:v>
                </c:pt>
                <c:pt idx="2">
                  <c:v>46044</c:v>
                </c:pt>
                <c:pt idx="3">
                  <c:v>46044</c:v>
                </c:pt>
                <c:pt idx="4">
                  <c:v>46065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dateAx>
        <c:axId val="2094734554"/>
        <c:scaling>
          <c:orientation val="minMax"/>
        </c:scaling>
        <c:delete val="0"/>
        <c:axPos val="b"/>
        <c:numFmt formatCode="yyyy-mm-dd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baseTimeUnit val="days"/>
      </c:date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likelihood</c:v>
                </c:pt>
              </c:strCache>
            </c:strRef>
          </c:tx>
          <c:spPr>
            <a:solidFill>
              <a:srgbClr val="C76D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pipeline</c:v>
                  </c:pt>
                  <c:pt idx="1">
                    <c:v>capacity</c:v>
                  </c:pt>
                  <c:pt idx="2">
                    <c:v>retention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impact</c:v>
                </c:pt>
              </c:strCache>
            </c:strRef>
          </c:tx>
          <c:spPr>
            <a:solidFill>
              <a:srgbClr val="4F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pipeline</c:v>
                  </c:pt>
                  <c:pt idx="1">
                    <c:v>capacity</c:v>
                  </c:pt>
                  <c:pt idx="2">
                    <c:v>retention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 (% of max eligible fraction)</c:v>
                </c:pt>
              </c:strCache>
            </c:strRef>
          </c:tx>
          <c:spPr>
            <a:solidFill>
              <a:srgbClr val="C76D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claude</c:v>
                  </c:pt>
                  <c:pt idx="1">
                    <c:v>kimi</c:v>
                  </c:pt>
                  <c:pt idx="2">
                    <c:v>gemma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95.8</c:v>
                </c:pt>
                <c:pt idx="2">
                  <c:v>95.8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(% of max USD per candidate)</c:v>
                </c:pt>
              </c:strCache>
            </c:strRef>
          </c:tx>
          <c:spPr>
            <a:solidFill>
              <a:srgbClr val="4F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claude</c:v>
                  </c:pt>
                  <c:pt idx="1">
                    <c:v>kimi</c:v>
                  </c:pt>
                  <c:pt idx="2">
                    <c:v>gemma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15.1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latency (% of max seconds)</c:v>
                </c:pt>
              </c:strCache>
            </c:strRef>
          </c:tx>
          <c:spPr>
            <a:solidFill>
              <a:srgbClr val="B886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claude</c:v>
                  </c:pt>
                  <c:pt idx="1">
                    <c:v>kimi</c:v>
                  </c:pt>
                  <c:pt idx="2">
                    <c:v>gemma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46.5</c:v>
                </c:pt>
                <c:pt idx="1">
                  <c:v>100</c:v>
                </c:pt>
                <c:pt idx="2">
                  <c:v>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omenShum/NodeSlide/pull/52" TargetMode="External"/><Relationship Id="rId2" Type="http://schemas.openxmlformats.org/officeDocument/2006/relationships/hyperlink" Target="https://github.com/HomenShum/parity-studio/pull/6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learn.microsoft.com/openspecs/office_standards/ms-oi29500/" TargetMode="External"/><Relationship Id="rId2" Type="http://schemas.openxmlformats.org/officeDocument/2006/relationships/image" Target="../media/image-29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omenShum/NodeSlide/pull/52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omenShum/NodeSlide/action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NARRATIVE.HERO-THESIS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Reviewability turns generation into a product decision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1F1C"/>
                </a:solidFill>
              </a:rPr>
              <a:t>One evidence-bounded thesis anchors the complete visual vocabulary.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NARRATIVE.SECTION-OPENER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A museum needs chapters, not a wall of thumbnails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1F1C"/>
                </a:solidFill>
              </a:rPr>
              <a:t>Seven chapters organize artifacts by the job they perform for an audience.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NARRATIVE.BIG-METRIC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82 of 84 candidates cleared browser and PowerPoint proof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1F1C"/>
                </a:solidFill>
              </a:rPr>
              <a:t>The headline metric stays tied to the frozen Arena receipt instead of becoming marketing shorthand.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NARRATIVE.QUOTE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useful promise is editable evidence, not instant polish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1F1C"/>
                </a:solidFill>
              </a:rPr>
              <a:t>A customer-voice treatment demonstrates editorial rhythm without inventing a customer.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PROGRESSION.BEFORE-AFTER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harness removes clutter before it adds decoration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5</a:t>
            </a:r>
            <a:endParaRPr lang="en-US" sz="1000" dirty="0"/>
          </a:p>
        </p:txBody>
      </p:sp>
      <p:pic>
        <p:nvPicPr>
          <p:cNvPr id="5" name="Image 0" descr="Screenshot of the NodeSlide workspace in light theme (before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931920" cy="2201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619195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Before · light</a:t>
            </a:r>
            <a:endParaRPr lang="en-US" sz="1100" dirty="0"/>
          </a:p>
        </p:txBody>
      </p:sp>
      <p:pic>
        <p:nvPicPr>
          <p:cNvPr id="7" name="Image 1" descr="Screenshot of the NodeSlide workspace in dark theme (after)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371600"/>
            <a:ext cx="3931920" cy="2201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3619195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After · dark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DATA.KPI-STRIP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operating verdict should scan in under five seconds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DATA.MULTI-SERIES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Direct labels make divergence visible without inventing a cause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DATA.UNCERTAINTY-RANGE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A forecast is more credible when its range is impossible to miss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DATA.WATERFALL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Harness gains come from several small controls, not one magic prompt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9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DATA.DISTRIBUTION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best route sits on a frontier, not at one universal optimum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10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DATA.TABLE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Dense tables stay readable when hierarchy does the filtering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Archetypes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Distinct artifacts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Native objects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Declared fallback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Narrative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Data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Systems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Progression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Product evidence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Technical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DATA.FUNNEL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A dashboard can be dense without becoming a card graveyard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portable protocol keeps product logic above backend choice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node-brief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brief</a:t>
            </a:r>
            <a:endParaRPr lang="en-US" sz="1400" dirty="0"/>
          </a:p>
        </p:txBody>
      </p:sp>
      <p:sp>
        <p:nvSpPr>
          <p:cNvPr id="7" name="node-planner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planner</a:t>
            </a:r>
            <a:endParaRPr lang="en-US" sz="1400" dirty="0"/>
          </a:p>
        </p:txBody>
      </p:sp>
      <p:sp>
        <p:nvSpPr>
          <p:cNvPr id="9" name="node-artifact-compiler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artifact-compiler</a:t>
            </a:r>
            <a:endParaRPr lang="en-US" sz="1400" dirty="0"/>
          </a:p>
        </p:txBody>
      </p:sp>
      <p:sp>
        <p:nvSpPr>
          <p:cNvPr id="11" name="node-ooxml-emitter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ooxml-emitter</a:t>
            </a:r>
            <a:endParaRPr lang="en-US" sz="1400" dirty="0"/>
          </a:p>
        </p:txBody>
      </p:sp>
      <p:sp>
        <p:nvSpPr>
          <p:cNvPr id="13" name="node-deck-ci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deck-ci</a:t>
            </a:r>
            <a:endParaRPr lang="en-US" sz="1400" dirty="0"/>
          </a:p>
        </p:txBody>
      </p:sp>
      <p:cxnSp>
        <p:nvCxnSpPr>
          <p:cNvPr id="15" name="edge-brief-planner"/>
          <p:cNvCxnSpPr>
            <a:stCxn id="5" idx="3"/>
            <a:endCxn id="7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-planner-artifact-compiler"/>
          <p:cNvCxnSpPr>
            <a:stCxn id="7" idx="3"/>
            <a:endCxn id="9" idx="1"/>
          </p:cNvCxnSpPr>
          <p:nvPr/>
        </p:nvCxnSpPr>
        <p:spPr>
          <a:xfrm>
            <a:off x="36576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-artifact-compiler-ooxml-emitter"/>
          <p:cNvCxnSpPr>
            <a:stCxn id="9" idx="3"/>
            <a:endCxn id="11" idx="1"/>
          </p:cNvCxnSpPr>
          <p:nvPr/>
        </p:nvCxnSpPr>
        <p:spPr>
          <a:xfrm>
            <a:off x="52578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dge-ooxml-emitter-deck-ci"/>
          <p:cNvCxnSpPr>
            <a:stCxn id="11" idx="3"/>
            <a:endCxn id="13" idx="1"/>
          </p:cNvCxnSpPr>
          <p:nvPr/>
        </p:nvCxnSpPr>
        <p:spPr>
          <a:xfrm>
            <a:off x="68580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SYSTEMS.SEQUENCE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Review custody is visible at every handoff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node-author"/>
          <p:cNvSpPr/>
          <p:nvPr/>
        </p:nvSpPr>
        <p:spPr>
          <a:xfrm>
            <a:off x="14859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59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author</a:t>
            </a:r>
            <a:endParaRPr lang="en-US" sz="1400" dirty="0"/>
          </a:p>
        </p:txBody>
      </p:sp>
      <p:sp>
        <p:nvSpPr>
          <p:cNvPr id="7" name="node-agent"/>
          <p:cNvSpPr/>
          <p:nvPr/>
        </p:nvSpPr>
        <p:spPr>
          <a:xfrm>
            <a:off x="30861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861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agent</a:t>
            </a:r>
            <a:endParaRPr lang="en-US" sz="1400" dirty="0"/>
          </a:p>
        </p:txBody>
      </p:sp>
      <p:sp>
        <p:nvSpPr>
          <p:cNvPr id="9" name="node-reviewer"/>
          <p:cNvSpPr/>
          <p:nvPr/>
        </p:nvSpPr>
        <p:spPr>
          <a:xfrm>
            <a:off x="46863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63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reviewer</a:t>
            </a:r>
            <a:endParaRPr lang="en-US" sz="1400" dirty="0"/>
          </a:p>
        </p:txBody>
      </p:sp>
      <p:sp>
        <p:nvSpPr>
          <p:cNvPr id="11" name="node-countersign"/>
          <p:cNvSpPr/>
          <p:nvPr/>
        </p:nvSpPr>
        <p:spPr>
          <a:xfrm>
            <a:off x="62865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865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countersign</a:t>
            </a:r>
            <a:endParaRPr lang="en-US" sz="1400" dirty="0"/>
          </a:p>
        </p:txBody>
      </p:sp>
      <p:cxnSp>
        <p:nvCxnSpPr>
          <p:cNvPr id="13" name="edge-author-agent"/>
          <p:cNvCxnSpPr>
            <a:stCxn id="5" idx="3"/>
            <a:endCxn id="7" idx="1"/>
          </p:cNvCxnSpPr>
          <p:nvPr/>
        </p:nvCxnSpPr>
        <p:spPr>
          <a:xfrm>
            <a:off x="28575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dge-agent-reviewer"/>
          <p:cNvCxnSpPr>
            <a:stCxn id="7" idx="3"/>
            <a:endCxn id="9" idx="1"/>
          </p:cNvCxnSpPr>
          <p:nvPr/>
        </p:nvCxnSpPr>
        <p:spPr>
          <a:xfrm>
            <a:off x="44577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dge-reviewer-countersign"/>
          <p:cNvCxnSpPr>
            <a:stCxn id="9" idx="3"/>
            <a:endCxn id="11" idx="1"/>
          </p:cNvCxnSpPr>
          <p:nvPr/>
        </p:nvCxnSpPr>
        <p:spPr>
          <a:xfrm>
            <a:off x="60579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SYSTEMS.NODE-EDGE-GRAPH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Better receipts reinforce trust; unchecked complexity pushes back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node-receipt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receipt</a:t>
            </a:r>
            <a:endParaRPr lang="en-US" sz="1400" dirty="0"/>
          </a:p>
        </p:txBody>
      </p:sp>
      <p:sp>
        <p:nvSpPr>
          <p:cNvPr id="7" name="node-trust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trust</a:t>
            </a:r>
            <a:endParaRPr lang="en-US" sz="1400" dirty="0"/>
          </a:p>
        </p:txBody>
      </p:sp>
      <p:sp>
        <p:nvSpPr>
          <p:cNvPr id="9" name="node-reuse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reuse</a:t>
            </a:r>
            <a:endParaRPr lang="en-US" sz="1400" dirty="0"/>
          </a:p>
        </p:txBody>
      </p:sp>
      <p:sp>
        <p:nvSpPr>
          <p:cNvPr id="11" name="node-signal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signal</a:t>
            </a:r>
            <a:endParaRPr lang="en-US" sz="1400" dirty="0"/>
          </a:p>
        </p:txBody>
      </p:sp>
      <p:sp>
        <p:nvSpPr>
          <p:cNvPr id="13" name="node-complexity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complexity</a:t>
            </a:r>
            <a:endParaRPr lang="en-US" sz="1400" dirty="0"/>
          </a:p>
        </p:txBody>
      </p:sp>
      <p:cxnSp>
        <p:nvCxnSpPr>
          <p:cNvPr id="15" name="edge-receipt-trust"/>
          <p:cNvCxnSpPr>
            <a:stCxn id="5" idx="3"/>
            <a:endCxn id="7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-trust-reuse"/>
          <p:cNvCxnSpPr>
            <a:stCxn id="7" idx="3"/>
            <a:endCxn id="9" idx="1"/>
          </p:cNvCxnSpPr>
          <p:nvPr/>
        </p:nvCxnSpPr>
        <p:spPr>
          <a:xfrm>
            <a:off x="36576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-reuse-signal"/>
          <p:cNvCxnSpPr>
            <a:stCxn id="9" idx="3"/>
            <a:endCxn id="11" idx="1"/>
          </p:cNvCxnSpPr>
          <p:nvPr/>
        </p:nvCxnSpPr>
        <p:spPr>
          <a:xfrm>
            <a:off x="52578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dge-signal-receipt"/>
          <p:cNvCxnSpPr>
            <a:stCxn id="11" idx="3"/>
            <a:endCxn id="5" idx="1"/>
          </p:cNvCxnSpPr>
          <p:nvPr/>
        </p:nvCxnSpPr>
        <p:spPr>
          <a:xfrm>
            <a:off x="6858000" y="2606040"/>
            <a:ext cx="1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dge-reuse-complexity"/>
          <p:cNvCxnSpPr>
            <a:stCxn id="9" idx="3"/>
            <a:endCxn id="13" idx="1"/>
          </p:cNvCxnSpPr>
          <p:nvPr/>
        </p:nvCxnSpPr>
        <p:spPr>
          <a:xfrm>
            <a:off x="5257800" y="2606040"/>
            <a:ext cx="18288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dge-complexity-trust"/>
          <p:cNvCxnSpPr>
            <a:stCxn id="13" idx="3"/>
            <a:endCxn id="7" idx="1"/>
          </p:cNvCxnSpPr>
          <p:nvPr/>
        </p:nvCxnSpPr>
        <p:spPr>
          <a:xfrm>
            <a:off x="8458200" y="2606040"/>
            <a:ext cx="1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SYSTEMS.NODE-EDGE-GRAPH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Every visual can retain the path from source to slide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node-source-a"/>
          <p:cNvSpPr/>
          <p:nvPr/>
        </p:nvSpPr>
        <p:spPr>
          <a:xfrm>
            <a:off x="457200" y="2194560"/>
            <a:ext cx="828675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8286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1F1C"/>
                </a:solidFill>
              </a:rPr>
              <a:t>Source A</a:t>
            </a:r>
            <a:endParaRPr lang="en-US" sz="1000" dirty="0"/>
          </a:p>
        </p:txBody>
      </p:sp>
      <p:sp>
        <p:nvSpPr>
          <p:cNvPr id="7" name="node-source-b"/>
          <p:cNvSpPr/>
          <p:nvPr/>
        </p:nvSpPr>
        <p:spPr>
          <a:xfrm>
            <a:off x="1514475" y="2194560"/>
            <a:ext cx="828675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4475" y="2194560"/>
            <a:ext cx="8286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1F1C"/>
                </a:solidFill>
              </a:rPr>
              <a:t>Source B</a:t>
            </a:r>
            <a:endParaRPr lang="en-US" sz="1000" dirty="0"/>
          </a:p>
        </p:txBody>
      </p:sp>
      <p:sp>
        <p:nvSpPr>
          <p:cNvPr id="9" name="node-source-c"/>
          <p:cNvSpPr/>
          <p:nvPr/>
        </p:nvSpPr>
        <p:spPr>
          <a:xfrm>
            <a:off x="2571750" y="2194560"/>
            <a:ext cx="828675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1750" y="2194560"/>
            <a:ext cx="8286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1F1C"/>
                </a:solidFill>
              </a:rPr>
              <a:t>Source C</a:t>
            </a:r>
            <a:endParaRPr lang="en-US" sz="1000" dirty="0"/>
          </a:p>
        </p:txBody>
      </p:sp>
      <p:sp>
        <p:nvSpPr>
          <p:cNvPr id="11" name="node-claims"/>
          <p:cNvSpPr/>
          <p:nvPr/>
        </p:nvSpPr>
        <p:spPr>
          <a:xfrm>
            <a:off x="3629025" y="2194560"/>
            <a:ext cx="828675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9025" y="2194560"/>
            <a:ext cx="8286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1F1C"/>
                </a:solidFill>
              </a:rPr>
              <a:t>Claims</a:t>
            </a:r>
            <a:endParaRPr lang="en-US" sz="1000" dirty="0"/>
          </a:p>
        </p:txBody>
      </p:sp>
      <p:sp>
        <p:nvSpPr>
          <p:cNvPr id="13" name="node-rejections"/>
          <p:cNvSpPr/>
          <p:nvPr/>
        </p:nvSpPr>
        <p:spPr>
          <a:xfrm>
            <a:off x="4686300" y="2194560"/>
            <a:ext cx="828675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6300" y="2194560"/>
            <a:ext cx="8286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1F1C"/>
                </a:solidFill>
              </a:rPr>
              <a:t>Rejections</a:t>
            </a:r>
            <a:endParaRPr lang="en-US" sz="1000" dirty="0"/>
          </a:p>
        </p:txBody>
      </p:sp>
      <p:sp>
        <p:nvSpPr>
          <p:cNvPr id="15" name="node-charts"/>
          <p:cNvSpPr/>
          <p:nvPr/>
        </p:nvSpPr>
        <p:spPr>
          <a:xfrm>
            <a:off x="5743575" y="2194560"/>
            <a:ext cx="828675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3575" y="2194560"/>
            <a:ext cx="8286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1F1C"/>
                </a:solidFill>
              </a:rPr>
              <a:t>Charts</a:t>
            </a:r>
            <a:endParaRPr lang="en-US" sz="1000" dirty="0"/>
          </a:p>
        </p:txBody>
      </p:sp>
      <p:sp>
        <p:nvSpPr>
          <p:cNvPr id="17" name="node-diagrams"/>
          <p:cNvSpPr/>
          <p:nvPr/>
        </p:nvSpPr>
        <p:spPr>
          <a:xfrm>
            <a:off x="6800850" y="2194560"/>
            <a:ext cx="828675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0850" y="2194560"/>
            <a:ext cx="8286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1F1C"/>
                </a:solidFill>
              </a:rPr>
              <a:t>Diagrams</a:t>
            </a:r>
            <a:endParaRPr lang="en-US" sz="1000" dirty="0"/>
          </a:p>
        </p:txBody>
      </p:sp>
      <p:sp>
        <p:nvSpPr>
          <p:cNvPr id="19" name="node-proof"/>
          <p:cNvSpPr/>
          <p:nvPr/>
        </p:nvSpPr>
        <p:spPr>
          <a:xfrm>
            <a:off x="7858125" y="2194560"/>
            <a:ext cx="828675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58125" y="2194560"/>
            <a:ext cx="8286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1F1C"/>
                </a:solidFill>
              </a:rPr>
              <a:t>Proof</a:t>
            </a:r>
            <a:endParaRPr lang="en-US" sz="1000" dirty="0"/>
          </a:p>
        </p:txBody>
      </p:sp>
      <p:cxnSp>
        <p:nvCxnSpPr>
          <p:cNvPr id="21" name="edge-source-a-claims"/>
          <p:cNvCxnSpPr>
            <a:stCxn id="5" idx="3"/>
            <a:endCxn id="11" idx="1"/>
          </p:cNvCxnSpPr>
          <p:nvPr/>
        </p:nvCxnSpPr>
        <p:spPr>
          <a:xfrm>
            <a:off x="1285875" y="2606040"/>
            <a:ext cx="234315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dge-source-b-claims"/>
          <p:cNvCxnSpPr>
            <a:stCxn id="7" idx="3"/>
            <a:endCxn id="11" idx="1"/>
          </p:cNvCxnSpPr>
          <p:nvPr/>
        </p:nvCxnSpPr>
        <p:spPr>
          <a:xfrm>
            <a:off x="2343150" y="2606040"/>
            <a:ext cx="1285875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dge-source-c-claims"/>
          <p:cNvCxnSpPr>
            <a:stCxn id="9" idx="3"/>
            <a:endCxn id="11" idx="1"/>
          </p:cNvCxnSpPr>
          <p:nvPr/>
        </p:nvCxnSpPr>
        <p:spPr>
          <a:xfrm>
            <a:off x="3400425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dge-source-c-rejections"/>
          <p:cNvCxnSpPr>
            <a:stCxn id="9" idx="3"/>
            <a:endCxn id="13" idx="1"/>
          </p:cNvCxnSpPr>
          <p:nvPr/>
        </p:nvCxnSpPr>
        <p:spPr>
          <a:xfrm>
            <a:off x="3400425" y="2606040"/>
            <a:ext cx="1285875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dge-source-a-rejections"/>
          <p:cNvCxnSpPr>
            <a:stCxn id="5" idx="3"/>
            <a:endCxn id="13" idx="1"/>
          </p:cNvCxnSpPr>
          <p:nvPr/>
        </p:nvCxnSpPr>
        <p:spPr>
          <a:xfrm>
            <a:off x="1285875" y="2606040"/>
            <a:ext cx="3400425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dge-claims-charts"/>
          <p:cNvCxnSpPr>
            <a:stCxn id="11" idx="3"/>
            <a:endCxn id="15" idx="1"/>
          </p:cNvCxnSpPr>
          <p:nvPr/>
        </p:nvCxnSpPr>
        <p:spPr>
          <a:xfrm>
            <a:off x="4457700" y="2606040"/>
            <a:ext cx="1285875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dge-claims-diagrams"/>
          <p:cNvCxnSpPr>
            <a:stCxn id="11" idx="3"/>
            <a:endCxn id="17" idx="1"/>
          </p:cNvCxnSpPr>
          <p:nvPr/>
        </p:nvCxnSpPr>
        <p:spPr>
          <a:xfrm>
            <a:off x="4457700" y="2606040"/>
            <a:ext cx="234315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dge-claims-proof"/>
          <p:cNvCxnSpPr>
            <a:stCxn id="11" idx="3"/>
            <a:endCxn id="19" idx="1"/>
          </p:cNvCxnSpPr>
          <p:nvPr/>
        </p:nvCxnSpPr>
        <p:spPr>
          <a:xfrm>
            <a:off x="4457700" y="2606040"/>
            <a:ext cx="3400425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dge-rejections-diagrams"/>
          <p:cNvCxnSpPr>
            <a:stCxn id="13" idx="3"/>
            <a:endCxn id="17" idx="1"/>
          </p:cNvCxnSpPr>
          <p:nvPr/>
        </p:nvCxnSpPr>
        <p:spPr>
          <a:xfrm>
            <a:off x="5514975" y="2606040"/>
            <a:ext cx="1285875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dge-rejections-proof"/>
          <p:cNvCxnSpPr>
            <a:stCxn id="13" idx="3"/>
            <a:endCxn id="19" idx="1"/>
          </p:cNvCxnSpPr>
          <p:nvPr/>
        </p:nvCxnSpPr>
        <p:spPr>
          <a:xfrm>
            <a:off x="5514975" y="2606040"/>
            <a:ext cx="234315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SYSTEMS.HIERARCHY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Routing should spend capability only where the task needs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node-routing-budget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routing-budget</a:t>
            </a:r>
            <a:endParaRPr lang="en-US" sz="1400" dirty="0"/>
          </a:p>
        </p:txBody>
      </p:sp>
      <p:sp>
        <p:nvSpPr>
          <p:cNvPr id="7" name="node-high-capability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high-capability</a:t>
            </a:r>
            <a:endParaRPr lang="en-US" sz="1400" dirty="0"/>
          </a:p>
        </p:txBody>
      </p:sp>
      <p:sp>
        <p:nvSpPr>
          <p:cNvPr id="9" name="node-low-cost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low-cost</a:t>
            </a:r>
            <a:endParaRPr lang="en-US" sz="1400" dirty="0"/>
          </a:p>
        </p:txBody>
      </p:sp>
      <p:sp>
        <p:nvSpPr>
          <p:cNvPr id="11" name="node-kimi-k3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kimi-k3</a:t>
            </a:r>
            <a:endParaRPr lang="en-US" sz="1400" dirty="0"/>
          </a:p>
        </p:txBody>
      </p:sp>
      <p:sp>
        <p:nvSpPr>
          <p:cNvPr id="13" name="node-gemma-4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gemma-4</a:t>
            </a:r>
            <a:endParaRPr lang="en-US" sz="1400" dirty="0"/>
          </a:p>
        </p:txBody>
      </p:sp>
      <p:cxnSp>
        <p:nvCxnSpPr>
          <p:cNvPr id="15" name="edge-routing-budget-high-capability"/>
          <p:cNvCxnSpPr>
            <a:stCxn id="5" idx="3"/>
            <a:endCxn id="7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-routing-budget-low-cost"/>
          <p:cNvCxnSpPr>
            <a:stCxn id="5" idx="3"/>
            <a:endCxn id="9" idx="1"/>
          </p:cNvCxnSpPr>
          <p:nvPr/>
        </p:nvCxnSpPr>
        <p:spPr>
          <a:xfrm>
            <a:off x="2057400" y="2606040"/>
            <a:ext cx="18288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-high-capability-kimi-k3"/>
          <p:cNvCxnSpPr>
            <a:stCxn id="7" idx="3"/>
            <a:endCxn id="11" idx="1"/>
          </p:cNvCxnSpPr>
          <p:nvPr/>
        </p:nvCxnSpPr>
        <p:spPr>
          <a:xfrm>
            <a:off x="3657600" y="2606040"/>
            <a:ext cx="18288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dge-low-cost-gemma-4"/>
          <p:cNvCxnSpPr>
            <a:stCxn id="9" idx="3"/>
            <a:endCxn id="13" idx="1"/>
          </p:cNvCxnSpPr>
          <p:nvPr/>
        </p:nvCxnSpPr>
        <p:spPr>
          <a:xfrm>
            <a:off x="5257800" y="2606040"/>
            <a:ext cx="18288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SYSTEMS.NODE-EDGE-GRAPH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NodeKit connects the stack while NodeSlide proves the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18</a:t>
            </a:r>
            <a:endParaRPr lang="en-US" sz="1000" dirty="0"/>
          </a:p>
        </p:txBody>
      </p:sp>
      <p:sp>
        <p:nvSpPr>
          <p:cNvPr id="5" name="node-hub"/>
          <p:cNvSpPr/>
          <p:nvPr/>
        </p:nvSpPr>
        <p:spPr>
          <a:xfrm>
            <a:off x="6858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Hub</a:t>
            </a:r>
            <a:endParaRPr lang="en-US" sz="1400" dirty="0"/>
          </a:p>
        </p:txBody>
      </p:sp>
      <p:sp>
        <p:nvSpPr>
          <p:cNvPr id="7" name="node-americas"/>
          <p:cNvSpPr/>
          <p:nvPr/>
        </p:nvSpPr>
        <p:spPr>
          <a:xfrm>
            <a:off x="22860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Americas</a:t>
            </a:r>
            <a:endParaRPr lang="en-US" sz="1400" dirty="0"/>
          </a:p>
        </p:txBody>
      </p:sp>
      <p:sp>
        <p:nvSpPr>
          <p:cNvPr id="9" name="node-emea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EMEA</a:t>
            </a:r>
            <a:endParaRPr lang="en-US" sz="1400" dirty="0"/>
          </a:p>
        </p:txBody>
      </p:sp>
      <p:sp>
        <p:nvSpPr>
          <p:cNvPr id="11" name="node-apac"/>
          <p:cNvSpPr/>
          <p:nvPr/>
        </p:nvSpPr>
        <p:spPr>
          <a:xfrm>
            <a:off x="54864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APAC</a:t>
            </a:r>
            <a:endParaRPr lang="en-US" sz="1400" dirty="0"/>
          </a:p>
        </p:txBody>
      </p:sp>
      <p:sp>
        <p:nvSpPr>
          <p:cNvPr id="13" name="node-edge"/>
          <p:cNvSpPr/>
          <p:nvPr/>
        </p:nvSpPr>
        <p:spPr>
          <a:xfrm>
            <a:off x="70866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86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Edge</a:t>
            </a:r>
            <a:endParaRPr lang="en-US" sz="1400" dirty="0"/>
          </a:p>
        </p:txBody>
      </p:sp>
      <p:cxnSp>
        <p:nvCxnSpPr>
          <p:cNvPr id="15" name="edge-hub-americas"/>
          <p:cNvCxnSpPr>
            <a:stCxn id="5" idx="3"/>
            <a:endCxn id="7" idx="1"/>
          </p:cNvCxnSpPr>
          <p:nvPr/>
        </p:nvCxnSpPr>
        <p:spPr>
          <a:xfrm>
            <a:off x="205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-hub-emea"/>
          <p:cNvCxnSpPr>
            <a:stCxn id="5" idx="3"/>
            <a:endCxn id="9" idx="1"/>
          </p:cNvCxnSpPr>
          <p:nvPr/>
        </p:nvCxnSpPr>
        <p:spPr>
          <a:xfrm>
            <a:off x="2057400" y="2606040"/>
            <a:ext cx="18288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-hub-apac"/>
          <p:cNvCxnSpPr>
            <a:stCxn id="5" idx="3"/>
            <a:endCxn id="11" idx="1"/>
          </p:cNvCxnSpPr>
          <p:nvPr/>
        </p:nvCxnSpPr>
        <p:spPr>
          <a:xfrm>
            <a:off x="2057400" y="2606040"/>
            <a:ext cx="34290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dge-hub-edge"/>
          <p:cNvCxnSpPr>
            <a:stCxn id="5" idx="3"/>
            <a:endCxn id="13" idx="1"/>
          </p:cNvCxnSpPr>
          <p:nvPr/>
        </p:nvCxnSpPr>
        <p:spPr>
          <a:xfrm>
            <a:off x="2057400" y="2606040"/>
            <a:ext cx="50292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PROGRESSION.TIMELINE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Human approval remains the gate between experiment and harness change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19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PROGRESSION.ROADMAP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next release sequence exposes dependencies and confidence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20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PROGRESSION.SCROLLYTELLING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Evidence becomes a decision through five inspectable states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21</a:t>
            </a:r>
            <a:endParaRPr lang="en-US" sz="1000" dirty="0"/>
          </a:p>
        </p:txBody>
      </p:sp>
      <p:pic>
        <p:nvPicPr>
          <p:cNvPr id="5" name="ns:motion:evidence-scrollytelling:pinned:scene" descr="Pinned scene visual — Full-bleed screenshot of the NodeSlide workspace, captured by the 2026-07-22 baseline ru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4754880" cy="2670048"/>
          </a:xfrm>
          <a:prstGeom prst="rect">
            <a:avLst/>
          </a:prstGeom>
        </p:spPr>
      </p:pic>
      <p:sp>
        <p:nvSpPr>
          <p:cNvPr id="6" name="ns:motion:evidence-scrollytelling:state-1:source"/>
          <p:cNvSpPr/>
          <p:nvPr/>
        </p:nvSpPr>
        <p:spPr>
          <a:xfrm>
            <a:off x="5486400" y="1234440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1. source</a:t>
            </a:r>
            <a:endParaRPr lang="en-US" sz="1100" dirty="0"/>
          </a:p>
        </p:txBody>
      </p:sp>
      <p:sp>
        <p:nvSpPr>
          <p:cNvPr id="8" name="ns:motion:evidence-scrollytelling:state-2:capture"/>
          <p:cNvSpPr/>
          <p:nvPr/>
        </p:nvSpPr>
        <p:spPr>
          <a:xfrm>
            <a:off x="5486400" y="1801368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801368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2. capture</a:t>
            </a:r>
            <a:endParaRPr lang="en-US" sz="1100" dirty="0"/>
          </a:p>
        </p:txBody>
      </p:sp>
      <p:sp>
        <p:nvSpPr>
          <p:cNvPr id="10" name="ns:motion:evidence-scrollytelling:state-3:fact"/>
          <p:cNvSpPr/>
          <p:nvPr/>
        </p:nvSpPr>
        <p:spPr>
          <a:xfrm>
            <a:off x="5486400" y="2368296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368296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3. fact</a:t>
            </a:r>
            <a:endParaRPr lang="en-US" sz="1100" dirty="0"/>
          </a:p>
        </p:txBody>
      </p:sp>
      <p:sp>
        <p:nvSpPr>
          <p:cNvPr id="12" name="ns:motion:evidence-scrollytelling:state-4:claim"/>
          <p:cNvSpPr/>
          <p:nvPr/>
        </p:nvSpPr>
        <p:spPr>
          <a:xfrm>
            <a:off x="5486400" y="2935224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2935224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4. claim</a:t>
            </a:r>
            <a:endParaRPr lang="en-US" sz="1100" dirty="0"/>
          </a:p>
        </p:txBody>
      </p:sp>
      <p:sp>
        <p:nvSpPr>
          <p:cNvPr id="14" name="ns:motion:evidence-scrollytelling:state-5:slide-element"/>
          <p:cNvSpPr/>
          <p:nvPr/>
        </p:nvSpPr>
        <p:spPr>
          <a:xfrm>
            <a:off x="5486400" y="3502152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3502152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5. slide-element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5-step build sequence (transition: scrub) — each state reveals on advance over the pinned visual.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PROGRESSION.SCROLLYTELLING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trend means more when the audience sees the baseline move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22</a:t>
            </a:r>
            <a:endParaRPr lang="en-US" sz="1000" dirty="0"/>
          </a:p>
        </p:txBody>
      </p:sp>
      <p:pic>
        <p:nvPicPr>
          <p:cNvPr id="5" name="ns:motion:animated-chart-progression:pinned:scene" descr="Pinned scene visual — Full-bleed screenshot of the NodeSlide workspace, captured by the 2026-07-22 baseline ru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4754880" cy="2670048"/>
          </a:xfrm>
          <a:prstGeom prst="rect">
            <a:avLst/>
          </a:prstGeom>
        </p:spPr>
      </p:pic>
      <p:sp>
        <p:nvSpPr>
          <p:cNvPr id="6" name="ns:motion:animated-chart-progression:state-1:baseline-series"/>
          <p:cNvSpPr/>
          <p:nvPr/>
        </p:nvSpPr>
        <p:spPr>
          <a:xfrm>
            <a:off x="5486400" y="1234440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1. baseline-series — 62</a:t>
            </a:r>
            <a:endParaRPr lang="en-US" sz="1100" dirty="0"/>
          </a:p>
        </p:txBody>
      </p:sp>
      <p:sp>
        <p:nvSpPr>
          <p:cNvPr id="8" name="ns:motion:animated-chart-progression:state-2:plan-delta"/>
          <p:cNvSpPr/>
          <p:nvPr/>
        </p:nvSpPr>
        <p:spPr>
          <a:xfrm>
            <a:off x="5486400" y="1801368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801368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2. plan-delta — 68</a:t>
            </a:r>
            <a:endParaRPr lang="en-US" sz="1100" dirty="0"/>
          </a:p>
        </p:txBody>
      </p:sp>
      <p:sp>
        <p:nvSpPr>
          <p:cNvPr id="10" name="ns:motion:animated-chart-progression:state-3:measured-delta"/>
          <p:cNvSpPr/>
          <p:nvPr/>
        </p:nvSpPr>
        <p:spPr>
          <a:xfrm>
            <a:off x="5486400" y="2368296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368296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3. measured-delta — 74</a:t>
            </a:r>
            <a:endParaRPr lang="en-US" sz="1100" dirty="0"/>
          </a:p>
        </p:txBody>
      </p:sp>
      <p:sp>
        <p:nvSpPr>
          <p:cNvPr id="12" name="ns:motion:animated-chart-progression:state-4:variance-band"/>
          <p:cNvSpPr/>
          <p:nvPr/>
        </p:nvSpPr>
        <p:spPr>
          <a:xfrm>
            <a:off x="5486400" y="2935224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2935224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4. variance-band — 80</a:t>
            </a:r>
            <a:endParaRPr lang="en-US" sz="1100" dirty="0"/>
          </a:p>
        </p:txBody>
      </p:sp>
      <p:sp>
        <p:nvSpPr>
          <p:cNvPr id="14" name="ns:motion:animated-chart-progression:state-5:final-series"/>
          <p:cNvSpPr/>
          <p:nvPr/>
        </p:nvSpPr>
        <p:spPr>
          <a:xfrm>
            <a:off x="5486400" y="3502152"/>
            <a:ext cx="3200400" cy="45720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C76D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3502152"/>
            <a:ext cx="3200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1F1C"/>
                </a:solidFill>
              </a:rPr>
              <a:t>5. final-series — 86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5-step build sequence (transition: step) — each state reveals on advance over the pinned visual.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MEDIA.IMAGE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A visual story can lead with atmosphere and still preserve proof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23</a:t>
            </a:r>
            <a:endParaRPr lang="en-US" sz="1000" dirty="0"/>
          </a:p>
        </p:txBody>
      </p:sp>
      <p:pic>
        <p:nvPicPr>
          <p:cNvPr id="5" name="Image 0" descr="Full-bleed screenshot of the NodeSlide workspace, captured by the 2026-07-22 baseline ru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1371600"/>
            <a:ext cx="6035040" cy="337962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PRODUCT-EVIDENCE.SCREENSHOT-CALLOUTS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product proof is the interface people actually use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24</a:t>
            </a:r>
            <a:endParaRPr lang="en-US" sz="1000" dirty="0"/>
          </a:p>
        </p:txBody>
      </p:sp>
      <p:pic>
        <p:nvPicPr>
          <p:cNvPr id="5" name="Image 0" descr="Screenshot of the NodeSlide export capability menu captured during the 2026-07-20 production camera proo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1371600"/>
            <a:ext cx="6035040" cy="3379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6D54"/>
                </a:solidFill>
              </a:rPr>
              <a:t>1. Capability menu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6D54"/>
                </a:solidFill>
              </a:rPr>
              <a:t>2. Blocked export path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PRODUCT-EVIDENCE.INTERACTION-CLIP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One bounded interaction carries the story from selection to receipt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25</a:t>
            </a:r>
            <a:endParaRPr lang="en-US" sz="1000" dirty="0"/>
          </a:p>
        </p:txBody>
      </p:sp>
      <p:pic>
        <p:nvPicPr>
          <p:cNvPr id="5" name="ns:motion:interaction-clip:declared-static" descr="Poster frame screenshot of the blocked insert interac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1371600"/>
            <a:ext cx="6035040" cy="3379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Declared poster frame — a still is not an interaction clip.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PROGRESSION.BEFORE-AFTER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Review transforms a rough generation into a governed workspace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26</a:t>
            </a:r>
            <a:endParaRPr lang="en-US" sz="1000" dirty="0"/>
          </a:p>
        </p:txBody>
      </p:sp>
      <p:pic>
        <p:nvPicPr>
          <p:cNvPr id="5" name="Image 0" descr="Screenshot of the NodeSlide workspace in light theme (before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3931920" cy="2201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619195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Before · light</a:t>
            </a:r>
            <a:endParaRPr lang="en-US" sz="1100" dirty="0"/>
          </a:p>
        </p:txBody>
      </p:sp>
      <p:pic>
        <p:nvPicPr>
          <p:cNvPr id="7" name="Image 1" descr="Screenshot of the NodeSlide workspace in dark theme (after)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371600"/>
            <a:ext cx="3931920" cy="2201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3619195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After · dark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MEDIA.IMAGE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canvas can move from whole system to exact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27</a:t>
            </a:r>
            <a:endParaRPr lang="en-US" sz="1000" dirty="0"/>
          </a:p>
        </p:txBody>
      </p:sp>
      <p:pic>
        <p:nvPicPr>
          <p:cNvPr id="5" name="Image 0" descr="Full-bleed screenshot of the NodeSlide workspace, captured by the 2026-07-22 baseline ru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54480" y="1371600"/>
            <a:ext cx="6035040" cy="337962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PRODUCT-EVIDENCE.CLAIM-LINEAGE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A claim is trustworthy when its entire path remains inspectable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C76D54"/>
                </a:solidFill>
                <a:hlinkClick r:id="rId1" invalidUrl="" action="" tgtFrame="" tooltip="https://github.com/HomenShum/NodeSlide/pull/5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Atlas v3 shipped zero native chart parts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171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C76D54"/>
                </a:solidFill>
                <a:hlinkClick r:id="rId2" invalidUrl="" action="" tgtFrame="" tooltip="https://github.com/HomenShum/parity-studio/pull/6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topology gate that measured it</a:t>
            </a:r>
            <a:endParaRPr lang="en-US" sz="1000" dirty="0"/>
          </a:p>
        </p:txBody>
      </p:sp>
      <p:sp>
        <p:nvSpPr>
          <p:cNvPr id="7" name="node-capture"/>
          <p:cNvSpPr/>
          <p:nvPr/>
        </p:nvSpPr>
        <p:spPr>
          <a:xfrm>
            <a:off x="14859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59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capture</a:t>
            </a:r>
            <a:endParaRPr lang="en-US" sz="1400" dirty="0"/>
          </a:p>
        </p:txBody>
      </p:sp>
      <p:sp>
        <p:nvSpPr>
          <p:cNvPr id="9" name="node-extracted-fact"/>
          <p:cNvSpPr/>
          <p:nvPr/>
        </p:nvSpPr>
        <p:spPr>
          <a:xfrm>
            <a:off x="30861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861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extracted-fact</a:t>
            </a:r>
            <a:endParaRPr lang="en-US" sz="1400" dirty="0"/>
          </a:p>
        </p:txBody>
      </p:sp>
      <p:sp>
        <p:nvSpPr>
          <p:cNvPr id="11" name="node-claim"/>
          <p:cNvSpPr/>
          <p:nvPr/>
        </p:nvSpPr>
        <p:spPr>
          <a:xfrm>
            <a:off x="46863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63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claim</a:t>
            </a:r>
            <a:endParaRPr lang="en-US" sz="1400" dirty="0"/>
          </a:p>
        </p:txBody>
      </p:sp>
      <p:sp>
        <p:nvSpPr>
          <p:cNvPr id="13" name="node-slide-element"/>
          <p:cNvSpPr/>
          <p:nvPr/>
        </p:nvSpPr>
        <p:spPr>
          <a:xfrm>
            <a:off x="62865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slide-element</a:t>
            </a:r>
            <a:endParaRPr lang="en-US" sz="1400" dirty="0"/>
          </a:p>
        </p:txBody>
      </p:sp>
      <p:cxnSp>
        <p:nvCxnSpPr>
          <p:cNvPr id="15" name="edge-capture-extracted-fact"/>
          <p:cNvCxnSpPr>
            <a:stCxn id="7" idx="3"/>
            <a:endCxn id="9" idx="1"/>
          </p:cNvCxnSpPr>
          <p:nvPr/>
        </p:nvCxnSpPr>
        <p:spPr>
          <a:xfrm>
            <a:off x="28575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-extracted-fact-claim"/>
          <p:cNvCxnSpPr>
            <a:stCxn id="9" idx="3"/>
            <a:endCxn id="11" idx="1"/>
          </p:cNvCxnSpPr>
          <p:nvPr/>
        </p:nvCxnSpPr>
        <p:spPr>
          <a:xfrm>
            <a:off x="44577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-claim-slide-element"/>
          <p:cNvCxnSpPr>
            <a:stCxn id="11" idx="3"/>
            <a:endCxn id="13" idx="1"/>
          </p:cNvCxnSpPr>
          <p:nvPr/>
        </p:nvCxnSpPr>
        <p:spPr>
          <a:xfrm>
            <a:off x="60579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PRODUCT-EVIDENCE.CITATION-CARD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Citation quality depends on the exact source region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C76D54"/>
                </a:solidFill>
                <a:hlinkClick r:id="rId1" invalidUrl="" action="" tgtFrame="" tooltip="https://learn.microsoft.com/openspecs/office_standards/ms-oi29500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OOXML c:dateAx (ECMA-376 time axis)</a:t>
            </a:r>
            <a:endParaRPr lang="en-US" sz="1000" dirty="0"/>
          </a:p>
        </p:txBody>
      </p:sp>
      <p:pic>
        <p:nvPicPr>
          <p:cNvPr id="6" name="Image 0" descr="Screenshot of the parent/child trace waterfall region cited as evidenc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54480" y="1371600"/>
            <a:ext cx="6035040" cy="337962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TECHNICAL.CODE-AND-RESULT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Runtime claims require a reproducible benchmark receipt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206240" cy="3108960"/>
          </a:xfrm>
          <a:prstGeom prst="rect">
            <a:avLst/>
          </a:prstGeom>
          <a:solidFill>
            <a:srgbClr val="F4EFE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1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raw = await pptx.write("nodebuffer");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1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  = await injectOmml(raw, equations);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1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  = await injectConnectors(a, diagrams);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1F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out = await injectDateAxes(b, timelines);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463040"/>
          <a:ext cx="374904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Measured ms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pptx.write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206.925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inject.omml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23.338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inject.connectors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22.25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inject.dateAxes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18.479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inject.timing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15.56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dedupe.media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31.689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318.241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sample size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TECHNICAL.TRACE-WATERFALL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Trace anatomy is illustrative until trace and span IDs are bound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C76D54"/>
                </a:solidFill>
                <a:hlinkClick r:id="rId1" invalidUrl="" action="" tgtFrame="" tooltip="https://github.com/HomenShum/NodeSlide/pull/5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Measured build spans (build-measurements.json)</a:t>
            </a:r>
            <a:endParaRPr lang="en-US" sz="1000" dirty="0"/>
          </a:p>
        </p:txBody>
      </p:sp>
      <p:sp>
        <p:nvSpPr>
          <p:cNvPr id="6" name="node-pptx-write"/>
          <p:cNvSpPr/>
          <p:nvPr/>
        </p:nvSpPr>
        <p:spPr>
          <a:xfrm>
            <a:off x="457200" y="2194560"/>
            <a:ext cx="11811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11811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pptx.write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206.925ms</a:t>
            </a:r>
            <a:endParaRPr lang="en-US" sz="1200" dirty="0"/>
          </a:p>
        </p:txBody>
      </p:sp>
      <p:sp>
        <p:nvSpPr>
          <p:cNvPr id="8" name="node-inject-omml"/>
          <p:cNvSpPr/>
          <p:nvPr/>
        </p:nvSpPr>
        <p:spPr>
          <a:xfrm>
            <a:off x="1866900" y="2194560"/>
            <a:ext cx="11811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66900" y="2194560"/>
            <a:ext cx="11811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inject.omml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23.338ms</a:t>
            </a:r>
            <a:endParaRPr lang="en-US" sz="1200" dirty="0"/>
          </a:p>
        </p:txBody>
      </p:sp>
      <p:sp>
        <p:nvSpPr>
          <p:cNvPr id="10" name="node-inject-connectors"/>
          <p:cNvSpPr/>
          <p:nvPr/>
        </p:nvSpPr>
        <p:spPr>
          <a:xfrm>
            <a:off x="3276600" y="2194560"/>
            <a:ext cx="11811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6600" y="2194560"/>
            <a:ext cx="11811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inject.connectors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22.25ms</a:t>
            </a:r>
            <a:endParaRPr lang="en-US" sz="1200" dirty="0"/>
          </a:p>
        </p:txBody>
      </p:sp>
      <p:sp>
        <p:nvSpPr>
          <p:cNvPr id="12" name="node-inject-dateaxes"/>
          <p:cNvSpPr/>
          <p:nvPr/>
        </p:nvSpPr>
        <p:spPr>
          <a:xfrm>
            <a:off x="4686300" y="2194560"/>
            <a:ext cx="11811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6300" y="2194560"/>
            <a:ext cx="11811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inject.dateAxes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18.479ms</a:t>
            </a:r>
            <a:endParaRPr lang="en-US" sz="1200" dirty="0"/>
          </a:p>
        </p:txBody>
      </p:sp>
      <p:sp>
        <p:nvSpPr>
          <p:cNvPr id="14" name="node-inject-timing"/>
          <p:cNvSpPr/>
          <p:nvPr/>
        </p:nvSpPr>
        <p:spPr>
          <a:xfrm>
            <a:off x="6096000" y="2194560"/>
            <a:ext cx="11811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6000" y="2194560"/>
            <a:ext cx="11811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inject.timing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15.56ms</a:t>
            </a:r>
            <a:endParaRPr lang="en-US" sz="1200" dirty="0"/>
          </a:p>
        </p:txBody>
      </p:sp>
      <p:sp>
        <p:nvSpPr>
          <p:cNvPr id="16" name="node-dedupe-media"/>
          <p:cNvSpPr/>
          <p:nvPr/>
        </p:nvSpPr>
        <p:spPr>
          <a:xfrm>
            <a:off x="7505700" y="2194560"/>
            <a:ext cx="11811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5700" y="2194560"/>
            <a:ext cx="11811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dedupe.media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21F1C"/>
                </a:solidFill>
              </a:rPr>
              <a:t>31.689ms</a:t>
            </a:r>
            <a:endParaRPr lang="en-US" sz="1200" dirty="0"/>
          </a:p>
        </p:txBody>
      </p:sp>
      <p:cxnSp>
        <p:nvCxnSpPr>
          <p:cNvPr id="18" name="edge-pptx-write-inject-omml"/>
          <p:cNvCxnSpPr>
            <a:stCxn id="6" idx="3"/>
            <a:endCxn id="8" idx="1"/>
          </p:cNvCxnSpPr>
          <p:nvPr/>
        </p:nvCxnSpPr>
        <p:spPr>
          <a:xfrm>
            <a:off x="16383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dge-inject-omml-inject-connectors"/>
          <p:cNvCxnSpPr>
            <a:stCxn id="8" idx="3"/>
            <a:endCxn id="10" idx="1"/>
          </p:cNvCxnSpPr>
          <p:nvPr/>
        </p:nvCxnSpPr>
        <p:spPr>
          <a:xfrm>
            <a:off x="30480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dge-inject-connectors-inject-dateaxes"/>
          <p:cNvCxnSpPr>
            <a:stCxn id="10" idx="3"/>
            <a:endCxn id="12" idx="1"/>
          </p:cNvCxnSpPr>
          <p:nvPr/>
        </p:nvCxnSpPr>
        <p:spPr>
          <a:xfrm>
            <a:off x="44577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dge-inject-dateaxes-inject-timing"/>
          <p:cNvCxnSpPr>
            <a:stCxn id="12" idx="3"/>
            <a:endCxn id="14" idx="1"/>
          </p:cNvCxnSpPr>
          <p:nvPr/>
        </p:nvCxnSpPr>
        <p:spPr>
          <a:xfrm>
            <a:off x="58674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dge-inject-timing-dedupe-media"/>
          <p:cNvCxnSpPr>
            <a:stCxn id="14" idx="3"/>
            <a:endCxn id="16" idx="1"/>
          </p:cNvCxnSpPr>
          <p:nvPr/>
        </p:nvCxnSpPr>
        <p:spPr>
          <a:xfrm>
            <a:off x="7277100" y="2606040"/>
            <a:ext cx="2286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m="http://schemas.openxmlformats.org/officeDocument/2006/math" xmlns:a14="http://schemas.microsoft.com/office/drawing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mc:Ignorable="a14">
  <p:cSld name="Slide 3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TECHNICAL.EQUATION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The score is only useful when every symbol maps to evidence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14:m>
              <m:oMathPara>
                <m:oMath>
                  <m:f>
                    <m:num>
                      <m:r>
                        <m:t>Q</m:t>
                      </m:r>
                    </m:num>
                    <m:den>
                      <m:r>
                        <m:t>1</m:t>
                      </m:r>
                      <m:r>
                        <m:t> + </m:t>
                      </m:r>
                      <m:r>
                        <m:t>α</m:t>
                      </m:r>
                      <m:r>
                        <m:t>·</m:t>
                      </m:r>
                      <m:r>
                        <m:t>C</m:t>
                      </m:r>
                      <m:r>
                        <m:t> + </m:t>
                      </m:r>
                      <m:r>
                        <m:t>β</m:t>
                      </m:r>
                      <m:r>
                        <m:t>·</m:t>
                      </m:r>
                      <m:r>
                        <m:t>L</m:t>
                      </m:r>
                    </m:den>
                  </m:f>
                </m:oMath>
              </m:oMathPara>
            </a14:m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PRODUCT-EVIDENCE.DECK-CI-RECEIPT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A deck is not done until both pixels and semantics pass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C76D54"/>
                </a:solidFill>
                <a:hlinkClick r:id="rId1" invalidUrl="" action="" tgtFrame="" tooltip="https://github.com/HomenShum/NodeSlide/action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Native builder CI run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artifact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deck-ci-receipt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kind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generic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DECISION.RISK-MATRIX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Pipeline coverage is the risk that deserves action first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DECISION.COST-QUALITY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Routing improves when quality, cost, and latency are judged together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SYSTEMS.COMPARISON-MATRIX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Different models fail differently under the same contract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36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quality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latency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claude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0.00862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8.19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kimi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0.958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0.0013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17.62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gemma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0.958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17.27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nemotron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gpt-oss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ensemble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SYSTEMS.COMPARISON-MATRIX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V2 expands the harness without crediting the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37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artifactCoverage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v1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v2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D635A"/>
                </a:solidFill>
              </a:rPr>
              <a:t>DECISION.RECOMMENDATION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1F1C"/>
                </a:solidFill>
              </a:rPr>
              <a:t>Reuse the visual vocabulary, then adapt the communication contract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29260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35A"/>
                </a:solidFill>
              </a:rPr>
              <a:t>38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1F1C"/>
                </a:solidFill>
              </a:rPr>
              <a:t>Researcher, investor, and plain-language Chinese versions share the same evidence.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2026-07-23T11:34:09Z</dcterms:created>
  <dcterms:modified xsi:type="dcterms:W3CDTF">2026-07-23T11:34:09Z</dcterms:modified>
</cp:coreProperties>
</file>