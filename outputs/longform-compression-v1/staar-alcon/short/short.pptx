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 net sales</c:v>
                  </c:pt>
                  <c:pt idx="1">
                    <c:v>Q2 2024</c:v>
                  </c:pt>
                  <c:pt idx="2">
                    <c:v>Q2 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313.901</c:v>
                </c:pt>
                <c:pt idx="1">
                  <c:v>99.005</c:v>
                </c:pt>
                <c:pt idx="2">
                  <c:v>44.32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2026E</c:v>
                  </c:pt>
                  <c:pt idx="1">
                    <c:v>2030E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340</c:v>
                </c:pt>
                <c:pt idx="1">
                  <c:v>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Public comps low</c:v>
                  </c:pt>
                  <c:pt idx="1">
                    <c:v>Public comps high</c:v>
                  </c:pt>
                  <c:pt idx="2">
                    <c:v>Offer</c:v>
                  </c:pt>
                  <c:pt idx="3">
                    <c:v>DCF high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16.35</c:v>
                </c:pt>
                <c:pt idx="1">
                  <c:v>23.8</c:v>
                </c:pt>
                <c:pt idx="2">
                  <c:v>28</c:v>
                </c:pt>
                <c:pt idx="3">
                  <c:v>37.5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01. Composition grammar: decision-gate. Keep the spoken transition focused on "Recommendation and requested decision"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02. Composition grammar: comparison-field. Keep the spoken transition focused on "Transaction terms"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03. Composition grammar: asymmetric-editorial. Keep the spoken transition focused on "Core strategic thesis"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04. Composition grammar: risk-field. Keep the spoken transition focused on "Company and market"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05. Composition grammar: asymmetric-editorial. Keep the spoken transition focused on "Historical financial profile"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06. Composition grammar: asymmetric-editorial. Keep the spoken transition focused on "Forecast and principal drivers"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07. Composition grammar: asymmetric-editorial. Keep the spoken transition focused on "Valuation"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08. Composition grammar: risk-field. Keep the spoken transition focused on "Downside and sensitivities"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09. Composition grammar: process-canvas. Keep the spoken transition focused on "Financing and capitalization"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10. Composition grammar: risk-escalation. Keep the spoken transition focused on "Principal risks"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11. Composition grammar: process-canvas. Keep the spoken transition focused on "Outstanding diligence and conditions"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[source_606ce1e89c46735c413179af5dc786ea]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[source_f746d7839a5e4c2bfd9d0a7d138945b5]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[source_efde5a742435e481ee2b83eb0c667463]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[source_1f4ff323029802687ab3f68b31c11444]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[source_864eb6476473ae634ce27b61934b4052] data.sec.gov · supplied source 5
Citation: https://data.sec.gov/api/xbrl/companyfacts/CIK0000718937.json
URL: https://data.sec.gov/api/xbrl/companyfacts/CIK0000718937.json
Disclaimer: User-supplied linked evidence; verify reuse rights before external publication.
[source_273421d2d9134f0ab4e6f81b6f303509]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[source_a447db7ec6dc40f6d423eae5134bf051]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Memo / 12. Composition grammar: full-bleed-thesis. Keep the spoken transition focused on "Decision summary + appendix"
Evidence note: Content is based on the supplied creation brief. Illustrative examples are not independently verified; replace them with measured evidence before external publication.
NodeSlide sources
[source_684c38e34bb0973e969bf27386d9a1e7] STAAR Surgical / Alcon — 12-slide opportunity memo — creation brief
Citation: Create exactly 12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276bf6892dd1265ae310dc2484f1ea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95703d85bcae01ccffd439401bee8aa"/>
          <p:cNvSpPr/>
          <p:nvPr/>
        </p:nvSpPr>
        <p:spPr>
          <a:xfrm>
            <a:off x="609585" y="754380"/>
            <a:ext cx="4145176" cy="52120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195703d85bcae01ccffd439401bee8aa:text"/>
          <p:cNvSpPr txBox="1"/>
          <p:nvPr/>
        </p:nvSpPr>
        <p:spPr>
          <a:xfrm>
            <a:off x="609585" y="754380"/>
            <a:ext cx="4145176" cy="5212080"/>
          </a:xfrm>
          <a:prstGeom prst="rect">
            <a:avLst/>
          </a:prstGeom>
          <a:noFill/>
          <a:ln/>
        </p:spPr>
        <p:txBody>
          <a:bodyPr wrap="square" lIns="279400" tIns="279400" rIns="279400" bIns="27940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DECIDE</a:t>
            </a:r>
            <a:endParaRPr lang="en-US" sz="3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WITH CONDITIONS</a:t>
            </a:r>
            <a:endParaRPr lang="en-US" sz="3200" dirty="0"/>
          </a:p>
        </p:txBody>
      </p:sp>
      <p:sp>
        <p:nvSpPr>
          <p:cNvPr id="5" name="element_e2950a4d514f9c86d599bc125ac128aa"/>
          <p:cNvSpPr txBox="1"/>
          <p:nvPr/>
        </p:nvSpPr>
        <p:spPr>
          <a:xfrm>
            <a:off x="5730097" y="617220"/>
            <a:ext cx="5364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01</a:t>
            </a:r>
            <a:endParaRPr lang="en-US" sz="1500" dirty="0"/>
          </a:p>
        </p:txBody>
      </p:sp>
      <p:sp>
        <p:nvSpPr>
          <p:cNvPr id="6" name="element_085a11861c67a5e7051d9262b8340024"/>
          <p:cNvSpPr txBox="1"/>
          <p:nvPr/>
        </p:nvSpPr>
        <p:spPr>
          <a:xfrm>
            <a:off x="5730097" y="1234440"/>
            <a:ext cx="5608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Recommendation and requested decision</a:t>
            </a:r>
            <a:endParaRPr lang="en-US" sz="3800" dirty="0"/>
          </a:p>
        </p:txBody>
      </p:sp>
      <p:sp>
        <p:nvSpPr>
          <p:cNvPr id="7" name="element_436f5e3616a4917db436e7e7862bf94d"/>
          <p:cNvSpPr txBox="1"/>
          <p:nvPr/>
        </p:nvSpPr>
        <p:spPr>
          <a:xfrm>
            <a:off x="5730097" y="2948940"/>
            <a:ext cx="56081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Alcon offered $28.00 in cash per STAAR share. $28 cash vs. standalone, forecast, and China risk. Gate: China, forecast bridge, and clearances.</a:t>
            </a:r>
            <a:endParaRPr lang="en-US" sz="1600" dirty="0"/>
          </a:p>
        </p:txBody>
      </p:sp>
      <p:sp>
        <p:nvSpPr>
          <p:cNvPr id="8" name="element_0ff97cbdd50bf435be586d120b4378df"/>
          <p:cNvSpPr/>
          <p:nvPr/>
        </p:nvSpPr>
        <p:spPr>
          <a:xfrm>
            <a:off x="5730097" y="4251960"/>
            <a:ext cx="5608180" cy="534924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0ff97cbdd50bf435be586d120b4378df:text"/>
          <p:cNvSpPr txBox="1"/>
          <p:nvPr/>
        </p:nvSpPr>
        <p:spPr>
          <a:xfrm>
            <a:off x="5730097" y="425196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Alcon offered $28.00 in cash per STAAR share.</a:t>
            </a:r>
            <a:endParaRPr lang="en-US" sz="1400" dirty="0"/>
          </a:p>
        </p:txBody>
      </p:sp>
      <p:sp>
        <p:nvSpPr>
          <p:cNvPr id="10" name="element_4305ffd5f9044b2a365d51877148faed"/>
          <p:cNvSpPr/>
          <p:nvPr/>
        </p:nvSpPr>
        <p:spPr>
          <a:xfrm>
            <a:off x="5730097" y="4903470"/>
            <a:ext cx="5608180" cy="534924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4305ffd5f9044b2a365d51877148faed:text"/>
          <p:cNvSpPr txBox="1"/>
          <p:nvPr/>
        </p:nvSpPr>
        <p:spPr>
          <a:xfrm>
            <a:off x="5730097" y="490347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$28 cash vs. standalone, forecast, and China risk.</a:t>
            </a:r>
            <a:endParaRPr lang="en-US" sz="1400" dirty="0"/>
          </a:p>
        </p:txBody>
      </p:sp>
      <p:sp>
        <p:nvSpPr>
          <p:cNvPr id="12" name="element_2e50d07320530028e0d7218d66b7170d"/>
          <p:cNvSpPr/>
          <p:nvPr/>
        </p:nvSpPr>
        <p:spPr>
          <a:xfrm>
            <a:off x="5730097" y="5554980"/>
            <a:ext cx="5608180" cy="534924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2e50d07320530028e0d7218d66b7170d:text"/>
          <p:cNvSpPr txBox="1"/>
          <p:nvPr/>
        </p:nvSpPr>
        <p:spPr>
          <a:xfrm>
            <a:off x="5730097" y="555498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Gate: China, forecast bridge, and clearances.</a:t>
            </a:r>
            <a:endParaRPr lang="en-US" sz="1400" dirty="0"/>
          </a:p>
        </p:txBody>
      </p:sp>
      <p:sp>
        <p:nvSpPr>
          <p:cNvPr id="14" name="element_9b468b628928e52fa471a83f788d48e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516f0079604c554ca0b525f369afb0e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56d8f661c4cb32d1734b188a92353f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5a32d8f681b407b08545e1126dd4369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02</a:t>
            </a:r>
            <a:endParaRPr lang="en-US" sz="1500" dirty="0"/>
          </a:p>
        </p:txBody>
      </p:sp>
      <p:sp>
        <p:nvSpPr>
          <p:cNvPr id="4" name="element_47acad630f34af7f3db8a0661d6ec1eb"/>
          <p:cNvSpPr txBox="1"/>
          <p:nvPr/>
        </p:nvSpPr>
        <p:spPr>
          <a:xfrm>
            <a:off x="853419" y="1028700"/>
            <a:ext cx="9631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Transaction terms</a:t>
            </a:r>
            <a:endParaRPr lang="en-US" sz="3600" dirty="0"/>
          </a:p>
        </p:txBody>
      </p:sp>
      <p:sp>
        <p:nvSpPr>
          <p:cNvPr id="5" name="element_c2ad3be496c2a10b9dfb5a9afe2237e4"/>
          <p:cNvSpPr txBox="1"/>
          <p:nvPr/>
        </p:nvSpPr>
        <p:spPr>
          <a:xfrm>
            <a:off x="853419" y="198882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element_54ba0003285ae2f59a35bb839776f585"/>
          <p:cNvSpPr txBox="1"/>
          <p:nvPr/>
        </p:nvSpPr>
        <p:spPr>
          <a:xfrm>
            <a:off x="853419" y="253746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STAAR's standard termination fee was $43.425 million.</a:t>
            </a:r>
            <a:endParaRPr lang="en-US" sz="1700" dirty="0"/>
          </a:p>
        </p:txBody>
      </p:sp>
      <p:sp>
        <p:nvSpPr>
          <p:cNvPr id="7" name="element_17fbafcf09bca9b23722f1e7b8db6aa3"/>
          <p:cNvSpPr/>
          <p:nvPr/>
        </p:nvSpPr>
        <p:spPr>
          <a:xfrm>
            <a:off x="4287819" y="1988820"/>
            <a:ext cx="121917" cy="2880360"/>
          </a:xfrm>
          <a:prstGeom prst="rect">
            <a:avLst/>
          </a:prstGeom>
          <a:solidFill>
            <a:srgbClr val="CFDC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9ce0618c9e4b6ba4df62b00f71253ef5"/>
          <p:cNvSpPr txBox="1"/>
          <p:nvPr/>
        </p:nvSpPr>
        <p:spPr>
          <a:xfrm>
            <a:off x="4470695" y="198882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element_d91db1dcf282b6a191af0adc2403f150"/>
          <p:cNvSpPr txBox="1"/>
          <p:nvPr/>
        </p:nvSpPr>
        <p:spPr>
          <a:xfrm>
            <a:off x="4470695" y="253746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qualifying window-shop termination fee was $14.475 million.</a:t>
            </a:r>
            <a:endParaRPr lang="en-US" sz="1700" dirty="0"/>
          </a:p>
        </p:txBody>
      </p:sp>
      <p:sp>
        <p:nvSpPr>
          <p:cNvPr id="10" name="element_44a4d6ced71cbc954f3eb72fa67c2736"/>
          <p:cNvSpPr/>
          <p:nvPr/>
        </p:nvSpPr>
        <p:spPr>
          <a:xfrm>
            <a:off x="7903876" y="1988820"/>
            <a:ext cx="121917" cy="2880360"/>
          </a:xfrm>
          <a:prstGeom prst="rect">
            <a:avLst/>
          </a:prstGeom>
          <a:solidFill>
            <a:srgbClr val="CFDC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6c545c04ffc573332d6ddb0d83c7c770"/>
          <p:cNvSpPr txBox="1"/>
          <p:nvPr/>
        </p:nvSpPr>
        <p:spPr>
          <a:xfrm>
            <a:off x="8086751" y="198882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element_c07cebcd2df0f74356cc7dd61cc17f07"/>
          <p:cNvSpPr txBox="1"/>
          <p:nvPr/>
        </p:nvSpPr>
        <p:spPr>
          <a:xfrm>
            <a:off x="8086751" y="253746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Alcon's regulatory termination fee was $72.375 million.</a:t>
            </a:r>
            <a:endParaRPr lang="en-US" sz="1700" dirty="0"/>
          </a:p>
        </p:txBody>
      </p:sp>
      <p:sp>
        <p:nvSpPr>
          <p:cNvPr id="13" name="element_417fa843ad12299a167ef2f68d6caab9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8dcf409c092829bab97eb86912d94c41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43c35a985d73f2d4afd542d3013031c8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13175a55c597cfa92a9a9e402f399868"/>
          <p:cNvSpPr/>
          <p:nvPr/>
        </p:nvSpPr>
        <p:spPr>
          <a:xfrm>
            <a:off x="9749699" y="457429"/>
            <a:ext cx="1077746" cy="606247"/>
          </a:xfrm>
          <a:prstGeom prst="roundRect">
            <a:avLst/>
          </a:prstGeom>
          <a:solidFill>
            <a:srgbClr val="DCECF0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bf832d40da5a259ed27ce9a8d3548a00"/>
          <p:cNvSpPr/>
          <p:nvPr/>
        </p:nvSpPr>
        <p:spPr>
          <a:xfrm>
            <a:off x="10049614" y="626135"/>
            <a:ext cx="668105" cy="375818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8c4ba2ad4f96d0fec23eb2afb74901ee"/>
          <p:cNvSpPr/>
          <p:nvPr/>
        </p:nvSpPr>
        <p:spPr>
          <a:xfrm>
            <a:off x="10314174" y="774954"/>
            <a:ext cx="430367" cy="242087"/>
          </a:xfrm>
          <a:prstGeom prst="roundRect">
            <a:avLst/>
          </a:prstGeom>
          <a:solidFill>
            <a:srgbClr val="287A8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e2b6b14d93edcabd3a2442d3805647e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0" name="element_ccbb9a04da7e652ff4d52d511073629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4b153ed64bd0e5839cbd061357711d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ba31f1dffbb0aa70625f3c80828ff76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03</a:t>
            </a:r>
            <a:endParaRPr lang="en-US" sz="1500" dirty="0"/>
          </a:p>
        </p:txBody>
      </p:sp>
      <p:sp>
        <p:nvSpPr>
          <p:cNvPr id="4" name="element_548c06c145dcd048c6a34e0ef7e9376d"/>
          <p:cNvSpPr txBox="1"/>
          <p:nvPr/>
        </p:nvSpPr>
        <p:spPr>
          <a:xfrm>
            <a:off x="853419" y="1097280"/>
            <a:ext cx="104848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Core strategic thesis</a:t>
            </a:r>
            <a:endParaRPr lang="en-US" sz="4200" dirty="0"/>
          </a:p>
        </p:txBody>
      </p:sp>
      <p:sp>
        <p:nvSpPr>
          <p:cNvPr id="5" name="element_e586963422b05c7f00423ba9c94f4ef9"/>
          <p:cNvSpPr txBox="1"/>
          <p:nvPr/>
        </p:nvSpPr>
        <p:spPr>
          <a:xfrm>
            <a:off x="1706837" y="2743200"/>
            <a:ext cx="963143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$58/share in April 2024 preceded the $28 agreement. $28 was approximately 59% above STAAR's 90-day VWAP and 51% above its August 4, 2025 close. H1 2025 sales were $86.909 million versus $176.361 million, down 50.7%.</a:t>
            </a:r>
            <a:endParaRPr lang="en-US" sz="1800" dirty="0"/>
          </a:p>
        </p:txBody>
      </p:sp>
      <p:sp>
        <p:nvSpPr>
          <p:cNvPr id="6" name="element_6ced5c7f00b2864c902ad1c1b4420e54"/>
          <p:cNvSpPr txBox="1"/>
          <p:nvPr/>
        </p:nvSpPr>
        <p:spPr>
          <a:xfrm>
            <a:off x="975336" y="3909060"/>
            <a:ext cx="4023259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$58/share in April 2024 preceded the $28 agreement.</a:t>
            </a:r>
            <a:endParaRPr lang="en-US" sz="1700" dirty="0"/>
          </a:p>
        </p:txBody>
      </p:sp>
      <p:sp>
        <p:nvSpPr>
          <p:cNvPr id="7" name="element_422b6ba8ff12ebe2d232b64bf8b7e3e6"/>
          <p:cNvSpPr txBox="1"/>
          <p:nvPr/>
        </p:nvSpPr>
        <p:spPr>
          <a:xfrm>
            <a:off x="975336" y="4612691"/>
            <a:ext cx="4023259" cy="85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$28 was approximately 59% above STAAR's 90-day VWAP and 51% above its August 4, 2025 close.</a:t>
            </a:r>
            <a:endParaRPr lang="en-US" sz="1700" dirty="0"/>
          </a:p>
        </p:txBody>
      </p:sp>
      <p:sp>
        <p:nvSpPr>
          <p:cNvPr id="8" name="element_968f74a477fb3c8597b239b5a4c5963f"/>
          <p:cNvSpPr txBox="1"/>
          <p:nvPr/>
        </p:nvSpPr>
        <p:spPr>
          <a:xfrm>
            <a:off x="975336" y="5574868"/>
            <a:ext cx="4023259" cy="85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H1 2025 sales were $86.909 million versus $176.361 million, down 50.7%.</a:t>
            </a:r>
            <a:endParaRPr lang="en-US" sz="1700" dirty="0"/>
          </a:p>
        </p:txBody>
      </p:sp>
      <p:sp>
        <p:nvSpPr>
          <p:cNvPr id="9" name="element_ce281a9e9c6af88806792fb919dea112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0455b36766229551c0ce8c23bb7c9beb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3598172f118500541b8077dd908954e9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fe3ae0ad9894408e32d26173c44bac4e"/>
          <p:cNvSpPr/>
          <p:nvPr/>
        </p:nvSpPr>
        <p:spPr>
          <a:xfrm>
            <a:off x="1334991" y="445770"/>
            <a:ext cx="1127732" cy="634365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d908c46fc3b470fd03e4bb9dda977c02"/>
          <p:cNvSpPr/>
          <p:nvPr/>
        </p:nvSpPr>
        <p:spPr>
          <a:xfrm>
            <a:off x="1452031" y="620649"/>
            <a:ext cx="699803" cy="393649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3c9a1877d70facc96dd8e3f107f2fe53"/>
          <p:cNvSpPr/>
          <p:nvPr/>
        </p:nvSpPr>
        <p:spPr>
          <a:xfrm>
            <a:off x="1426428" y="774954"/>
            <a:ext cx="451093" cy="253746"/>
          </a:xfrm>
          <a:prstGeom prst="roundRect">
            <a:avLst/>
          </a:prstGeom>
          <a:solidFill>
            <a:srgbClr val="287A8D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4df281f6055c606d91dc285f6e410ab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cbf1280c50a7040953dcbc176ba9518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48d361ca3eef22f17b94f78bc487c5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079092911b250d5e25a6a03e023abd0"/>
          <p:cNvSpPr/>
          <p:nvPr/>
        </p:nvSpPr>
        <p:spPr>
          <a:xfrm>
            <a:off x="670543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33defb12d8a4b73e97417311ebc8d27e"/>
          <p:cNvSpPr/>
          <p:nvPr/>
        </p:nvSpPr>
        <p:spPr>
          <a:xfrm>
            <a:off x="4206135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9a813cb2bfe9f1d21787d29deffb6cec"/>
          <p:cNvSpPr/>
          <p:nvPr/>
        </p:nvSpPr>
        <p:spPr>
          <a:xfrm>
            <a:off x="670543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20fa96b08b772af91c54e971bd092229"/>
          <p:cNvSpPr/>
          <p:nvPr/>
        </p:nvSpPr>
        <p:spPr>
          <a:xfrm>
            <a:off x="4206135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c94bf28fba716a4458ed854a77ec727b"/>
          <p:cNvSpPr txBox="1"/>
          <p:nvPr/>
        </p:nvSpPr>
        <p:spPr>
          <a:xfrm>
            <a:off x="670543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2154062a55ee594d7c6f1b86513adeb0"/>
          <p:cNvSpPr txBox="1"/>
          <p:nvPr/>
        </p:nvSpPr>
        <p:spPr>
          <a:xfrm>
            <a:off x="5791055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bb8d1ce0467c60609a082333993c275e"/>
          <p:cNvSpPr txBox="1"/>
          <p:nvPr/>
        </p:nvSpPr>
        <p:spPr>
          <a:xfrm>
            <a:off x="816844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3c50d9106eacebfae206f90d48727160"/>
          <p:cNvSpPr txBox="1"/>
          <p:nvPr/>
        </p:nvSpPr>
        <p:spPr>
          <a:xfrm>
            <a:off x="816844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0ae7b7beb96e7248bd7cf4285526daac"/>
          <p:cNvSpPr/>
          <p:nvPr/>
        </p:nvSpPr>
        <p:spPr>
          <a:xfrm>
            <a:off x="6181189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0ae7b7beb96e7248bd7cf4285526daac:text"/>
          <p:cNvSpPr txBox="1"/>
          <p:nvPr/>
        </p:nvSpPr>
        <p:spPr>
          <a:xfrm>
            <a:off x="6181189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Market</a:t>
            </a:r>
            <a:endParaRPr lang="en-US" sz="1400" dirty="0"/>
          </a:p>
        </p:txBody>
      </p:sp>
      <p:sp>
        <p:nvSpPr>
          <p:cNvPr id="13" name="element_267b4ce9af3fc96178a7e0acb1d441bf"/>
          <p:cNvSpPr/>
          <p:nvPr/>
        </p:nvSpPr>
        <p:spPr>
          <a:xfrm>
            <a:off x="499737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267b4ce9af3fc96178a7e0acb1d441bf:text"/>
          <p:cNvSpPr txBox="1"/>
          <p:nvPr/>
        </p:nvSpPr>
        <p:spPr>
          <a:xfrm>
            <a:off x="499737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5e4d7e38ec55213b2597272e94b19dc3"/>
          <p:cNvSpPr/>
          <p:nvPr/>
        </p:nvSpPr>
        <p:spPr>
          <a:xfrm>
            <a:off x="3474633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5e4d7e38ec55213b2597272e94b19dc3:text"/>
          <p:cNvSpPr txBox="1"/>
          <p:nvPr/>
        </p:nvSpPr>
        <p:spPr>
          <a:xfrm>
            <a:off x="3474633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5e4e616f3ad2f79715fb45f4d876530e"/>
          <p:cNvSpPr txBox="1"/>
          <p:nvPr/>
        </p:nvSpPr>
        <p:spPr>
          <a:xfrm>
            <a:off x="8412270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04</a:t>
            </a:r>
            <a:endParaRPr lang="en-US" sz="1500" dirty="0"/>
          </a:p>
        </p:txBody>
      </p:sp>
      <p:sp>
        <p:nvSpPr>
          <p:cNvPr id="18" name="element_d0020ec16ace1fa84230e552f50c41cd"/>
          <p:cNvSpPr txBox="1"/>
          <p:nvPr/>
        </p:nvSpPr>
        <p:spPr>
          <a:xfrm>
            <a:off x="8412270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Company and market</a:t>
            </a:r>
            <a:endParaRPr lang="en-US" sz="3600" dirty="0"/>
          </a:p>
        </p:txBody>
      </p:sp>
      <p:sp>
        <p:nvSpPr>
          <p:cNvPr id="19" name="element_00f20e9d9bad99a99346d4aa15b94b06"/>
          <p:cNvSpPr txBox="1"/>
          <p:nvPr/>
        </p:nvSpPr>
        <p:spPr>
          <a:xfrm>
            <a:off x="8412270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STAAR reported more than 3 million ICLs sold in over 75 countries. Q2 2025 APAC sales fell 69%; EMEA rose 11% and Americas rose 10%.</a:t>
            </a:r>
            <a:endParaRPr lang="en-US" sz="1700" dirty="0"/>
          </a:p>
        </p:txBody>
      </p:sp>
      <p:sp>
        <p:nvSpPr>
          <p:cNvPr id="20" name="element_616fbd53b8f512d59c335f59a542a41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db827f9ae27d79ba1a17467779db8e2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24b5cbbe5e124c65e54734d3a68e1d3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1cd4508a7667a3ff0df3869761f8077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05</a:t>
            </a:r>
            <a:endParaRPr lang="en-US" sz="1500" dirty="0"/>
          </a:p>
        </p:txBody>
      </p:sp>
      <p:sp>
        <p:nvSpPr>
          <p:cNvPr id="4" name="element_9f9f58b3109c7088d03f3929fdae3d82"/>
          <p:cNvSpPr txBox="1"/>
          <p:nvPr/>
        </p:nvSpPr>
        <p:spPr>
          <a:xfrm>
            <a:off x="853419" y="1097280"/>
            <a:ext cx="3657509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Historical financial profile</a:t>
            </a:r>
            <a:endParaRPr lang="en-US" sz="4200" dirty="0"/>
          </a:p>
        </p:txBody>
      </p:sp>
      <p:sp>
        <p:nvSpPr>
          <p:cNvPr id="5" name="element_8e33313db9504010cd65d7010d948935"/>
          <p:cNvSpPr txBox="1"/>
          <p:nvPr/>
        </p:nvSpPr>
        <p:spPr>
          <a:xfrm>
            <a:off x="853419" y="3188970"/>
            <a:ext cx="3657509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2024 net sales were $313.901 million. Q2 2025 net sales were $44.320 million, down 55.2% year over year. Q2 2025 net sales declined 55.2% year over year.</a:t>
            </a:r>
            <a:endParaRPr lang="en-US" sz="1500" dirty="0"/>
          </a:p>
        </p:txBody>
      </p:sp>
      <p:graphicFrame>
        <p:nvGraphicFramePr>
          <p:cNvPr id="6" name="element_08a4e29d8e4a3848492f4434d2c10fb7" descr=""/>
          <p:cNvGraphicFramePr/>
          <p:nvPr/>
        </p:nvGraphicFramePr>
        <p:xfrm>
          <a:off x="512051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214145a6cc91942a96e1ed9c61f54de1"/>
          <p:cNvSpPr txBox="1"/>
          <p:nvPr/>
        </p:nvSpPr>
        <p:spPr>
          <a:xfrm>
            <a:off x="853419" y="4612005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2024 net sales were $313.901 million.</a:t>
            </a:r>
            <a:endParaRPr lang="en-US" sz="1400" dirty="0"/>
          </a:p>
        </p:txBody>
      </p:sp>
      <p:sp>
        <p:nvSpPr>
          <p:cNvPr id="8" name="element_89adac4cd23401d86b68d8f0a06f15c4"/>
          <p:cNvSpPr txBox="1"/>
          <p:nvPr/>
        </p:nvSpPr>
        <p:spPr>
          <a:xfrm>
            <a:off x="853419" y="5223739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Q2 2025 net sales were $44.320 million, down 55.2% year over year.</a:t>
            </a:r>
            <a:endParaRPr lang="en-US" sz="1400" dirty="0"/>
          </a:p>
        </p:txBody>
      </p:sp>
      <p:sp>
        <p:nvSpPr>
          <p:cNvPr id="9" name="element_a7116d4b2079325ba68f9eb0de4db360"/>
          <p:cNvSpPr txBox="1"/>
          <p:nvPr/>
        </p:nvSpPr>
        <p:spPr>
          <a:xfrm>
            <a:off x="853419" y="5836158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Q2 2025 net sales declined 55.2% year over year.</a:t>
            </a:r>
            <a:endParaRPr lang="en-US" sz="1400" dirty="0"/>
          </a:p>
        </p:txBody>
      </p:sp>
      <p:sp>
        <p:nvSpPr>
          <p:cNvPr id="10" name="element_df2b193ea51558cebdc677c56df20a49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0f0da527d9d2aa7c1325b95248e689fb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be6241c2aba584a384698628e16fb7ee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e7665bac22e6d113ff78c0329294b533"/>
          <p:cNvSpPr/>
          <p:nvPr/>
        </p:nvSpPr>
        <p:spPr>
          <a:xfrm>
            <a:off x="9688740" y="423139"/>
            <a:ext cx="1230142" cy="691972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a7df81b267c7e430afd88736069112b6"/>
          <p:cNvSpPr/>
          <p:nvPr/>
        </p:nvSpPr>
        <p:spPr>
          <a:xfrm>
            <a:off x="10019135" y="608990"/>
            <a:ext cx="761981" cy="428625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28308fbe0f4f148e54fcf52b08cbf20f"/>
          <p:cNvSpPr/>
          <p:nvPr/>
        </p:nvSpPr>
        <p:spPr>
          <a:xfrm>
            <a:off x="10314174" y="774954"/>
            <a:ext cx="491325" cy="276377"/>
          </a:xfrm>
          <a:prstGeom prst="roundRect">
            <a:avLst/>
          </a:prstGeom>
          <a:solidFill>
            <a:srgbClr val="287A8D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a3f86a71200a27ce739667d8911593d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908ea54e70506d34abf0d3f8a5e7159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f77bf3accf438e41cdd56e52622a0a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7f51060a2f19fbb3ca10733659cbfe7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06</a:t>
            </a:r>
            <a:endParaRPr lang="en-US" sz="1500" dirty="0"/>
          </a:p>
        </p:txBody>
      </p:sp>
      <p:sp>
        <p:nvSpPr>
          <p:cNvPr id="4" name="element_9141ce0b24a1a153387e4ae69b72f099"/>
          <p:cNvSpPr txBox="1"/>
          <p:nvPr/>
        </p:nvSpPr>
        <p:spPr>
          <a:xfrm>
            <a:off x="7071183" y="1097280"/>
            <a:ext cx="4145176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Forecast and principal drivers</a:t>
            </a:r>
            <a:endParaRPr lang="en-US" sz="4200" dirty="0"/>
          </a:p>
        </p:txBody>
      </p:sp>
      <p:sp>
        <p:nvSpPr>
          <p:cNvPr id="5" name="element_ada3ef4971c86caa01cf3d146c1bd889"/>
          <p:cNvSpPr txBox="1"/>
          <p:nvPr/>
        </p:nvSpPr>
        <p:spPr>
          <a:xfrm>
            <a:off x="7071183" y="3188970"/>
            <a:ext cx="4145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2026E net sales: $340 million. 2030E net sales: $495 million. Final case: approximately 10% annual sales growth from 2027.</a:t>
            </a:r>
            <a:endParaRPr lang="en-US" sz="1800" dirty="0"/>
          </a:p>
        </p:txBody>
      </p:sp>
      <p:graphicFrame>
        <p:nvGraphicFramePr>
          <p:cNvPr id="6" name="element_8410144bd5400734321c5c2736359231" descr=""/>
          <p:cNvGraphicFramePr/>
          <p:nvPr/>
        </p:nvGraphicFramePr>
        <p:xfrm>
          <a:off x="73150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ec1a763ac3f9365facb08bd78df21eeb"/>
          <p:cNvSpPr txBox="1"/>
          <p:nvPr/>
        </p:nvSpPr>
        <p:spPr>
          <a:xfrm>
            <a:off x="7071183" y="4560570"/>
            <a:ext cx="4145176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2026E net sales: $340 million.</a:t>
            </a:r>
            <a:endParaRPr lang="en-US" sz="1400" dirty="0"/>
          </a:p>
        </p:txBody>
      </p:sp>
      <p:sp>
        <p:nvSpPr>
          <p:cNvPr id="8" name="element_0eb1f2c70987a1d0049eaf32f7bdfaa6"/>
          <p:cNvSpPr txBox="1"/>
          <p:nvPr/>
        </p:nvSpPr>
        <p:spPr>
          <a:xfrm>
            <a:off x="7071183" y="4959020"/>
            <a:ext cx="4145176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2030E net sales: $495 million.</a:t>
            </a:r>
            <a:endParaRPr lang="en-US" sz="1400" dirty="0"/>
          </a:p>
        </p:txBody>
      </p:sp>
      <p:sp>
        <p:nvSpPr>
          <p:cNvPr id="9" name="element_bc54e77c2de4e1ae44cda765738cac89"/>
          <p:cNvSpPr txBox="1"/>
          <p:nvPr/>
        </p:nvSpPr>
        <p:spPr>
          <a:xfrm>
            <a:off x="7071183" y="5357470"/>
            <a:ext cx="4145176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Final case: approximately 10% annual sales growth from 2027.</a:t>
            </a:r>
            <a:endParaRPr lang="en-US" sz="1400" dirty="0"/>
          </a:p>
        </p:txBody>
      </p:sp>
      <p:sp>
        <p:nvSpPr>
          <p:cNvPr id="10" name="element_04b07468fcc9487cefd336c7a90ad2dd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67d32c1b97977ea8bb2689fed82e6cd7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37b7ab76ae1676dfb8f28fc4ed716906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1bc2bc9cb4d8d736f99ec726f73e6a96"/>
          <p:cNvSpPr/>
          <p:nvPr/>
        </p:nvSpPr>
        <p:spPr>
          <a:xfrm>
            <a:off x="9668014" y="411480"/>
            <a:ext cx="1280128" cy="720090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f5d6194dc00fadcecf01791be2eeee39"/>
          <p:cNvSpPr/>
          <p:nvPr/>
        </p:nvSpPr>
        <p:spPr>
          <a:xfrm>
            <a:off x="10009382" y="603504"/>
            <a:ext cx="793679" cy="446456"/>
          </a:xfrm>
          <a:prstGeom prst="roundRect">
            <a:avLst/>
          </a:prstGeom>
          <a:solidFill>
            <a:srgbClr val="DCECF0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a4ffd2576438b00130bc654f50f12bdb"/>
          <p:cNvSpPr/>
          <p:nvPr/>
        </p:nvSpPr>
        <p:spPr>
          <a:xfrm>
            <a:off x="10314174" y="774954"/>
            <a:ext cx="512051" cy="288036"/>
          </a:xfrm>
          <a:prstGeom prst="roundRect">
            <a:avLst/>
          </a:prstGeom>
          <a:solidFill>
            <a:srgbClr val="287A8D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3fa67624d9e79429e8ec063814dffdf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1921462328ad5279d8747e35735aa17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66618c490bb7c2836b39f3f4b1b48572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0f580e99d2b9233c8335754c601d526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07</a:t>
            </a:r>
            <a:endParaRPr lang="en-US" sz="1500" dirty="0"/>
          </a:p>
        </p:txBody>
      </p:sp>
      <p:sp>
        <p:nvSpPr>
          <p:cNvPr id="4" name="element_59549d335a356db5d764fe214b4dbaa5"/>
          <p:cNvSpPr txBox="1"/>
          <p:nvPr/>
        </p:nvSpPr>
        <p:spPr>
          <a:xfrm>
            <a:off x="853419" y="1097280"/>
            <a:ext cx="365750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Valuation</a:t>
            </a:r>
            <a:endParaRPr lang="en-US" sz="4200" dirty="0"/>
          </a:p>
        </p:txBody>
      </p:sp>
      <p:sp>
        <p:nvSpPr>
          <p:cNvPr id="5" name="element_9b5d57d2b5db7f3c286ecbb8f1016a01"/>
          <p:cNvSpPr txBox="1"/>
          <p:nvPr/>
        </p:nvSpPr>
        <p:spPr>
          <a:xfrm>
            <a:off x="853419" y="2743200"/>
            <a:ext cx="365750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Public comps: $16.35-$23.80 per share. Precedents: $17.15-$30.80 per share. DCF: $17.70-$37.50 per share.</a:t>
            </a:r>
            <a:endParaRPr lang="en-US" sz="1800" dirty="0"/>
          </a:p>
        </p:txBody>
      </p:sp>
      <p:graphicFrame>
        <p:nvGraphicFramePr>
          <p:cNvPr id="6" name="element_77e1524c733d18b7580fe98c7bf3e134" descr=""/>
          <p:cNvGraphicFramePr/>
          <p:nvPr/>
        </p:nvGraphicFramePr>
        <p:xfrm>
          <a:off x="512051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15101df183cb8ac1f262986e3beb1d19"/>
          <p:cNvSpPr txBox="1"/>
          <p:nvPr/>
        </p:nvSpPr>
        <p:spPr>
          <a:xfrm>
            <a:off x="853419" y="4114800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Public comps: $16.35-$23.80 per share.</a:t>
            </a:r>
            <a:endParaRPr lang="en-US" sz="1400" dirty="0"/>
          </a:p>
        </p:txBody>
      </p:sp>
      <p:sp>
        <p:nvSpPr>
          <p:cNvPr id="8" name="element_fd7d053b40efb48b4c66c9172908eff3"/>
          <p:cNvSpPr txBox="1"/>
          <p:nvPr/>
        </p:nvSpPr>
        <p:spPr>
          <a:xfrm>
            <a:off x="853419" y="4726534"/>
            <a:ext cx="3657509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Precedents: $17.15-$30.80 per share.</a:t>
            </a:r>
            <a:endParaRPr lang="en-US" sz="1400" dirty="0"/>
          </a:p>
        </p:txBody>
      </p:sp>
      <p:sp>
        <p:nvSpPr>
          <p:cNvPr id="9" name="element_b6e8b56c7be7a190aff4aa82f891a39d"/>
          <p:cNvSpPr txBox="1"/>
          <p:nvPr/>
        </p:nvSpPr>
        <p:spPr>
          <a:xfrm>
            <a:off x="853419" y="5124983"/>
            <a:ext cx="3657509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DCF: $17.70-$37.50 per share.</a:t>
            </a:r>
            <a:endParaRPr lang="en-US" sz="1400" dirty="0"/>
          </a:p>
        </p:txBody>
      </p:sp>
      <p:sp>
        <p:nvSpPr>
          <p:cNvPr id="10" name="element_758df8ed3a56dde630242cfd031eaa63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4f02b97b6bdcaf682f5e3ceddca30fd9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b4337799c7b9f605f879ec3748d4a60d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b1b7a4b112483be4608575ab93fb5662"/>
          <p:cNvSpPr/>
          <p:nvPr/>
        </p:nvSpPr>
        <p:spPr>
          <a:xfrm>
            <a:off x="9647288" y="399821"/>
            <a:ext cx="1331333" cy="748894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d2a4465c417991f498ef6475da118d91"/>
          <p:cNvSpPr/>
          <p:nvPr/>
        </p:nvSpPr>
        <p:spPr>
          <a:xfrm>
            <a:off x="9999628" y="598018"/>
            <a:ext cx="825378" cy="464287"/>
          </a:xfrm>
          <a:prstGeom prst="roundRect">
            <a:avLst/>
          </a:prstGeom>
          <a:solidFill>
            <a:srgbClr val="DCECF0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827ed174f82f17bcde7c72f8e08651c6"/>
          <p:cNvSpPr/>
          <p:nvPr/>
        </p:nvSpPr>
        <p:spPr>
          <a:xfrm>
            <a:off x="10314174" y="774954"/>
            <a:ext cx="532777" cy="299695"/>
          </a:xfrm>
          <a:prstGeom prst="roundRect">
            <a:avLst/>
          </a:prstGeom>
          <a:solidFill>
            <a:srgbClr val="287A8D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0ddbf8c7eabfcd7028021f2c81cf38a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8e86cacda1fba24de8ebd5cb7f2e54b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06f59dc9a1fde8e64362a3deb859ba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ca5590bb4c1153d53acafd1eda9decb"/>
          <p:cNvSpPr/>
          <p:nvPr/>
        </p:nvSpPr>
        <p:spPr>
          <a:xfrm>
            <a:off x="670543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54fb43af512b3fffa8bbca5b3cdc6be"/>
          <p:cNvSpPr/>
          <p:nvPr/>
        </p:nvSpPr>
        <p:spPr>
          <a:xfrm>
            <a:off x="4206135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76dd3cafd05dd5a175c9ca80630b7b10"/>
          <p:cNvSpPr/>
          <p:nvPr/>
        </p:nvSpPr>
        <p:spPr>
          <a:xfrm>
            <a:off x="670543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245d268f480c99fcebdfd229811dc357"/>
          <p:cNvSpPr/>
          <p:nvPr/>
        </p:nvSpPr>
        <p:spPr>
          <a:xfrm>
            <a:off x="4206135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ee50100297b1705ce651e4fe4c4e5c8a"/>
          <p:cNvSpPr txBox="1"/>
          <p:nvPr/>
        </p:nvSpPr>
        <p:spPr>
          <a:xfrm>
            <a:off x="670543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0ebeac2ffff9ed3046a9c7bece179747"/>
          <p:cNvSpPr txBox="1"/>
          <p:nvPr/>
        </p:nvSpPr>
        <p:spPr>
          <a:xfrm>
            <a:off x="5791055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ef7ce492a11b762e5a8474668fce0fda"/>
          <p:cNvSpPr txBox="1"/>
          <p:nvPr/>
        </p:nvSpPr>
        <p:spPr>
          <a:xfrm>
            <a:off x="816844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69857ba97068c3d9b0281e2306c9d041"/>
          <p:cNvSpPr txBox="1"/>
          <p:nvPr/>
        </p:nvSpPr>
        <p:spPr>
          <a:xfrm>
            <a:off x="816844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bdd916c01fc717a95eecf6e7152b27c6"/>
          <p:cNvSpPr/>
          <p:nvPr/>
        </p:nvSpPr>
        <p:spPr>
          <a:xfrm>
            <a:off x="6181189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bdd916c01fc717a95eecf6e7152b27c6:text"/>
          <p:cNvSpPr txBox="1"/>
          <p:nvPr/>
        </p:nvSpPr>
        <p:spPr>
          <a:xfrm>
            <a:off x="6181189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Downside</a:t>
            </a:r>
            <a:endParaRPr lang="en-US" sz="1400" dirty="0"/>
          </a:p>
        </p:txBody>
      </p:sp>
      <p:sp>
        <p:nvSpPr>
          <p:cNvPr id="13" name="element_d0fd3b150053c22dc57e127c8cccf730"/>
          <p:cNvSpPr/>
          <p:nvPr/>
        </p:nvSpPr>
        <p:spPr>
          <a:xfrm>
            <a:off x="499737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d0fd3b150053c22dc57e127c8cccf730:text"/>
          <p:cNvSpPr txBox="1"/>
          <p:nvPr/>
        </p:nvSpPr>
        <p:spPr>
          <a:xfrm>
            <a:off x="499737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12005143694103bd4a4caf79fab8f510"/>
          <p:cNvSpPr/>
          <p:nvPr/>
        </p:nvSpPr>
        <p:spPr>
          <a:xfrm>
            <a:off x="3474633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12005143694103bd4a4caf79fab8f510:text"/>
          <p:cNvSpPr txBox="1"/>
          <p:nvPr/>
        </p:nvSpPr>
        <p:spPr>
          <a:xfrm>
            <a:off x="3474633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5551ad658ca5af7bc086fc1a5d2862b7"/>
          <p:cNvSpPr txBox="1"/>
          <p:nvPr/>
        </p:nvSpPr>
        <p:spPr>
          <a:xfrm>
            <a:off x="8412270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08</a:t>
            </a:r>
            <a:endParaRPr lang="en-US" sz="1500" dirty="0"/>
          </a:p>
        </p:txBody>
      </p:sp>
      <p:sp>
        <p:nvSpPr>
          <p:cNvPr id="18" name="element_2d0c4237ac1c00882ae6c8ed244da6c0"/>
          <p:cNvSpPr txBox="1"/>
          <p:nvPr/>
        </p:nvSpPr>
        <p:spPr>
          <a:xfrm>
            <a:off x="8412270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Downside and sensitivities</a:t>
            </a:r>
            <a:endParaRPr lang="en-US" sz="3600" dirty="0"/>
          </a:p>
        </p:txBody>
      </p:sp>
      <p:sp>
        <p:nvSpPr>
          <p:cNvPr id="19" name="element_c0cea912bf364bb2db689477885b3f67"/>
          <p:cNvSpPr txBox="1"/>
          <p:nvPr/>
        </p:nvSpPr>
        <p:spPr>
          <a:xfrm>
            <a:off x="8412270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DCF used discount rates of 13.4% to 14.6%. China sales: $5.299M versus $63.519M. Q2 2025 gross margin declined to 74.0% from 79.2% a year earlier.</a:t>
            </a:r>
            <a:endParaRPr lang="en-US" sz="1500" dirty="0"/>
          </a:p>
        </p:txBody>
      </p:sp>
      <p:sp>
        <p:nvSpPr>
          <p:cNvPr id="20" name="element_ec5bd9b1ac2f10d7c99ccc93061394e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d259eff6462b4927b2891a447490190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96d0b623c87dc67d0661da7b48c08c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b6307b127f0006547f909ee1d3cbc29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09</a:t>
            </a:r>
            <a:endParaRPr lang="en-US" sz="1500" dirty="0"/>
          </a:p>
        </p:txBody>
      </p:sp>
      <p:sp>
        <p:nvSpPr>
          <p:cNvPr id="4" name="element_0f4868093d51e6efa1867819445abc7e"/>
          <p:cNvSpPr txBox="1"/>
          <p:nvPr/>
        </p:nvSpPr>
        <p:spPr>
          <a:xfrm>
            <a:off x="853419" y="960120"/>
            <a:ext cx="999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Financing and capitalization</a:t>
            </a:r>
            <a:endParaRPr lang="en-US" sz="3200" dirty="0"/>
          </a:p>
        </p:txBody>
      </p:sp>
      <p:sp>
        <p:nvSpPr>
          <p:cNvPr id="5" name="element_7295ae196315a265bd46e86ed4b28f64"/>
          <p:cNvSpPr/>
          <p:nvPr/>
        </p:nvSpPr>
        <p:spPr>
          <a:xfrm>
            <a:off x="5435058" y="2392070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e8e48b0f05a5d52cd7aa0db1f36706df"/>
          <p:cNvSpPr/>
          <p:nvPr/>
        </p:nvSpPr>
        <p:spPr>
          <a:xfrm>
            <a:off x="5435058" y="3135478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b7c42e397f4a26ce51deee844dc2a506"/>
          <p:cNvSpPr/>
          <p:nvPr/>
        </p:nvSpPr>
        <p:spPr>
          <a:xfrm>
            <a:off x="853419" y="1851660"/>
            <a:ext cx="10484858" cy="502691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b7c42e397f4a26ce51deee844dc2a506:text"/>
          <p:cNvSpPr txBox="1"/>
          <p:nvPr/>
        </p:nvSpPr>
        <p:spPr>
          <a:xfrm>
            <a:off x="853419" y="1851660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Financing and capitalization</a:t>
            </a:r>
            <a:endParaRPr lang="en-US" sz="1200" dirty="0"/>
          </a:p>
        </p:txBody>
      </p:sp>
      <p:sp>
        <p:nvSpPr>
          <p:cNvPr id="9" name="element_c32e3ec105eebf2cce918669e5fc3731"/>
          <p:cNvSpPr/>
          <p:nvPr/>
        </p:nvSpPr>
        <p:spPr>
          <a:xfrm>
            <a:off x="853419" y="2594381"/>
            <a:ext cx="10484858" cy="502691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c32e3ec105eebf2cce918669e5fc3731:text"/>
          <p:cNvSpPr txBox="1"/>
          <p:nvPr/>
        </p:nvSpPr>
        <p:spPr>
          <a:xfrm>
            <a:off x="853419" y="2594381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Financing and capitalization</a:t>
            </a:r>
            <a:endParaRPr lang="en-US" sz="1200" dirty="0"/>
          </a:p>
        </p:txBody>
      </p:sp>
      <p:sp>
        <p:nvSpPr>
          <p:cNvPr id="11" name="element_09e6cc03e7905cb38e9205de477c0e2c"/>
          <p:cNvSpPr/>
          <p:nvPr/>
        </p:nvSpPr>
        <p:spPr>
          <a:xfrm>
            <a:off x="853419" y="3337789"/>
            <a:ext cx="10484858" cy="502691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09e6cc03e7905cb38e9205de477c0e2c:text"/>
          <p:cNvSpPr txBox="1"/>
          <p:nvPr/>
        </p:nvSpPr>
        <p:spPr>
          <a:xfrm>
            <a:off x="853419" y="3337789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financing and capitalization</a:t>
            </a:r>
            <a:endParaRPr lang="en-US" sz="1200" dirty="0"/>
          </a:p>
        </p:txBody>
      </p:sp>
      <p:sp>
        <p:nvSpPr>
          <p:cNvPr id="13" name="element_d490df1a7846067acea83ffe5aa5b6c2"/>
          <p:cNvSpPr txBox="1"/>
          <p:nvPr/>
        </p:nvSpPr>
        <p:spPr>
          <a:xfrm>
            <a:off x="853419" y="4046220"/>
            <a:ext cx="9631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Alcon represented that available funds cover the merger consideration, fees, and expenses. Cash and available-for-sale investments totaled $189.883 million at June 27, 2025. Q2 2025 operating loss was 67.6% of sales versus 12.0% operating income a year earlier.</a:t>
            </a:r>
            <a:endParaRPr lang="en-US" sz="1600" dirty="0"/>
          </a:p>
        </p:txBody>
      </p:sp>
      <p:sp>
        <p:nvSpPr>
          <p:cNvPr id="14" name="element_8b544851801531701f8d58fabaaabc70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df94ab368046224aa29f050536fe8534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354593537f9cc84ae99de95a5d479937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e070afa67911f63e22ed1a652fb47e43"/>
          <p:cNvSpPr/>
          <p:nvPr/>
        </p:nvSpPr>
        <p:spPr>
          <a:xfrm>
            <a:off x="9607056" y="377190"/>
            <a:ext cx="1432524" cy="805815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40ffb1cd0a0730625678f3def094faca"/>
          <p:cNvSpPr/>
          <p:nvPr/>
        </p:nvSpPr>
        <p:spPr>
          <a:xfrm>
            <a:off x="9978903" y="586359"/>
            <a:ext cx="888775" cy="499948"/>
          </a:xfrm>
          <a:prstGeom prst="roundRect">
            <a:avLst/>
          </a:prstGeom>
          <a:solidFill>
            <a:srgbClr val="DCECF0">
              <a:alpha val="5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e7910e77f7e7ac8fe6a6551bbb73afa5"/>
          <p:cNvSpPr/>
          <p:nvPr/>
        </p:nvSpPr>
        <p:spPr>
          <a:xfrm>
            <a:off x="10314174" y="774954"/>
            <a:ext cx="573010" cy="322326"/>
          </a:xfrm>
          <a:prstGeom prst="roundRect">
            <a:avLst/>
          </a:prstGeom>
          <a:solidFill>
            <a:srgbClr val="287A8D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147172a633ca0183d0edf8b7fe114ce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5a1a46cb0576e43ca0094de84f7d676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bce4c5b8462029353f8fae09896454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fda7a15d286458e3c043c8e0bdb898c"/>
          <p:cNvSpPr txBox="1"/>
          <p:nvPr/>
        </p:nvSpPr>
        <p:spPr>
          <a:xfrm>
            <a:off x="731502" y="445770"/>
            <a:ext cx="414517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10</a:t>
            </a:r>
            <a:endParaRPr lang="en-US" sz="1500" dirty="0"/>
          </a:p>
        </p:txBody>
      </p:sp>
      <p:sp>
        <p:nvSpPr>
          <p:cNvPr id="4" name="element_9e1baa52294552608740aada47ab1c77"/>
          <p:cNvSpPr txBox="1"/>
          <p:nvPr/>
        </p:nvSpPr>
        <p:spPr>
          <a:xfrm>
            <a:off x="731502" y="1165860"/>
            <a:ext cx="46328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Principal risks</a:t>
            </a:r>
            <a:endParaRPr lang="en-US" sz="4000" dirty="0"/>
          </a:p>
        </p:txBody>
      </p:sp>
      <p:sp>
        <p:nvSpPr>
          <p:cNvPr id="5" name="element_ac74890c9269e6f292ee315018d2c5cf"/>
          <p:cNvSpPr txBox="1"/>
          <p:nvPr/>
        </p:nvSpPr>
        <p:spPr>
          <a:xfrm>
            <a:off x="731502" y="3703320"/>
            <a:ext cx="4145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Citi fee: $26.6M of roughly $30.6M depended on closing. Citi: forecasts unverified; assumptions not opined. Citi assessed fairness; it did not recommend a stockholder vote.</a:t>
            </a:r>
            <a:endParaRPr lang="en-US" sz="1700" dirty="0"/>
          </a:p>
        </p:txBody>
      </p:sp>
      <p:sp>
        <p:nvSpPr>
          <p:cNvPr id="6" name="element_781a7e8df2dbafa6a935e90457ce75fb"/>
          <p:cNvSpPr/>
          <p:nvPr/>
        </p:nvSpPr>
        <p:spPr>
          <a:xfrm>
            <a:off x="5608180" y="4526280"/>
            <a:ext cx="2438339" cy="1028700"/>
          </a:xfrm>
          <a:prstGeom prst="roundRect">
            <a:avLst/>
          </a:prstGeom>
          <a:solidFill>
            <a:srgbClr val="DCECF0">
              <a:alpha val="45000"/>
            </a:srgbClr>
          </a:solidFill>
          <a:ln w="12700">
            <a:solidFill>
              <a:srgbClr val="287A8D">
                <a:alpha val="45000"/>
              </a:srgbClr>
            </a:solidFill>
            <a:prstDash val="solid"/>
          </a:ln>
        </p:spPr>
      </p:sp>
      <p:sp>
        <p:nvSpPr>
          <p:cNvPr id="7" name="element_781a7e8df2dbafa6a935e90457ce75fb:text"/>
          <p:cNvSpPr txBox="1"/>
          <p:nvPr/>
        </p:nvSpPr>
        <p:spPr>
          <a:xfrm>
            <a:off x="5608180" y="4526280"/>
            <a:ext cx="2438339" cy="10287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5554E">
                    <a:alpha val="45000"/>
                  </a:srgbClr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Citi fee: $26.6M of roughly $30.6M depended on closing.</a:t>
            </a:r>
            <a:endParaRPr lang="en-US" sz="1400" dirty="0"/>
          </a:p>
        </p:txBody>
      </p:sp>
      <p:sp>
        <p:nvSpPr>
          <p:cNvPr id="8" name="element_ac468ebe19a84ffae9310c1b0d790829"/>
          <p:cNvSpPr/>
          <p:nvPr/>
        </p:nvSpPr>
        <p:spPr>
          <a:xfrm>
            <a:off x="6888308" y="3223260"/>
            <a:ext cx="2865048" cy="1200150"/>
          </a:xfrm>
          <a:prstGeom prst="roundRect">
            <a:avLst/>
          </a:prstGeom>
          <a:solidFill>
            <a:srgbClr val="DCECF0">
              <a:alpha val="67000"/>
            </a:srgbClr>
          </a:solidFill>
          <a:ln w="12700">
            <a:solidFill>
              <a:srgbClr val="287A8D">
                <a:alpha val="67000"/>
              </a:srgbClr>
            </a:solidFill>
            <a:prstDash val="solid"/>
          </a:ln>
        </p:spPr>
      </p:sp>
      <p:sp>
        <p:nvSpPr>
          <p:cNvPr id="9" name="element_ac468ebe19a84ffae9310c1b0d790829:text"/>
          <p:cNvSpPr txBox="1"/>
          <p:nvPr/>
        </p:nvSpPr>
        <p:spPr>
          <a:xfrm>
            <a:off x="6888308" y="3223260"/>
            <a:ext cx="2865048" cy="120015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5554E">
                    <a:alpha val="67000"/>
                  </a:srgbClr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Citi: forecasts unverified; assumptions not opined.</a:t>
            </a:r>
            <a:endParaRPr lang="en-US" sz="1400" dirty="0"/>
          </a:p>
        </p:txBody>
      </p:sp>
      <p:sp>
        <p:nvSpPr>
          <p:cNvPr id="10" name="element_3e593e3d40cf954cfd1249b14b8ac528"/>
          <p:cNvSpPr/>
          <p:nvPr/>
        </p:nvSpPr>
        <p:spPr>
          <a:xfrm>
            <a:off x="8168436" y="1920240"/>
            <a:ext cx="3291758" cy="1371600"/>
          </a:xfrm>
          <a:prstGeom prst="roundRect">
            <a:avLst/>
          </a:prstGeom>
          <a:solidFill>
            <a:srgbClr val="287A8D">
              <a:alpha val="89000"/>
            </a:srgbClr>
          </a:solidFill>
          <a:ln w="12700">
            <a:solidFill>
              <a:srgbClr val="287A8D">
                <a:alpha val="89000"/>
              </a:srgbClr>
            </a:solidFill>
            <a:prstDash val="solid"/>
          </a:ln>
        </p:spPr>
      </p:sp>
      <p:sp>
        <p:nvSpPr>
          <p:cNvPr id="11" name="element_3e593e3d40cf954cfd1249b14b8ac528:text"/>
          <p:cNvSpPr txBox="1"/>
          <p:nvPr/>
        </p:nvSpPr>
        <p:spPr>
          <a:xfrm>
            <a:off x="8168436" y="1920240"/>
            <a:ext cx="3291758" cy="1371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4F7F8">
                    <a:alpha val="89000"/>
                  </a:srgbClr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Citi assessed fairness; it did not recommend a stockholder vote.</a:t>
            </a:r>
            <a:endParaRPr lang="en-US" sz="1400" dirty="0"/>
          </a:p>
        </p:txBody>
      </p:sp>
      <p:sp>
        <p:nvSpPr>
          <p:cNvPr id="12" name="element_a8b4cd131b5bc8a6cbd74bb990d4f080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74ae2fc383b4eb6bfc0e8cc3d82defb9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c856249f48c74fb186dc6f199b15b39c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4fe69796ac26837112edf403dd245fed"/>
          <p:cNvSpPr/>
          <p:nvPr/>
        </p:nvSpPr>
        <p:spPr>
          <a:xfrm>
            <a:off x="9586330" y="365531"/>
            <a:ext cx="1483729" cy="834619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36ef698570d4ff7ed5f7f84a301fbf74"/>
          <p:cNvSpPr/>
          <p:nvPr/>
        </p:nvSpPr>
        <p:spPr>
          <a:xfrm>
            <a:off x="9969149" y="580873"/>
            <a:ext cx="919254" cy="517093"/>
          </a:xfrm>
          <a:prstGeom prst="roundRect">
            <a:avLst/>
          </a:prstGeom>
          <a:solidFill>
            <a:srgbClr val="DCECF0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6bf1ae0c430560f91278f2f40c8daaf0"/>
          <p:cNvSpPr/>
          <p:nvPr/>
        </p:nvSpPr>
        <p:spPr>
          <a:xfrm>
            <a:off x="10314174" y="774954"/>
            <a:ext cx="593736" cy="333985"/>
          </a:xfrm>
          <a:prstGeom prst="roundRect">
            <a:avLst/>
          </a:prstGeom>
          <a:solidFill>
            <a:srgbClr val="287A8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ad6f05f39d45d5d46425ca026da8f2c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9" name="element_23d4d3a97f0a35ea22dabae98ab660a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2f80b45702d9f9da52fe9b016e7c811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19b657ec3ab6bb208bd0600c8b7e030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11</a:t>
            </a:r>
            <a:endParaRPr lang="en-US" sz="1500" dirty="0"/>
          </a:p>
        </p:txBody>
      </p:sp>
      <p:sp>
        <p:nvSpPr>
          <p:cNvPr id="4" name="element_f98bce743211869b3cdaa9fa0ded7e97"/>
          <p:cNvSpPr txBox="1"/>
          <p:nvPr/>
        </p:nvSpPr>
        <p:spPr>
          <a:xfrm>
            <a:off x="853419" y="960120"/>
            <a:ext cx="999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Outstanding diligence and conditions</a:t>
            </a:r>
            <a:endParaRPr lang="en-US" sz="3200" dirty="0"/>
          </a:p>
        </p:txBody>
      </p:sp>
      <p:sp>
        <p:nvSpPr>
          <p:cNvPr id="5" name="element_bdc7f49dbb362824a30f6c7b3379c3ab"/>
          <p:cNvSpPr/>
          <p:nvPr/>
        </p:nvSpPr>
        <p:spPr>
          <a:xfrm>
            <a:off x="5435058" y="2392070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50857b2c1f9e8ff7a2268cb236f15cb1"/>
          <p:cNvSpPr/>
          <p:nvPr/>
        </p:nvSpPr>
        <p:spPr>
          <a:xfrm>
            <a:off x="5435058" y="3135478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d9b0a2a8833f5290e26be6d4da99da6a"/>
          <p:cNvSpPr/>
          <p:nvPr/>
        </p:nvSpPr>
        <p:spPr>
          <a:xfrm>
            <a:off x="853419" y="1851660"/>
            <a:ext cx="10484858" cy="502691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d9b0a2a8833f5290e26be6d4da99da6a:text"/>
          <p:cNvSpPr txBox="1"/>
          <p:nvPr/>
        </p:nvSpPr>
        <p:spPr>
          <a:xfrm>
            <a:off x="853419" y="1851660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Outstanding diligence and conditions</a:t>
            </a:r>
            <a:endParaRPr lang="en-US" sz="1200" dirty="0"/>
          </a:p>
        </p:txBody>
      </p:sp>
      <p:sp>
        <p:nvSpPr>
          <p:cNvPr id="9" name="element_778641fa3dbac2af4f24b531a01b7572"/>
          <p:cNvSpPr/>
          <p:nvPr/>
        </p:nvSpPr>
        <p:spPr>
          <a:xfrm>
            <a:off x="853419" y="2594381"/>
            <a:ext cx="10484858" cy="502691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778641fa3dbac2af4f24b531a01b7572:text"/>
          <p:cNvSpPr txBox="1"/>
          <p:nvPr/>
        </p:nvSpPr>
        <p:spPr>
          <a:xfrm>
            <a:off x="853419" y="2594381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Outstanding diligence and conditions</a:t>
            </a:r>
            <a:endParaRPr lang="en-US" sz="1200" dirty="0"/>
          </a:p>
        </p:txBody>
      </p:sp>
      <p:sp>
        <p:nvSpPr>
          <p:cNvPr id="11" name="element_cd701fc4913b653cc6fbecac059a726b"/>
          <p:cNvSpPr/>
          <p:nvPr/>
        </p:nvSpPr>
        <p:spPr>
          <a:xfrm>
            <a:off x="853419" y="3337789"/>
            <a:ext cx="10484858" cy="502691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cd701fc4913b653cc6fbecac059a726b:text"/>
          <p:cNvSpPr txBox="1"/>
          <p:nvPr/>
        </p:nvSpPr>
        <p:spPr>
          <a:xfrm>
            <a:off x="853419" y="3337789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outstanding diligence and conditions</a:t>
            </a:r>
            <a:endParaRPr lang="en-US" sz="1200" dirty="0"/>
          </a:p>
        </p:txBody>
      </p:sp>
      <p:sp>
        <p:nvSpPr>
          <p:cNvPr id="13" name="element_ad21f71d34ee21074f1d1ee49908a9bd"/>
          <p:cNvSpPr txBox="1"/>
          <p:nvPr/>
        </p:nvSpPr>
        <p:spPr>
          <a:xfrm>
            <a:off x="853419" y="4046220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Majority threshold: 24,677,062 shares. Closing requires HSR and antitrust clearances. Broadwood: 27.3% ownership; opposed the merger.</a:t>
            </a:r>
            <a:endParaRPr lang="en-US" sz="1600" dirty="0"/>
          </a:p>
        </p:txBody>
      </p:sp>
      <p:sp>
        <p:nvSpPr>
          <p:cNvPr id="14" name="element_1f322a9e1d5a43912e7d1db82d2c8c69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c63b2a39e739dea7f6dcb27428b75305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bfe5698dbe4bb3a255dba1cefcffcb0d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161107a025a421e1cae1697e389f36f1"/>
          <p:cNvSpPr/>
          <p:nvPr/>
        </p:nvSpPr>
        <p:spPr>
          <a:xfrm>
            <a:off x="9566823" y="354559"/>
            <a:ext cx="1534934" cy="863422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2763c476ce000cd2d2c93278f7d5139d"/>
          <p:cNvSpPr/>
          <p:nvPr/>
        </p:nvSpPr>
        <p:spPr>
          <a:xfrm>
            <a:off x="9958177" y="574700"/>
            <a:ext cx="950952" cy="534924"/>
          </a:xfrm>
          <a:prstGeom prst="roundRect">
            <a:avLst/>
          </a:prstGeom>
          <a:solidFill>
            <a:srgbClr val="DCECF0">
              <a:alpha val="5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7b86ff3d950eab20f17d7cc626336e95"/>
          <p:cNvSpPr/>
          <p:nvPr/>
        </p:nvSpPr>
        <p:spPr>
          <a:xfrm>
            <a:off x="10314174" y="774954"/>
            <a:ext cx="613242" cy="344957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0bd6652e067de00acb40084c7780867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473b8e36d73849a8541ef998b9d5573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3db17a3a28aa6f5e483ac038dfec3e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7382852a108d81fc93fd5bb750ca1d9"/>
          <p:cNvSpPr txBox="1"/>
          <p:nvPr/>
        </p:nvSpPr>
        <p:spPr>
          <a:xfrm>
            <a:off x="853419" y="2743200"/>
            <a:ext cx="104848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200" b="1" spc="-12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summary + appendix</a:t>
            </a:r>
            <a:endParaRPr lang="en-US" sz="5200" dirty="0"/>
          </a:p>
        </p:txBody>
      </p:sp>
      <p:sp>
        <p:nvSpPr>
          <p:cNvPr id="4" name="element_71a5a34e5dca757df5492c6f5d928fe4"/>
          <p:cNvSpPr/>
          <p:nvPr/>
        </p:nvSpPr>
        <p:spPr>
          <a:xfrm>
            <a:off x="9875273" y="4251960"/>
            <a:ext cx="1463003" cy="685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70383489cf12e74286fc6a42c8cd2bac"/>
          <p:cNvSpPr txBox="1"/>
          <p:nvPr/>
        </p:nvSpPr>
        <p:spPr>
          <a:xfrm>
            <a:off x="6461598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MEMO / 12</a:t>
            </a:r>
            <a:endParaRPr lang="en-US" sz="1500" dirty="0"/>
          </a:p>
        </p:txBody>
      </p:sp>
      <p:sp>
        <p:nvSpPr>
          <p:cNvPr id="6" name="element_29a79243276122e05bff1aa37cffecd8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4237aafee8016d151845c30a8fa94a4e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517fdec50e10a96a003b8cc8c8389152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1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e8b176cd778ecc1acd0d8000a4937747"/>
          <p:cNvSpPr/>
          <p:nvPr/>
        </p:nvSpPr>
        <p:spPr>
          <a:xfrm>
            <a:off x="1060677" y="342900"/>
            <a:ext cx="1584920" cy="891540"/>
          </a:xfrm>
          <a:prstGeom prst="roundRect">
            <a:avLst/>
          </a:prstGeom>
          <a:solidFill>
            <a:srgbClr val="DCECF0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5aabf11719a503254c6937613c616f5b"/>
          <p:cNvSpPr/>
          <p:nvPr/>
        </p:nvSpPr>
        <p:spPr>
          <a:xfrm>
            <a:off x="1260621" y="569214"/>
            <a:ext cx="982651" cy="552755"/>
          </a:xfrm>
          <a:prstGeom prst="roundRect">
            <a:avLst/>
          </a:prstGeom>
          <a:solidFill>
            <a:srgbClr val="DCECF0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69b6b040954388328fed51dcb2349b7d"/>
          <p:cNvSpPr/>
          <p:nvPr/>
        </p:nvSpPr>
        <p:spPr>
          <a:xfrm>
            <a:off x="1243553" y="774954"/>
            <a:ext cx="633968" cy="356616"/>
          </a:xfrm>
          <a:prstGeom prst="roundRect">
            <a:avLst/>
          </a:prstGeom>
          <a:solidFill>
            <a:srgbClr val="287A8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f7db68aa55ce7ab18416477ad10e995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224fceeb98797b7688da498f2b81487e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STAAR Surgical / Alcon — 12-slide opportunity memo</dc:title>
  <dc:subject>compress the accepted decision structure without changing its interpretation</dc:subject>
  <dc:creator>NodeSlide</dc:creator>
  <cp:lastModifiedBy>NodeSlide</cp:lastModifiedBy>
  <cp:revision>1</cp:revision>
  <dcterms:created xsi:type="dcterms:W3CDTF">2026-08-02T12:19:54Z</dcterms:created>
  <dcterms:modified xsi:type="dcterms:W3CDTF">2026-08-02T12:19:54Z</dcterms:modified>
</cp:coreProperties>
</file>