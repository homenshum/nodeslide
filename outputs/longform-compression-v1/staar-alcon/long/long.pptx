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1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2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3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4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5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6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7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8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9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10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11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12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charts/chart13.xml" ContentType="application/vnd.openxmlformats-officedocument.drawingml.chart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charts/chart14.xml" ContentType="application/vnd.openxmlformats-officedocument.drawingml.chart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2022A</c:v>
                  </c:pt>
                  <c:pt idx="1">
                    <c:v>2023A</c:v>
                  </c:pt>
                  <c:pt idx="2">
                    <c:v>2024A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284.391</c:v>
                </c:pt>
                <c:pt idx="1">
                  <c:v>322.415</c:v>
                </c:pt>
                <c:pt idx="2">
                  <c:v>313.901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Q2 2024</c:v>
                  </c:pt>
                  <c:pt idx="1">
                    <c:v>Q2 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99.005</c:v>
                </c:pt>
                <c:pt idx="1">
                  <c:v>44.32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H1 2024</c:v>
                  </c:pt>
                  <c:pt idx="1">
                    <c:v>H1 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176.361</c:v>
                </c:pt>
                <c:pt idx="1">
                  <c:v>86.909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Q2 2024</c:v>
                  </c:pt>
                  <c:pt idx="1">
                    <c:v>Q2 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63.519</c:v>
                </c:pt>
                <c:pt idx="1">
                  <c:v>5.299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Q2 2024</c:v>
                  </c:pt>
                  <c:pt idx="1">
                    <c:v>Q2 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-67.6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2025E</c:v>
                  </c:pt>
                  <c:pt idx="1">
                    <c:v>2026E</c:v>
                  </c:pt>
                  <c:pt idx="2">
                    <c:v>2027E</c:v>
                  </c:pt>
                  <c:pt idx="3">
                    <c:v>2028E</c:v>
                  </c:pt>
                  <c:pt idx="4">
                    <c:v>2029E</c:v>
                  </c:pt>
                  <c:pt idx="5">
                    <c:v>2030E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260</c:v>
                </c:pt>
                <c:pt idx="1">
                  <c:v>340</c:v>
                </c:pt>
                <c:pt idx="2">
                  <c:v>375</c:v>
                </c:pt>
                <c:pt idx="3">
                  <c:v>408</c:v>
                </c:pt>
                <c:pt idx="4">
                  <c:v>448</c:v>
                </c:pt>
                <c:pt idx="5">
                  <c:v>495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2025E</c:v>
                  </c:pt>
                  <c:pt idx="1">
                    <c:v>2026E</c:v>
                  </c:pt>
                  <c:pt idx="2">
                    <c:v>2027E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256</c:v>
                </c:pt>
                <c:pt idx="1">
                  <c:v>350</c:v>
                </c:pt>
                <c:pt idx="2">
                  <c:v>428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Final 2025E</c:v>
                  </c:pt>
                  <c:pt idx="1">
                    <c:v>July 2025E</c:v>
                  </c:pt>
                  <c:pt idx="2">
                    <c:v>Final 2026E</c:v>
                  </c:pt>
                  <c:pt idx="3">
                    <c:v>July 2026E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260</c:v>
                </c:pt>
                <c:pt idx="1">
                  <c:v>256</c:v>
                </c:pt>
                <c:pt idx="2">
                  <c:v>340</c:v>
                </c:pt>
                <c:pt idx="3">
                  <c:v>350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2025E</c:v>
                  </c:pt>
                  <c:pt idx="1">
                    <c:v>2026E</c:v>
                  </c:pt>
                  <c:pt idx="2">
                    <c:v>2027E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98</c:v>
                </c:pt>
                <c:pt idx="2">
                  <c:v>142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Public comps low</c:v>
                  </c:pt>
                  <c:pt idx="1">
                    <c:v>Public comps high</c:v>
                  </c:pt>
                  <c:pt idx="2">
                    <c:v>Offer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16.35</c:v>
                </c:pt>
                <c:pt idx="1">
                  <c:v>23.8</c:v>
                </c:pt>
                <c:pt idx="2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Precedents low</c:v>
                  </c:pt>
                  <c:pt idx="1">
                    <c:v>Offer</c:v>
                  </c:pt>
                  <c:pt idx="2">
                    <c:v>Precedents 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17.15</c:v>
                </c:pt>
                <c:pt idx="1">
                  <c:v>28</c:v>
                </c:pt>
                <c:pt idx="2">
                  <c:v>30.8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DCF low</c:v>
                  </c:pt>
                  <c:pt idx="1">
                    <c:v>Offer</c:v>
                  </c:pt>
                  <c:pt idx="2">
                    <c:v>DCF 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17.7</c:v>
                </c:pt>
                <c:pt idx="1">
                  <c:v>28</c:v>
                </c:pt>
                <c:pt idx="2">
                  <c:v>37.5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Discount rate low</c:v>
                  </c:pt>
                  <c:pt idx="1">
                    <c:v>Discount rate high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13.4</c:v>
                </c:pt>
                <c:pt idx="1">
                  <c:v>14.6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52-week low</c:v>
                  </c:pt>
                  <c:pt idx="1">
                    <c:v>Offer</c:v>
                  </c:pt>
                  <c:pt idx="2">
                    <c:v>52-week 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15.09</c:v>
                </c:pt>
                <c:pt idx="1">
                  <c:v>28</c:v>
                </c:pt>
                <c:pt idx="2">
                  <c:v>40.36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01 / Cover. Composition grammar: full-bleed-thesis. Keep the spoken transition focused on "STAAR Surgical / Alcon transaction approval"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02 / Executive summary and requested decision. Composition grammar: decision-gate. Keep the spoken transition focused on "Recommendation at a glance"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03 / Executive summary and requested decision. Composition grammar: risk-field. Keep the spoken transition focused on "Decision scorecard"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04 / Executive summary and requested decision. Composition grammar: decision-gate. Keep the spoken transition focused on "What must be true"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05 / Executive summary and requested decision. Composition grammar: decision-gate. Keep the spoken transition focused on "Committee request"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06 / Transaction overview and key terms. Composition grammar: process-canvas. Keep the spoken transition focused on "Consideration and implied value"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07 / Transaction overview and key terms. Composition grammar: asymmetric-editorial. Keep the spoken transition focused on "Offer history and negotiation path"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08 / Transaction overview and key terms. Composition grammar: process-canvas. Keep the spoken transition focused on "Termination protections"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09 / Transaction overview and key terms. Composition grammar: metric-stage. Keep the spoken transition focused on "Conditions and closing dependencies"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10 / Transaction overview and key terms. Composition grammar: risk-field. Keep the spoken transition focused on "Terms that change the risk/reward"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11 / Strategic rationale. Composition grammar: sparse-transition. Keep the spoken transition focused on "Strategic fit with Alcon"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12 / Strategic rationale. Composition grammar: process-canvas. Keep the spoken transition focused on "Portfolio and channel complementarity"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13 / Strategic rationale. Composition grammar: process-canvas. Keep the spoken transition focused on "China access and execution thesis"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14 / Strategic rationale. Composition grammar: asymmetric-editorial. Keep the spoken transition focused on "Management synergy claims"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15 / Strategic rationale. Composition grammar: evidence-dossier. Keep the spoken transition focused on "Standalone alternatives"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16 / Strategic rationale. Composition grammar: risk-field. Keep the spoken transition focused on "Rationale under a downside case"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17 / Strategic rationale. Composition grammar: process-canvas. Keep the spoken transition focused on "Strategic conclusion"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18 / Company and market overview. Composition grammar: metric-stage. Keep the spoken transition focused on "STAAR business model"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19 / Company and market overview. Composition grammar: process-canvas. Keep the spoken transition focused on "ICL portfolio and revenue concentration"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20 / Company and market overview. Composition grammar: comparison-field. Keep the spoken transition focused on "Geographic mix and China exposure"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21 / Company and market overview. Composition grammar: risk-field. Keep the spoken transition focused on "Customer and channel structure"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22 / Company and market overview. Composition grammar: evidence-dossier. Keep the spoken transition focused on "Market growth claims and evidence gaps"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23 / Company and market overview. Composition grammar: asymmetric-editorial. Keep the spoken transition focused on "Competitive positioning"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24 / Company and market overview. Composition grammar: process-canvas. Keep the spoken transition focused on "Regulatory and reimbursement context"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25 / Company and market overview. Composition grammar: asymmetric-editorial. Keep the spoken transition focused on "Company/market conclusion"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26 / Historical operating performance. Composition grammar: sparse-transition. Keep the spoken transition focused on "Historical revenue trajectory"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27 / Historical operating performance. Composition grammar: asymmetric-editorial. Keep the spoken transition focused on "ICL concentration"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28 / Historical operating performance. Composition grammar: scene-stage. Keep the spoken transition focused on "Q2 revenue dislocation"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
[source_501c25de9e21b8738c98be4cfb0dc518] Brief success criteria
Citation: Preserve exact transaction terms and critical numbers; Expose downside, conflicts, and unresolved diligence; Keep every material claim source-grounded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29 / Historical operating performance. Composition grammar: asymmetric-editorial. Keep the spoken transition focused on "First-half revenue dislocation"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30 / Historical operating performance. Composition grammar: asymmetric-editorial. Keep the spoken transition focused on "China revenue collapse"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31 / Historical operating performance. Composition grammar: asymmetric-editorial. Keep the spoken transition focused on "Gross-margin pressure"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32 / Historical operating performance. Keep the spoken transition focused on “Operating leverage and losses”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33 / Historical operating performance. Composition grammar: asymmetric-editorial. Keep the spoken transition focused on "Liquidity and net cash"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34 / Historical operating performance. Composition grammar: process-canvas. Keep the spoken transition focused on "Historical conclusion"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35 / Management projections and model drivers. Composition grammar: metric-stage. Keep the spoken transition focused on "Projection framework and caveats"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36 / Management projections and model drivers. Composition grammar: asymmetric-editorial. Keep the spoken transition focused on "Final management revenue forecast"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37 / Management projections and model drivers. Composition grammar: asymmetric-editorial. Keep the spoken transition focused on "July diligence revenue case"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38 / Management projections and model drivers. Composition grammar: asymmetric-editorial. Keep the spoken transition focused on "Final versus July forecast bridge"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39 / Management projections and model drivers. Composition grammar: asymmetric-editorial. Keep the spoken transition focused on "EBITDA ramp required"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40 / Management projections and model drivers. Keep the spoken transition focused on “China recovery assumptions”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41 / Management projections and model drivers. Composition grammar: process-canvas. Keep the spoken transition focused on "Margin and operating-leverage drivers"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42 / Management projections and model drivers. Composition grammar: risk-field. Keep the spoken transition focused on "Forecast risk map"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43 / Management projections and model drivers. Composition grammar: asymmetric-editorial. Keep the spoken transition focused on "Projection conclusion"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44 / Valuation analyses. Composition grammar: sparse-transition. Keep the spoken transition focused on "Valuation framework"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45 / Valuation analyses. Composition grammar: asymmetric-editorial. Keep the spoken transition focused on "Selected public companies"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46 / Valuation analyses. Composition grammar: asymmetric-editorial. Keep the spoken transition focused on "Selected precedent transactions"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47 / Valuation analyses. Composition grammar: asymmetric-editorial. Keep the spoken transition focused on "Discounted cash flow"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48 / Valuation analyses. Composition grammar: asymmetric-editorial. Keep the spoken transition focused on "DCF sensitivity"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49 / Valuation analyses. Composition grammar: asymmetric-editorial. Keep the spoken transition focused on "52-week trading context"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50 / Valuation analyses. Composition grammar: metric-stage. Keep the spoken transition focused on "Analyst target context"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51 / Valuation analyses. Composition grammar: evidence-dossier. Keep the spoken transition focused on "Fairness-opinion conflicts"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52 / Sources, uses, financing, and capital structure. Composition grammar: sparse-transition. Keep the spoken transition focused on "Funding structure"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53 / Sources, uses, financing, and capital structure. Composition grammar: process-canvas. Keep the spoken transition focused on "Sources and uses"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54 / Sources, uses, financing, and capital structure. Composition grammar: process-canvas. Keep the spoken transition focused on "Cash consideration flow"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55 / Sources, uses, financing, and capital structure. Composition grammar: scene-stage. Keep the spoken transition focused on "Pro forma capitalization"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
[source_501c25de9e21b8738c98be4cfb0dc518] Brief success criteria
Citation: Preserve exact transaction terms and critical numbers; Expose downside, conflicts, and unresolved diligence; Keep every material claim source-grounded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56 / Sources, uses, financing, and capital structure. Composition grammar: asymmetric-editorial. Keep the spoken transition focused on "Financing and capital-structure conclusion"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57 / Sensitivities and downside scenarios. Composition grammar: metric-stage. Keep the spoken transition focused on "Downside framework"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58 / Sensitivities and downside scenarios. Composition grammar: tension-contrast-field. Keep the spoken transition focused on "China recovery miss"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59 / Sensitivities and downside scenarios. Composition grammar: process-canvas. Keep the spoken transition focused on "Forecast sensitivity"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60 / Sensitivities and downside scenarios. Composition grammar: evidence-dossier. Keep the spoken transition focused on "Valuation sensitivity"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61 / Sensitivities and downside scenarios. Composition grammar: decision-gate. Keep the spoken transition focused on "Standalone downside conclusion"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62 / Key risks and counterarguments. Composition grammar: metric-stage. Keep the spoken transition focused on "Risk framework"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63 / Key risks and counterarguments. Composition grammar: risk-field. Keep the spoken transition focused on "China and channel risk"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64 / Key risks and counterarguments. Composition grammar: risk-field. Keep the spoken transition focused on "Forecast credibility"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65 / Key risks and counterarguments. Composition grammar: risk-field. Keep the spoken transition focused on "Process and price challenge"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66 / Key risks and counterarguments. Composition grammar: evidence-dossier. Keep the spoken transition focused on "Advisor conflicts and fairness limitations"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67 / Process, approvals, and outstanding diligence. Composition grammar: decision-gate. Keep the spoken transition focused on "Approvals and decision rights"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68 / Process, approvals, and outstanding diligence. Composition grammar: process-canvas. Keep the spoken transition focused on "Outstanding diligence"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69 / Process, approvals, and outstanding diligence. Composition grammar: process-canvas. Keep the spoken transition focused on "Closing path and owners"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70 / Recommendation. Composition grammar: decision-gate. Keep the spoken transition focused on "Conditional recommendation"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71 / Source register and appendix index. Composition grammar: sparse-transition. Keep the spoken transition focused on "Source register"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72 / Source register and appendix index. Composition grammar: comparison-field. Keep the spoken transition focused on "Appendix and claim index"
Evidence note: Content is based on the supplied creation brief. Illustrative examples are not independently verified; replace them with measured evidence before external publication.
NodeSlide sources
[source_fc73b203cf9081d5022f1e8b589d086f] STAAR Surgical / Alcon — 72-slide transaction approval — creation brief
Citation: Create exactly 72 slides from the frozen pre-vote source bundle only. https://www.sec.gov/Archives/edgar/data/718937/000119312525173090/d30729d8k.htm https://www.sec.gov/Archives/edgar/data/718937/000119312525204396/d72691ddefm14a.htm https://www.sec.gov/Archives/edgar/data/718937/000095017025058179/2024-10k_ars.pdf https://www.sec.gov/Archives/edgar/data/718937/000095017025103982/staa-20250627.htm https://data.sec.gov/api/xbrl/companyfacts/CIK0000718937.json https://www.sec.gov/Archives/edgar/data/718937/000121390025095514/ea0259891-dfan14a_broadwood.htm https://www.sec.gov/Archives/edgar/data/718937/000119312525218827/d911579dex991.htm
Disclaimer: Internal working material
[source_04fdc41fce0a01c3739e035ed8d2180b] sec.gov · supplied source 1
Citation: https://www.sec.gov/Archives/edgar/data/718937/000119312525173090/d30729d8k.htm
URL: https://www.sec.gov/Archives/edgar/data/718937/000119312525173090/d30729d8k.htm
Disclaimer: User-supplied linked evidence; verify reuse rights before external publication.
[source_1a09b9470dd38473437a3895e1af1678] sec.gov · supplied source 2
Citation: https://www.sec.gov/Archives/edgar/data/718937/000119312525204396/d72691ddefm14a.htm
URL: https://www.sec.gov/Archives/edgar/data/718937/000119312525204396/d72691ddefm14a.htm
Disclaimer: User-supplied linked evidence; verify reuse rights before external publication.
[source_da314aa582ecb508bae83a3e10afb0e1] sec.gov · supplied source 3
Citation: https://www.sec.gov/Archives/edgar/data/718937/000095017025058179/2024-10k_ars.pdf
URL: https://www.sec.gov/Archives/edgar/data/718937/000095017025058179/2024-10k_ars.pdf
Disclaimer: User-supplied linked evidence; verify reuse rights before external publication.
[source_02f7790c14492908796df123444ca476] sec.gov · supplied source 4
Citation: https://www.sec.gov/Archives/edgar/data/718937/000095017025103982/staa-20250627.htm
URL: https://www.sec.gov/Archives/edgar/data/718937/000095017025103982/staa-20250627.htm
Disclaimer: User-supplied linked evidence; verify reuse rights before external publication.
[source_20ed4bfe7f1a908a052cd699b2429c46] data.sec.gov · supplied source 5
Citation: https://data.sec.gov/api/xbrl/companyfacts/CIK0000718937.json
URL: https://data.sec.gov/api/xbrl/companyfacts/CIK0000718937.json
Disclaimer: User-supplied linked evidence; verify reuse rights before external publication.
[source_3d7608e56d70e422f84b7a7d8b6b8be7] sec.gov · supplied source 6
Citation: https://www.sec.gov/Archives/edgar/data/718937/000121390025095514/ea0259891-dfan14a_broadwood.htm
URL: https://www.sec.gov/Archives/edgar/data/718937/000121390025095514/ea0259891-dfan14a_broadwood.htm
Disclaimer: User-supplied linked evidence; verify reuse rights before external publication.
[source_16e4bc415b1e4ca644f49f0edee06639] sec.gov · supplied source 7
Citation: https://www.sec.gov/Archives/edgar/data/718937/000119312525218827/d911579dex991.htm
URL: https://www.sec.gov/Archives/edgar/data/718937/000119312525218827/d911579dex991.htm
Disclaimer: User-supplied linked evidence; verify reuse rights before external publication.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7d0ecb3473f3d5cc89c7dd3cdfca174a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13159f49cf6f4a24c4c78f9b12bd314"/>
          <p:cNvSpPr txBox="1"/>
          <p:nvPr/>
        </p:nvSpPr>
        <p:spPr>
          <a:xfrm>
            <a:off x="853419" y="2599868"/>
            <a:ext cx="10484858" cy="1658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400" b="1" spc="-12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STAAR Surgical / Alcon transaction approval</a:t>
            </a:r>
            <a:endParaRPr lang="en-US" sz="6400" dirty="0"/>
          </a:p>
        </p:txBody>
      </p:sp>
      <p:sp>
        <p:nvSpPr>
          <p:cNvPr id="4" name="element_56b1235e0683dcc2da9975c8028c2777"/>
          <p:cNvSpPr/>
          <p:nvPr/>
        </p:nvSpPr>
        <p:spPr>
          <a:xfrm>
            <a:off x="853419" y="4395292"/>
            <a:ext cx="1463003" cy="6858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f1e1730f98a6c59bd73897be8987298f"/>
          <p:cNvSpPr txBox="1"/>
          <p:nvPr/>
        </p:nvSpPr>
        <p:spPr>
          <a:xfrm>
            <a:off x="853419" y="41148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 / COVER</a:t>
            </a:r>
            <a:endParaRPr lang="en-US" sz="1500" dirty="0"/>
          </a:p>
        </p:txBody>
      </p:sp>
      <p:sp>
        <p:nvSpPr>
          <p:cNvPr id="6" name="element_0e73f23451636de7640e5ae2b8142f1c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6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9fb874621e931660eafe5d2926b8f47b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e29e9f7b122ed9cede3a7d7fa42d428f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20f617746f6c66c206e5769360a8a256"/>
          <p:cNvSpPr/>
          <p:nvPr/>
        </p:nvSpPr>
        <p:spPr>
          <a:xfrm>
            <a:off x="9786274" y="478003"/>
            <a:ext cx="983870" cy="553441"/>
          </a:xfrm>
          <a:prstGeom prst="roundRect">
            <a:avLst/>
          </a:prstGeom>
          <a:solidFill>
            <a:srgbClr val="DCEC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d3ac1ea018afa0032edc6583a01aa845"/>
          <p:cNvSpPr/>
          <p:nvPr/>
        </p:nvSpPr>
        <p:spPr>
          <a:xfrm>
            <a:off x="10069121" y="637108"/>
            <a:ext cx="609585" cy="342900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97aecbd73467597de552eca4be374204"/>
          <p:cNvSpPr/>
          <p:nvPr/>
        </p:nvSpPr>
        <p:spPr>
          <a:xfrm>
            <a:off x="10314174" y="774954"/>
            <a:ext cx="393792" cy="221513"/>
          </a:xfrm>
          <a:prstGeom prst="roundRect">
            <a:avLst/>
          </a:prstGeom>
          <a:solidFill>
            <a:srgbClr val="287A8D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0602bd83147b6c9bc1a7f4f7cf1a91d8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6411821eb4f7dbbf65cc4c6579660e8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ae54fe15a3afba1fa166946447651b82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ae0743fa9718549771938bceea819a8"/>
          <p:cNvSpPr/>
          <p:nvPr/>
        </p:nvSpPr>
        <p:spPr>
          <a:xfrm>
            <a:off x="609585" y="754380"/>
            <a:ext cx="4145176" cy="521208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fae0743fa9718549771938bceea819a8:text"/>
          <p:cNvSpPr txBox="1"/>
          <p:nvPr/>
        </p:nvSpPr>
        <p:spPr>
          <a:xfrm>
            <a:off x="609585" y="754380"/>
            <a:ext cx="4145176" cy="5212080"/>
          </a:xfrm>
          <a:prstGeom prst="rect">
            <a:avLst/>
          </a:prstGeom>
          <a:noFill/>
          <a:ln/>
        </p:spPr>
        <p:txBody>
          <a:bodyPr wrap="square" lIns="279400" tIns="279400" rIns="279400" bIns="27940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28</a:t>
            </a:r>
            <a:endParaRPr lang="en-US" sz="4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USD/share</a:t>
            </a:r>
            <a:endParaRPr lang="en-US" sz="4200" dirty="0"/>
          </a:p>
        </p:txBody>
      </p:sp>
      <p:sp>
        <p:nvSpPr>
          <p:cNvPr id="5" name="element_e1e84abf2d227467653095759f21ba08"/>
          <p:cNvSpPr txBox="1"/>
          <p:nvPr/>
        </p:nvSpPr>
        <p:spPr>
          <a:xfrm>
            <a:off x="5730097" y="617220"/>
            <a:ext cx="536434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 / EXECUTIVE SUMMARY AND REQUESTED DECISION</a:t>
            </a:r>
            <a:endParaRPr lang="en-US" sz="1500" dirty="0"/>
          </a:p>
        </p:txBody>
      </p:sp>
      <p:sp>
        <p:nvSpPr>
          <p:cNvPr id="6" name="element_b8286645c0a5cdceda88437712164a91"/>
          <p:cNvSpPr txBox="1"/>
          <p:nvPr/>
        </p:nvSpPr>
        <p:spPr>
          <a:xfrm>
            <a:off x="5730097" y="1234440"/>
            <a:ext cx="56081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Recommendation at a glance</a:t>
            </a:r>
            <a:endParaRPr lang="en-US" sz="3800" dirty="0"/>
          </a:p>
        </p:txBody>
      </p:sp>
      <p:sp>
        <p:nvSpPr>
          <p:cNvPr id="7" name="element_f938a65cd325ca2581540a8d0d5dac1d"/>
          <p:cNvSpPr txBox="1"/>
          <p:nvPr/>
        </p:nvSpPr>
        <p:spPr>
          <a:xfrm>
            <a:off x="5730097" y="2948940"/>
            <a:ext cx="56081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Recommendation at a glance: Alcon offered $28.00 in cash per STAAR share.</a:t>
            </a:r>
            <a:endParaRPr lang="en-US" sz="1600" dirty="0"/>
          </a:p>
        </p:txBody>
      </p:sp>
      <p:sp>
        <p:nvSpPr>
          <p:cNvPr id="8" name="element_9de488e9ff0aa6c3cb23f7d3dfaa2edd"/>
          <p:cNvSpPr/>
          <p:nvPr/>
        </p:nvSpPr>
        <p:spPr>
          <a:xfrm>
            <a:off x="5730097" y="4251960"/>
            <a:ext cx="5608180" cy="534924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9de488e9ff0aa6c3cb23f7d3dfaa2edd:text"/>
          <p:cNvSpPr txBox="1"/>
          <p:nvPr/>
        </p:nvSpPr>
        <p:spPr>
          <a:xfrm>
            <a:off x="5730097" y="4251960"/>
            <a:ext cx="5608180" cy="53492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Alcon offered $28.00 in cash per STAAR share.</a:t>
            </a:r>
            <a:endParaRPr lang="en-US" sz="1400" dirty="0"/>
          </a:p>
        </p:txBody>
      </p:sp>
      <p:sp>
        <p:nvSpPr>
          <p:cNvPr id="10" name="element_f67aa5a5faafea62a75c385a7d74149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c9242cf70db737a94220110dc2c98ed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5a153d426392424054d8b848f70eb536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2848b0e5d64b6699bd4564ea85833a5"/>
          <p:cNvSpPr/>
          <p:nvPr/>
        </p:nvSpPr>
        <p:spPr>
          <a:xfrm>
            <a:off x="8058711" y="3497580"/>
            <a:ext cx="3462441" cy="2359152"/>
          </a:xfrm>
          <a:prstGeom prst="roundRect">
            <a:avLst/>
          </a:prstGeom>
          <a:solidFill>
            <a:srgbClr val="DCECF0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b2f2570fc09072a0a46ba216cb44dc5e"/>
          <p:cNvSpPr/>
          <p:nvPr/>
        </p:nvSpPr>
        <p:spPr>
          <a:xfrm>
            <a:off x="4523119" y="3497580"/>
            <a:ext cx="3462441" cy="2359152"/>
          </a:xfrm>
          <a:prstGeom prst="roundRect">
            <a:avLst/>
          </a:prstGeom>
          <a:solidFill>
            <a:srgbClr val="DCECF0">
              <a:alpha val="2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aec4ea73abb6f129c31e15c960268ec3"/>
          <p:cNvSpPr/>
          <p:nvPr/>
        </p:nvSpPr>
        <p:spPr>
          <a:xfrm>
            <a:off x="8058711" y="1097280"/>
            <a:ext cx="3462441" cy="2359152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a4be278f45904d16f4624b7ea726a99e"/>
          <p:cNvSpPr/>
          <p:nvPr/>
        </p:nvSpPr>
        <p:spPr>
          <a:xfrm>
            <a:off x="4523119" y="1097280"/>
            <a:ext cx="3462441" cy="2359152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6d9c439e442ca836d92f161bee9b4825"/>
          <p:cNvSpPr txBox="1"/>
          <p:nvPr/>
        </p:nvSpPr>
        <p:spPr>
          <a:xfrm>
            <a:off x="9570481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RARE</a:t>
            </a:r>
            <a:endParaRPr lang="en-US" sz="1400" dirty="0"/>
          </a:p>
        </p:txBody>
      </p:sp>
      <p:sp>
        <p:nvSpPr>
          <p:cNvPr id="8" name="element_3cd235646f067f6baa049eb087155fd8"/>
          <p:cNvSpPr txBox="1"/>
          <p:nvPr/>
        </p:nvSpPr>
        <p:spPr>
          <a:xfrm>
            <a:off x="4449969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LIKELY</a:t>
            </a:r>
            <a:endParaRPr lang="en-US" sz="1400" dirty="0"/>
          </a:p>
        </p:txBody>
      </p:sp>
      <p:sp>
        <p:nvSpPr>
          <p:cNvPr id="9" name="element_3fc13a9a8a64efb394b984f54945634e"/>
          <p:cNvSpPr txBox="1"/>
          <p:nvPr/>
        </p:nvSpPr>
        <p:spPr>
          <a:xfrm>
            <a:off x="9424180" y="534924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MINOR</a:t>
            </a:r>
            <a:endParaRPr lang="en-US" sz="1400" dirty="0"/>
          </a:p>
        </p:txBody>
      </p:sp>
      <p:sp>
        <p:nvSpPr>
          <p:cNvPr id="10" name="element_55c08389b0c78e795f88c65cca3a2063"/>
          <p:cNvSpPr txBox="1"/>
          <p:nvPr/>
        </p:nvSpPr>
        <p:spPr>
          <a:xfrm>
            <a:off x="9424180" y="1220724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1" name="element_bca3fc18b7417cf65c69f5c8a6fd5721"/>
          <p:cNvSpPr/>
          <p:nvPr/>
        </p:nvSpPr>
        <p:spPr>
          <a:xfrm>
            <a:off x="4547502" y="1207008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2" name="element_bca3fc18b7417cf65c69f5c8a6fd5721:text"/>
          <p:cNvSpPr txBox="1"/>
          <p:nvPr/>
        </p:nvSpPr>
        <p:spPr>
          <a:xfrm>
            <a:off x="4547502" y="1207008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Scorecard</a:t>
            </a:r>
            <a:endParaRPr lang="en-US" sz="1400" dirty="0"/>
          </a:p>
        </p:txBody>
      </p:sp>
      <p:sp>
        <p:nvSpPr>
          <p:cNvPr id="13" name="element_834ea43d0b8038ad624cfe731f19539b"/>
          <p:cNvSpPr/>
          <p:nvPr/>
        </p:nvSpPr>
        <p:spPr>
          <a:xfrm>
            <a:off x="5731316" y="2010080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4" name="element_834ea43d0b8038ad624cfe731f19539b:text"/>
          <p:cNvSpPr txBox="1"/>
          <p:nvPr/>
        </p:nvSpPr>
        <p:spPr>
          <a:xfrm>
            <a:off x="5731316" y="2010080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5" name="element_6d8c7382909c15ea861dfe32a5c5d284"/>
          <p:cNvSpPr/>
          <p:nvPr/>
        </p:nvSpPr>
        <p:spPr>
          <a:xfrm>
            <a:off x="7254059" y="2001164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6" name="element_6d8c7382909c15ea861dfe32a5c5d284:text"/>
          <p:cNvSpPr txBox="1"/>
          <p:nvPr/>
        </p:nvSpPr>
        <p:spPr>
          <a:xfrm>
            <a:off x="7254059" y="2001164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7" name="element_a2cc220cd9974497406d3886540b8518"/>
          <p:cNvSpPr txBox="1"/>
          <p:nvPr/>
        </p:nvSpPr>
        <p:spPr>
          <a:xfrm>
            <a:off x="731502" y="1028700"/>
            <a:ext cx="304792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 / EXECUTIVE SUMMARY AND REQUESTED DECISION</a:t>
            </a:r>
            <a:endParaRPr lang="en-US" sz="1500" dirty="0"/>
          </a:p>
        </p:txBody>
      </p:sp>
      <p:sp>
        <p:nvSpPr>
          <p:cNvPr id="18" name="element_8577708720be8bcf8fb475786db97af5"/>
          <p:cNvSpPr txBox="1"/>
          <p:nvPr/>
        </p:nvSpPr>
        <p:spPr>
          <a:xfrm>
            <a:off x="731502" y="1577340"/>
            <a:ext cx="304792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scorecard</a:t>
            </a:r>
            <a:endParaRPr lang="en-US" sz="3600" dirty="0"/>
          </a:p>
        </p:txBody>
      </p:sp>
      <p:sp>
        <p:nvSpPr>
          <p:cNvPr id="19" name="element_dc7d0ba5e1aa569c0fd7778d05f89bfc"/>
          <p:cNvSpPr txBox="1"/>
          <p:nvPr/>
        </p:nvSpPr>
        <p:spPr>
          <a:xfrm>
            <a:off x="731502" y="3703320"/>
            <a:ext cx="3047924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decision scorecard as a committee decision. Show the evidence and the open condition.</a:t>
            </a:r>
            <a:endParaRPr lang="en-US" sz="1700" dirty="0"/>
          </a:p>
        </p:txBody>
      </p:sp>
      <p:sp>
        <p:nvSpPr>
          <p:cNvPr id="20" name="element_ee64fe345d94f35e657325f63c5d2e90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eae52cf8a90bb1f1ecb7514d6c828cf6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e0dfe27f1b4bba8c19c6de34a37a5a35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3865a47d8e98f713f89125902cf9bdb"/>
          <p:cNvSpPr/>
          <p:nvPr/>
        </p:nvSpPr>
        <p:spPr>
          <a:xfrm>
            <a:off x="609585" y="754380"/>
            <a:ext cx="4145176" cy="521208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53865a47d8e98f713f89125902cf9bdb:text"/>
          <p:cNvSpPr txBox="1"/>
          <p:nvPr/>
        </p:nvSpPr>
        <p:spPr>
          <a:xfrm>
            <a:off x="609585" y="754380"/>
            <a:ext cx="4145176" cy="5212080"/>
          </a:xfrm>
          <a:prstGeom prst="rect">
            <a:avLst/>
          </a:prstGeom>
          <a:noFill/>
          <a:ln/>
        </p:spPr>
        <p:txBody>
          <a:bodyPr wrap="square" lIns="279400" tIns="279400" rIns="279400" bIns="27940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DECIDE</a:t>
            </a:r>
            <a:endParaRPr lang="en-US" sz="3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WITH CONDITIONS</a:t>
            </a:r>
            <a:endParaRPr lang="en-US" sz="3200" dirty="0"/>
          </a:p>
        </p:txBody>
      </p:sp>
      <p:sp>
        <p:nvSpPr>
          <p:cNvPr id="5" name="element_ce87d5eec4627e23c68765ddb3831fc0"/>
          <p:cNvSpPr txBox="1"/>
          <p:nvPr/>
        </p:nvSpPr>
        <p:spPr>
          <a:xfrm>
            <a:off x="5730097" y="617220"/>
            <a:ext cx="536434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 / EXECUTIVE SUMMARY AND REQUESTED DECISION</a:t>
            </a:r>
            <a:endParaRPr lang="en-US" sz="1500" dirty="0"/>
          </a:p>
        </p:txBody>
      </p:sp>
      <p:sp>
        <p:nvSpPr>
          <p:cNvPr id="6" name="element_ef7a2f4b0f4daa8e5420e3d99a7eb6ba"/>
          <p:cNvSpPr txBox="1"/>
          <p:nvPr/>
        </p:nvSpPr>
        <p:spPr>
          <a:xfrm>
            <a:off x="5730097" y="1234440"/>
            <a:ext cx="56081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What must be true</a:t>
            </a:r>
            <a:endParaRPr lang="en-US" sz="3800" dirty="0"/>
          </a:p>
        </p:txBody>
      </p:sp>
      <p:sp>
        <p:nvSpPr>
          <p:cNvPr id="7" name="element_69177fe9a644ba30fe3830d3aeb0d8e9"/>
          <p:cNvSpPr txBox="1"/>
          <p:nvPr/>
        </p:nvSpPr>
        <p:spPr>
          <a:xfrm>
            <a:off x="5730097" y="2948940"/>
            <a:ext cx="56081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what must be true as a committee decision. Show the evidence and the open condition.</a:t>
            </a:r>
            <a:endParaRPr lang="en-US" sz="1600" dirty="0"/>
          </a:p>
        </p:txBody>
      </p:sp>
      <p:sp>
        <p:nvSpPr>
          <p:cNvPr id="8" name="element_93bccca97228b1a75828d08887bdebfd"/>
          <p:cNvSpPr/>
          <p:nvPr/>
        </p:nvSpPr>
        <p:spPr>
          <a:xfrm>
            <a:off x="5730097" y="4251960"/>
            <a:ext cx="5608180" cy="534924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93bccca97228b1a75828d08887bdebfd:text"/>
          <p:cNvSpPr txBox="1"/>
          <p:nvPr/>
        </p:nvSpPr>
        <p:spPr>
          <a:xfrm>
            <a:off x="5730097" y="4251960"/>
            <a:ext cx="5608180" cy="53492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Decide: What must be true</a:t>
            </a:r>
            <a:endParaRPr lang="en-US" sz="1400" dirty="0"/>
          </a:p>
        </p:txBody>
      </p:sp>
      <p:sp>
        <p:nvSpPr>
          <p:cNvPr id="10" name="element_a75c8b74d17cbed320edc5ad1752ddf0"/>
          <p:cNvSpPr/>
          <p:nvPr/>
        </p:nvSpPr>
        <p:spPr>
          <a:xfrm>
            <a:off x="5730097" y="4903470"/>
            <a:ext cx="5608180" cy="534924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a75c8b74d17cbed320edc5ad1752ddf0:text"/>
          <p:cNvSpPr txBox="1"/>
          <p:nvPr/>
        </p:nvSpPr>
        <p:spPr>
          <a:xfrm>
            <a:off x="5730097" y="4903470"/>
            <a:ext cx="5608180" cy="53492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Use filed facts and attributed advocacy</a:t>
            </a:r>
            <a:endParaRPr lang="en-US" sz="1400" dirty="0"/>
          </a:p>
        </p:txBody>
      </p:sp>
      <p:sp>
        <p:nvSpPr>
          <p:cNvPr id="12" name="element_261cd9e32c1d0dfe6b68f68ca6b43614"/>
          <p:cNvSpPr/>
          <p:nvPr/>
        </p:nvSpPr>
        <p:spPr>
          <a:xfrm>
            <a:off x="5730097" y="5554980"/>
            <a:ext cx="5608180" cy="534924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261cd9e32c1d0dfe6b68f68ca6b43614:text"/>
          <p:cNvSpPr txBox="1"/>
          <p:nvPr/>
        </p:nvSpPr>
        <p:spPr>
          <a:xfrm>
            <a:off x="5730097" y="5554980"/>
            <a:ext cx="5608180" cy="53492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Gate stays closed while critical evidence is open</a:t>
            </a:r>
            <a:endParaRPr lang="en-US" sz="1400" dirty="0"/>
          </a:p>
        </p:txBody>
      </p:sp>
      <p:sp>
        <p:nvSpPr>
          <p:cNvPr id="14" name="element_796f08b1bb7d7f2a6c5717096e8a800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17893003e88ba31c798b2101ce2fe476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a9c50772259af5dcbe5f67c5ed634fe3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99c256133143e2a65f8abf10d1277e2"/>
          <p:cNvSpPr/>
          <p:nvPr/>
        </p:nvSpPr>
        <p:spPr>
          <a:xfrm>
            <a:off x="7436934" y="754380"/>
            <a:ext cx="4145176" cy="521208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b99c256133143e2a65f8abf10d1277e2:text"/>
          <p:cNvSpPr txBox="1"/>
          <p:nvPr/>
        </p:nvSpPr>
        <p:spPr>
          <a:xfrm>
            <a:off x="7436934" y="754380"/>
            <a:ext cx="4145176" cy="5212080"/>
          </a:xfrm>
          <a:prstGeom prst="rect">
            <a:avLst/>
          </a:prstGeom>
          <a:noFill/>
          <a:ln/>
        </p:spPr>
        <p:txBody>
          <a:bodyPr wrap="square" lIns="279400" tIns="279400" rIns="279400" bIns="27940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DECIDE</a:t>
            </a:r>
            <a:endParaRPr lang="en-US" sz="3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WITH CONDITIONS</a:t>
            </a:r>
            <a:endParaRPr lang="en-US" sz="3200" dirty="0"/>
          </a:p>
        </p:txBody>
      </p:sp>
      <p:sp>
        <p:nvSpPr>
          <p:cNvPr id="5" name="element_4a1c09c738cb34e76fd2bd45ee24af59"/>
          <p:cNvSpPr txBox="1"/>
          <p:nvPr/>
        </p:nvSpPr>
        <p:spPr>
          <a:xfrm>
            <a:off x="1097253" y="617220"/>
            <a:ext cx="536434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 / EXECUTIVE SUMMARY AND REQUESTED DECISION</a:t>
            </a:r>
            <a:endParaRPr lang="en-US" sz="1500" dirty="0"/>
          </a:p>
        </p:txBody>
      </p:sp>
      <p:sp>
        <p:nvSpPr>
          <p:cNvPr id="6" name="element_bcee0f0047e7e560ed37785f0dce371f"/>
          <p:cNvSpPr txBox="1"/>
          <p:nvPr/>
        </p:nvSpPr>
        <p:spPr>
          <a:xfrm>
            <a:off x="853419" y="1234440"/>
            <a:ext cx="56081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Committee request</a:t>
            </a:r>
            <a:endParaRPr lang="en-US" sz="3800" dirty="0"/>
          </a:p>
        </p:txBody>
      </p:sp>
      <p:sp>
        <p:nvSpPr>
          <p:cNvPr id="7" name="element_64c561a8c77a7a0909e1cef3ea90b1ee"/>
          <p:cNvSpPr txBox="1"/>
          <p:nvPr/>
        </p:nvSpPr>
        <p:spPr>
          <a:xfrm>
            <a:off x="853419" y="2948940"/>
            <a:ext cx="56081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Committee request: Gate: China, forecast bridge, and clearances.</a:t>
            </a:r>
            <a:endParaRPr lang="en-US" sz="1600" dirty="0"/>
          </a:p>
        </p:txBody>
      </p:sp>
      <p:sp>
        <p:nvSpPr>
          <p:cNvPr id="8" name="element_03ff3c5ea5d7561b666a0e0502938a75"/>
          <p:cNvSpPr/>
          <p:nvPr/>
        </p:nvSpPr>
        <p:spPr>
          <a:xfrm>
            <a:off x="853419" y="4251960"/>
            <a:ext cx="5608180" cy="534924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03ff3c5ea5d7561b666a0e0502938a75:text"/>
          <p:cNvSpPr txBox="1"/>
          <p:nvPr/>
        </p:nvSpPr>
        <p:spPr>
          <a:xfrm>
            <a:off x="853419" y="4251960"/>
            <a:ext cx="5608180" cy="53492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Gate: China, forecast bridge, and clearances.</a:t>
            </a:r>
            <a:endParaRPr lang="en-US" sz="1400" dirty="0"/>
          </a:p>
        </p:txBody>
      </p:sp>
      <p:sp>
        <p:nvSpPr>
          <p:cNvPr id="10" name="element_c77a60c521a8f000df270748512ffd21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4484470a0d8208d338534f1af910bfb8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9b9e46d58e49767008fca892f03ffbf3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ac50ffd90048e40f896e3f066420e15"/>
          <p:cNvSpPr txBox="1"/>
          <p:nvPr/>
        </p:nvSpPr>
        <p:spPr>
          <a:xfrm>
            <a:off x="1706837" y="514350"/>
            <a:ext cx="877802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 / TRANSACTION OVERVIEW AND KEY TERMS</a:t>
            </a:r>
            <a:endParaRPr lang="en-US" sz="1500" dirty="0"/>
          </a:p>
        </p:txBody>
      </p:sp>
      <p:sp>
        <p:nvSpPr>
          <p:cNvPr id="4" name="element_2eedf115bf5580b50e4c10b05b48638a"/>
          <p:cNvSpPr txBox="1"/>
          <p:nvPr/>
        </p:nvSpPr>
        <p:spPr>
          <a:xfrm>
            <a:off x="975336" y="1028700"/>
            <a:ext cx="5120512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Consideration and implied value</a:t>
            </a:r>
            <a:endParaRPr lang="en-US" sz="3200" dirty="0"/>
          </a:p>
        </p:txBody>
      </p:sp>
      <p:sp>
        <p:nvSpPr>
          <p:cNvPr id="5" name="element_bbb8e73b0745e82158e8a5b7aeef1676"/>
          <p:cNvSpPr/>
          <p:nvPr/>
        </p:nvSpPr>
        <p:spPr>
          <a:xfrm>
            <a:off x="2926007" y="3291840"/>
            <a:ext cx="243834" cy="342900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6" name="element_77b6a48af188e648aa1239af6b5009e0"/>
          <p:cNvSpPr/>
          <p:nvPr/>
        </p:nvSpPr>
        <p:spPr>
          <a:xfrm>
            <a:off x="2926007" y="4320540"/>
            <a:ext cx="243834" cy="342900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7" name="element_82860dcd7c27436501642c36c4770d0f"/>
          <p:cNvSpPr/>
          <p:nvPr/>
        </p:nvSpPr>
        <p:spPr>
          <a:xfrm>
            <a:off x="975336" y="2606040"/>
            <a:ext cx="4145176" cy="685800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82860dcd7c27436501642c36c4770d0f:text"/>
          <p:cNvSpPr txBox="1"/>
          <p:nvPr/>
        </p:nvSpPr>
        <p:spPr>
          <a:xfrm>
            <a:off x="975336" y="26060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Consideration and implied value</a:t>
            </a:r>
            <a:endParaRPr lang="en-US" sz="1200" dirty="0"/>
          </a:p>
        </p:txBody>
      </p:sp>
      <p:sp>
        <p:nvSpPr>
          <p:cNvPr id="9" name="element_8978bf248bd99dca869ff793babe0882"/>
          <p:cNvSpPr/>
          <p:nvPr/>
        </p:nvSpPr>
        <p:spPr>
          <a:xfrm>
            <a:off x="975336" y="3634740"/>
            <a:ext cx="4145176" cy="685800"/>
          </a:xfrm>
          <a:prstGeom prst="roundRect">
            <a:avLst/>
          </a:prstGeom>
          <a:solidFill>
            <a:srgbClr val="DDEDE8"/>
          </a:solidFill>
          <a:ln w="25400">
            <a:solidFill>
              <a:srgbClr val="287A8D"/>
            </a:solidFill>
            <a:prstDash val="solid"/>
          </a:ln>
        </p:spPr>
      </p:sp>
      <p:sp>
        <p:nvSpPr>
          <p:cNvPr id="10" name="element_8978bf248bd99dca869ff793babe0882:text"/>
          <p:cNvSpPr txBox="1"/>
          <p:nvPr/>
        </p:nvSpPr>
        <p:spPr>
          <a:xfrm>
            <a:off x="975336" y="36347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gate: Consideration and implied value</a:t>
            </a:r>
            <a:endParaRPr lang="en-US" sz="1200" dirty="0"/>
          </a:p>
        </p:txBody>
      </p:sp>
      <p:sp>
        <p:nvSpPr>
          <p:cNvPr id="11" name="element_13d9369dd9d8dc66dd6d616c11a712bd"/>
          <p:cNvSpPr/>
          <p:nvPr/>
        </p:nvSpPr>
        <p:spPr>
          <a:xfrm>
            <a:off x="975336" y="4663440"/>
            <a:ext cx="4145176" cy="68580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2" name="element_13d9369dd9d8dc66dd6d616c11a712bd:text"/>
          <p:cNvSpPr txBox="1"/>
          <p:nvPr/>
        </p:nvSpPr>
        <p:spPr>
          <a:xfrm>
            <a:off x="975336" y="46634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on consideration and implied value</a:t>
            </a:r>
            <a:endParaRPr lang="en-US" sz="1200" dirty="0"/>
          </a:p>
        </p:txBody>
      </p:sp>
      <p:sp>
        <p:nvSpPr>
          <p:cNvPr id="13" name="element_88af10dd2f911a144bfca5ab8f9b9c9a"/>
          <p:cNvSpPr txBox="1"/>
          <p:nvPr/>
        </p:nvSpPr>
        <p:spPr>
          <a:xfrm>
            <a:off x="6339682" y="2743200"/>
            <a:ext cx="46328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Consideration and implied value: Alcon offered $28.00 in cash per STAAR share.</a:t>
            </a:r>
            <a:endParaRPr lang="en-US" sz="1600" dirty="0"/>
          </a:p>
        </p:txBody>
      </p:sp>
      <p:sp>
        <p:nvSpPr>
          <p:cNvPr id="14" name="element_bf928c5d59027cff65dd2f70f9493145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6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cf3fe4bf4c2b7214fc11d5494bc6c5f1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5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c14a768490ed1c678784c9d5c9e4cdbc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4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350067e5e94be55fa7d423071f01e52f"/>
          <p:cNvSpPr/>
          <p:nvPr/>
        </p:nvSpPr>
        <p:spPr>
          <a:xfrm>
            <a:off x="9769205" y="468401"/>
            <a:ext cx="1026541" cy="577444"/>
          </a:xfrm>
          <a:prstGeom prst="roundRect">
            <a:avLst/>
          </a:prstGeom>
          <a:solidFill>
            <a:srgbClr val="DCECF0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815c778deb338c048d095d0faf9ca222"/>
          <p:cNvSpPr/>
          <p:nvPr/>
        </p:nvSpPr>
        <p:spPr>
          <a:xfrm>
            <a:off x="10060587" y="632308"/>
            <a:ext cx="636406" cy="357988"/>
          </a:xfrm>
          <a:prstGeom prst="roundRect">
            <a:avLst/>
          </a:prstGeom>
          <a:solidFill>
            <a:srgbClr val="DCECF0">
              <a:alpha val="3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8aa241370f8945f9b75485f99ff44dc6"/>
          <p:cNvSpPr/>
          <p:nvPr/>
        </p:nvSpPr>
        <p:spPr>
          <a:xfrm>
            <a:off x="10314174" y="774954"/>
            <a:ext cx="410860" cy="231115"/>
          </a:xfrm>
          <a:prstGeom prst="roundRect">
            <a:avLst/>
          </a:prstGeom>
          <a:solidFill>
            <a:srgbClr val="287A8D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f150f2ed07e36bf9b4ecb379c17e2148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c881183eed1b1b538f2fd6a611cb2cb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45fd8fabcf3191b2c34dfa75c1cc11bb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ba84167990abc6a6a7f58297e2ff04a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 / TRANSACTION OVERVIEW AND KEY TERMS</a:t>
            </a:r>
            <a:endParaRPr lang="en-US" sz="1500" dirty="0"/>
          </a:p>
        </p:txBody>
      </p:sp>
      <p:sp>
        <p:nvSpPr>
          <p:cNvPr id="4" name="element_b3324e9faa699247ad3f36eac9656a8d"/>
          <p:cNvSpPr txBox="1"/>
          <p:nvPr/>
        </p:nvSpPr>
        <p:spPr>
          <a:xfrm>
            <a:off x="853419" y="1097280"/>
            <a:ext cx="104848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Offer history and negotiation path</a:t>
            </a:r>
            <a:endParaRPr lang="en-US" sz="4200" dirty="0"/>
          </a:p>
        </p:txBody>
      </p:sp>
      <p:sp>
        <p:nvSpPr>
          <p:cNvPr id="5" name="element_2845c7063e3d5004f3ed289b01562ea8"/>
          <p:cNvSpPr txBox="1"/>
          <p:nvPr/>
        </p:nvSpPr>
        <p:spPr>
          <a:xfrm>
            <a:off x="853419" y="2743200"/>
            <a:ext cx="963143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Offer history and negotiation path: $28 was approximately 59% above STAAR's 90-day VWAP and 51% above its August 4, 2025 close.</a:t>
            </a:r>
            <a:endParaRPr lang="en-US" sz="1800" dirty="0"/>
          </a:p>
        </p:txBody>
      </p:sp>
      <p:sp>
        <p:nvSpPr>
          <p:cNvPr id="6" name="element_18881fd90acef18c2886e51ac375c1e1"/>
          <p:cNvSpPr txBox="1"/>
          <p:nvPr/>
        </p:nvSpPr>
        <p:spPr>
          <a:xfrm>
            <a:off x="7193100" y="3909060"/>
            <a:ext cx="4023259" cy="859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$28 was approximately 59% above STAAR's 90-day VWAP and 51% above its August 4, 2025 close.</a:t>
            </a:r>
            <a:endParaRPr lang="en-US" sz="1700" dirty="0"/>
          </a:p>
        </p:txBody>
      </p:sp>
      <p:sp>
        <p:nvSpPr>
          <p:cNvPr id="7" name="element_ae1bdb54562d18448cc1782caac841cd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6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273d399cca84a8ee4fcd487563fc30ed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5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c626478db95e221f178952655f1ab5dc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3c1b345162a521f9c777792774027058"/>
          <p:cNvSpPr/>
          <p:nvPr/>
        </p:nvSpPr>
        <p:spPr>
          <a:xfrm>
            <a:off x="9766767" y="467030"/>
            <a:ext cx="1035075" cy="582244"/>
          </a:xfrm>
          <a:prstGeom prst="roundRect">
            <a:avLst/>
          </a:prstGeom>
          <a:solidFill>
            <a:srgbClr val="DCECF0">
              <a:alpha val="2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3a8a6321fa8ec258a009956fe81b1249"/>
          <p:cNvSpPr/>
          <p:nvPr/>
        </p:nvSpPr>
        <p:spPr>
          <a:xfrm>
            <a:off x="10058149" y="630936"/>
            <a:ext cx="641283" cy="360731"/>
          </a:xfrm>
          <a:prstGeom prst="roundRect">
            <a:avLst/>
          </a:prstGeom>
          <a:solidFill>
            <a:srgbClr val="DCECF0">
              <a:alpha val="3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02c54bc533557306dbcf49d9873aba34"/>
          <p:cNvSpPr/>
          <p:nvPr/>
        </p:nvSpPr>
        <p:spPr>
          <a:xfrm>
            <a:off x="10314174" y="774954"/>
            <a:ext cx="413298" cy="232486"/>
          </a:xfrm>
          <a:prstGeom prst="roundRect">
            <a:avLst/>
          </a:prstGeom>
          <a:solidFill>
            <a:srgbClr val="287A8D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3c7e05b4b724066f44da5413cbff41d6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bbcce7100fd490f4bafe496b37cd046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8b3ee390001c876255ef177a70559adf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16782a0bdd38c078c1d8b1f4bc1cb6d"/>
          <p:cNvSpPr txBox="1"/>
          <p:nvPr/>
        </p:nvSpPr>
        <p:spPr>
          <a:xfrm>
            <a:off x="853419" y="41148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08 / TRANSACTION OVERVIEW AND KEY TERMS</a:t>
            </a:r>
            <a:endParaRPr lang="en-US" sz="1500" dirty="0"/>
          </a:p>
        </p:txBody>
      </p:sp>
      <p:sp>
        <p:nvSpPr>
          <p:cNvPr id="4" name="element_faefac250bdd38a045b2a1f02a1f4df8"/>
          <p:cNvSpPr txBox="1"/>
          <p:nvPr/>
        </p:nvSpPr>
        <p:spPr>
          <a:xfrm>
            <a:off x="853419" y="960120"/>
            <a:ext cx="9997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Termination protections</a:t>
            </a:r>
            <a:endParaRPr lang="en-US" sz="3200" dirty="0"/>
          </a:p>
        </p:txBody>
      </p:sp>
      <p:sp>
        <p:nvSpPr>
          <p:cNvPr id="5" name="element_71d334f5fad7e4d94c338eea3c1fc8fa"/>
          <p:cNvSpPr/>
          <p:nvPr/>
        </p:nvSpPr>
        <p:spPr>
          <a:xfrm>
            <a:off x="2499298" y="2763774"/>
            <a:ext cx="3596550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6" name="element_54682c849332255007ce944d74e9f97f"/>
          <p:cNvSpPr/>
          <p:nvPr/>
        </p:nvSpPr>
        <p:spPr>
          <a:xfrm>
            <a:off x="6095848" y="2763774"/>
            <a:ext cx="3596550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7" name="element_cf5a946621d479b31a044a9ed51499e7"/>
          <p:cNvSpPr/>
          <p:nvPr/>
        </p:nvSpPr>
        <p:spPr>
          <a:xfrm>
            <a:off x="853419" y="2366010"/>
            <a:ext cx="3291758" cy="960120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cf5a946621d479b31a044a9ed51499e7:text"/>
          <p:cNvSpPr txBox="1"/>
          <p:nvPr/>
        </p:nvSpPr>
        <p:spPr>
          <a:xfrm>
            <a:off x="853419" y="2366010"/>
            <a:ext cx="3291758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Termination protections</a:t>
            </a:r>
            <a:endParaRPr lang="en-US" sz="1200" dirty="0"/>
          </a:p>
        </p:txBody>
      </p:sp>
      <p:sp>
        <p:nvSpPr>
          <p:cNvPr id="9" name="element_06f8595c2802e45629d528b49e84cbe5"/>
          <p:cNvSpPr/>
          <p:nvPr/>
        </p:nvSpPr>
        <p:spPr>
          <a:xfrm>
            <a:off x="4449969" y="2366010"/>
            <a:ext cx="3291758" cy="960120"/>
          </a:xfrm>
          <a:prstGeom prst="roundRect">
            <a:avLst/>
          </a:prstGeom>
          <a:solidFill>
            <a:srgbClr val="DDEDE8"/>
          </a:solidFill>
          <a:ln w="25400">
            <a:solidFill>
              <a:srgbClr val="287A8D"/>
            </a:solidFill>
            <a:prstDash val="solid"/>
          </a:ln>
        </p:spPr>
      </p:sp>
      <p:sp>
        <p:nvSpPr>
          <p:cNvPr id="10" name="element_06f8595c2802e45629d528b49e84cbe5:text"/>
          <p:cNvSpPr txBox="1"/>
          <p:nvPr/>
        </p:nvSpPr>
        <p:spPr>
          <a:xfrm>
            <a:off x="4449969" y="2366010"/>
            <a:ext cx="3291758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gate: Termination protections</a:t>
            </a:r>
            <a:endParaRPr lang="en-US" sz="1200" dirty="0"/>
          </a:p>
        </p:txBody>
      </p:sp>
      <p:sp>
        <p:nvSpPr>
          <p:cNvPr id="11" name="element_0d329ce27f1ee997f05f603daf81f53f"/>
          <p:cNvSpPr/>
          <p:nvPr/>
        </p:nvSpPr>
        <p:spPr>
          <a:xfrm>
            <a:off x="8046519" y="2366010"/>
            <a:ext cx="3291758" cy="96012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2" name="element_0d329ce27f1ee997f05f603daf81f53f:text"/>
          <p:cNvSpPr txBox="1"/>
          <p:nvPr/>
        </p:nvSpPr>
        <p:spPr>
          <a:xfrm>
            <a:off x="8046519" y="2366010"/>
            <a:ext cx="3291758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on termination protections</a:t>
            </a:r>
            <a:endParaRPr lang="en-US" sz="1200" dirty="0"/>
          </a:p>
        </p:txBody>
      </p:sp>
      <p:sp>
        <p:nvSpPr>
          <p:cNvPr id="13" name="element_826d198b6df523b3a84feb781aabef2b"/>
          <p:cNvSpPr txBox="1"/>
          <p:nvPr/>
        </p:nvSpPr>
        <p:spPr>
          <a:xfrm>
            <a:off x="853419" y="3531870"/>
            <a:ext cx="963143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Termination protections: $58/share in April 2024 preceded the $28 agreement.</a:t>
            </a:r>
            <a:endParaRPr lang="en-US" sz="1600" dirty="0"/>
          </a:p>
        </p:txBody>
      </p:sp>
      <p:sp>
        <p:nvSpPr>
          <p:cNvPr id="14" name="element_c91220767888abbc24064e4c588e825c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929ec4751edab2c88eb383fbda78294a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2a7e627f0ca9a7c7e8681ccf53fc0948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0cd642c8ed082b78a24bddbe1c707a51"/>
          <p:cNvSpPr/>
          <p:nvPr/>
        </p:nvSpPr>
        <p:spPr>
          <a:xfrm>
            <a:off x="9763110" y="464972"/>
            <a:ext cx="1043609" cy="587045"/>
          </a:xfrm>
          <a:prstGeom prst="roundRect">
            <a:avLst/>
          </a:prstGeom>
          <a:solidFill>
            <a:srgbClr val="DCECF0">
              <a:alpha val="2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54916ea4f5f563ef6ee2ba32416cc14d"/>
          <p:cNvSpPr/>
          <p:nvPr/>
        </p:nvSpPr>
        <p:spPr>
          <a:xfrm>
            <a:off x="10056929" y="630250"/>
            <a:ext cx="646160" cy="363474"/>
          </a:xfrm>
          <a:prstGeom prst="roundRect">
            <a:avLst/>
          </a:prstGeom>
          <a:solidFill>
            <a:srgbClr val="DCECF0">
              <a:alpha val="3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17aae32f7ae05a0b0a63a3df053265ad"/>
          <p:cNvSpPr/>
          <p:nvPr/>
        </p:nvSpPr>
        <p:spPr>
          <a:xfrm>
            <a:off x="10314174" y="774954"/>
            <a:ext cx="416956" cy="234544"/>
          </a:xfrm>
          <a:prstGeom prst="roundRect">
            <a:avLst/>
          </a:prstGeom>
          <a:solidFill>
            <a:srgbClr val="287A8D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80f534cdef5c838751ab919af3475e9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c0cc798a6b34f0523bab6b78b505957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0df14074d7462ed4e4da366fee30bff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af22732e32e89f11984247cc39ebd56"/>
          <p:cNvSpPr txBox="1"/>
          <p:nvPr/>
        </p:nvSpPr>
        <p:spPr>
          <a:xfrm>
            <a:off x="6461598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09 / TRANSACTION OVERVIEW AND KEY TERMS</a:t>
            </a:r>
            <a:endParaRPr lang="en-US" sz="1500" dirty="0"/>
          </a:p>
        </p:txBody>
      </p:sp>
      <p:sp>
        <p:nvSpPr>
          <p:cNvPr id="4" name="element_68c45d3cfe61cce8a236244e6ed8d082"/>
          <p:cNvSpPr txBox="1"/>
          <p:nvPr/>
        </p:nvSpPr>
        <p:spPr>
          <a:xfrm>
            <a:off x="1706837" y="1097280"/>
            <a:ext cx="87780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Conditions and closing dependencies</a:t>
            </a:r>
            <a:endParaRPr lang="en-US" sz="2400" dirty="0"/>
          </a:p>
        </p:txBody>
      </p:sp>
      <p:sp>
        <p:nvSpPr>
          <p:cNvPr id="5" name="element_6e1fd9ff6c59b695f7c3985beb8c4aab"/>
          <p:cNvSpPr/>
          <p:nvPr/>
        </p:nvSpPr>
        <p:spPr>
          <a:xfrm>
            <a:off x="1463003" y="1680210"/>
            <a:ext cx="9265688" cy="2125980"/>
          </a:xfrm>
          <a:prstGeom prst="roundRect">
            <a:avLst/>
          </a:prstGeom>
          <a:solidFill>
            <a:srgbClr val="DCECF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cd4b82177390d2142554daffb17a23dd"/>
          <p:cNvSpPr txBox="1"/>
          <p:nvPr/>
        </p:nvSpPr>
        <p:spPr>
          <a:xfrm>
            <a:off x="2438339" y="1920240"/>
            <a:ext cx="7315017" cy="150876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5554E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43.425</a:t>
            </a:r>
            <a:endParaRPr lang="en-US" sz="4600" dirty="0"/>
          </a:p>
        </p:txBody>
      </p:sp>
      <p:sp>
        <p:nvSpPr>
          <p:cNvPr id="7" name="element_c048dfd4a38a5db7c139e11b39dcbdb3"/>
          <p:cNvSpPr txBox="1"/>
          <p:nvPr/>
        </p:nvSpPr>
        <p:spPr>
          <a:xfrm>
            <a:off x="1706837" y="3566160"/>
            <a:ext cx="87780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USD millions</a:t>
            </a:r>
            <a:endParaRPr lang="en-US" sz="1600" dirty="0"/>
          </a:p>
        </p:txBody>
      </p:sp>
      <p:sp>
        <p:nvSpPr>
          <p:cNvPr id="8" name="element_9ffb732bfea2511e054e86228b14f93d"/>
          <p:cNvSpPr txBox="1"/>
          <p:nvPr/>
        </p:nvSpPr>
        <p:spPr>
          <a:xfrm>
            <a:off x="1706837" y="4389120"/>
            <a:ext cx="963143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Conditions and closing dependencies: STAAR's standard termination fee was $43.425 million. The qualifying window-shop termination fee was $14.475 million. Alcon's regulatory termination fee was $72.375 million.</a:t>
            </a:r>
            <a:endParaRPr lang="en-US" sz="1800" dirty="0"/>
          </a:p>
        </p:txBody>
      </p:sp>
      <p:sp>
        <p:nvSpPr>
          <p:cNvPr id="9" name="element_7e49c3a8024cf79b3570cac8677e04e0"/>
          <p:cNvSpPr txBox="1"/>
          <p:nvPr/>
        </p:nvSpPr>
        <p:spPr>
          <a:xfrm>
            <a:off x="1706837" y="5692140"/>
            <a:ext cx="9631439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STAAR's standard termination fee was $43.425 million.</a:t>
            </a:r>
            <a:endParaRPr lang="en-US" sz="1400" dirty="0"/>
          </a:p>
        </p:txBody>
      </p:sp>
      <p:sp>
        <p:nvSpPr>
          <p:cNvPr id="10" name="element_1152077f6f88042502a80cb8117033ba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DCECF0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05ad1a2c8359d2a228ee79c3d901ed2d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DCECF0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d5e8ca070cff45c19986fb0fd10ea7ac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DCECF0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8ad004987bfaedb79466d4bae9ad341c"/>
          <p:cNvSpPr/>
          <p:nvPr/>
        </p:nvSpPr>
        <p:spPr>
          <a:xfrm>
            <a:off x="1380100" y="462915"/>
            <a:ext cx="1052143" cy="591845"/>
          </a:xfrm>
          <a:prstGeom prst="roundRect">
            <a:avLst/>
          </a:prstGeom>
          <a:solidFill>
            <a:srgbClr val="DCECF0">
              <a:alpha val="2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b57e91461a7b3e1e0936aa917a192143"/>
          <p:cNvSpPr/>
          <p:nvPr/>
        </p:nvSpPr>
        <p:spPr>
          <a:xfrm>
            <a:off x="1483729" y="629564"/>
            <a:ext cx="652256" cy="366903"/>
          </a:xfrm>
          <a:prstGeom prst="roundRect">
            <a:avLst/>
          </a:prstGeom>
          <a:solidFill>
            <a:srgbClr val="DCECF0">
              <a:alpha val="3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91d0939e372bd65e2c18cd4d463495e9"/>
          <p:cNvSpPr/>
          <p:nvPr/>
        </p:nvSpPr>
        <p:spPr>
          <a:xfrm>
            <a:off x="1456908" y="774954"/>
            <a:ext cx="420613" cy="236601"/>
          </a:xfrm>
          <a:prstGeom prst="roundRect">
            <a:avLst/>
          </a:prstGeom>
          <a:solidFill>
            <a:srgbClr val="287A8D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9cfc3340b411b56eb2123465ced47509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7" name="element_8942acc6dee4fbce67e39d547e1a742b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406bdd0e55a87e106ad07d41cc6364d3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c4a403a471e4e3e478d6da8616216c9"/>
          <p:cNvSpPr/>
          <p:nvPr/>
        </p:nvSpPr>
        <p:spPr>
          <a:xfrm>
            <a:off x="670543" y="3497580"/>
            <a:ext cx="3462441" cy="2359152"/>
          </a:xfrm>
          <a:prstGeom prst="roundRect">
            <a:avLst/>
          </a:prstGeom>
          <a:solidFill>
            <a:srgbClr val="DCECF0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4271a8f2a7a9e931d572c4c8431845d0"/>
          <p:cNvSpPr/>
          <p:nvPr/>
        </p:nvSpPr>
        <p:spPr>
          <a:xfrm>
            <a:off x="4206135" y="3497580"/>
            <a:ext cx="3462441" cy="2359152"/>
          </a:xfrm>
          <a:prstGeom prst="roundRect">
            <a:avLst/>
          </a:prstGeom>
          <a:solidFill>
            <a:srgbClr val="DCECF0">
              <a:alpha val="2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13930857f45367b3dbf8f4d3c423afad"/>
          <p:cNvSpPr/>
          <p:nvPr/>
        </p:nvSpPr>
        <p:spPr>
          <a:xfrm>
            <a:off x="670543" y="1097280"/>
            <a:ext cx="3462441" cy="2359152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a4d83741fab51407a18ea906be586803"/>
          <p:cNvSpPr/>
          <p:nvPr/>
        </p:nvSpPr>
        <p:spPr>
          <a:xfrm>
            <a:off x="4206135" y="1097280"/>
            <a:ext cx="3462441" cy="2359152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86109dd5c4be9715011e54a630ee20a7"/>
          <p:cNvSpPr txBox="1"/>
          <p:nvPr/>
        </p:nvSpPr>
        <p:spPr>
          <a:xfrm>
            <a:off x="670543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RARE</a:t>
            </a:r>
            <a:endParaRPr lang="en-US" sz="1400" dirty="0"/>
          </a:p>
        </p:txBody>
      </p:sp>
      <p:sp>
        <p:nvSpPr>
          <p:cNvPr id="8" name="element_f488a0ef5c565239ad4a62deb536979c"/>
          <p:cNvSpPr txBox="1"/>
          <p:nvPr/>
        </p:nvSpPr>
        <p:spPr>
          <a:xfrm>
            <a:off x="5791055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LIKELY</a:t>
            </a:r>
            <a:endParaRPr lang="en-US" sz="1400" dirty="0"/>
          </a:p>
        </p:txBody>
      </p:sp>
      <p:sp>
        <p:nvSpPr>
          <p:cNvPr id="9" name="element_5260a995969faec05fd63983377e60d2"/>
          <p:cNvSpPr txBox="1"/>
          <p:nvPr/>
        </p:nvSpPr>
        <p:spPr>
          <a:xfrm>
            <a:off x="816844" y="534924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MINOR</a:t>
            </a:r>
            <a:endParaRPr lang="en-US" sz="1400" dirty="0"/>
          </a:p>
        </p:txBody>
      </p:sp>
      <p:sp>
        <p:nvSpPr>
          <p:cNvPr id="10" name="element_0c9ad7666ae9e9aec9e3f8c96478dbe2"/>
          <p:cNvSpPr txBox="1"/>
          <p:nvPr/>
        </p:nvSpPr>
        <p:spPr>
          <a:xfrm>
            <a:off x="816844" y="1220724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1" name="element_e7c042e4049a0cf591d3328ff8cc5957"/>
          <p:cNvSpPr/>
          <p:nvPr/>
        </p:nvSpPr>
        <p:spPr>
          <a:xfrm>
            <a:off x="6181189" y="1207008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2" name="element_e7c042e4049a0cf591d3328ff8cc5957:text"/>
          <p:cNvSpPr txBox="1"/>
          <p:nvPr/>
        </p:nvSpPr>
        <p:spPr>
          <a:xfrm>
            <a:off x="6181189" y="1207008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Terms</a:t>
            </a:r>
            <a:endParaRPr lang="en-US" sz="1400" dirty="0"/>
          </a:p>
        </p:txBody>
      </p:sp>
      <p:sp>
        <p:nvSpPr>
          <p:cNvPr id="13" name="element_6ee6eae772da031ada8e06a33dc05e7e"/>
          <p:cNvSpPr/>
          <p:nvPr/>
        </p:nvSpPr>
        <p:spPr>
          <a:xfrm>
            <a:off x="4997376" y="2010080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4" name="element_6ee6eae772da031ada8e06a33dc05e7e:text"/>
          <p:cNvSpPr txBox="1"/>
          <p:nvPr/>
        </p:nvSpPr>
        <p:spPr>
          <a:xfrm>
            <a:off x="4997376" y="2010080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5" name="element_f0c9e448c0bcaedb4735f6dac5603991"/>
          <p:cNvSpPr/>
          <p:nvPr/>
        </p:nvSpPr>
        <p:spPr>
          <a:xfrm>
            <a:off x="3474633" y="2001164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6" name="element_f0c9e448c0bcaedb4735f6dac5603991:text"/>
          <p:cNvSpPr txBox="1"/>
          <p:nvPr/>
        </p:nvSpPr>
        <p:spPr>
          <a:xfrm>
            <a:off x="3474633" y="2001164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7" name="element_d29a0881027616a56df067fe1bd07da8"/>
          <p:cNvSpPr txBox="1"/>
          <p:nvPr/>
        </p:nvSpPr>
        <p:spPr>
          <a:xfrm>
            <a:off x="8412270" y="1028700"/>
            <a:ext cx="304792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10 / TRANSACTION OVERVIEW AND KEY TERMS</a:t>
            </a:r>
            <a:endParaRPr lang="en-US" sz="1500" dirty="0"/>
          </a:p>
        </p:txBody>
      </p:sp>
      <p:sp>
        <p:nvSpPr>
          <p:cNvPr id="18" name="element_e1528d72b2db5883379956ec5fe6dbde"/>
          <p:cNvSpPr txBox="1"/>
          <p:nvPr/>
        </p:nvSpPr>
        <p:spPr>
          <a:xfrm>
            <a:off x="8412270" y="1577340"/>
            <a:ext cx="304792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Terms that change the risk/reward</a:t>
            </a:r>
            <a:endParaRPr lang="en-US" sz="3600" dirty="0"/>
          </a:p>
        </p:txBody>
      </p:sp>
      <p:sp>
        <p:nvSpPr>
          <p:cNvPr id="19" name="element_cc463050e4e3e013bf3b3270c1452139"/>
          <p:cNvSpPr txBox="1"/>
          <p:nvPr/>
        </p:nvSpPr>
        <p:spPr>
          <a:xfrm>
            <a:off x="8412270" y="3703320"/>
            <a:ext cx="3047924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Terms that change the risk/reward: Closing requires HSR and antitrust clearances.</a:t>
            </a:r>
            <a:endParaRPr lang="en-US" sz="1700" dirty="0"/>
          </a:p>
        </p:txBody>
      </p:sp>
      <p:sp>
        <p:nvSpPr>
          <p:cNvPr id="20" name="element_f7c316f440f9786dd3dca62d616860d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580847d5758d3e063f29bede8d4b1ca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8a0319c8e6bdc1d2b17f3a6771715fc1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0fdafec9d3f067047d2baba2fb0678d"/>
          <p:cNvSpPr txBox="1"/>
          <p:nvPr/>
        </p:nvSpPr>
        <p:spPr>
          <a:xfrm>
            <a:off x="853419" y="54864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0" b="1" spc="-300" kern="0" dirty="0">
                <a:solidFill>
                  <a:srgbClr val="287A8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11</a:t>
            </a:r>
            <a:endParaRPr lang="en-US" sz="10000" dirty="0"/>
          </a:p>
        </p:txBody>
      </p:sp>
      <p:sp>
        <p:nvSpPr>
          <p:cNvPr id="4" name="element_ea2dd36f734c651d2f2c65e8c5b95992"/>
          <p:cNvSpPr txBox="1"/>
          <p:nvPr/>
        </p:nvSpPr>
        <p:spPr>
          <a:xfrm>
            <a:off x="853419" y="2057400"/>
            <a:ext cx="97533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15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11 / STRATEGIC RATIONALE</a:t>
            </a:r>
            <a:endParaRPr lang="en-US" sz="1400" dirty="0"/>
          </a:p>
        </p:txBody>
      </p:sp>
      <p:sp>
        <p:nvSpPr>
          <p:cNvPr id="5" name="element_47efc46e5307481eacae8ac2c6873581"/>
          <p:cNvSpPr txBox="1"/>
          <p:nvPr/>
        </p:nvSpPr>
        <p:spPr>
          <a:xfrm>
            <a:off x="853419" y="4114800"/>
            <a:ext cx="87780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Strategic fit with Alcon</a:t>
            </a:r>
            <a:endParaRPr lang="en-US" sz="4000" dirty="0"/>
          </a:p>
        </p:txBody>
      </p:sp>
      <p:sp>
        <p:nvSpPr>
          <p:cNvPr id="6" name="element_9cd5b86588c02ff3486b676fd1b726fb"/>
          <p:cNvSpPr/>
          <p:nvPr/>
        </p:nvSpPr>
        <p:spPr>
          <a:xfrm>
            <a:off x="853419" y="3977640"/>
            <a:ext cx="731502" cy="6858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17b819e6fad56672649bb137451020d4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969f3656cf0eb2f17712eebd3502e52e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4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2d607be224950e853674f4ee1e763ac4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ac09595d5801d44418c103c2f108eb8e"/>
          <p:cNvSpPr/>
          <p:nvPr/>
        </p:nvSpPr>
        <p:spPr>
          <a:xfrm>
            <a:off x="9752137" y="458800"/>
            <a:ext cx="1069212" cy="601447"/>
          </a:xfrm>
          <a:prstGeom prst="roundRect">
            <a:avLst/>
          </a:prstGeom>
          <a:solidFill>
            <a:srgbClr val="DCECF0">
              <a:alpha val="2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011104383a3f0096ca1e0af0014e768a"/>
          <p:cNvSpPr/>
          <p:nvPr/>
        </p:nvSpPr>
        <p:spPr>
          <a:xfrm>
            <a:off x="10052053" y="627507"/>
            <a:ext cx="662009" cy="372389"/>
          </a:xfrm>
          <a:prstGeom prst="roundRect">
            <a:avLst/>
          </a:prstGeom>
          <a:solidFill>
            <a:srgbClr val="DCECF0">
              <a:alpha val="3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5264bb7fa083e41d0ced4db347e08d32"/>
          <p:cNvSpPr/>
          <p:nvPr/>
        </p:nvSpPr>
        <p:spPr>
          <a:xfrm>
            <a:off x="10314174" y="774954"/>
            <a:ext cx="427929" cy="240716"/>
          </a:xfrm>
          <a:prstGeom prst="roundRect">
            <a:avLst/>
          </a:prstGeom>
          <a:solidFill>
            <a:srgbClr val="287A8D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482058e41c8a29082931952c8a08004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e48ee56cc3183a7982c25e885ce4d77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0a6bcabed0f53cfc467818d383269d48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ddb41770e1d0d798a87dc8711864874"/>
          <p:cNvSpPr txBox="1"/>
          <p:nvPr/>
        </p:nvSpPr>
        <p:spPr>
          <a:xfrm>
            <a:off x="1706837" y="514350"/>
            <a:ext cx="877802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12 / STRATEGIC RATIONALE</a:t>
            </a:r>
            <a:endParaRPr lang="en-US" sz="1500" dirty="0"/>
          </a:p>
        </p:txBody>
      </p:sp>
      <p:sp>
        <p:nvSpPr>
          <p:cNvPr id="4" name="element_266a79fb2b8aefc08720a52ea3d85db6"/>
          <p:cNvSpPr txBox="1"/>
          <p:nvPr/>
        </p:nvSpPr>
        <p:spPr>
          <a:xfrm>
            <a:off x="975336" y="1028700"/>
            <a:ext cx="5120512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Portfolio and channel complementarity</a:t>
            </a:r>
            <a:endParaRPr lang="en-US" sz="3200" dirty="0"/>
          </a:p>
        </p:txBody>
      </p:sp>
      <p:sp>
        <p:nvSpPr>
          <p:cNvPr id="5" name="element_2615c0d89e3a04bec8e188e837d120ec"/>
          <p:cNvSpPr/>
          <p:nvPr/>
        </p:nvSpPr>
        <p:spPr>
          <a:xfrm>
            <a:off x="2926007" y="3291840"/>
            <a:ext cx="243834" cy="342900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6" name="element_08b72e01a950564f0154c14c4d5ca836"/>
          <p:cNvSpPr/>
          <p:nvPr/>
        </p:nvSpPr>
        <p:spPr>
          <a:xfrm>
            <a:off x="2926007" y="4320540"/>
            <a:ext cx="243834" cy="342900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7" name="element_03d0b4710cdfe0a22a17dcade6d18c3d"/>
          <p:cNvSpPr/>
          <p:nvPr/>
        </p:nvSpPr>
        <p:spPr>
          <a:xfrm>
            <a:off x="975336" y="2606040"/>
            <a:ext cx="4145176" cy="685800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03d0b4710cdfe0a22a17dcade6d18c3d:text"/>
          <p:cNvSpPr txBox="1"/>
          <p:nvPr/>
        </p:nvSpPr>
        <p:spPr>
          <a:xfrm>
            <a:off x="975336" y="26060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Portfolio and channel complementarity</a:t>
            </a:r>
            <a:endParaRPr lang="en-US" sz="1200" dirty="0"/>
          </a:p>
        </p:txBody>
      </p:sp>
      <p:sp>
        <p:nvSpPr>
          <p:cNvPr id="9" name="element_7fcfaa4c0cefcac3ca620bd2db6a7638"/>
          <p:cNvSpPr/>
          <p:nvPr/>
        </p:nvSpPr>
        <p:spPr>
          <a:xfrm>
            <a:off x="975336" y="3634740"/>
            <a:ext cx="4145176" cy="685800"/>
          </a:xfrm>
          <a:prstGeom prst="roundRect">
            <a:avLst/>
          </a:prstGeom>
          <a:solidFill>
            <a:srgbClr val="DDEDE8"/>
          </a:solidFill>
          <a:ln w="25400">
            <a:solidFill>
              <a:srgbClr val="287A8D"/>
            </a:solidFill>
            <a:prstDash val="solid"/>
          </a:ln>
        </p:spPr>
      </p:sp>
      <p:sp>
        <p:nvSpPr>
          <p:cNvPr id="10" name="element_7fcfaa4c0cefcac3ca620bd2db6a7638:text"/>
          <p:cNvSpPr txBox="1"/>
          <p:nvPr/>
        </p:nvSpPr>
        <p:spPr>
          <a:xfrm>
            <a:off x="975336" y="36347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gate: Portfolio and channel complementarity</a:t>
            </a:r>
            <a:endParaRPr lang="en-US" sz="1200" dirty="0"/>
          </a:p>
        </p:txBody>
      </p:sp>
      <p:sp>
        <p:nvSpPr>
          <p:cNvPr id="11" name="element_36e8e18311668c8fd517dd2a5570e63f"/>
          <p:cNvSpPr/>
          <p:nvPr/>
        </p:nvSpPr>
        <p:spPr>
          <a:xfrm>
            <a:off x="975336" y="4663440"/>
            <a:ext cx="4145176" cy="68580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2" name="element_36e8e18311668c8fd517dd2a5570e63f:text"/>
          <p:cNvSpPr txBox="1"/>
          <p:nvPr/>
        </p:nvSpPr>
        <p:spPr>
          <a:xfrm>
            <a:off x="975336" y="46634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on portfolio and channel complementarity</a:t>
            </a:r>
            <a:endParaRPr lang="en-US" sz="1200" dirty="0"/>
          </a:p>
        </p:txBody>
      </p:sp>
      <p:sp>
        <p:nvSpPr>
          <p:cNvPr id="13" name="element_62087fcb8c080220702910a30e7b1045"/>
          <p:cNvSpPr txBox="1"/>
          <p:nvPr/>
        </p:nvSpPr>
        <p:spPr>
          <a:xfrm>
            <a:off x="6339682" y="2743200"/>
            <a:ext cx="46328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Treat portfolio and channel complementarity as attributed Board or management rationale until independent evidence corroborates it. Test the claim against standalone execution and China concentration.</a:t>
            </a:r>
            <a:endParaRPr lang="en-US" sz="1600" dirty="0"/>
          </a:p>
        </p:txBody>
      </p:sp>
      <p:sp>
        <p:nvSpPr>
          <p:cNvPr id="14" name="element_47fd94379ae7766d125c4792873ce04e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14e3b1f835edf728b907d8e0bb5220dd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4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e02f572006daa12d7a89e1632926e5eb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d2c14a63417e3e65926502a859478c8c"/>
          <p:cNvSpPr/>
          <p:nvPr/>
        </p:nvSpPr>
        <p:spPr>
          <a:xfrm>
            <a:off x="9749699" y="457429"/>
            <a:ext cx="1077746" cy="606247"/>
          </a:xfrm>
          <a:prstGeom prst="roundRect">
            <a:avLst/>
          </a:prstGeom>
          <a:solidFill>
            <a:srgbClr val="DCECF0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96842b4ff0a131292486e68ac94307f8"/>
          <p:cNvSpPr/>
          <p:nvPr/>
        </p:nvSpPr>
        <p:spPr>
          <a:xfrm>
            <a:off x="10049614" y="626135"/>
            <a:ext cx="668105" cy="375818"/>
          </a:xfrm>
          <a:prstGeom prst="roundRect">
            <a:avLst/>
          </a:prstGeom>
          <a:solidFill>
            <a:srgbClr val="DCECF0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956d2aff0e3af637d81d634f41fbae99"/>
          <p:cNvSpPr/>
          <p:nvPr/>
        </p:nvSpPr>
        <p:spPr>
          <a:xfrm>
            <a:off x="10314174" y="774954"/>
            <a:ext cx="430367" cy="242087"/>
          </a:xfrm>
          <a:prstGeom prst="roundRect">
            <a:avLst/>
          </a:prstGeom>
          <a:solidFill>
            <a:srgbClr val="287A8D">
              <a:alpha val="3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933efeb2b1c8df88a0a2843bed843a39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609b69145a21fe0bdc9c1d50aaf4a3c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5503df57a3cee5e3f72fb24e51b1a89c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686834db352b29c10c4bda309906db6"/>
          <p:cNvSpPr txBox="1"/>
          <p:nvPr/>
        </p:nvSpPr>
        <p:spPr>
          <a:xfrm>
            <a:off x="1706837" y="514350"/>
            <a:ext cx="877802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13 / STRATEGIC RATIONALE</a:t>
            </a:r>
            <a:endParaRPr lang="en-US" sz="1500" dirty="0"/>
          </a:p>
        </p:txBody>
      </p:sp>
      <p:sp>
        <p:nvSpPr>
          <p:cNvPr id="4" name="element_14cb575bb1dba611f558bba104ca7e28"/>
          <p:cNvSpPr txBox="1"/>
          <p:nvPr/>
        </p:nvSpPr>
        <p:spPr>
          <a:xfrm>
            <a:off x="6095848" y="1028700"/>
            <a:ext cx="5120512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China access and execution thesis</a:t>
            </a:r>
            <a:endParaRPr lang="en-US" sz="3200" dirty="0"/>
          </a:p>
        </p:txBody>
      </p:sp>
      <p:sp>
        <p:nvSpPr>
          <p:cNvPr id="5" name="element_3d0b1de52e65a4c37f1b35afd7c39038"/>
          <p:cNvSpPr/>
          <p:nvPr/>
        </p:nvSpPr>
        <p:spPr>
          <a:xfrm>
            <a:off x="8778021" y="3291840"/>
            <a:ext cx="243834" cy="342900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6" name="element_147b144684dd2b2aee8682e0d1f6d433"/>
          <p:cNvSpPr/>
          <p:nvPr/>
        </p:nvSpPr>
        <p:spPr>
          <a:xfrm>
            <a:off x="8778021" y="4320540"/>
            <a:ext cx="243834" cy="342900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7" name="element_b5f80b341d7b8dc668a14800c293ed46"/>
          <p:cNvSpPr/>
          <p:nvPr/>
        </p:nvSpPr>
        <p:spPr>
          <a:xfrm>
            <a:off x="6827349" y="2606040"/>
            <a:ext cx="4145176" cy="685800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b5f80b341d7b8dc668a14800c293ed46:text"/>
          <p:cNvSpPr txBox="1"/>
          <p:nvPr/>
        </p:nvSpPr>
        <p:spPr>
          <a:xfrm>
            <a:off x="6827349" y="26060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China access and execution thesis</a:t>
            </a:r>
            <a:endParaRPr lang="en-US" sz="1200" dirty="0"/>
          </a:p>
        </p:txBody>
      </p:sp>
      <p:sp>
        <p:nvSpPr>
          <p:cNvPr id="9" name="element_e73f93fc0756831e0dd27fd1d221d636"/>
          <p:cNvSpPr/>
          <p:nvPr/>
        </p:nvSpPr>
        <p:spPr>
          <a:xfrm>
            <a:off x="6827349" y="3634740"/>
            <a:ext cx="4145176" cy="685800"/>
          </a:xfrm>
          <a:prstGeom prst="roundRect">
            <a:avLst/>
          </a:prstGeom>
          <a:solidFill>
            <a:srgbClr val="DDEDE8"/>
          </a:solidFill>
          <a:ln w="25400">
            <a:solidFill>
              <a:srgbClr val="287A8D"/>
            </a:solidFill>
            <a:prstDash val="solid"/>
          </a:ln>
        </p:spPr>
      </p:sp>
      <p:sp>
        <p:nvSpPr>
          <p:cNvPr id="10" name="element_e73f93fc0756831e0dd27fd1d221d636:text"/>
          <p:cNvSpPr txBox="1"/>
          <p:nvPr/>
        </p:nvSpPr>
        <p:spPr>
          <a:xfrm>
            <a:off x="6827349" y="36347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gate: China access and execution thesis</a:t>
            </a:r>
            <a:endParaRPr lang="en-US" sz="1200" dirty="0"/>
          </a:p>
        </p:txBody>
      </p:sp>
      <p:sp>
        <p:nvSpPr>
          <p:cNvPr id="11" name="element_985739b28f8d0ec0aa015beb78ddb483"/>
          <p:cNvSpPr/>
          <p:nvPr/>
        </p:nvSpPr>
        <p:spPr>
          <a:xfrm>
            <a:off x="6827349" y="4663440"/>
            <a:ext cx="4145176" cy="68580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2" name="element_985739b28f8d0ec0aa015beb78ddb483:text"/>
          <p:cNvSpPr txBox="1"/>
          <p:nvPr/>
        </p:nvSpPr>
        <p:spPr>
          <a:xfrm>
            <a:off x="6827349" y="46634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on china access and execution thesis</a:t>
            </a:r>
            <a:endParaRPr lang="en-US" sz="1200" dirty="0"/>
          </a:p>
        </p:txBody>
      </p:sp>
      <p:sp>
        <p:nvSpPr>
          <p:cNvPr id="13" name="element_4cd5b3e6034ed6839ab475885652f4b5"/>
          <p:cNvSpPr txBox="1"/>
          <p:nvPr/>
        </p:nvSpPr>
        <p:spPr>
          <a:xfrm>
            <a:off x="975336" y="2743200"/>
            <a:ext cx="46328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Treat china access and execution thesis as attributed Board or management rationale until independent evidence corroborates it. Test the claim against standalone execution and China concentration.</a:t>
            </a:r>
            <a:endParaRPr lang="en-US" sz="1600" dirty="0"/>
          </a:p>
        </p:txBody>
      </p:sp>
      <p:sp>
        <p:nvSpPr>
          <p:cNvPr id="14" name="element_0a66ffd0c4704443f1d9a65c26dbed45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5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a715c66471abe8beaff3e437bc55270d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4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960c8df1fafb5ca5771d3d0c7a92bad2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663e12615cd3f91a1886dfa06afad37e"/>
          <p:cNvSpPr/>
          <p:nvPr/>
        </p:nvSpPr>
        <p:spPr>
          <a:xfrm>
            <a:off x="9746041" y="455371"/>
            <a:ext cx="1085061" cy="610362"/>
          </a:xfrm>
          <a:prstGeom prst="roundRect">
            <a:avLst/>
          </a:prstGeom>
          <a:solidFill>
            <a:srgbClr val="DCECF0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5ffaee34879086a2e6bedcbdefda634c"/>
          <p:cNvSpPr/>
          <p:nvPr/>
        </p:nvSpPr>
        <p:spPr>
          <a:xfrm>
            <a:off x="10048395" y="625450"/>
            <a:ext cx="672982" cy="378562"/>
          </a:xfrm>
          <a:prstGeom prst="roundRect">
            <a:avLst/>
          </a:prstGeom>
          <a:solidFill>
            <a:srgbClr val="DCECF0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7a5d2c3b8c2abac5df5f4eba8c924190"/>
          <p:cNvSpPr/>
          <p:nvPr/>
        </p:nvSpPr>
        <p:spPr>
          <a:xfrm>
            <a:off x="10314174" y="774954"/>
            <a:ext cx="434024" cy="244145"/>
          </a:xfrm>
          <a:prstGeom prst="roundRect">
            <a:avLst/>
          </a:prstGeom>
          <a:solidFill>
            <a:srgbClr val="287A8D">
              <a:alpha val="3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8f287e03b7e45bd0883450a3f5804aba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2b2b29837a9e6e2d03837f2ff900f64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90edc1813aa4783a0a3d3ab1fcad832d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78de77bfa0c25ebd4fda7be6ac8028a"/>
          <p:cNvSpPr txBox="1"/>
          <p:nvPr/>
        </p:nvSpPr>
        <p:spPr>
          <a:xfrm>
            <a:off x="1706837" y="514350"/>
            <a:ext cx="877802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14 / STRATEGIC RATIONALE</a:t>
            </a:r>
            <a:endParaRPr lang="en-US" sz="1500" dirty="0"/>
          </a:p>
        </p:txBody>
      </p:sp>
      <p:sp>
        <p:nvSpPr>
          <p:cNvPr id="4" name="element_17dff72820efc68bc5ac326133c0efdf"/>
          <p:cNvSpPr txBox="1"/>
          <p:nvPr/>
        </p:nvSpPr>
        <p:spPr>
          <a:xfrm>
            <a:off x="1706837" y="1234440"/>
            <a:ext cx="877802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Management synergy claims</a:t>
            </a:r>
            <a:endParaRPr lang="en-US" sz="4200" dirty="0"/>
          </a:p>
        </p:txBody>
      </p:sp>
      <p:sp>
        <p:nvSpPr>
          <p:cNvPr id="5" name="element_28ada930ef67e0361ac9cbe2808cf5e8"/>
          <p:cNvSpPr txBox="1"/>
          <p:nvPr/>
        </p:nvSpPr>
        <p:spPr>
          <a:xfrm>
            <a:off x="2438339" y="3086100"/>
            <a:ext cx="7315017" cy="141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Treat management synergy claims as attributed Board or management rationale until independent evidence corroborates it. Test the claim against standalone execution and China concentration.</a:t>
            </a:r>
            <a:endParaRPr lang="en-US" sz="1800" dirty="0"/>
          </a:p>
        </p:txBody>
      </p:sp>
      <p:sp>
        <p:nvSpPr>
          <p:cNvPr id="6" name="element_0bcf5e9e3c8e7c65f2da7ad1a2f5c890"/>
          <p:cNvSpPr txBox="1"/>
          <p:nvPr/>
        </p:nvSpPr>
        <p:spPr>
          <a:xfrm>
            <a:off x="1341086" y="480060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Attributed thesis: Management synergy claims</a:t>
            </a:r>
            <a:endParaRPr lang="en-US" sz="1700" dirty="0"/>
          </a:p>
        </p:txBody>
      </p:sp>
      <p:sp>
        <p:nvSpPr>
          <p:cNvPr id="7" name="element_3425c6c9f37091344722055ddb6c76e4"/>
          <p:cNvSpPr txBox="1"/>
          <p:nvPr/>
        </p:nvSpPr>
        <p:spPr>
          <a:xfrm>
            <a:off x="4571886" y="4800600"/>
            <a:ext cx="3047924" cy="854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Counterweight: standalone value and forecast execution risk</a:t>
            </a:r>
            <a:endParaRPr lang="en-US" sz="1700" dirty="0"/>
          </a:p>
        </p:txBody>
      </p:sp>
      <p:sp>
        <p:nvSpPr>
          <p:cNvPr id="8" name="element_acf524d02055c6a5d09dd1577bdece41"/>
          <p:cNvSpPr txBox="1"/>
          <p:nvPr/>
        </p:nvSpPr>
        <p:spPr>
          <a:xfrm>
            <a:off x="7802685" y="4800600"/>
            <a:ext cx="3047924" cy="859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Required proof: independent evidence beyond transaction advocacy</a:t>
            </a:r>
            <a:endParaRPr lang="en-US" sz="1700" dirty="0"/>
          </a:p>
        </p:txBody>
      </p:sp>
      <p:sp>
        <p:nvSpPr>
          <p:cNvPr id="9" name="element_b34ef1069fb57b18094fc3ba121f4989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5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278e36d706e77f6b3bced6cb64496f06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4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d759581ac12ca1ba47c3018126d034f2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3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97fdf386ac2368bb7874705d7d1a55e7"/>
          <p:cNvSpPr/>
          <p:nvPr/>
        </p:nvSpPr>
        <p:spPr>
          <a:xfrm>
            <a:off x="9742384" y="453314"/>
            <a:ext cx="1093595" cy="615163"/>
          </a:xfrm>
          <a:prstGeom prst="roundRect">
            <a:avLst/>
          </a:prstGeom>
          <a:solidFill>
            <a:srgbClr val="DCECF0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422bcdb0ae1ce25048360b9862cf262a"/>
          <p:cNvSpPr/>
          <p:nvPr/>
        </p:nvSpPr>
        <p:spPr>
          <a:xfrm>
            <a:off x="10047176" y="624764"/>
            <a:ext cx="677858" cy="381305"/>
          </a:xfrm>
          <a:prstGeom prst="roundRect">
            <a:avLst/>
          </a:prstGeom>
          <a:solidFill>
            <a:srgbClr val="DCECF0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c576a95472152a17595e3f8839bfea63"/>
          <p:cNvSpPr/>
          <p:nvPr/>
        </p:nvSpPr>
        <p:spPr>
          <a:xfrm>
            <a:off x="10314174" y="774954"/>
            <a:ext cx="437682" cy="246202"/>
          </a:xfrm>
          <a:prstGeom prst="roundRect">
            <a:avLst/>
          </a:prstGeom>
          <a:solidFill>
            <a:srgbClr val="287A8D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743311bde41354f52c8f1f5a86aafb63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c2b1a03b8ddb845c4327fc6f4603c08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475688f61a62c14b85245a04d9549660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e87a6843c8f8ed6fd5c9be9c8a244ea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15 / STRATEGIC RATIONALE</a:t>
            </a:r>
            <a:endParaRPr lang="en-US" sz="1500" dirty="0"/>
          </a:p>
        </p:txBody>
      </p:sp>
      <p:sp>
        <p:nvSpPr>
          <p:cNvPr id="4" name="element_fcbd3f5c88645b8ed96d2e70ae6f761b"/>
          <p:cNvSpPr txBox="1"/>
          <p:nvPr/>
        </p:nvSpPr>
        <p:spPr>
          <a:xfrm>
            <a:off x="853419" y="1028700"/>
            <a:ext cx="96314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Standalone alternatives</a:t>
            </a:r>
            <a:endParaRPr lang="en-US" sz="3600" dirty="0"/>
          </a:p>
        </p:txBody>
      </p:sp>
      <p:sp>
        <p:nvSpPr>
          <p:cNvPr id="5" name="element_c6f58518f11cbe25fdc41d3bfce7f4de"/>
          <p:cNvSpPr/>
          <p:nvPr/>
        </p:nvSpPr>
        <p:spPr>
          <a:xfrm>
            <a:off x="853419" y="2125980"/>
            <a:ext cx="3291758" cy="219456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6" name="element_00d7840d67379b2841567d17621d37e4"/>
          <p:cNvSpPr txBox="1"/>
          <p:nvPr/>
        </p:nvSpPr>
        <p:spPr>
          <a:xfrm>
            <a:off x="1097253" y="226314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Attributed thesis: Standalone alternatives</a:t>
            </a:r>
            <a:endParaRPr lang="en-US" sz="1600" dirty="0"/>
          </a:p>
        </p:txBody>
      </p:sp>
      <p:sp>
        <p:nvSpPr>
          <p:cNvPr id="7" name="element_740f947b5964342ddf27100cde8e7709"/>
          <p:cNvSpPr/>
          <p:nvPr/>
        </p:nvSpPr>
        <p:spPr>
          <a:xfrm>
            <a:off x="4449969" y="2125980"/>
            <a:ext cx="3291758" cy="219456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48bf10aa9fad417333f045d26a40ed3f"/>
          <p:cNvSpPr txBox="1"/>
          <p:nvPr/>
        </p:nvSpPr>
        <p:spPr>
          <a:xfrm>
            <a:off x="4693803" y="226314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Counterweight: standalone value and forecast execution risk</a:t>
            </a:r>
            <a:endParaRPr lang="en-US" sz="1600" dirty="0"/>
          </a:p>
        </p:txBody>
      </p:sp>
      <p:sp>
        <p:nvSpPr>
          <p:cNvPr id="9" name="element_5faf059814b1bdac191a2b606d60b379"/>
          <p:cNvSpPr/>
          <p:nvPr/>
        </p:nvSpPr>
        <p:spPr>
          <a:xfrm>
            <a:off x="8046519" y="2125980"/>
            <a:ext cx="3291758" cy="219456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0" name="element_2183f7f19532331bc9c63c8824267d8d"/>
          <p:cNvSpPr txBox="1"/>
          <p:nvPr/>
        </p:nvSpPr>
        <p:spPr>
          <a:xfrm>
            <a:off x="8290353" y="226314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Required proof: independent evidence beyond transaction advocacy</a:t>
            </a:r>
            <a:endParaRPr lang="en-US" sz="1600" dirty="0"/>
          </a:p>
        </p:txBody>
      </p:sp>
      <p:sp>
        <p:nvSpPr>
          <p:cNvPr id="11" name="element_386006a71a5e39d4171bb7d76833f72a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5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213595724448a80daa9a91c67a8c2fc1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4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0b6f3a23430973eaa4dae60760ebd433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3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ac1c7ae126ca33d458e8782f601b5aab"/>
          <p:cNvSpPr/>
          <p:nvPr/>
        </p:nvSpPr>
        <p:spPr>
          <a:xfrm>
            <a:off x="9738726" y="451256"/>
            <a:ext cx="1102129" cy="619963"/>
          </a:xfrm>
          <a:prstGeom prst="roundRect">
            <a:avLst/>
          </a:prstGeom>
          <a:solidFill>
            <a:srgbClr val="DCECF0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41fad7fb52980a25bdc382b7fdb37b24"/>
          <p:cNvSpPr/>
          <p:nvPr/>
        </p:nvSpPr>
        <p:spPr>
          <a:xfrm>
            <a:off x="10044738" y="623392"/>
            <a:ext cx="682735" cy="384048"/>
          </a:xfrm>
          <a:prstGeom prst="roundRect">
            <a:avLst/>
          </a:prstGeom>
          <a:solidFill>
            <a:srgbClr val="DCECF0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82995f1e5c4e7e1cddd1dac765e535bc"/>
          <p:cNvSpPr/>
          <p:nvPr/>
        </p:nvSpPr>
        <p:spPr>
          <a:xfrm>
            <a:off x="10314174" y="774954"/>
            <a:ext cx="441339" cy="248260"/>
          </a:xfrm>
          <a:prstGeom prst="roundRect">
            <a:avLst/>
          </a:prstGeom>
          <a:solidFill>
            <a:srgbClr val="287A8D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5e02ea346f60e22a4172c68c66410f7e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2a5f8adf52f5cd38c12b63dc5af7900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e0f8c0988abbd8b8381c8bdb8bb5bc85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85289534590a619a05ce33e25f2c628"/>
          <p:cNvSpPr/>
          <p:nvPr/>
        </p:nvSpPr>
        <p:spPr>
          <a:xfrm>
            <a:off x="670543" y="3497580"/>
            <a:ext cx="3462441" cy="2359152"/>
          </a:xfrm>
          <a:prstGeom prst="roundRect">
            <a:avLst/>
          </a:prstGeom>
          <a:solidFill>
            <a:srgbClr val="DCECF0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3bf1798705ed6f1134c10304dda484f4"/>
          <p:cNvSpPr/>
          <p:nvPr/>
        </p:nvSpPr>
        <p:spPr>
          <a:xfrm>
            <a:off x="4206135" y="3497580"/>
            <a:ext cx="3462441" cy="2359152"/>
          </a:xfrm>
          <a:prstGeom prst="roundRect">
            <a:avLst/>
          </a:prstGeom>
          <a:solidFill>
            <a:srgbClr val="DCECF0">
              <a:alpha val="2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2a51ac6d1e721c79580d6a4ba38e7905"/>
          <p:cNvSpPr/>
          <p:nvPr/>
        </p:nvSpPr>
        <p:spPr>
          <a:xfrm>
            <a:off x="670543" y="1097280"/>
            <a:ext cx="3462441" cy="2359152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4607267b2a93eec5fe2e435c7cf8f1ae"/>
          <p:cNvSpPr/>
          <p:nvPr/>
        </p:nvSpPr>
        <p:spPr>
          <a:xfrm>
            <a:off x="4206135" y="1097280"/>
            <a:ext cx="3462441" cy="2359152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9b83507dd33f0632a06c6efc70ae1c34"/>
          <p:cNvSpPr txBox="1"/>
          <p:nvPr/>
        </p:nvSpPr>
        <p:spPr>
          <a:xfrm>
            <a:off x="670543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RARE</a:t>
            </a:r>
            <a:endParaRPr lang="en-US" sz="1400" dirty="0"/>
          </a:p>
        </p:txBody>
      </p:sp>
      <p:sp>
        <p:nvSpPr>
          <p:cNvPr id="8" name="element_fddeea0b74046c1f0c010102aee7445d"/>
          <p:cNvSpPr txBox="1"/>
          <p:nvPr/>
        </p:nvSpPr>
        <p:spPr>
          <a:xfrm>
            <a:off x="5791055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LIKELY</a:t>
            </a:r>
            <a:endParaRPr lang="en-US" sz="1400" dirty="0"/>
          </a:p>
        </p:txBody>
      </p:sp>
      <p:sp>
        <p:nvSpPr>
          <p:cNvPr id="9" name="element_f4b6020716729391ea4194e94cec2825"/>
          <p:cNvSpPr txBox="1"/>
          <p:nvPr/>
        </p:nvSpPr>
        <p:spPr>
          <a:xfrm>
            <a:off x="816844" y="534924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MINOR</a:t>
            </a:r>
            <a:endParaRPr lang="en-US" sz="1400" dirty="0"/>
          </a:p>
        </p:txBody>
      </p:sp>
      <p:sp>
        <p:nvSpPr>
          <p:cNvPr id="10" name="element_10194997bd6111808a16454309a325a6"/>
          <p:cNvSpPr txBox="1"/>
          <p:nvPr/>
        </p:nvSpPr>
        <p:spPr>
          <a:xfrm>
            <a:off x="816844" y="1220724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1" name="element_ce0dedb6484d239b92d453dd87e25acc"/>
          <p:cNvSpPr/>
          <p:nvPr/>
        </p:nvSpPr>
        <p:spPr>
          <a:xfrm>
            <a:off x="6181189" y="1207008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2" name="element_ce0dedb6484d239b92d453dd87e25acc:text"/>
          <p:cNvSpPr txBox="1"/>
          <p:nvPr/>
        </p:nvSpPr>
        <p:spPr>
          <a:xfrm>
            <a:off x="6181189" y="1207008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Rationale</a:t>
            </a:r>
            <a:endParaRPr lang="en-US" sz="1400" dirty="0"/>
          </a:p>
        </p:txBody>
      </p:sp>
      <p:sp>
        <p:nvSpPr>
          <p:cNvPr id="13" name="element_afb6e5b0215ae0594af6e7e29a49b5b7"/>
          <p:cNvSpPr/>
          <p:nvPr/>
        </p:nvSpPr>
        <p:spPr>
          <a:xfrm>
            <a:off x="4997376" y="2010080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4" name="element_afb6e5b0215ae0594af6e7e29a49b5b7:text"/>
          <p:cNvSpPr txBox="1"/>
          <p:nvPr/>
        </p:nvSpPr>
        <p:spPr>
          <a:xfrm>
            <a:off x="4997376" y="2010080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5" name="element_3b2bd44b50ec0e202e732e57178a2e43"/>
          <p:cNvSpPr/>
          <p:nvPr/>
        </p:nvSpPr>
        <p:spPr>
          <a:xfrm>
            <a:off x="3474633" y="2001164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6" name="element_3b2bd44b50ec0e202e732e57178a2e43:text"/>
          <p:cNvSpPr txBox="1"/>
          <p:nvPr/>
        </p:nvSpPr>
        <p:spPr>
          <a:xfrm>
            <a:off x="3474633" y="2001164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7" name="element_8a0029af247ab4c7c3a19a69c3c63e86"/>
          <p:cNvSpPr txBox="1"/>
          <p:nvPr/>
        </p:nvSpPr>
        <p:spPr>
          <a:xfrm>
            <a:off x="8412270" y="1028700"/>
            <a:ext cx="304792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16 / STRATEGIC RATIONALE</a:t>
            </a:r>
            <a:endParaRPr lang="en-US" sz="1500" dirty="0"/>
          </a:p>
        </p:txBody>
      </p:sp>
      <p:sp>
        <p:nvSpPr>
          <p:cNvPr id="18" name="element_96c7b05c28f174782b884e1ecd958148"/>
          <p:cNvSpPr txBox="1"/>
          <p:nvPr/>
        </p:nvSpPr>
        <p:spPr>
          <a:xfrm>
            <a:off x="8412270" y="1577340"/>
            <a:ext cx="304792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Rationale under a downside case</a:t>
            </a:r>
            <a:endParaRPr lang="en-US" sz="3500" dirty="0"/>
          </a:p>
        </p:txBody>
      </p:sp>
      <p:sp>
        <p:nvSpPr>
          <p:cNvPr id="19" name="element_e7018b1e37a3aae53b2a51e2043418bd"/>
          <p:cNvSpPr txBox="1"/>
          <p:nvPr/>
        </p:nvSpPr>
        <p:spPr>
          <a:xfrm>
            <a:off x="8412270" y="3703320"/>
            <a:ext cx="3047924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Rationale under a downside case: $28 cash vs. standalone, forecast, and China risk.</a:t>
            </a:r>
            <a:endParaRPr lang="en-US" sz="1700" dirty="0"/>
          </a:p>
        </p:txBody>
      </p:sp>
      <p:sp>
        <p:nvSpPr>
          <p:cNvPr id="20" name="element_07d4cf715c882d98496557c2a08ea74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6c5d99209cebec2e84c5ed0d8f03e2a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7be8126f7c472f51655b1584a8b3ccff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139a621a9d9a19a83181ae14b3c4042"/>
          <p:cNvSpPr txBox="1"/>
          <p:nvPr/>
        </p:nvSpPr>
        <p:spPr>
          <a:xfrm>
            <a:off x="1706837" y="514350"/>
            <a:ext cx="877802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17 / STRATEGIC RATIONALE</a:t>
            </a:r>
            <a:endParaRPr lang="en-US" sz="1500" dirty="0"/>
          </a:p>
        </p:txBody>
      </p:sp>
      <p:sp>
        <p:nvSpPr>
          <p:cNvPr id="4" name="element_c17292f91d6ab57fabd25e84142ce15b"/>
          <p:cNvSpPr txBox="1"/>
          <p:nvPr/>
        </p:nvSpPr>
        <p:spPr>
          <a:xfrm>
            <a:off x="6095848" y="1028700"/>
            <a:ext cx="5120512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Strategic conclusion</a:t>
            </a:r>
            <a:endParaRPr lang="en-US" sz="3200" dirty="0"/>
          </a:p>
        </p:txBody>
      </p:sp>
      <p:sp>
        <p:nvSpPr>
          <p:cNvPr id="5" name="element_f11442d577b7b53a1b402f8704e2b178"/>
          <p:cNvSpPr/>
          <p:nvPr/>
        </p:nvSpPr>
        <p:spPr>
          <a:xfrm>
            <a:off x="8778021" y="3291840"/>
            <a:ext cx="243834" cy="342900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6" name="element_91423f1e12bd981b6be66ba71816b62a"/>
          <p:cNvSpPr/>
          <p:nvPr/>
        </p:nvSpPr>
        <p:spPr>
          <a:xfrm>
            <a:off x="8778021" y="4320540"/>
            <a:ext cx="243834" cy="342900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7" name="element_06dc261c5a25fa6957251cc4e3086c4a"/>
          <p:cNvSpPr/>
          <p:nvPr/>
        </p:nvSpPr>
        <p:spPr>
          <a:xfrm>
            <a:off x="6827349" y="2606040"/>
            <a:ext cx="4145176" cy="685800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06dc261c5a25fa6957251cc4e3086c4a:text"/>
          <p:cNvSpPr txBox="1"/>
          <p:nvPr/>
        </p:nvSpPr>
        <p:spPr>
          <a:xfrm>
            <a:off x="6827349" y="26060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Strategic conclusion</a:t>
            </a:r>
            <a:endParaRPr lang="en-US" sz="1200" dirty="0"/>
          </a:p>
        </p:txBody>
      </p:sp>
      <p:sp>
        <p:nvSpPr>
          <p:cNvPr id="9" name="element_38035bb0cea59e77114b82e0558a86a9"/>
          <p:cNvSpPr/>
          <p:nvPr/>
        </p:nvSpPr>
        <p:spPr>
          <a:xfrm>
            <a:off x="6827349" y="3634740"/>
            <a:ext cx="4145176" cy="685800"/>
          </a:xfrm>
          <a:prstGeom prst="roundRect">
            <a:avLst/>
          </a:prstGeom>
          <a:solidFill>
            <a:srgbClr val="DDEDE8"/>
          </a:solidFill>
          <a:ln w="25400">
            <a:solidFill>
              <a:srgbClr val="287A8D"/>
            </a:solidFill>
            <a:prstDash val="solid"/>
          </a:ln>
        </p:spPr>
      </p:sp>
      <p:sp>
        <p:nvSpPr>
          <p:cNvPr id="10" name="element_38035bb0cea59e77114b82e0558a86a9:text"/>
          <p:cNvSpPr txBox="1"/>
          <p:nvPr/>
        </p:nvSpPr>
        <p:spPr>
          <a:xfrm>
            <a:off x="6827349" y="36347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gate: Strategic conclusion</a:t>
            </a:r>
            <a:endParaRPr lang="en-US" sz="1200" dirty="0"/>
          </a:p>
        </p:txBody>
      </p:sp>
      <p:sp>
        <p:nvSpPr>
          <p:cNvPr id="11" name="element_2324e02c93c40b28e0f671ea155d5146"/>
          <p:cNvSpPr/>
          <p:nvPr/>
        </p:nvSpPr>
        <p:spPr>
          <a:xfrm>
            <a:off x="6827349" y="4663440"/>
            <a:ext cx="4145176" cy="68580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2" name="element_2324e02c93c40b28e0f671ea155d5146:text"/>
          <p:cNvSpPr txBox="1"/>
          <p:nvPr/>
        </p:nvSpPr>
        <p:spPr>
          <a:xfrm>
            <a:off x="6827349" y="46634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on strategic conclusion</a:t>
            </a:r>
            <a:endParaRPr lang="en-US" sz="1200" dirty="0"/>
          </a:p>
        </p:txBody>
      </p:sp>
      <p:sp>
        <p:nvSpPr>
          <p:cNvPr id="13" name="element_98e79f210a520258ea9c11c13e244dc6"/>
          <p:cNvSpPr txBox="1"/>
          <p:nvPr/>
        </p:nvSpPr>
        <p:spPr>
          <a:xfrm>
            <a:off x="975336" y="2743200"/>
            <a:ext cx="46328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Strategic conclusion: $28 cash vs. standalone, forecast, and China risk.</a:t>
            </a:r>
            <a:endParaRPr lang="en-US" sz="1600" dirty="0"/>
          </a:p>
        </p:txBody>
      </p:sp>
      <p:sp>
        <p:nvSpPr>
          <p:cNvPr id="14" name="element_48e033e21f308ca660b4a057f695691f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5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cd2788a59af94a74a6172356d2b423e6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4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df048d8e25566aab4b12b3213aecfe1a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3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9fed4613c1edabe769ee59b77d4c4602"/>
          <p:cNvSpPr/>
          <p:nvPr/>
        </p:nvSpPr>
        <p:spPr>
          <a:xfrm>
            <a:off x="9732630" y="447827"/>
            <a:ext cx="1119198" cy="629564"/>
          </a:xfrm>
          <a:prstGeom prst="roundRect">
            <a:avLst/>
          </a:prstGeom>
          <a:solidFill>
            <a:srgbClr val="DCECF0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3454b5cabe48fc94aacdbf0fce8d6de1"/>
          <p:cNvSpPr/>
          <p:nvPr/>
        </p:nvSpPr>
        <p:spPr>
          <a:xfrm>
            <a:off x="10041080" y="621335"/>
            <a:ext cx="693707" cy="390220"/>
          </a:xfrm>
          <a:prstGeom prst="roundRect">
            <a:avLst/>
          </a:prstGeom>
          <a:solidFill>
            <a:srgbClr val="DCECF0">
              <a:alpha val="3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82c923290bf9855acfc527c2aa619379"/>
          <p:cNvSpPr/>
          <p:nvPr/>
        </p:nvSpPr>
        <p:spPr>
          <a:xfrm>
            <a:off x="10314174" y="774954"/>
            <a:ext cx="447435" cy="251689"/>
          </a:xfrm>
          <a:prstGeom prst="roundRect">
            <a:avLst/>
          </a:prstGeom>
          <a:solidFill>
            <a:srgbClr val="287A8D">
              <a:alpha val="4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af81641d14eff306109bd7701ebb3213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236029ec445aa623818a9ed87ae2616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e43270ae1f52c8b5bec5223f626b332e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149bce1317fcf90266b76d378580cda"/>
          <p:cNvSpPr txBox="1"/>
          <p:nvPr/>
        </p:nvSpPr>
        <p:spPr>
          <a:xfrm>
            <a:off x="6461598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18 / COMPANY AND MARKET OVERVIEW</a:t>
            </a:r>
            <a:endParaRPr lang="en-US" sz="1500" dirty="0"/>
          </a:p>
        </p:txBody>
      </p:sp>
      <p:sp>
        <p:nvSpPr>
          <p:cNvPr id="4" name="element_64009030c8b69a144e24435b3b9c3bed"/>
          <p:cNvSpPr txBox="1"/>
          <p:nvPr/>
        </p:nvSpPr>
        <p:spPr>
          <a:xfrm>
            <a:off x="1706837" y="1097280"/>
            <a:ext cx="87780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STAAR business model</a:t>
            </a:r>
            <a:endParaRPr lang="en-US" sz="2400" dirty="0"/>
          </a:p>
        </p:txBody>
      </p:sp>
      <p:sp>
        <p:nvSpPr>
          <p:cNvPr id="5" name="element_8b897f3306f2ede1bce9c7b5c9a697c8"/>
          <p:cNvSpPr/>
          <p:nvPr/>
        </p:nvSpPr>
        <p:spPr>
          <a:xfrm>
            <a:off x="1463003" y="1680210"/>
            <a:ext cx="9265688" cy="2125980"/>
          </a:xfrm>
          <a:prstGeom prst="roundRect">
            <a:avLst/>
          </a:prstGeom>
          <a:solidFill>
            <a:srgbClr val="DCECF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feb957af15e0fc5a41f95dd1f5816b36"/>
          <p:cNvSpPr txBox="1"/>
          <p:nvPr/>
        </p:nvSpPr>
        <p:spPr>
          <a:xfrm>
            <a:off x="2438339" y="1920240"/>
            <a:ext cx="7315017" cy="150876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5554E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3M+</a:t>
            </a:r>
            <a:endParaRPr lang="en-US" sz="4600" dirty="0"/>
          </a:p>
        </p:txBody>
      </p:sp>
      <p:sp>
        <p:nvSpPr>
          <p:cNvPr id="7" name="element_3ad2719ebef587a29aa1f500eba7120e"/>
          <p:cNvSpPr txBox="1"/>
          <p:nvPr/>
        </p:nvSpPr>
        <p:spPr>
          <a:xfrm>
            <a:off x="1706837" y="3566160"/>
            <a:ext cx="87780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ICLs sold</a:t>
            </a:r>
            <a:endParaRPr lang="en-US" sz="1600" dirty="0"/>
          </a:p>
        </p:txBody>
      </p:sp>
      <p:sp>
        <p:nvSpPr>
          <p:cNvPr id="8" name="element_6e332ec23e1819699b9473c4b99cb732"/>
          <p:cNvSpPr txBox="1"/>
          <p:nvPr/>
        </p:nvSpPr>
        <p:spPr>
          <a:xfrm>
            <a:off x="1706837" y="4389120"/>
            <a:ext cx="963143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STAAR business model: STAAR reported more than 3 million ICLs sold in over 75 countries.</a:t>
            </a:r>
            <a:endParaRPr lang="en-US" sz="1800" dirty="0"/>
          </a:p>
        </p:txBody>
      </p:sp>
      <p:sp>
        <p:nvSpPr>
          <p:cNvPr id="9" name="element_dfbc09be819f62f73616c35afb161151"/>
          <p:cNvSpPr txBox="1"/>
          <p:nvPr/>
        </p:nvSpPr>
        <p:spPr>
          <a:xfrm>
            <a:off x="1706837" y="5692140"/>
            <a:ext cx="9631439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STAAR reported more than 3 million ICLs sold in over 75 countries.</a:t>
            </a:r>
            <a:endParaRPr lang="en-US" sz="1400" dirty="0"/>
          </a:p>
        </p:txBody>
      </p:sp>
      <p:sp>
        <p:nvSpPr>
          <p:cNvPr id="10" name="element_250790f1cd408cfa413a100ae1f14e4c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DCECF0">
              <a:alpha val="5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02ab952e2677245ae97d403febbe0ff7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DCECF0">
              <a:alpha val="4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71580b24742a18a0582b62eeceb822ee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DCECF0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27f84f05135c40141bed8b64451e1a38"/>
          <p:cNvSpPr/>
          <p:nvPr/>
        </p:nvSpPr>
        <p:spPr>
          <a:xfrm>
            <a:off x="1334991" y="445770"/>
            <a:ext cx="1127732" cy="634365"/>
          </a:xfrm>
          <a:prstGeom prst="roundRect">
            <a:avLst/>
          </a:prstGeom>
          <a:solidFill>
            <a:srgbClr val="DCECF0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ef2e6e9060bf40a1da21da226b79f8a9"/>
          <p:cNvSpPr/>
          <p:nvPr/>
        </p:nvSpPr>
        <p:spPr>
          <a:xfrm>
            <a:off x="1452031" y="620649"/>
            <a:ext cx="699803" cy="393649"/>
          </a:xfrm>
          <a:prstGeom prst="roundRect">
            <a:avLst/>
          </a:prstGeom>
          <a:solidFill>
            <a:srgbClr val="DCECF0">
              <a:alpha val="3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7af233d69a1074000e293a75767c44e2"/>
          <p:cNvSpPr/>
          <p:nvPr/>
        </p:nvSpPr>
        <p:spPr>
          <a:xfrm>
            <a:off x="1426428" y="774954"/>
            <a:ext cx="451093" cy="253746"/>
          </a:xfrm>
          <a:prstGeom prst="roundRect">
            <a:avLst/>
          </a:prstGeom>
          <a:solidFill>
            <a:srgbClr val="287A8D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1de36082a73a33554916398c00878cef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7" name="element_61b1c5dac0d18d67c96c7f9a7e775296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930cb465ca832f41cfc1b3efa473432a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cee2a910515345db05cdf1d180af162"/>
          <p:cNvSpPr txBox="1"/>
          <p:nvPr/>
        </p:nvSpPr>
        <p:spPr>
          <a:xfrm>
            <a:off x="853419" y="41148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19 / COMPANY AND MARKET OVERVIEW</a:t>
            </a:r>
            <a:endParaRPr lang="en-US" sz="1500" dirty="0"/>
          </a:p>
        </p:txBody>
      </p:sp>
      <p:sp>
        <p:nvSpPr>
          <p:cNvPr id="4" name="element_80a6cceb9d27c607fc9a524ee6917e84"/>
          <p:cNvSpPr txBox="1"/>
          <p:nvPr/>
        </p:nvSpPr>
        <p:spPr>
          <a:xfrm>
            <a:off x="853419" y="960120"/>
            <a:ext cx="9997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ICL portfolio and revenue concentration</a:t>
            </a:r>
            <a:endParaRPr lang="en-US" sz="3200" dirty="0"/>
          </a:p>
        </p:txBody>
      </p:sp>
      <p:sp>
        <p:nvSpPr>
          <p:cNvPr id="5" name="element_d2f8f85ab51183ce2a7edf62ce91b643"/>
          <p:cNvSpPr/>
          <p:nvPr/>
        </p:nvSpPr>
        <p:spPr>
          <a:xfrm>
            <a:off x="5435058" y="2392070"/>
            <a:ext cx="1320361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6" name="element_110f46f19120ce2d0e20a910971ae21e"/>
          <p:cNvSpPr/>
          <p:nvPr/>
        </p:nvSpPr>
        <p:spPr>
          <a:xfrm>
            <a:off x="5435058" y="3135478"/>
            <a:ext cx="1320361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7" name="element_02c947ffef696fc244c26efc28fb8e65"/>
          <p:cNvSpPr/>
          <p:nvPr/>
        </p:nvSpPr>
        <p:spPr>
          <a:xfrm>
            <a:off x="853419" y="1851660"/>
            <a:ext cx="10484858" cy="502691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02c947ffef696fc244c26efc28fb8e65:text"/>
          <p:cNvSpPr txBox="1"/>
          <p:nvPr/>
        </p:nvSpPr>
        <p:spPr>
          <a:xfrm>
            <a:off x="853419" y="1851660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ICL portfolio and revenue concentration</a:t>
            </a:r>
            <a:endParaRPr lang="en-US" sz="1200" dirty="0"/>
          </a:p>
        </p:txBody>
      </p:sp>
      <p:sp>
        <p:nvSpPr>
          <p:cNvPr id="9" name="element_f3ab7a6f75ea713b2d657d243f9cbdee"/>
          <p:cNvSpPr/>
          <p:nvPr/>
        </p:nvSpPr>
        <p:spPr>
          <a:xfrm>
            <a:off x="853419" y="2594381"/>
            <a:ext cx="10484858" cy="502691"/>
          </a:xfrm>
          <a:prstGeom prst="roundRect">
            <a:avLst/>
          </a:prstGeom>
          <a:solidFill>
            <a:srgbClr val="DDEDE8"/>
          </a:solidFill>
          <a:ln w="25400">
            <a:solidFill>
              <a:srgbClr val="287A8D"/>
            </a:solidFill>
            <a:prstDash val="solid"/>
          </a:ln>
        </p:spPr>
      </p:sp>
      <p:sp>
        <p:nvSpPr>
          <p:cNvPr id="10" name="element_f3ab7a6f75ea713b2d657d243f9cbdee:text"/>
          <p:cNvSpPr txBox="1"/>
          <p:nvPr/>
        </p:nvSpPr>
        <p:spPr>
          <a:xfrm>
            <a:off x="853419" y="2594381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gate: ICL portfolio and revenue concentration</a:t>
            </a:r>
            <a:endParaRPr lang="en-US" sz="1200" dirty="0"/>
          </a:p>
        </p:txBody>
      </p:sp>
      <p:sp>
        <p:nvSpPr>
          <p:cNvPr id="11" name="element_0ea5af9b3aaebfc6d05ebea05a5ee41c"/>
          <p:cNvSpPr/>
          <p:nvPr/>
        </p:nvSpPr>
        <p:spPr>
          <a:xfrm>
            <a:off x="853419" y="3337789"/>
            <a:ext cx="10484858" cy="502691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2" name="element_0ea5af9b3aaebfc6d05ebea05a5ee41c:text"/>
          <p:cNvSpPr txBox="1"/>
          <p:nvPr/>
        </p:nvSpPr>
        <p:spPr>
          <a:xfrm>
            <a:off x="853419" y="3337789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on icl portfolio and revenue concentration</a:t>
            </a:r>
            <a:endParaRPr lang="en-US" sz="1200" dirty="0"/>
          </a:p>
        </p:txBody>
      </p:sp>
      <p:sp>
        <p:nvSpPr>
          <p:cNvPr id="13" name="element_75424a6171d32a69dab3491ef630a213"/>
          <p:cNvSpPr txBox="1"/>
          <p:nvPr/>
        </p:nvSpPr>
        <p:spPr>
          <a:xfrm>
            <a:off x="853419" y="4046220"/>
            <a:ext cx="963143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filings to establish icl portfolio and revenue concentration; distinguish installed scale from current demand durability and geographic concentration.</a:t>
            </a:r>
            <a:endParaRPr lang="en-US" sz="1600" dirty="0"/>
          </a:p>
        </p:txBody>
      </p:sp>
      <p:sp>
        <p:nvSpPr>
          <p:cNvPr id="14" name="element_2f72bd465fbb49c6246455b194e566f0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0fec0693766a405cb45340d49d397401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e760c820e637adfc971595c108d80f85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caa027c2b578ae72505306cb0deb404c"/>
          <p:cNvSpPr/>
          <p:nvPr/>
        </p:nvSpPr>
        <p:spPr>
          <a:xfrm>
            <a:off x="9725315" y="443713"/>
            <a:ext cx="1136266" cy="639166"/>
          </a:xfrm>
          <a:prstGeom prst="roundRect">
            <a:avLst/>
          </a:prstGeom>
          <a:solidFill>
            <a:srgbClr val="DCECF0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2ee2118b802771a7a8c5d66c26f36987"/>
          <p:cNvSpPr/>
          <p:nvPr/>
        </p:nvSpPr>
        <p:spPr>
          <a:xfrm>
            <a:off x="10038642" y="619963"/>
            <a:ext cx="704680" cy="396392"/>
          </a:xfrm>
          <a:prstGeom prst="roundRect">
            <a:avLst/>
          </a:prstGeom>
          <a:solidFill>
            <a:srgbClr val="DCECF0">
              <a:alpha val="3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cedf13d506f2872a1b470d6286185db3"/>
          <p:cNvSpPr/>
          <p:nvPr/>
        </p:nvSpPr>
        <p:spPr>
          <a:xfrm>
            <a:off x="10314174" y="774954"/>
            <a:ext cx="454750" cy="255803"/>
          </a:xfrm>
          <a:prstGeom prst="roundRect">
            <a:avLst/>
          </a:prstGeom>
          <a:solidFill>
            <a:srgbClr val="287A8D">
              <a:alpha val="4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b4630a658813d139735524e9b642439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e8647b7bef88c8ed654a695732dc9d2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bd399dcb1a3eb19d4fec330451166fef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39db28cb75ba24c5d6cbbfe1b33ade1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20 / COMPANY AND MARKET OVERVIEW</a:t>
            </a:r>
            <a:endParaRPr lang="en-US" sz="1500" dirty="0"/>
          </a:p>
        </p:txBody>
      </p:sp>
      <p:sp>
        <p:nvSpPr>
          <p:cNvPr id="4" name="element_ac056ea3c41e58f0ef0bf1f8e76dba5b"/>
          <p:cNvSpPr txBox="1"/>
          <p:nvPr/>
        </p:nvSpPr>
        <p:spPr>
          <a:xfrm>
            <a:off x="853419" y="1028700"/>
            <a:ext cx="96314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Geographic mix and China exposure</a:t>
            </a:r>
            <a:endParaRPr lang="en-US" sz="3600" dirty="0"/>
          </a:p>
        </p:txBody>
      </p:sp>
      <p:sp>
        <p:nvSpPr>
          <p:cNvPr id="5" name="element_6e0845debaffae5599c076c429d71371"/>
          <p:cNvSpPr txBox="1"/>
          <p:nvPr/>
        </p:nvSpPr>
        <p:spPr>
          <a:xfrm>
            <a:off x="853419" y="198882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element_016ec9340354a17feddc3b1696f83840"/>
          <p:cNvSpPr txBox="1"/>
          <p:nvPr/>
        </p:nvSpPr>
        <p:spPr>
          <a:xfrm>
            <a:off x="853419" y="253746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Observed business evidence: Geographic mix and China exposure</a:t>
            </a:r>
            <a:endParaRPr lang="en-US" sz="1700" dirty="0"/>
          </a:p>
        </p:txBody>
      </p:sp>
      <p:sp>
        <p:nvSpPr>
          <p:cNvPr id="7" name="element_20d297fd369a19d4bde6f4d3d1ea84f9"/>
          <p:cNvSpPr/>
          <p:nvPr/>
        </p:nvSpPr>
        <p:spPr>
          <a:xfrm>
            <a:off x="4287819" y="1988820"/>
            <a:ext cx="121917" cy="2880360"/>
          </a:xfrm>
          <a:prstGeom prst="rect">
            <a:avLst/>
          </a:prstGeom>
          <a:solidFill>
            <a:srgbClr val="CFDC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22594b6fb8ee3ff6becd128654c2d3b2"/>
          <p:cNvSpPr txBox="1"/>
          <p:nvPr/>
        </p:nvSpPr>
        <p:spPr>
          <a:xfrm>
            <a:off x="4470695" y="198882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element_43d7a3e18b4d36b45f7dd7c06253c0c3"/>
          <p:cNvSpPr txBox="1"/>
          <p:nvPr/>
        </p:nvSpPr>
        <p:spPr>
          <a:xfrm>
            <a:off x="4470695" y="253746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Durability test: regional growth outside China versus China deterioration</a:t>
            </a:r>
            <a:endParaRPr lang="en-US" sz="1700" dirty="0"/>
          </a:p>
        </p:txBody>
      </p:sp>
      <p:sp>
        <p:nvSpPr>
          <p:cNvPr id="10" name="element_1589d31488211eecd23f2624284dfe79"/>
          <p:cNvSpPr/>
          <p:nvPr/>
        </p:nvSpPr>
        <p:spPr>
          <a:xfrm>
            <a:off x="7903876" y="1988820"/>
            <a:ext cx="121917" cy="2880360"/>
          </a:xfrm>
          <a:prstGeom prst="rect">
            <a:avLst/>
          </a:prstGeom>
          <a:solidFill>
            <a:srgbClr val="CFDC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1ff01e0c0454f01020f3333a599be72f"/>
          <p:cNvSpPr txBox="1"/>
          <p:nvPr/>
        </p:nvSpPr>
        <p:spPr>
          <a:xfrm>
            <a:off x="8086751" y="198882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element_79b95723878c1bb39615e7613c00ae44"/>
          <p:cNvSpPr txBox="1"/>
          <p:nvPr/>
        </p:nvSpPr>
        <p:spPr>
          <a:xfrm>
            <a:off x="8086751" y="253746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Do not convert company positioning into independent market proof</a:t>
            </a:r>
            <a:endParaRPr lang="en-US" sz="1700" dirty="0"/>
          </a:p>
        </p:txBody>
      </p:sp>
      <p:sp>
        <p:nvSpPr>
          <p:cNvPr id="13" name="element_b0b2dfba4a8da1e1ff8183f522f9c443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5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aea818148a99473a3262bbc90feb7d56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4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f21df9e5d655fbef86cd6ab4db33b74e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2d3a83f83612ab716acfb568bfc5ad6b"/>
          <p:cNvSpPr/>
          <p:nvPr/>
        </p:nvSpPr>
        <p:spPr>
          <a:xfrm>
            <a:off x="9721658" y="441655"/>
            <a:ext cx="1144800" cy="643966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13c987f121260fd636be57501ac7ade6"/>
          <p:cNvSpPr/>
          <p:nvPr/>
        </p:nvSpPr>
        <p:spPr>
          <a:xfrm>
            <a:off x="10036203" y="618592"/>
            <a:ext cx="709557" cy="399136"/>
          </a:xfrm>
          <a:prstGeom prst="roundRect">
            <a:avLst/>
          </a:prstGeom>
          <a:solidFill>
            <a:srgbClr val="DCECF0">
              <a:alpha val="3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e6436aa9992ba1ee024cafbf992db4b2"/>
          <p:cNvSpPr/>
          <p:nvPr/>
        </p:nvSpPr>
        <p:spPr>
          <a:xfrm>
            <a:off x="10314174" y="774954"/>
            <a:ext cx="458408" cy="257861"/>
          </a:xfrm>
          <a:prstGeom prst="roundRect">
            <a:avLst/>
          </a:prstGeom>
          <a:solidFill>
            <a:srgbClr val="287A8D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978a64e7d96848ea4989bc2e6306ccc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0" name="element_1d7fad67053bf8e632dd40c7ed4ca00c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c532cfd316fd27d918ae446e03f0d11c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bea64ac6075000c4e36c81ce5736a37"/>
          <p:cNvSpPr/>
          <p:nvPr/>
        </p:nvSpPr>
        <p:spPr>
          <a:xfrm>
            <a:off x="8058711" y="3497580"/>
            <a:ext cx="3462441" cy="2359152"/>
          </a:xfrm>
          <a:prstGeom prst="roundRect">
            <a:avLst/>
          </a:prstGeom>
          <a:solidFill>
            <a:srgbClr val="DCECF0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bf77591011d9b72d736c21f2277decfe"/>
          <p:cNvSpPr/>
          <p:nvPr/>
        </p:nvSpPr>
        <p:spPr>
          <a:xfrm>
            <a:off x="4523119" y="3497580"/>
            <a:ext cx="3462441" cy="2359152"/>
          </a:xfrm>
          <a:prstGeom prst="roundRect">
            <a:avLst/>
          </a:prstGeom>
          <a:solidFill>
            <a:srgbClr val="DCECF0">
              <a:alpha val="2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5c375053841997ac96377255394c409a"/>
          <p:cNvSpPr/>
          <p:nvPr/>
        </p:nvSpPr>
        <p:spPr>
          <a:xfrm>
            <a:off x="8058711" y="1097280"/>
            <a:ext cx="3462441" cy="2359152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d12cded60c95f1cfe96348d206204e93"/>
          <p:cNvSpPr/>
          <p:nvPr/>
        </p:nvSpPr>
        <p:spPr>
          <a:xfrm>
            <a:off x="4523119" y="1097280"/>
            <a:ext cx="3462441" cy="2359152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43a3b51c71ff4ae91c11db803d6d733d"/>
          <p:cNvSpPr txBox="1"/>
          <p:nvPr/>
        </p:nvSpPr>
        <p:spPr>
          <a:xfrm>
            <a:off x="9570481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RARE</a:t>
            </a:r>
            <a:endParaRPr lang="en-US" sz="1400" dirty="0"/>
          </a:p>
        </p:txBody>
      </p:sp>
      <p:sp>
        <p:nvSpPr>
          <p:cNvPr id="8" name="element_acd17f3d80a3e04dd96a9bbf90f522d3"/>
          <p:cNvSpPr txBox="1"/>
          <p:nvPr/>
        </p:nvSpPr>
        <p:spPr>
          <a:xfrm>
            <a:off x="4449969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LIKELY</a:t>
            </a:r>
            <a:endParaRPr lang="en-US" sz="1400" dirty="0"/>
          </a:p>
        </p:txBody>
      </p:sp>
      <p:sp>
        <p:nvSpPr>
          <p:cNvPr id="9" name="element_081a8fd7da91520f44638cd6060f08ab"/>
          <p:cNvSpPr txBox="1"/>
          <p:nvPr/>
        </p:nvSpPr>
        <p:spPr>
          <a:xfrm>
            <a:off x="9424180" y="534924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MINOR</a:t>
            </a:r>
            <a:endParaRPr lang="en-US" sz="1400" dirty="0"/>
          </a:p>
        </p:txBody>
      </p:sp>
      <p:sp>
        <p:nvSpPr>
          <p:cNvPr id="10" name="element_b630e1ed0ce6e88d4c04e9515e6b4990"/>
          <p:cNvSpPr txBox="1"/>
          <p:nvPr/>
        </p:nvSpPr>
        <p:spPr>
          <a:xfrm>
            <a:off x="9424180" y="1220724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1" name="element_edac54ba9279a787a42eacb30454b506"/>
          <p:cNvSpPr/>
          <p:nvPr/>
        </p:nvSpPr>
        <p:spPr>
          <a:xfrm>
            <a:off x="4547502" y="1207008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2" name="element_edac54ba9279a787a42eacb30454b506:text"/>
          <p:cNvSpPr txBox="1"/>
          <p:nvPr/>
        </p:nvSpPr>
        <p:spPr>
          <a:xfrm>
            <a:off x="4547502" y="1207008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Channel</a:t>
            </a:r>
            <a:endParaRPr lang="en-US" sz="1400" dirty="0"/>
          </a:p>
        </p:txBody>
      </p:sp>
      <p:sp>
        <p:nvSpPr>
          <p:cNvPr id="13" name="element_5f9b2e43c7ebdc30ee949d1cbd6df075"/>
          <p:cNvSpPr/>
          <p:nvPr/>
        </p:nvSpPr>
        <p:spPr>
          <a:xfrm>
            <a:off x="5731316" y="2010080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4" name="element_5f9b2e43c7ebdc30ee949d1cbd6df075:text"/>
          <p:cNvSpPr txBox="1"/>
          <p:nvPr/>
        </p:nvSpPr>
        <p:spPr>
          <a:xfrm>
            <a:off x="5731316" y="2010080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5" name="element_26497b11ef3e2110fe8487261f405b81"/>
          <p:cNvSpPr/>
          <p:nvPr/>
        </p:nvSpPr>
        <p:spPr>
          <a:xfrm>
            <a:off x="7254059" y="2001164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6" name="element_26497b11ef3e2110fe8487261f405b81:text"/>
          <p:cNvSpPr txBox="1"/>
          <p:nvPr/>
        </p:nvSpPr>
        <p:spPr>
          <a:xfrm>
            <a:off x="7254059" y="2001164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7" name="element_65ef82352bd89d45d8b403207d6fbefd"/>
          <p:cNvSpPr txBox="1"/>
          <p:nvPr/>
        </p:nvSpPr>
        <p:spPr>
          <a:xfrm>
            <a:off x="731502" y="1028700"/>
            <a:ext cx="304792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21 / COMPANY AND MARKET OVERVIEW</a:t>
            </a:r>
            <a:endParaRPr lang="en-US" sz="1500" dirty="0"/>
          </a:p>
        </p:txBody>
      </p:sp>
      <p:sp>
        <p:nvSpPr>
          <p:cNvPr id="18" name="element_be2e51c2cd0f13d5f271bb2e9684a03b"/>
          <p:cNvSpPr txBox="1"/>
          <p:nvPr/>
        </p:nvSpPr>
        <p:spPr>
          <a:xfrm>
            <a:off x="731502" y="1577340"/>
            <a:ext cx="304792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Customer and channel structure</a:t>
            </a:r>
            <a:endParaRPr lang="en-US" sz="3600" dirty="0"/>
          </a:p>
        </p:txBody>
      </p:sp>
      <p:sp>
        <p:nvSpPr>
          <p:cNvPr id="19" name="element_b37ec202dd348ce796026a3f1232fdb4"/>
          <p:cNvSpPr txBox="1"/>
          <p:nvPr/>
        </p:nvSpPr>
        <p:spPr>
          <a:xfrm>
            <a:off x="731502" y="3703320"/>
            <a:ext cx="3047924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Customer and channel structure: Q2 2025 APAC sales fell 69%; EMEA rose 11% and Americas rose 10%.</a:t>
            </a:r>
            <a:endParaRPr lang="en-US" sz="1700" dirty="0"/>
          </a:p>
        </p:txBody>
      </p:sp>
      <p:sp>
        <p:nvSpPr>
          <p:cNvPr id="20" name="element_538c2d7ff0f15667b046db87ec661db6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9584bc7765e2ae0656d7b7f8ea115452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7c3b7eb7541023ecf68c62e56a175c4a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b5241d0dcfba21d94191c9498d24d7d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22 / COMPANY AND MARKET OVERVIEW</a:t>
            </a:r>
            <a:endParaRPr lang="en-US" sz="1500" dirty="0"/>
          </a:p>
        </p:txBody>
      </p:sp>
      <p:sp>
        <p:nvSpPr>
          <p:cNvPr id="4" name="element_90372189ff53dfca937980a2a826c65d"/>
          <p:cNvSpPr txBox="1"/>
          <p:nvPr/>
        </p:nvSpPr>
        <p:spPr>
          <a:xfrm>
            <a:off x="853419" y="1028700"/>
            <a:ext cx="96314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Market growth claims and evidence gaps</a:t>
            </a:r>
            <a:endParaRPr lang="en-US" sz="3600" dirty="0"/>
          </a:p>
        </p:txBody>
      </p:sp>
      <p:sp>
        <p:nvSpPr>
          <p:cNvPr id="5" name="element_d53403d6d68aad4653b3e568b0511eb8"/>
          <p:cNvSpPr/>
          <p:nvPr/>
        </p:nvSpPr>
        <p:spPr>
          <a:xfrm>
            <a:off x="853419" y="2125980"/>
            <a:ext cx="3291758" cy="219456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6" name="element_f4ad868e0b199899e41e5f54f78f8f6d"/>
          <p:cNvSpPr txBox="1"/>
          <p:nvPr/>
        </p:nvSpPr>
        <p:spPr>
          <a:xfrm>
            <a:off x="1097253" y="226314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Observed business evidence: Market growth claims and evidence gaps</a:t>
            </a:r>
            <a:endParaRPr lang="en-US" sz="1600" dirty="0"/>
          </a:p>
        </p:txBody>
      </p:sp>
      <p:sp>
        <p:nvSpPr>
          <p:cNvPr id="7" name="element_13f2a19feb2fe37583aaaee1d9f83b76"/>
          <p:cNvSpPr/>
          <p:nvPr/>
        </p:nvSpPr>
        <p:spPr>
          <a:xfrm>
            <a:off x="4449969" y="2125980"/>
            <a:ext cx="3291758" cy="219456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c3f9f7310f06bef729f8e49a4cd40bd3"/>
          <p:cNvSpPr txBox="1"/>
          <p:nvPr/>
        </p:nvSpPr>
        <p:spPr>
          <a:xfrm>
            <a:off x="4693803" y="226314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Durability test: regional growth outside China versus China deterioration</a:t>
            </a:r>
            <a:endParaRPr lang="en-US" sz="1600" dirty="0"/>
          </a:p>
        </p:txBody>
      </p:sp>
      <p:sp>
        <p:nvSpPr>
          <p:cNvPr id="9" name="element_480417b288e9e9c112513163323d9d8d"/>
          <p:cNvSpPr/>
          <p:nvPr/>
        </p:nvSpPr>
        <p:spPr>
          <a:xfrm>
            <a:off x="8046519" y="2125980"/>
            <a:ext cx="3291758" cy="219456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0" name="element_62915b5eef59ee58e038dacd9a636051"/>
          <p:cNvSpPr txBox="1"/>
          <p:nvPr/>
        </p:nvSpPr>
        <p:spPr>
          <a:xfrm>
            <a:off x="8290353" y="226314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Do not convert company positioning into independent market proof</a:t>
            </a:r>
            <a:endParaRPr lang="en-US" sz="1600" dirty="0"/>
          </a:p>
        </p:txBody>
      </p:sp>
      <p:sp>
        <p:nvSpPr>
          <p:cNvPr id="11" name="element_b615d9c81140e76f16ee70d66519bd6e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5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2c97998d470fc3693c9d22cba9af061d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e0f905ffbac9aff73383fa8b9375e0a6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e9c8fd9d3cb2aac517289af00caac15a"/>
          <p:cNvSpPr/>
          <p:nvPr/>
        </p:nvSpPr>
        <p:spPr>
          <a:xfrm>
            <a:off x="9715562" y="438226"/>
            <a:ext cx="1161869" cy="653567"/>
          </a:xfrm>
          <a:prstGeom prst="roundRect">
            <a:avLst/>
          </a:prstGeom>
          <a:solidFill>
            <a:srgbClr val="DCECF0">
              <a:alpha val="2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15e09866d776badab817ba7ee8fcdf2d"/>
          <p:cNvSpPr/>
          <p:nvPr/>
        </p:nvSpPr>
        <p:spPr>
          <a:xfrm>
            <a:off x="10032546" y="616534"/>
            <a:ext cx="720529" cy="405308"/>
          </a:xfrm>
          <a:prstGeom prst="roundRect">
            <a:avLst/>
          </a:prstGeom>
          <a:solidFill>
            <a:srgbClr val="DCECF0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69d7bef3878817935ba1c0cd3c26347d"/>
          <p:cNvSpPr/>
          <p:nvPr/>
        </p:nvSpPr>
        <p:spPr>
          <a:xfrm>
            <a:off x="10314174" y="774954"/>
            <a:ext cx="464504" cy="261290"/>
          </a:xfrm>
          <a:prstGeom prst="roundRect">
            <a:avLst/>
          </a:prstGeom>
          <a:solidFill>
            <a:srgbClr val="287A8D">
              <a:alpha val="4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cb30b9faca709f4b72d163010c2f647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bc5641d2467d3d5b101252e561b43eb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4e227770b8f7e38a2f4449d361a365e4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6bf244d377cd17763fe857986494c79"/>
          <p:cNvSpPr txBox="1"/>
          <p:nvPr/>
        </p:nvSpPr>
        <p:spPr>
          <a:xfrm>
            <a:off x="1706837" y="514350"/>
            <a:ext cx="877802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23 / COMPANY AND MARKET OVERVIEW</a:t>
            </a:r>
            <a:endParaRPr lang="en-US" sz="1500" dirty="0"/>
          </a:p>
        </p:txBody>
      </p:sp>
      <p:sp>
        <p:nvSpPr>
          <p:cNvPr id="4" name="element_892ab05d2c022f573af2b8ece81cfd6e"/>
          <p:cNvSpPr txBox="1"/>
          <p:nvPr/>
        </p:nvSpPr>
        <p:spPr>
          <a:xfrm>
            <a:off x="1706837" y="1234440"/>
            <a:ext cx="8778021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Competitive positioning</a:t>
            </a:r>
            <a:endParaRPr lang="en-US" sz="4200" dirty="0"/>
          </a:p>
        </p:txBody>
      </p:sp>
      <p:sp>
        <p:nvSpPr>
          <p:cNvPr id="5" name="element_421721807946f6b853204d81b3d2b14d"/>
          <p:cNvSpPr txBox="1"/>
          <p:nvPr/>
        </p:nvSpPr>
        <p:spPr>
          <a:xfrm>
            <a:off x="2438339" y="3086100"/>
            <a:ext cx="731501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Competitive positioning: Q2 2025 APAC sales fell 69%; EMEA rose 11% and Americas rose 10%.</a:t>
            </a:r>
            <a:endParaRPr lang="en-US" sz="1800" dirty="0"/>
          </a:p>
        </p:txBody>
      </p:sp>
      <p:sp>
        <p:nvSpPr>
          <p:cNvPr id="6" name="element_b67906aac77866848f5d811d9a6a94cc"/>
          <p:cNvSpPr txBox="1"/>
          <p:nvPr/>
        </p:nvSpPr>
        <p:spPr>
          <a:xfrm>
            <a:off x="3291758" y="4800600"/>
            <a:ext cx="5608180" cy="859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Q2 2025 APAC sales fell 69%; EMEA rose 11% and Americas rose 10%.</a:t>
            </a:r>
            <a:endParaRPr lang="en-US" sz="1700" dirty="0"/>
          </a:p>
        </p:txBody>
      </p:sp>
      <p:sp>
        <p:nvSpPr>
          <p:cNvPr id="7" name="element_f25b6a52f79a1911339461bccc678f21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5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a09af441c8d63f973c39ed0d7ea82911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4ade8b7b6c6d7e6fd178b583c09d1975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3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59c6c449968d9ad197d108b534869fa1"/>
          <p:cNvSpPr/>
          <p:nvPr/>
        </p:nvSpPr>
        <p:spPr>
          <a:xfrm>
            <a:off x="9711904" y="436169"/>
            <a:ext cx="1169184" cy="657682"/>
          </a:xfrm>
          <a:prstGeom prst="roundRect">
            <a:avLst/>
          </a:prstGeom>
          <a:solidFill>
            <a:srgbClr val="DCECF0">
              <a:alpha val="2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7dcf7c9d257ea8f75f618467c6388637"/>
          <p:cNvSpPr/>
          <p:nvPr/>
        </p:nvSpPr>
        <p:spPr>
          <a:xfrm>
            <a:off x="10031327" y="615848"/>
            <a:ext cx="725406" cy="408051"/>
          </a:xfrm>
          <a:prstGeom prst="roundRect">
            <a:avLst/>
          </a:prstGeom>
          <a:solidFill>
            <a:srgbClr val="DCECF0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ed6757c58a5de331e28226718ff6c10f"/>
          <p:cNvSpPr/>
          <p:nvPr/>
        </p:nvSpPr>
        <p:spPr>
          <a:xfrm>
            <a:off x="10314174" y="774954"/>
            <a:ext cx="468161" cy="263347"/>
          </a:xfrm>
          <a:prstGeom prst="roundRect">
            <a:avLst/>
          </a:prstGeom>
          <a:solidFill>
            <a:srgbClr val="287A8D">
              <a:alpha val="4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98a07346c267c40c5123f15b956e3137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9d4190e8c5287e52792b4c2113f442b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60c042f16a2324c4210996af2e108064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bbe23b1fa7f34f0ce6746d966f82f3c"/>
          <p:cNvSpPr txBox="1"/>
          <p:nvPr/>
        </p:nvSpPr>
        <p:spPr>
          <a:xfrm>
            <a:off x="1706837" y="514350"/>
            <a:ext cx="877802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24 / COMPANY AND MARKET OVERVIEW</a:t>
            </a:r>
            <a:endParaRPr lang="en-US" sz="1500" dirty="0"/>
          </a:p>
        </p:txBody>
      </p:sp>
      <p:sp>
        <p:nvSpPr>
          <p:cNvPr id="4" name="element_529beb44c3d0ddb259c90fef2b03248d"/>
          <p:cNvSpPr txBox="1"/>
          <p:nvPr/>
        </p:nvSpPr>
        <p:spPr>
          <a:xfrm>
            <a:off x="975336" y="1028700"/>
            <a:ext cx="5120512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Regulatory and reimbursement context</a:t>
            </a:r>
            <a:endParaRPr lang="en-US" sz="3200" dirty="0"/>
          </a:p>
        </p:txBody>
      </p:sp>
      <p:sp>
        <p:nvSpPr>
          <p:cNvPr id="5" name="element_2d33f268e32182f4d1aa83f5682753eb"/>
          <p:cNvSpPr/>
          <p:nvPr/>
        </p:nvSpPr>
        <p:spPr>
          <a:xfrm>
            <a:off x="2926007" y="3291840"/>
            <a:ext cx="243834" cy="342900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6" name="element_01918bdc5560a7a91ee0fd7a4ef90708"/>
          <p:cNvSpPr/>
          <p:nvPr/>
        </p:nvSpPr>
        <p:spPr>
          <a:xfrm>
            <a:off x="2926007" y="4320540"/>
            <a:ext cx="243834" cy="342900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7" name="element_f2967e05ebbd5599c1daca977f81d111"/>
          <p:cNvSpPr/>
          <p:nvPr/>
        </p:nvSpPr>
        <p:spPr>
          <a:xfrm>
            <a:off x="975336" y="2606040"/>
            <a:ext cx="4145176" cy="685800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f2967e05ebbd5599c1daca977f81d111:text"/>
          <p:cNvSpPr txBox="1"/>
          <p:nvPr/>
        </p:nvSpPr>
        <p:spPr>
          <a:xfrm>
            <a:off x="975336" y="26060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Regulatory and reimbursement context</a:t>
            </a:r>
            <a:endParaRPr lang="en-US" sz="1200" dirty="0"/>
          </a:p>
        </p:txBody>
      </p:sp>
      <p:sp>
        <p:nvSpPr>
          <p:cNvPr id="9" name="element_f6e6bbf8a79db064b79d1e1bd8e2eddb"/>
          <p:cNvSpPr/>
          <p:nvPr/>
        </p:nvSpPr>
        <p:spPr>
          <a:xfrm>
            <a:off x="975336" y="3634740"/>
            <a:ext cx="4145176" cy="685800"/>
          </a:xfrm>
          <a:prstGeom prst="roundRect">
            <a:avLst/>
          </a:prstGeom>
          <a:solidFill>
            <a:srgbClr val="DDEDE8"/>
          </a:solidFill>
          <a:ln w="25400">
            <a:solidFill>
              <a:srgbClr val="287A8D"/>
            </a:solidFill>
            <a:prstDash val="solid"/>
          </a:ln>
        </p:spPr>
      </p:sp>
      <p:sp>
        <p:nvSpPr>
          <p:cNvPr id="10" name="element_f6e6bbf8a79db064b79d1e1bd8e2eddb:text"/>
          <p:cNvSpPr txBox="1"/>
          <p:nvPr/>
        </p:nvSpPr>
        <p:spPr>
          <a:xfrm>
            <a:off x="975336" y="36347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gate: Regulatory and reimbursement context</a:t>
            </a:r>
            <a:endParaRPr lang="en-US" sz="1200" dirty="0"/>
          </a:p>
        </p:txBody>
      </p:sp>
      <p:sp>
        <p:nvSpPr>
          <p:cNvPr id="11" name="element_858920de27728cd0f5debab099e0e1de"/>
          <p:cNvSpPr/>
          <p:nvPr/>
        </p:nvSpPr>
        <p:spPr>
          <a:xfrm>
            <a:off x="975336" y="4663440"/>
            <a:ext cx="4145176" cy="68580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2" name="element_858920de27728cd0f5debab099e0e1de:text"/>
          <p:cNvSpPr txBox="1"/>
          <p:nvPr/>
        </p:nvSpPr>
        <p:spPr>
          <a:xfrm>
            <a:off x="975336" y="46634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on regulatory and reimbursement context</a:t>
            </a:r>
            <a:endParaRPr lang="en-US" sz="1200" dirty="0"/>
          </a:p>
        </p:txBody>
      </p:sp>
      <p:sp>
        <p:nvSpPr>
          <p:cNvPr id="13" name="element_eb0ababb2d18cfa1b16984940c39e993"/>
          <p:cNvSpPr txBox="1"/>
          <p:nvPr/>
        </p:nvSpPr>
        <p:spPr>
          <a:xfrm>
            <a:off x="6339682" y="2743200"/>
            <a:ext cx="46328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filings to establish regulatory and reimbursement context; distinguish installed scale from current demand durability and geographic concentration.</a:t>
            </a:r>
            <a:endParaRPr lang="en-US" sz="1600" dirty="0"/>
          </a:p>
        </p:txBody>
      </p:sp>
      <p:sp>
        <p:nvSpPr>
          <p:cNvPr id="14" name="element_af81a2134ce1165ce2a9652a5b5dc0f9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f6f9a2848dc2b529e3d2fc4e04584e54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d288be024ed5adcb02e4f6f5a5e495ee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3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07c12eafe0c046cae80664fc610c68b2"/>
          <p:cNvSpPr/>
          <p:nvPr/>
        </p:nvSpPr>
        <p:spPr>
          <a:xfrm>
            <a:off x="9708247" y="434111"/>
            <a:ext cx="1178937" cy="663169"/>
          </a:xfrm>
          <a:prstGeom prst="roundRect">
            <a:avLst/>
          </a:prstGeom>
          <a:solidFill>
            <a:srgbClr val="DCECF0">
              <a:alpha val="2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c8ce31c43a7ed3526ecced5046fc14d3"/>
          <p:cNvSpPr/>
          <p:nvPr/>
        </p:nvSpPr>
        <p:spPr>
          <a:xfrm>
            <a:off x="10030108" y="615163"/>
            <a:ext cx="730283" cy="410794"/>
          </a:xfrm>
          <a:prstGeom prst="roundRect">
            <a:avLst/>
          </a:prstGeom>
          <a:solidFill>
            <a:srgbClr val="DCECF0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0081f1c1ef9c606fa67ab64a20237cf5"/>
          <p:cNvSpPr/>
          <p:nvPr/>
        </p:nvSpPr>
        <p:spPr>
          <a:xfrm>
            <a:off x="10314174" y="774954"/>
            <a:ext cx="471819" cy="265405"/>
          </a:xfrm>
          <a:prstGeom prst="roundRect">
            <a:avLst/>
          </a:prstGeom>
          <a:solidFill>
            <a:srgbClr val="287A8D">
              <a:alpha val="4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964f0b1b9232580a4defff4615e59779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7893c3a6021754077164a2d518a8145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e5627477846a05efc696e4acf29ae8d9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3b1db3b58aaffb449ff73c73452b3ee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25 / COMPANY AND MARKET OVERVIEW</a:t>
            </a:r>
            <a:endParaRPr lang="en-US" sz="1500" dirty="0"/>
          </a:p>
        </p:txBody>
      </p:sp>
      <p:sp>
        <p:nvSpPr>
          <p:cNvPr id="4" name="element_67a98d1e082e669e1a6e994bf9f91fc1"/>
          <p:cNvSpPr txBox="1"/>
          <p:nvPr/>
        </p:nvSpPr>
        <p:spPr>
          <a:xfrm>
            <a:off x="853419" y="1097280"/>
            <a:ext cx="104848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Company/market conclusion</a:t>
            </a:r>
            <a:endParaRPr lang="en-US" sz="4200" dirty="0"/>
          </a:p>
        </p:txBody>
      </p:sp>
      <p:sp>
        <p:nvSpPr>
          <p:cNvPr id="5" name="element_cf1bbe41efc1d1e5bfcc2ec4ca686b73"/>
          <p:cNvSpPr txBox="1"/>
          <p:nvPr/>
        </p:nvSpPr>
        <p:spPr>
          <a:xfrm>
            <a:off x="853419" y="2743200"/>
            <a:ext cx="963143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filings to establish company/market conclusion; distinguish installed scale from current demand durability and geographic concentration.</a:t>
            </a:r>
            <a:endParaRPr lang="en-US" sz="1800" dirty="0"/>
          </a:p>
        </p:txBody>
      </p:sp>
      <p:sp>
        <p:nvSpPr>
          <p:cNvPr id="6" name="element_23927340d4fc5c79c51bd6627a6faf6e"/>
          <p:cNvSpPr txBox="1"/>
          <p:nvPr/>
        </p:nvSpPr>
        <p:spPr>
          <a:xfrm>
            <a:off x="7193100" y="3909060"/>
            <a:ext cx="4023259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Observed business evidence: Company/market conclusion</a:t>
            </a:r>
            <a:endParaRPr lang="en-US" sz="1700" dirty="0"/>
          </a:p>
        </p:txBody>
      </p:sp>
      <p:sp>
        <p:nvSpPr>
          <p:cNvPr id="7" name="element_613d61596c70c6eb4c25ad0919ed0c9a"/>
          <p:cNvSpPr txBox="1"/>
          <p:nvPr/>
        </p:nvSpPr>
        <p:spPr>
          <a:xfrm>
            <a:off x="7193100" y="4612691"/>
            <a:ext cx="4023259" cy="859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Durability test: regional growth outside China versus China deterioration</a:t>
            </a:r>
            <a:endParaRPr lang="en-US" sz="1700" dirty="0"/>
          </a:p>
        </p:txBody>
      </p:sp>
      <p:sp>
        <p:nvSpPr>
          <p:cNvPr id="8" name="element_eef7deeb91e425c3cfabed7ee7778837"/>
          <p:cNvSpPr txBox="1"/>
          <p:nvPr/>
        </p:nvSpPr>
        <p:spPr>
          <a:xfrm>
            <a:off x="7193100" y="5574868"/>
            <a:ext cx="4023259" cy="859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Do not convert company positioning into independent market proof</a:t>
            </a:r>
            <a:endParaRPr lang="en-US" sz="1700" dirty="0"/>
          </a:p>
        </p:txBody>
      </p:sp>
      <p:sp>
        <p:nvSpPr>
          <p:cNvPr id="9" name="element_51c1ae1a993abf34c496da1103c35f0e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154173eeedc224ec33e2f92509fc60d6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4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bfdde7b58a4d2c148d8b197c241baa76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3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6c02b589eedf927306042b834032f992"/>
          <p:cNvSpPr/>
          <p:nvPr/>
        </p:nvSpPr>
        <p:spPr>
          <a:xfrm>
            <a:off x="9705809" y="432740"/>
            <a:ext cx="1187471" cy="667969"/>
          </a:xfrm>
          <a:prstGeom prst="roundRect">
            <a:avLst/>
          </a:prstGeom>
          <a:solidFill>
            <a:srgbClr val="DCECF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9c9b2540c937a1dbfd95bb5aff58eb5f"/>
          <p:cNvSpPr/>
          <p:nvPr/>
        </p:nvSpPr>
        <p:spPr>
          <a:xfrm>
            <a:off x="10027669" y="613791"/>
            <a:ext cx="736378" cy="414223"/>
          </a:xfrm>
          <a:prstGeom prst="roundRect">
            <a:avLst/>
          </a:prstGeom>
          <a:solidFill>
            <a:srgbClr val="DCEC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952dc7222c05d3b1accb8982d88aabc7"/>
          <p:cNvSpPr/>
          <p:nvPr/>
        </p:nvSpPr>
        <p:spPr>
          <a:xfrm>
            <a:off x="10314174" y="774954"/>
            <a:ext cx="474257" cy="266776"/>
          </a:xfrm>
          <a:prstGeom prst="roundRect">
            <a:avLst/>
          </a:prstGeom>
          <a:solidFill>
            <a:srgbClr val="287A8D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57d32fb39c22ef218d9faf14ea9e302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5244b042e9bb24fb8363ac3b7503a46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8d8ddeef992ad79c5c9654aa5b7ab940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a870aa03a6d62b259c82c4486dde67e"/>
          <p:cNvSpPr txBox="1"/>
          <p:nvPr/>
        </p:nvSpPr>
        <p:spPr>
          <a:xfrm>
            <a:off x="7680768" y="54864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0" b="1" spc="-300" kern="0" dirty="0">
                <a:solidFill>
                  <a:srgbClr val="287A8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26</a:t>
            </a:r>
            <a:endParaRPr lang="en-US" sz="10000" dirty="0"/>
          </a:p>
        </p:txBody>
      </p:sp>
      <p:sp>
        <p:nvSpPr>
          <p:cNvPr id="4" name="element_e8cdde52551b712d8b73828d6efe63b7"/>
          <p:cNvSpPr txBox="1"/>
          <p:nvPr/>
        </p:nvSpPr>
        <p:spPr>
          <a:xfrm>
            <a:off x="1584920" y="2057400"/>
            <a:ext cx="97533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15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26 / HISTORICAL OPERATING PERFORMANCE</a:t>
            </a:r>
            <a:endParaRPr lang="en-US" sz="1400" dirty="0"/>
          </a:p>
        </p:txBody>
      </p:sp>
      <p:sp>
        <p:nvSpPr>
          <p:cNvPr id="5" name="element_9a72ac44a26ded8a92ec77fe92d083ce"/>
          <p:cNvSpPr txBox="1"/>
          <p:nvPr/>
        </p:nvSpPr>
        <p:spPr>
          <a:xfrm>
            <a:off x="2560256" y="4114800"/>
            <a:ext cx="87780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Historical revenue trajectory</a:t>
            </a:r>
            <a:endParaRPr lang="en-US" sz="4000" dirty="0"/>
          </a:p>
        </p:txBody>
      </p:sp>
      <p:sp>
        <p:nvSpPr>
          <p:cNvPr id="6" name="element_f2dea1308a3edcd0db7315ca7648dd60"/>
          <p:cNvSpPr/>
          <p:nvPr/>
        </p:nvSpPr>
        <p:spPr>
          <a:xfrm>
            <a:off x="10606775" y="3977640"/>
            <a:ext cx="731502" cy="6858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d6598b5dfdb158deb0774e2fb56deaee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DCECF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151a909e789125d18e225bccbfa560c9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DCECF0">
              <a:alpha val="4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b441ec0b7256cdcad225f77d21f1fe01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DCECF0">
              <a:alpha val="3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81f563f36db77246322a20668471e7a6"/>
          <p:cNvSpPr/>
          <p:nvPr/>
        </p:nvSpPr>
        <p:spPr>
          <a:xfrm>
            <a:off x="1293539" y="430682"/>
            <a:ext cx="1196005" cy="672770"/>
          </a:xfrm>
          <a:prstGeom prst="roundRect">
            <a:avLst/>
          </a:prstGeom>
          <a:solidFill>
            <a:srgbClr val="DCECF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bbd5b0f895ae1e2931e546a11d1914e3"/>
          <p:cNvSpPr/>
          <p:nvPr/>
        </p:nvSpPr>
        <p:spPr>
          <a:xfrm>
            <a:off x="1423990" y="613105"/>
            <a:ext cx="741255" cy="416966"/>
          </a:xfrm>
          <a:prstGeom prst="roundRect">
            <a:avLst/>
          </a:prstGeom>
          <a:solidFill>
            <a:srgbClr val="DCEC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a5710f61155878274b971a4d0e34398c"/>
          <p:cNvSpPr/>
          <p:nvPr/>
        </p:nvSpPr>
        <p:spPr>
          <a:xfrm>
            <a:off x="1399607" y="774954"/>
            <a:ext cx="477914" cy="268834"/>
          </a:xfrm>
          <a:prstGeom prst="roundRect">
            <a:avLst/>
          </a:prstGeom>
          <a:solidFill>
            <a:srgbClr val="287A8D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abd668920145b8014a458281c67ab769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cd2b3f88c915d1c3fbff26abe0476d7c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37dd62a6236b45ef1dc3464e1e432e04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88cbf1ed036929ff4cc2a6f9a12ce5e"/>
          <p:cNvSpPr txBox="1"/>
          <p:nvPr/>
        </p:nvSpPr>
        <p:spPr>
          <a:xfrm>
            <a:off x="6461598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27 / HISTORICAL OPERATING PERFORMANCE</a:t>
            </a:r>
            <a:endParaRPr lang="en-US" sz="1500" dirty="0"/>
          </a:p>
        </p:txBody>
      </p:sp>
      <p:sp>
        <p:nvSpPr>
          <p:cNvPr id="4" name="element_157f7332283fd980ab544524566a6ab3"/>
          <p:cNvSpPr txBox="1"/>
          <p:nvPr/>
        </p:nvSpPr>
        <p:spPr>
          <a:xfrm>
            <a:off x="7680768" y="1097280"/>
            <a:ext cx="365750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ICL concentration</a:t>
            </a:r>
            <a:endParaRPr lang="en-US" sz="4200" dirty="0"/>
          </a:p>
        </p:txBody>
      </p:sp>
      <p:sp>
        <p:nvSpPr>
          <p:cNvPr id="5" name="element_af3d445842e5b65a30dbeb4354f3a52b"/>
          <p:cNvSpPr txBox="1"/>
          <p:nvPr/>
        </p:nvSpPr>
        <p:spPr>
          <a:xfrm>
            <a:off x="7680768" y="2743200"/>
            <a:ext cx="365750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ICL concentration: 2024 net sales were $313.901 million.</a:t>
            </a:r>
            <a:endParaRPr lang="en-US" sz="1800" dirty="0"/>
          </a:p>
        </p:txBody>
      </p:sp>
      <p:graphicFrame>
        <p:nvGraphicFramePr>
          <p:cNvPr id="6" name="element_be66dcd2a853520c64e255d80566eced" descr=""/>
          <p:cNvGraphicFramePr/>
          <p:nvPr/>
        </p:nvGraphicFramePr>
        <p:xfrm>
          <a:off x="975336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4857353d430b89ef5f4e00bb757459eb"/>
          <p:cNvSpPr txBox="1"/>
          <p:nvPr/>
        </p:nvSpPr>
        <p:spPr>
          <a:xfrm>
            <a:off x="7680768" y="3909060"/>
            <a:ext cx="3657509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2024 net sales were $313.901 million.</a:t>
            </a:r>
            <a:endParaRPr lang="en-US" sz="1400" dirty="0"/>
          </a:p>
        </p:txBody>
      </p:sp>
      <p:sp>
        <p:nvSpPr>
          <p:cNvPr id="8" name="element_737049ef8cec4c3c6a09e9835c1379a8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DCECF0">
              <a:alpha val="4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0af04b883a8c7d19db40329cc5988703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DCEC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d494a3ed5c86136720716b17205d01ac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DCECF0">
              <a:alpha val="3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be86c90ea1297d1b01b2e6b65a55daf5"/>
          <p:cNvSpPr/>
          <p:nvPr/>
        </p:nvSpPr>
        <p:spPr>
          <a:xfrm>
            <a:off x="1288662" y="428625"/>
            <a:ext cx="1204539" cy="677570"/>
          </a:xfrm>
          <a:prstGeom prst="roundRect">
            <a:avLst/>
          </a:prstGeom>
          <a:solidFill>
            <a:srgbClr val="DCECF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3489e9a8d1edc07912d6a75b61a016d3"/>
          <p:cNvSpPr/>
          <p:nvPr/>
        </p:nvSpPr>
        <p:spPr>
          <a:xfrm>
            <a:off x="1420332" y="612419"/>
            <a:ext cx="746132" cy="419710"/>
          </a:xfrm>
          <a:prstGeom prst="roundRect">
            <a:avLst/>
          </a:prstGeom>
          <a:solidFill>
            <a:srgbClr val="DCECF0">
              <a:alpha val="4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911a762f3b4589afb3c22f6c2db76dfb"/>
          <p:cNvSpPr/>
          <p:nvPr/>
        </p:nvSpPr>
        <p:spPr>
          <a:xfrm>
            <a:off x="1395949" y="774954"/>
            <a:ext cx="481572" cy="270891"/>
          </a:xfrm>
          <a:prstGeom prst="roundRect">
            <a:avLst/>
          </a:prstGeom>
          <a:solidFill>
            <a:srgbClr val="287A8D">
              <a:alpha val="5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c0cce19953290c4ca808c46233b2d9f0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60a0492d2bbef5c6b806a12b939a4f0a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21c202dd203ae70733e146d996d0a6e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e791f46a52d6c53e8a007df41ce3d7c"/>
          <p:cNvSpPr/>
          <p:nvPr/>
        </p:nvSpPr>
        <p:spPr>
          <a:xfrm>
            <a:off x="3291758" y="960120"/>
            <a:ext cx="5608180" cy="2331720"/>
          </a:xfrm>
          <a:prstGeom prst="roundRect">
            <a:avLst/>
          </a:prstGeom>
          <a:solidFill>
            <a:srgbClr val="DCECF0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220d99d636df89433037d208c94475fa"/>
          <p:cNvSpPr/>
          <p:nvPr/>
        </p:nvSpPr>
        <p:spPr>
          <a:xfrm>
            <a:off x="3805028" y="1566367"/>
            <a:ext cx="312107" cy="246888"/>
          </a:xfrm>
          <a:prstGeom prst="roundRect">
            <a:avLst/>
          </a:prstGeom>
          <a:solidFill>
            <a:srgbClr val="DCECF0">
              <a:alpha val="4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dbc26a338ab104adae0ef859154ab6ba"/>
          <p:cNvSpPr/>
          <p:nvPr/>
        </p:nvSpPr>
        <p:spPr>
          <a:xfrm>
            <a:off x="4742569" y="2323490"/>
            <a:ext cx="229204" cy="181051"/>
          </a:xfrm>
          <a:prstGeom prst="roundRect">
            <a:avLst/>
          </a:prstGeom>
          <a:solidFill>
            <a:srgbClr val="DCEC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c140bb8d1bbf5ecb42114e9c88dbc206"/>
          <p:cNvSpPr/>
          <p:nvPr/>
        </p:nvSpPr>
        <p:spPr>
          <a:xfrm>
            <a:off x="5471633" y="1648663"/>
            <a:ext cx="187752" cy="148133"/>
          </a:xfrm>
          <a:prstGeom prst="roundRect">
            <a:avLst/>
          </a:prstGeom>
          <a:solidFill>
            <a:srgbClr val="DCECF0">
              <a:alpha val="3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60abea344754e18a14a683359323dfe0"/>
          <p:cNvSpPr/>
          <p:nvPr/>
        </p:nvSpPr>
        <p:spPr>
          <a:xfrm>
            <a:off x="5995876" y="1503959"/>
            <a:ext cx="2072588" cy="1637690"/>
          </a:xfrm>
          <a:prstGeom prst="roundRect">
            <a:avLst/>
          </a:prstGeom>
          <a:solidFill>
            <a:srgbClr val="DCECF0">
              <a:alpha val="3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8afff391829be8dd4bee12c1ed38fb5d"/>
          <p:cNvSpPr/>
          <p:nvPr/>
        </p:nvSpPr>
        <p:spPr>
          <a:xfrm>
            <a:off x="6556694" y="1946300"/>
            <a:ext cx="1285005" cy="1015670"/>
          </a:xfrm>
          <a:prstGeom prst="roundRect">
            <a:avLst/>
          </a:prstGeom>
          <a:solidFill>
            <a:srgbClr val="DCECF0">
              <a:alpha val="4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d560f8187a3188cab5848aad2f3e3811"/>
          <p:cNvSpPr/>
          <p:nvPr/>
        </p:nvSpPr>
        <p:spPr>
          <a:xfrm>
            <a:off x="7054115" y="2339950"/>
            <a:ext cx="829035" cy="654939"/>
          </a:xfrm>
          <a:prstGeom prst="roundRect">
            <a:avLst/>
          </a:prstGeom>
          <a:solidFill>
            <a:srgbClr val="287A8D">
              <a:alpha val="5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9c1935c6c075b64b44e457843d9e8b1f"/>
          <p:cNvSpPr txBox="1"/>
          <p:nvPr/>
        </p:nvSpPr>
        <p:spPr>
          <a:xfrm>
            <a:off x="853419" y="445770"/>
            <a:ext cx="365750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28 / HISTORICAL OPERATING PERFORMANCE</a:t>
            </a:r>
            <a:endParaRPr lang="en-US" sz="1500" dirty="0"/>
          </a:p>
        </p:txBody>
      </p:sp>
      <p:sp>
        <p:nvSpPr>
          <p:cNvPr id="11" name="element_2dd8523c4c82cf809191cca5ba1a9eb2"/>
          <p:cNvSpPr txBox="1"/>
          <p:nvPr/>
        </p:nvSpPr>
        <p:spPr>
          <a:xfrm>
            <a:off x="853419" y="3909060"/>
            <a:ext cx="6095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5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Q2 revenue dislocation</a:t>
            </a:r>
            <a:endParaRPr lang="en-US" sz="3800" dirty="0"/>
          </a:p>
        </p:txBody>
      </p:sp>
      <p:sp>
        <p:nvSpPr>
          <p:cNvPr id="12" name="element_b99542957da90bf7e127aea50f253d3e"/>
          <p:cNvSpPr txBox="1"/>
          <p:nvPr/>
        </p:nvSpPr>
        <p:spPr>
          <a:xfrm>
            <a:off x="6827349" y="397764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Anchor q2 revenue dislocation to filed actuals and comparable periods. Keep reported values, derived changes, and missing evidence visibly separate.</a:t>
            </a:r>
            <a:endParaRPr lang="en-US" sz="1600" dirty="0"/>
          </a:p>
        </p:txBody>
      </p:sp>
      <p:sp>
        <p:nvSpPr>
          <p:cNvPr id="13" name="element_f5420cc804b1d80262405de8166b3295"/>
          <p:cNvSpPr txBox="1"/>
          <p:nvPr/>
        </p:nvSpPr>
        <p:spPr>
          <a:xfrm>
            <a:off x="6827349" y="5486400"/>
            <a:ext cx="4754761" cy="7543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Filed actuals: Q2 revenue dislocation</a:t>
            </a:r>
            <a:endParaRPr lang="en-US" sz="1600" dirty="0"/>
          </a:p>
        </p:txBody>
      </p:sp>
      <p:sp>
        <p:nvSpPr>
          <p:cNvPr id="14" name="element_882639f110aafc62faa3dcb90780bbda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35d596c7ffe4b09ca6e13cd8eaf3431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28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486a8c4863e2c436c6fd4e40d68758a0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2c4da92173dd772a3b2076e24900a09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29 / HISTORICAL OPERATING PERFORMANCE</a:t>
            </a:r>
            <a:endParaRPr lang="en-US" sz="1500" dirty="0"/>
          </a:p>
        </p:txBody>
      </p:sp>
      <p:sp>
        <p:nvSpPr>
          <p:cNvPr id="4" name="element_8491d3def2844d22773cb47f33d8fd31"/>
          <p:cNvSpPr txBox="1"/>
          <p:nvPr/>
        </p:nvSpPr>
        <p:spPr>
          <a:xfrm>
            <a:off x="853419" y="1097280"/>
            <a:ext cx="3657509" cy="1680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First-half revenue dislocation</a:t>
            </a:r>
            <a:endParaRPr lang="en-US" sz="4200" dirty="0"/>
          </a:p>
        </p:txBody>
      </p:sp>
      <p:sp>
        <p:nvSpPr>
          <p:cNvPr id="5" name="element_ca37c9fe70a570e35386082ddf147bd8"/>
          <p:cNvSpPr txBox="1"/>
          <p:nvPr/>
        </p:nvSpPr>
        <p:spPr>
          <a:xfrm>
            <a:off x="853419" y="3188970"/>
            <a:ext cx="3657509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First-half revenue dislocation: Q2 2025 net sales were $44.320 million, down 55.2% year over year. Q2 2025 net sales declined 55.2% year over year.</a:t>
            </a:r>
            <a:endParaRPr lang="en-US" sz="1500" dirty="0"/>
          </a:p>
        </p:txBody>
      </p:sp>
      <p:graphicFrame>
        <p:nvGraphicFramePr>
          <p:cNvPr id="6" name="element_d8fd71c598318b0e084bab50c585ad6c" descr=""/>
          <p:cNvGraphicFramePr/>
          <p:nvPr/>
        </p:nvGraphicFramePr>
        <p:xfrm>
          <a:off x="5120512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5e4d9d483e834d58b0e5adafd0d6cc0d"/>
          <p:cNvSpPr txBox="1"/>
          <p:nvPr/>
        </p:nvSpPr>
        <p:spPr>
          <a:xfrm>
            <a:off x="853419" y="4612005"/>
            <a:ext cx="3657509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Q2 2025 net sales were $44.320 million, down 55.2% year over year.</a:t>
            </a:r>
            <a:endParaRPr lang="en-US" sz="1400" dirty="0"/>
          </a:p>
        </p:txBody>
      </p:sp>
      <p:sp>
        <p:nvSpPr>
          <p:cNvPr id="8" name="element_6abf0dc31b5077ae230ba022bd89fd4e"/>
          <p:cNvSpPr txBox="1"/>
          <p:nvPr/>
        </p:nvSpPr>
        <p:spPr>
          <a:xfrm>
            <a:off x="853419" y="5223739"/>
            <a:ext cx="3657509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Q2 2025 net sales declined 55.2% year over year.</a:t>
            </a:r>
            <a:endParaRPr lang="en-US" sz="1400" dirty="0"/>
          </a:p>
        </p:txBody>
      </p:sp>
      <p:sp>
        <p:nvSpPr>
          <p:cNvPr id="9" name="element_929e66defc8a4ebacd669ec4afc62002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4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8970e98943613f3c56b4ef9716a6605b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299a4389e2af781f1c6b0b40ec0cf3e6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3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179c4c40d84c7effcc32a886039aebdd"/>
          <p:cNvSpPr/>
          <p:nvPr/>
        </p:nvSpPr>
        <p:spPr>
          <a:xfrm>
            <a:off x="9691179" y="424510"/>
            <a:ext cx="1220389" cy="686486"/>
          </a:xfrm>
          <a:prstGeom prst="roundRect">
            <a:avLst/>
          </a:prstGeom>
          <a:solidFill>
            <a:srgbClr val="DCECF0">
              <a:alpha val="3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d3031420c2a339d58b54154e4602583d"/>
          <p:cNvSpPr/>
          <p:nvPr/>
        </p:nvSpPr>
        <p:spPr>
          <a:xfrm>
            <a:off x="10021573" y="610362"/>
            <a:ext cx="757104" cy="425882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e22c47632178e9bc708fb5704a7d5ff4"/>
          <p:cNvSpPr/>
          <p:nvPr/>
        </p:nvSpPr>
        <p:spPr>
          <a:xfrm>
            <a:off x="10314174" y="774954"/>
            <a:ext cx="488887" cy="275006"/>
          </a:xfrm>
          <a:prstGeom prst="roundRect">
            <a:avLst/>
          </a:prstGeom>
          <a:solidFill>
            <a:srgbClr val="287A8D">
              <a:alpha val="5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afbdbce291fd5ee79c587148d356dfa8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13f3d9b0377cbe052410c839d111a3d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29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31a9420fdaaac4d86155e61506bbd4c9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868ae66927bf15529b2335e03078b2b"/>
          <p:cNvSpPr txBox="1"/>
          <p:nvPr/>
        </p:nvSpPr>
        <p:spPr>
          <a:xfrm>
            <a:off x="6461598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30 / HISTORICAL OPERATING PERFORMANCE</a:t>
            </a:r>
            <a:endParaRPr lang="en-US" sz="1500" dirty="0"/>
          </a:p>
        </p:txBody>
      </p:sp>
      <p:sp>
        <p:nvSpPr>
          <p:cNvPr id="4" name="element_0618c0db6436e6ab1bdb84d0c83b851b"/>
          <p:cNvSpPr txBox="1"/>
          <p:nvPr/>
        </p:nvSpPr>
        <p:spPr>
          <a:xfrm>
            <a:off x="975336" y="1097280"/>
            <a:ext cx="4145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China revenue collapse</a:t>
            </a:r>
            <a:endParaRPr lang="en-US" sz="4200" dirty="0"/>
          </a:p>
        </p:txBody>
      </p:sp>
      <p:sp>
        <p:nvSpPr>
          <p:cNvPr id="5" name="element_f850083923d92634029427b0d30f765e"/>
          <p:cNvSpPr txBox="1"/>
          <p:nvPr/>
        </p:nvSpPr>
        <p:spPr>
          <a:xfrm>
            <a:off x="975336" y="2743200"/>
            <a:ext cx="4145176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China revenue collapse: Q2 2025 net sales were $44.320 million, down 55.2% year over year. H1 2025 sales were $86.909 million versus $176.361 million, down 50.7%.</a:t>
            </a:r>
            <a:endParaRPr lang="en-US" sz="1500" dirty="0"/>
          </a:p>
        </p:txBody>
      </p:sp>
      <p:graphicFrame>
        <p:nvGraphicFramePr>
          <p:cNvPr id="6" name="element_1950626c6db4840f01d487fa53d2d914" descr=""/>
          <p:cNvGraphicFramePr/>
          <p:nvPr/>
        </p:nvGraphicFramePr>
        <p:xfrm>
          <a:off x="5364346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ec20995de260853057d508da573b096f"/>
          <p:cNvSpPr txBox="1"/>
          <p:nvPr/>
        </p:nvSpPr>
        <p:spPr>
          <a:xfrm>
            <a:off x="975336" y="4166235"/>
            <a:ext cx="4145176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Q2 2025 net sales were $44.320 million, down 55.2% year over year.</a:t>
            </a:r>
            <a:endParaRPr lang="en-US" sz="1400" dirty="0"/>
          </a:p>
        </p:txBody>
      </p:sp>
      <p:sp>
        <p:nvSpPr>
          <p:cNvPr id="8" name="element_22c932f519996912c70e1c77b69d8f20"/>
          <p:cNvSpPr txBox="1"/>
          <p:nvPr/>
        </p:nvSpPr>
        <p:spPr>
          <a:xfrm>
            <a:off x="975336" y="4777969"/>
            <a:ext cx="4145176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H1 2025 sales were $86.909 million versus $176.361 million, down 50.7%.</a:t>
            </a:r>
            <a:endParaRPr lang="en-US" sz="1400" dirty="0"/>
          </a:p>
        </p:txBody>
      </p:sp>
      <p:sp>
        <p:nvSpPr>
          <p:cNvPr id="9" name="element_31c3c51742ac40e6cfb274f2210fe103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DCECF0">
              <a:alpha val="4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e59a892f6ecc1dcbcd0f14188b6fc0e8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DCECF0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2f4bc8c5e65d7d598f5fd5e9e240d55c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DCECF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04be0be9146c5ddcf015f7ee88ba3c4a"/>
          <p:cNvSpPr/>
          <p:nvPr/>
        </p:nvSpPr>
        <p:spPr>
          <a:xfrm>
            <a:off x="1272813" y="423139"/>
            <a:ext cx="1230142" cy="691972"/>
          </a:xfrm>
          <a:prstGeom prst="roundRect">
            <a:avLst/>
          </a:prstGeom>
          <a:solidFill>
            <a:srgbClr val="DCECF0">
              <a:alpha val="3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53b52a5de324cf5d640cd9f8d77fe0d2"/>
          <p:cNvSpPr/>
          <p:nvPr/>
        </p:nvSpPr>
        <p:spPr>
          <a:xfrm>
            <a:off x="1410579" y="608990"/>
            <a:ext cx="761981" cy="428625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28e20c69fff5cbf77892c94ffe7bcee9"/>
          <p:cNvSpPr/>
          <p:nvPr/>
        </p:nvSpPr>
        <p:spPr>
          <a:xfrm>
            <a:off x="1386196" y="774954"/>
            <a:ext cx="491325" cy="276377"/>
          </a:xfrm>
          <a:prstGeom prst="roundRect">
            <a:avLst/>
          </a:prstGeom>
          <a:solidFill>
            <a:srgbClr val="287A8D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a884ae6afb2f7e766dd718542f1ef15e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b109580a3d45fa8ec88fdf964db5bba4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30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c47b372b80c384f0330c093159a33597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46545ec3e51a190517b16b4fe9f9a0f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31 / HISTORICAL OPERATING PERFORMANCE</a:t>
            </a:r>
            <a:endParaRPr lang="en-US" sz="1500" dirty="0"/>
          </a:p>
        </p:txBody>
      </p:sp>
      <p:sp>
        <p:nvSpPr>
          <p:cNvPr id="4" name="element_aa9c50d3937674caa6a428766086dfca"/>
          <p:cNvSpPr txBox="1"/>
          <p:nvPr/>
        </p:nvSpPr>
        <p:spPr>
          <a:xfrm>
            <a:off x="853419" y="1097280"/>
            <a:ext cx="365750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Gross-margin pressure</a:t>
            </a:r>
            <a:endParaRPr lang="en-US" sz="4200" dirty="0"/>
          </a:p>
        </p:txBody>
      </p:sp>
      <p:sp>
        <p:nvSpPr>
          <p:cNvPr id="5" name="element_09d5c0eacc7129b5c524abdb088cc60e"/>
          <p:cNvSpPr txBox="1"/>
          <p:nvPr/>
        </p:nvSpPr>
        <p:spPr>
          <a:xfrm>
            <a:off x="853419" y="2743200"/>
            <a:ext cx="365750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Gross-margin pressure: China sales: $5.299M versus $63.519M.</a:t>
            </a:r>
            <a:endParaRPr lang="en-US" sz="1800" dirty="0"/>
          </a:p>
        </p:txBody>
      </p:sp>
      <p:graphicFrame>
        <p:nvGraphicFramePr>
          <p:cNvPr id="6" name="element_805c36c0d784dddd6606f4ab00e6c8d4" descr=""/>
          <p:cNvGraphicFramePr/>
          <p:nvPr/>
        </p:nvGraphicFramePr>
        <p:xfrm>
          <a:off x="5120512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2cac02a72ecd1888beb01e7955d6d359"/>
          <p:cNvSpPr txBox="1"/>
          <p:nvPr/>
        </p:nvSpPr>
        <p:spPr>
          <a:xfrm>
            <a:off x="853419" y="3909060"/>
            <a:ext cx="3657509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China sales: $5.299M versus $63.519M.</a:t>
            </a:r>
            <a:endParaRPr lang="en-US" sz="1400" dirty="0"/>
          </a:p>
        </p:txBody>
      </p:sp>
      <p:sp>
        <p:nvSpPr>
          <p:cNvPr id="8" name="element_dcf4a0c3ee8ab69319b15fc427fdd037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4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85a9e26af29e44070fb7fa8aa4dcdf5a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202e80b69e1b35ea18b61b163f3e4476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7c56835ce8cc1121f1491aaf5a9376ea"/>
          <p:cNvSpPr/>
          <p:nvPr/>
        </p:nvSpPr>
        <p:spPr>
          <a:xfrm>
            <a:off x="9685083" y="421081"/>
            <a:ext cx="1238676" cy="696773"/>
          </a:xfrm>
          <a:prstGeom prst="roundRect">
            <a:avLst/>
          </a:prstGeom>
          <a:solidFill>
            <a:srgbClr val="DCECF0">
              <a:alpha val="3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259e3f5f5aaf5c4f564a9f9800f4a330"/>
          <p:cNvSpPr/>
          <p:nvPr/>
        </p:nvSpPr>
        <p:spPr>
          <a:xfrm>
            <a:off x="10017916" y="608305"/>
            <a:ext cx="768077" cy="432054"/>
          </a:xfrm>
          <a:prstGeom prst="roundRect">
            <a:avLst/>
          </a:prstGeom>
          <a:solidFill>
            <a:srgbClr val="DCECF0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07c6cf9a315224ae3a9098057a3fb2e4"/>
          <p:cNvSpPr/>
          <p:nvPr/>
        </p:nvSpPr>
        <p:spPr>
          <a:xfrm>
            <a:off x="10314174" y="774954"/>
            <a:ext cx="494983" cy="278435"/>
          </a:xfrm>
          <a:prstGeom prst="roundRect">
            <a:avLst/>
          </a:prstGeom>
          <a:solidFill>
            <a:srgbClr val="287A8D">
              <a:alpha val="5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b56c5683373fa4311a640c3d00b7adbe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57bfdbdfac8bdb3c8bd41ed08557859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31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fd7ae3fc7b8db5ada866b70d3a833aae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87c04e0b4a616aa39b4eb5eacc333cf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6b249e8d7ce3ecc0710a274f46092ed4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4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eb36e88ff6372921db887d69849ac90a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c0c7c778bdbf591091288c0180c93a7d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2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fb74bea5d99a946918fab561d46f7de7"/>
          <p:cNvSpPr/>
          <p:nvPr/>
        </p:nvSpPr>
        <p:spPr>
          <a:xfrm>
            <a:off x="9681425" y="419024"/>
            <a:ext cx="1245991" cy="700888"/>
          </a:xfrm>
          <a:prstGeom prst="roundRect">
            <a:avLst/>
          </a:prstGeom>
          <a:solidFill>
            <a:srgbClr val="DCECF0">
              <a:alpha val="3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880c1e5dbc536969e7309466fcfb7e8a"/>
          <p:cNvSpPr/>
          <p:nvPr/>
        </p:nvSpPr>
        <p:spPr>
          <a:xfrm>
            <a:off x="10016697" y="607619"/>
            <a:ext cx="772953" cy="434797"/>
          </a:xfrm>
          <a:prstGeom prst="roundRect">
            <a:avLst/>
          </a:prstGeom>
          <a:solidFill>
            <a:srgbClr val="DCECF0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de94a683394d87f759ff8be5b57e3412"/>
          <p:cNvSpPr/>
          <p:nvPr/>
        </p:nvSpPr>
        <p:spPr>
          <a:xfrm>
            <a:off x="10314174" y="774954"/>
            <a:ext cx="498640" cy="280492"/>
          </a:xfrm>
          <a:prstGeom prst="roundRect">
            <a:avLst/>
          </a:prstGeom>
          <a:solidFill>
            <a:srgbClr val="287A8D">
              <a:alpha val="5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cd5566c8464ce622b6eef2bd41c898c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32 / HISTORICAL OPERATING PERFORMANCE</a:t>
            </a:r>
            <a:endParaRPr lang="en-US" sz="1500" dirty="0"/>
          </a:p>
        </p:txBody>
      </p:sp>
      <p:sp>
        <p:nvSpPr>
          <p:cNvPr id="11" name="element_d479c4542b1eedae573f8fe4014fd459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Operating leverage and losses</a:t>
            </a:r>
            <a:endParaRPr lang="en-US" sz="3800" dirty="0"/>
          </a:p>
        </p:txBody>
      </p:sp>
      <p:sp>
        <p:nvSpPr>
          <p:cNvPr id="12" name="element_67a7b009c5128835487a9c567513250d"/>
          <p:cNvSpPr txBox="1"/>
          <p:nvPr/>
        </p:nvSpPr>
        <p:spPr>
          <a:xfrm>
            <a:off x="853419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Operating leverage and losses: Q2 2025 gross margin declined to 74.0% from 79.2% a year earlier.</a:t>
            </a:r>
            <a:endParaRPr lang="en-US" sz="1600" dirty="0"/>
          </a:p>
        </p:txBody>
      </p:sp>
      <p:sp>
        <p:nvSpPr>
          <p:cNvPr id="13" name="element_b5163bb9a9b0a8b8eb037dab6b16eb83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Q2 2025 gross margin declined to 74.0% from 79.2% a year earlier.</a:t>
            </a:r>
            <a:endParaRPr lang="en-US" sz="1400" dirty="0"/>
          </a:p>
        </p:txBody>
      </p:sp>
      <p:sp>
        <p:nvSpPr>
          <p:cNvPr id="14" name="element_77757c7033fb8150c39cefd0f122607a"/>
          <p:cNvSpPr/>
          <p:nvPr/>
        </p:nvSpPr>
        <p:spPr>
          <a:xfrm>
            <a:off x="7380852" y="2948940"/>
            <a:ext cx="145081" cy="82296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15" name="element_2ea5f06dc5477a01db6d1b52d571916f"/>
          <p:cNvSpPr/>
          <p:nvPr/>
        </p:nvSpPr>
        <p:spPr>
          <a:xfrm>
            <a:off x="9359564" y="3105988"/>
            <a:ext cx="145081" cy="82296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16" name="element_3fa62f6ba15cc4979f48655386078e4c"/>
          <p:cNvSpPr/>
          <p:nvPr/>
        </p:nvSpPr>
        <p:spPr>
          <a:xfrm>
            <a:off x="5547221" y="2948940"/>
            <a:ext cx="1833631" cy="301752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7" name="element_3fa62f6ba15cc4979f48655386078e4c:text"/>
          <p:cNvSpPr txBox="1"/>
          <p:nvPr/>
        </p:nvSpPr>
        <p:spPr>
          <a:xfrm>
            <a:off x="5547221" y="2948940"/>
            <a:ext cx="1833631" cy="3017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242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baseline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242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79.2 percent gross margin</a:t>
            </a:r>
            <a:endParaRPr lang="en-US" sz="1400" dirty="0"/>
          </a:p>
        </p:txBody>
      </p:sp>
      <p:sp>
        <p:nvSpPr>
          <p:cNvPr id="18" name="element_ecbd92def1e010a1d5ec6b296016dacd"/>
          <p:cNvSpPr/>
          <p:nvPr/>
        </p:nvSpPr>
        <p:spPr>
          <a:xfrm>
            <a:off x="7525933" y="2948940"/>
            <a:ext cx="1833631" cy="198196"/>
          </a:xfrm>
          <a:prstGeom prst="roundRect">
            <a:avLst/>
          </a:prstGeom>
          <a:solidFill>
            <a:srgbClr val="FADBD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9" name="element_8bf867c653e540fa87953ec335022cd8"/>
          <p:cNvSpPr txBox="1"/>
          <p:nvPr/>
        </p:nvSpPr>
        <p:spPr>
          <a:xfrm>
            <a:off x="7296730" y="2948940"/>
            <a:ext cx="229203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7242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Driver 1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7242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-5.2% gross margin</a:t>
            </a:r>
            <a:endParaRPr lang="en-US" sz="1400" dirty="0"/>
          </a:p>
        </p:txBody>
      </p:sp>
      <p:sp>
        <p:nvSpPr>
          <p:cNvPr id="20" name="element_c241317f2d694ca6a3f560e25cc9f29e"/>
          <p:cNvSpPr/>
          <p:nvPr/>
        </p:nvSpPr>
        <p:spPr>
          <a:xfrm>
            <a:off x="9504646" y="3147136"/>
            <a:ext cx="1833631" cy="2819324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21" name="element_c241317f2d694ca6a3f560e25cc9f29e:text"/>
          <p:cNvSpPr txBox="1"/>
          <p:nvPr/>
        </p:nvSpPr>
        <p:spPr>
          <a:xfrm>
            <a:off x="9504646" y="3147136"/>
            <a:ext cx="1833631" cy="281932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242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final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242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74 percent gross margin</a:t>
            </a:r>
            <a:endParaRPr lang="en-US" sz="1400" dirty="0"/>
          </a:p>
        </p:txBody>
      </p:sp>
      <p:sp>
        <p:nvSpPr>
          <p:cNvPr id="22" name="element_564fa21020a151fe03bfcba74068e505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3" name="element_4f72d0c49487e365451fce9621956ad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32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3a79596eff552da815ba98c63c4405c8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d6efd2dbacfa48648fae665c61dc2bd"/>
          <p:cNvSpPr txBox="1"/>
          <p:nvPr/>
        </p:nvSpPr>
        <p:spPr>
          <a:xfrm>
            <a:off x="6461598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33 / HISTORICAL OPERATING PERFORMANCE</a:t>
            </a:r>
            <a:endParaRPr lang="en-US" sz="1500" dirty="0"/>
          </a:p>
        </p:txBody>
      </p:sp>
      <p:sp>
        <p:nvSpPr>
          <p:cNvPr id="4" name="element_e5c75d595dc947a3ad584040d5ca7e40"/>
          <p:cNvSpPr txBox="1"/>
          <p:nvPr/>
        </p:nvSpPr>
        <p:spPr>
          <a:xfrm>
            <a:off x="7680768" y="1097280"/>
            <a:ext cx="365750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Liquidity and net cash</a:t>
            </a:r>
            <a:endParaRPr lang="en-US" sz="4200" dirty="0"/>
          </a:p>
        </p:txBody>
      </p:sp>
      <p:sp>
        <p:nvSpPr>
          <p:cNvPr id="5" name="element_ab8fdba7e57fe11cf0722c2ef5968793"/>
          <p:cNvSpPr txBox="1"/>
          <p:nvPr/>
        </p:nvSpPr>
        <p:spPr>
          <a:xfrm>
            <a:off x="7680768" y="2743200"/>
            <a:ext cx="365750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Liquidity and net cash: Q2 2025 operating loss was 67.6% of sales versus 12.0% operating income a year earlier.</a:t>
            </a:r>
            <a:endParaRPr lang="en-US" sz="1700" dirty="0"/>
          </a:p>
        </p:txBody>
      </p:sp>
      <p:graphicFrame>
        <p:nvGraphicFramePr>
          <p:cNvPr id="6" name="element_75ecb3fc8b0dc2d03064643baf236d93" descr=""/>
          <p:cNvGraphicFramePr/>
          <p:nvPr/>
        </p:nvGraphicFramePr>
        <p:xfrm>
          <a:off x="975336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56a46dff609906653f0780bd8f5f275e"/>
          <p:cNvSpPr txBox="1"/>
          <p:nvPr/>
        </p:nvSpPr>
        <p:spPr>
          <a:xfrm>
            <a:off x="7680768" y="4046220"/>
            <a:ext cx="3657509" cy="722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Q2 2025 operating loss was 67.6% of sales versus 12.0% operating income a year earlier.</a:t>
            </a:r>
            <a:endParaRPr lang="en-US" sz="1400" dirty="0"/>
          </a:p>
        </p:txBody>
      </p:sp>
      <p:sp>
        <p:nvSpPr>
          <p:cNvPr id="8" name="element_efbf61a1f9995c5b7ea0b4ee817c0d5f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DCECF0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8d798129174f952ba38cfd4904138e84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DCECF0">
              <a:alpha val="3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4cf6c4184b9861fb16e383c36d9c7029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DCECF0">
              <a:alpha val="2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4b60995919a8c3514ea0c7dc3fdce7bb"/>
          <p:cNvSpPr/>
          <p:nvPr/>
        </p:nvSpPr>
        <p:spPr>
          <a:xfrm>
            <a:off x="1259402" y="416966"/>
            <a:ext cx="1254525" cy="705688"/>
          </a:xfrm>
          <a:prstGeom prst="roundRect">
            <a:avLst/>
          </a:prstGeom>
          <a:solidFill>
            <a:srgbClr val="DCECF0">
              <a:alpha val="3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7dcdcb36813630b72420ed54cedde7f1"/>
          <p:cNvSpPr/>
          <p:nvPr/>
        </p:nvSpPr>
        <p:spPr>
          <a:xfrm>
            <a:off x="1399607" y="606247"/>
            <a:ext cx="777830" cy="437540"/>
          </a:xfrm>
          <a:prstGeom prst="roundRect">
            <a:avLst/>
          </a:prstGeom>
          <a:solidFill>
            <a:srgbClr val="DCECF0">
              <a:alpha val="4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9aa3a848779a7c75b34c3eadda80c84f"/>
          <p:cNvSpPr/>
          <p:nvPr/>
        </p:nvSpPr>
        <p:spPr>
          <a:xfrm>
            <a:off x="1375223" y="774954"/>
            <a:ext cx="502298" cy="282550"/>
          </a:xfrm>
          <a:prstGeom prst="roundRect">
            <a:avLst/>
          </a:prstGeom>
          <a:solidFill>
            <a:srgbClr val="287A8D">
              <a:alpha val="5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6e7ba8c283e81ffe94de35e09acf7de7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0062a66b77c5e16a90ca62b52bc94228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33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73277d427b8d95d38a517ba5f8c2c334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a895f02c47d236c3364dd759784727a"/>
          <p:cNvSpPr txBox="1"/>
          <p:nvPr/>
        </p:nvSpPr>
        <p:spPr>
          <a:xfrm>
            <a:off x="1706837" y="514350"/>
            <a:ext cx="877802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34 / HISTORICAL OPERATING PERFORMANCE</a:t>
            </a:r>
            <a:endParaRPr lang="en-US" sz="1500" dirty="0"/>
          </a:p>
        </p:txBody>
      </p:sp>
      <p:sp>
        <p:nvSpPr>
          <p:cNvPr id="4" name="element_88781c061acd91d69094cca5450a9fcc"/>
          <p:cNvSpPr txBox="1"/>
          <p:nvPr/>
        </p:nvSpPr>
        <p:spPr>
          <a:xfrm>
            <a:off x="975336" y="1028700"/>
            <a:ext cx="5120512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Historical conclusion</a:t>
            </a:r>
            <a:endParaRPr lang="en-US" sz="3200" dirty="0"/>
          </a:p>
        </p:txBody>
      </p:sp>
      <p:sp>
        <p:nvSpPr>
          <p:cNvPr id="5" name="element_26718a04a6a5cfd8ee9dfbc2ce46c41c"/>
          <p:cNvSpPr/>
          <p:nvPr/>
        </p:nvSpPr>
        <p:spPr>
          <a:xfrm>
            <a:off x="2926007" y="3291840"/>
            <a:ext cx="243834" cy="342900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6" name="element_10200d27fb7f476368a53be9b4524b13"/>
          <p:cNvSpPr/>
          <p:nvPr/>
        </p:nvSpPr>
        <p:spPr>
          <a:xfrm>
            <a:off x="2926007" y="4320540"/>
            <a:ext cx="243834" cy="342900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7" name="element_3c8a39dd61fbff3fca31edb493396a6e"/>
          <p:cNvSpPr/>
          <p:nvPr/>
        </p:nvSpPr>
        <p:spPr>
          <a:xfrm>
            <a:off x="975336" y="2606040"/>
            <a:ext cx="4145176" cy="685800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3c8a39dd61fbff3fca31edb493396a6e:text"/>
          <p:cNvSpPr txBox="1"/>
          <p:nvPr/>
        </p:nvSpPr>
        <p:spPr>
          <a:xfrm>
            <a:off x="975336" y="26060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Historical conclusion</a:t>
            </a:r>
            <a:endParaRPr lang="en-US" sz="1200" dirty="0"/>
          </a:p>
        </p:txBody>
      </p:sp>
      <p:sp>
        <p:nvSpPr>
          <p:cNvPr id="9" name="element_defdb186d12edadbef3a0f92c41d7009"/>
          <p:cNvSpPr/>
          <p:nvPr/>
        </p:nvSpPr>
        <p:spPr>
          <a:xfrm>
            <a:off x="975336" y="3634740"/>
            <a:ext cx="4145176" cy="685800"/>
          </a:xfrm>
          <a:prstGeom prst="roundRect">
            <a:avLst/>
          </a:prstGeom>
          <a:solidFill>
            <a:srgbClr val="DDEDE8"/>
          </a:solidFill>
          <a:ln w="25400">
            <a:solidFill>
              <a:srgbClr val="287A8D"/>
            </a:solidFill>
            <a:prstDash val="solid"/>
          </a:ln>
        </p:spPr>
      </p:sp>
      <p:sp>
        <p:nvSpPr>
          <p:cNvPr id="10" name="element_defdb186d12edadbef3a0f92c41d7009:text"/>
          <p:cNvSpPr txBox="1"/>
          <p:nvPr/>
        </p:nvSpPr>
        <p:spPr>
          <a:xfrm>
            <a:off x="975336" y="36347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gate: Historical conclusion</a:t>
            </a:r>
            <a:endParaRPr lang="en-US" sz="1200" dirty="0"/>
          </a:p>
        </p:txBody>
      </p:sp>
      <p:sp>
        <p:nvSpPr>
          <p:cNvPr id="11" name="element_f1d58ea2c4b116fa6c542cf96bd929bc"/>
          <p:cNvSpPr/>
          <p:nvPr/>
        </p:nvSpPr>
        <p:spPr>
          <a:xfrm>
            <a:off x="975336" y="4663440"/>
            <a:ext cx="4145176" cy="68580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2" name="element_f1d58ea2c4b116fa6c542cf96bd929bc:text"/>
          <p:cNvSpPr txBox="1"/>
          <p:nvPr/>
        </p:nvSpPr>
        <p:spPr>
          <a:xfrm>
            <a:off x="975336" y="46634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on historical conclusion</a:t>
            </a:r>
            <a:endParaRPr lang="en-US" sz="1200" dirty="0"/>
          </a:p>
        </p:txBody>
      </p:sp>
      <p:sp>
        <p:nvSpPr>
          <p:cNvPr id="13" name="element_d097741b4d9874d0ec339de21d1dcc9b"/>
          <p:cNvSpPr txBox="1"/>
          <p:nvPr/>
        </p:nvSpPr>
        <p:spPr>
          <a:xfrm>
            <a:off x="6339682" y="2743200"/>
            <a:ext cx="46328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Historical conclusion: Cash and available-for-sale investments totaled $189.883 million at June 27, 2025.</a:t>
            </a:r>
            <a:endParaRPr lang="en-US" sz="1600" dirty="0"/>
          </a:p>
        </p:txBody>
      </p:sp>
      <p:sp>
        <p:nvSpPr>
          <p:cNvPr id="14" name="element_e906667d94008107681200ce40b8b04d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4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a7cdeb0d4dcd8a3e12080b07aae41438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3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f58c19aa1353ef30cd6df068e5d6a786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588802b157417b7a4dfb4d9c445b063d"/>
          <p:cNvSpPr/>
          <p:nvPr/>
        </p:nvSpPr>
        <p:spPr>
          <a:xfrm>
            <a:off x="9675329" y="415595"/>
            <a:ext cx="1263060" cy="710489"/>
          </a:xfrm>
          <a:prstGeom prst="roundRect">
            <a:avLst/>
          </a:prstGeom>
          <a:solidFill>
            <a:srgbClr val="DCECF0">
              <a:alpha val="3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04112403a67039c69c64a10e72b70aa7"/>
          <p:cNvSpPr/>
          <p:nvPr/>
        </p:nvSpPr>
        <p:spPr>
          <a:xfrm>
            <a:off x="10013039" y="605561"/>
            <a:ext cx="782707" cy="440284"/>
          </a:xfrm>
          <a:prstGeom prst="roundRect">
            <a:avLst/>
          </a:prstGeom>
          <a:solidFill>
            <a:srgbClr val="DCECF0">
              <a:alpha val="4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6c74a964e33f4f68269d8e319b768d48"/>
          <p:cNvSpPr/>
          <p:nvPr/>
        </p:nvSpPr>
        <p:spPr>
          <a:xfrm>
            <a:off x="10314174" y="774954"/>
            <a:ext cx="504736" cy="283921"/>
          </a:xfrm>
          <a:prstGeom prst="roundRect">
            <a:avLst/>
          </a:prstGeom>
          <a:solidFill>
            <a:srgbClr val="287A8D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a9a6dbab6f5b31258bf1dece04e5900e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453f3ec112a97f0b3ab3df6151ba663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34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0c7dc03d68c4224f027c2f63f935bf78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407da6141c909dc3776a530a4fd3c9e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35 / MANAGEMENT PROJECTIONS AND MODEL DRIVERS</a:t>
            </a:r>
            <a:endParaRPr lang="en-US" sz="1500" dirty="0"/>
          </a:p>
        </p:txBody>
      </p:sp>
      <p:sp>
        <p:nvSpPr>
          <p:cNvPr id="4" name="element_3a9d50e1dac69189ab08a1d9a96b2bd4"/>
          <p:cNvSpPr txBox="1"/>
          <p:nvPr/>
        </p:nvSpPr>
        <p:spPr>
          <a:xfrm>
            <a:off x="1706837" y="1097280"/>
            <a:ext cx="87780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Projection framework and caveats</a:t>
            </a:r>
            <a:endParaRPr lang="en-US" sz="2400" dirty="0"/>
          </a:p>
        </p:txBody>
      </p:sp>
      <p:sp>
        <p:nvSpPr>
          <p:cNvPr id="5" name="element_abaf80425cc70a9b0873b2abf4db2796"/>
          <p:cNvSpPr/>
          <p:nvPr/>
        </p:nvSpPr>
        <p:spPr>
          <a:xfrm>
            <a:off x="1463003" y="1680210"/>
            <a:ext cx="9265688" cy="2125980"/>
          </a:xfrm>
          <a:prstGeom prst="roundRect">
            <a:avLst/>
          </a:prstGeom>
          <a:solidFill>
            <a:srgbClr val="DCECF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ce90d1ae6c9e0c2b0aa7f2149f17e7e0"/>
          <p:cNvSpPr txBox="1"/>
          <p:nvPr/>
        </p:nvSpPr>
        <p:spPr>
          <a:xfrm>
            <a:off x="2438339" y="1920240"/>
            <a:ext cx="7315017" cy="150876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5554E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10</a:t>
            </a:r>
            <a:endParaRPr lang="en-US" sz="4600" dirty="0"/>
          </a:p>
        </p:txBody>
      </p:sp>
      <p:sp>
        <p:nvSpPr>
          <p:cNvPr id="7" name="element_9770e0dc4ba55bff21abec7568a92e30"/>
          <p:cNvSpPr txBox="1"/>
          <p:nvPr/>
        </p:nvSpPr>
        <p:spPr>
          <a:xfrm>
            <a:off x="1706837" y="3566160"/>
            <a:ext cx="87780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percent</a:t>
            </a:r>
            <a:endParaRPr lang="en-US" sz="1600" dirty="0"/>
          </a:p>
        </p:txBody>
      </p:sp>
      <p:sp>
        <p:nvSpPr>
          <p:cNvPr id="8" name="element_06064ece2217442369a5b9ac4dd25acb"/>
          <p:cNvSpPr txBox="1"/>
          <p:nvPr/>
        </p:nvSpPr>
        <p:spPr>
          <a:xfrm>
            <a:off x="853419" y="4389120"/>
            <a:ext cx="963143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Projection framework and caveats: Final case: approximately 10% annual sales growth from 2027.</a:t>
            </a:r>
            <a:endParaRPr lang="en-US" sz="1800" dirty="0"/>
          </a:p>
        </p:txBody>
      </p:sp>
      <p:sp>
        <p:nvSpPr>
          <p:cNvPr id="9" name="element_82153dcbee7da2fbcf74dd53bfcf6710"/>
          <p:cNvSpPr txBox="1"/>
          <p:nvPr/>
        </p:nvSpPr>
        <p:spPr>
          <a:xfrm>
            <a:off x="853419" y="5692140"/>
            <a:ext cx="9631439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Final case: approximately 10% annual sales growth from 2027.</a:t>
            </a:r>
            <a:endParaRPr lang="en-US" sz="1400" dirty="0"/>
          </a:p>
        </p:txBody>
      </p:sp>
      <p:sp>
        <p:nvSpPr>
          <p:cNvPr id="10" name="element_1f364a8080b04ecaad380ede5c7c821d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4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72d042eacce1ee7e788f7fde46a8301d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3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268f60b57928a74b3ac9c6305d708f40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feae28db450c187e5cd0fb5e5a391478"/>
          <p:cNvSpPr/>
          <p:nvPr/>
        </p:nvSpPr>
        <p:spPr>
          <a:xfrm>
            <a:off x="9671672" y="413537"/>
            <a:ext cx="1271594" cy="715289"/>
          </a:xfrm>
          <a:prstGeom prst="roundRect">
            <a:avLst/>
          </a:prstGeom>
          <a:solidFill>
            <a:srgbClr val="DCECF0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64d675b3ac69d4ad725c4b4d6d671c9a"/>
          <p:cNvSpPr/>
          <p:nvPr/>
        </p:nvSpPr>
        <p:spPr>
          <a:xfrm>
            <a:off x="10010601" y="604190"/>
            <a:ext cx="788803" cy="443713"/>
          </a:xfrm>
          <a:prstGeom prst="roundRect">
            <a:avLst/>
          </a:prstGeom>
          <a:solidFill>
            <a:srgbClr val="DCECF0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c34f71ef818400537614549194a49030"/>
          <p:cNvSpPr/>
          <p:nvPr/>
        </p:nvSpPr>
        <p:spPr>
          <a:xfrm>
            <a:off x="10314174" y="774954"/>
            <a:ext cx="508394" cy="285979"/>
          </a:xfrm>
          <a:prstGeom prst="roundRect">
            <a:avLst/>
          </a:prstGeom>
          <a:solidFill>
            <a:srgbClr val="287A8D">
              <a:alpha val="6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04b6b9969c49fdbba07b1772df41db5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7" name="element_9e1b16454c1d5bde8a79e938dab8bfc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35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c29552354320b5169a42a6bb7450713e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a432ddb158b07704700005eb389caf2"/>
          <p:cNvSpPr txBox="1"/>
          <p:nvPr/>
        </p:nvSpPr>
        <p:spPr>
          <a:xfrm>
            <a:off x="6461598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36 / MANAGEMENT PROJECTIONS AND MODEL DRIVERS</a:t>
            </a:r>
            <a:endParaRPr lang="en-US" sz="1500" dirty="0"/>
          </a:p>
        </p:txBody>
      </p:sp>
      <p:sp>
        <p:nvSpPr>
          <p:cNvPr id="4" name="element_3fa2afb189e2c8b6e4fbf8ffae254366"/>
          <p:cNvSpPr txBox="1"/>
          <p:nvPr/>
        </p:nvSpPr>
        <p:spPr>
          <a:xfrm>
            <a:off x="975336" y="1097280"/>
            <a:ext cx="4145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9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Final management revenue forecast</a:t>
            </a:r>
            <a:endParaRPr lang="en-US" sz="3900" dirty="0"/>
          </a:p>
        </p:txBody>
      </p:sp>
      <p:sp>
        <p:nvSpPr>
          <p:cNvPr id="5" name="element_42582da2c6ce932f25fe721984ed00e1"/>
          <p:cNvSpPr txBox="1"/>
          <p:nvPr/>
        </p:nvSpPr>
        <p:spPr>
          <a:xfrm>
            <a:off x="975336" y="2743200"/>
            <a:ext cx="41451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Final management revenue forecast: 2026E net sales: $340 million. 2030E net sales: $495 million.</a:t>
            </a:r>
            <a:endParaRPr lang="en-US" sz="1800" dirty="0"/>
          </a:p>
        </p:txBody>
      </p:sp>
      <p:graphicFrame>
        <p:nvGraphicFramePr>
          <p:cNvPr id="6" name="element_c75fb120e708903c2502fd0bf1ec3c5b" descr=""/>
          <p:cNvGraphicFramePr/>
          <p:nvPr/>
        </p:nvGraphicFramePr>
        <p:xfrm>
          <a:off x="5364346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01bd344e1517c93a4ea224c91eb2721e"/>
          <p:cNvSpPr txBox="1"/>
          <p:nvPr/>
        </p:nvSpPr>
        <p:spPr>
          <a:xfrm>
            <a:off x="975336" y="3909060"/>
            <a:ext cx="4145176" cy="29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2026E net sales: $340 million.</a:t>
            </a:r>
            <a:endParaRPr lang="en-US" sz="1400" dirty="0"/>
          </a:p>
        </p:txBody>
      </p:sp>
      <p:sp>
        <p:nvSpPr>
          <p:cNvPr id="8" name="element_23fd14c18a3ba1dffd34acf0ce63e492"/>
          <p:cNvSpPr txBox="1"/>
          <p:nvPr/>
        </p:nvSpPr>
        <p:spPr>
          <a:xfrm>
            <a:off x="975336" y="4307510"/>
            <a:ext cx="4145176" cy="29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2030E net sales: $495 million.</a:t>
            </a:r>
            <a:endParaRPr lang="en-US" sz="1400" dirty="0"/>
          </a:p>
        </p:txBody>
      </p:sp>
      <p:sp>
        <p:nvSpPr>
          <p:cNvPr id="9" name="element_7ff400ffea0dbc59589de1e3ed08d122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DCECF0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14af1d175ef3db31822d196d8639b411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DCECF0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c5632153503dfca867480428cdc8beed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DCECF0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3b86faa35913c37492b75d3bc525af39"/>
          <p:cNvSpPr/>
          <p:nvPr/>
        </p:nvSpPr>
        <p:spPr>
          <a:xfrm>
            <a:off x="1243553" y="411480"/>
            <a:ext cx="1280128" cy="720090"/>
          </a:xfrm>
          <a:prstGeom prst="roundRect">
            <a:avLst/>
          </a:prstGeom>
          <a:solidFill>
            <a:srgbClr val="DCECF0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dc18e514bb50ad549a3be3428af62b6c"/>
          <p:cNvSpPr/>
          <p:nvPr/>
        </p:nvSpPr>
        <p:spPr>
          <a:xfrm>
            <a:off x="1388634" y="603504"/>
            <a:ext cx="793679" cy="446456"/>
          </a:xfrm>
          <a:prstGeom prst="roundRect">
            <a:avLst/>
          </a:prstGeom>
          <a:solidFill>
            <a:srgbClr val="DCECF0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b1c2a737df73a74ca726aa982605dfd0"/>
          <p:cNvSpPr/>
          <p:nvPr/>
        </p:nvSpPr>
        <p:spPr>
          <a:xfrm>
            <a:off x="1365470" y="774954"/>
            <a:ext cx="512051" cy="288036"/>
          </a:xfrm>
          <a:prstGeom prst="roundRect">
            <a:avLst/>
          </a:prstGeom>
          <a:solidFill>
            <a:srgbClr val="287A8D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3e17aa829ff749e3fc72fad5175176b9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889eb22e8dad5d94f7672b98ca72c380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36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b29c2dbafd6ce1b6beee96c814ecc15e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fe944dddc0a838f14d8aeb59396867f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37 / MANAGEMENT PROJECTIONS AND MODEL DRIVERS</a:t>
            </a:r>
            <a:endParaRPr lang="en-US" sz="1500" dirty="0"/>
          </a:p>
        </p:txBody>
      </p:sp>
      <p:sp>
        <p:nvSpPr>
          <p:cNvPr id="4" name="element_d543b855d42ddb53e765851b33cf5c31"/>
          <p:cNvSpPr txBox="1"/>
          <p:nvPr/>
        </p:nvSpPr>
        <p:spPr>
          <a:xfrm>
            <a:off x="853419" y="1097280"/>
            <a:ext cx="3657509" cy="1680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July diligence revenue case</a:t>
            </a:r>
            <a:endParaRPr lang="en-US" sz="4200" dirty="0"/>
          </a:p>
        </p:txBody>
      </p:sp>
      <p:sp>
        <p:nvSpPr>
          <p:cNvPr id="5" name="element_2ccc3d4a3458705b93d4dc5ca31298fd"/>
          <p:cNvSpPr txBox="1"/>
          <p:nvPr/>
        </p:nvSpPr>
        <p:spPr>
          <a:xfrm>
            <a:off x="853419" y="3188970"/>
            <a:ext cx="3657509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Management projections are unaudited. For july diligence revenue case, separate the final case from July diligence estimates and expose the assumption that creates the bridge.</a:t>
            </a:r>
            <a:endParaRPr lang="en-US" sz="1400" dirty="0"/>
          </a:p>
        </p:txBody>
      </p:sp>
      <p:graphicFrame>
        <p:nvGraphicFramePr>
          <p:cNvPr id="6" name="element_e0a2a4bde5bc434a49da5892580041fc" descr=""/>
          <p:cNvGraphicFramePr/>
          <p:nvPr/>
        </p:nvGraphicFramePr>
        <p:xfrm>
          <a:off x="5120512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ce7b59315e249764cfae8073b5add3a1"/>
          <p:cNvSpPr txBox="1"/>
          <p:nvPr/>
        </p:nvSpPr>
        <p:spPr>
          <a:xfrm>
            <a:off x="853419" y="4526280"/>
            <a:ext cx="3657509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Projection evidence: July diligence revenue case</a:t>
            </a:r>
            <a:endParaRPr lang="en-US" sz="1400" dirty="0"/>
          </a:p>
        </p:txBody>
      </p:sp>
      <p:sp>
        <p:nvSpPr>
          <p:cNvPr id="8" name="element_d113b5b40303f1abbbe66a930c4892a4"/>
          <p:cNvSpPr txBox="1"/>
          <p:nvPr/>
        </p:nvSpPr>
        <p:spPr>
          <a:xfrm>
            <a:off x="853419" y="5138014"/>
            <a:ext cx="3657509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Required bridge: final case versus July diligence case</a:t>
            </a:r>
            <a:endParaRPr lang="en-US" sz="1400" dirty="0"/>
          </a:p>
        </p:txBody>
      </p:sp>
      <p:sp>
        <p:nvSpPr>
          <p:cNvPr id="9" name="element_4e2630fc9568aa2e223167a610259dbe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bd7ae703d73836765ff1e45e425cdffb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fa9da18ba0b620b6b0278a502ffb1460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15691bd390ff768ad6bf9bb23600d1ab"/>
          <p:cNvSpPr/>
          <p:nvPr/>
        </p:nvSpPr>
        <p:spPr>
          <a:xfrm>
            <a:off x="9664357" y="409423"/>
            <a:ext cx="1288662" cy="724891"/>
          </a:xfrm>
          <a:prstGeom prst="roundRect">
            <a:avLst/>
          </a:prstGeom>
          <a:solidFill>
            <a:srgbClr val="DCECF0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10742b81b02489c1df2bf39be4358073"/>
          <p:cNvSpPr/>
          <p:nvPr/>
        </p:nvSpPr>
        <p:spPr>
          <a:xfrm>
            <a:off x="10008163" y="602818"/>
            <a:ext cx="798556" cy="449199"/>
          </a:xfrm>
          <a:prstGeom prst="roundRect">
            <a:avLst/>
          </a:prstGeom>
          <a:solidFill>
            <a:srgbClr val="DCECF0">
              <a:alpha val="4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784bc205ffd8bfeea99fa39842d469ea"/>
          <p:cNvSpPr/>
          <p:nvPr/>
        </p:nvSpPr>
        <p:spPr>
          <a:xfrm>
            <a:off x="10314174" y="774954"/>
            <a:ext cx="515709" cy="290093"/>
          </a:xfrm>
          <a:prstGeom prst="roundRect">
            <a:avLst/>
          </a:prstGeom>
          <a:solidFill>
            <a:srgbClr val="287A8D">
              <a:alpha val="6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cff58dde6e974bbe9f0ca6b0a46b323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5c20be00ac650cd641ebacfc69c386d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37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0597d216d82597fd338d14041b623cbc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d9958197c82af4d15b7b9b694f8ae37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38 / MANAGEMENT PROJECTIONS AND MODEL DRIVERS</a:t>
            </a:r>
            <a:endParaRPr lang="en-US" sz="1500" dirty="0"/>
          </a:p>
        </p:txBody>
      </p:sp>
      <p:sp>
        <p:nvSpPr>
          <p:cNvPr id="4" name="element_69815ba6b834aa3d17414f15ad6e2ace"/>
          <p:cNvSpPr txBox="1"/>
          <p:nvPr/>
        </p:nvSpPr>
        <p:spPr>
          <a:xfrm>
            <a:off x="7071183" y="1097280"/>
            <a:ext cx="4145176" cy="1680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Final versus July forecast bridge</a:t>
            </a:r>
            <a:endParaRPr lang="en-US" sz="4200" dirty="0"/>
          </a:p>
        </p:txBody>
      </p:sp>
      <p:sp>
        <p:nvSpPr>
          <p:cNvPr id="5" name="element_39d7b2e8190af4463ebf0e0bdd0109bb"/>
          <p:cNvSpPr txBox="1"/>
          <p:nvPr/>
        </p:nvSpPr>
        <p:spPr>
          <a:xfrm>
            <a:off x="7071183" y="3188970"/>
            <a:ext cx="4145176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Management projections are unaudited. For final versus july forecast bridge, separate the final case from July diligence estimates and expose the assumption that creates the bridge.</a:t>
            </a:r>
            <a:endParaRPr lang="en-US" sz="1500" dirty="0"/>
          </a:p>
        </p:txBody>
      </p:sp>
      <p:graphicFrame>
        <p:nvGraphicFramePr>
          <p:cNvPr id="6" name="element_d8350f4605f77c8415fd7e893834d672" descr=""/>
          <p:cNvGraphicFramePr/>
          <p:nvPr/>
        </p:nvGraphicFramePr>
        <p:xfrm>
          <a:off x="731502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b6cd6f8010fcef5521b2ae9b1c3e46e9"/>
          <p:cNvSpPr txBox="1"/>
          <p:nvPr/>
        </p:nvSpPr>
        <p:spPr>
          <a:xfrm>
            <a:off x="7071183" y="4612005"/>
            <a:ext cx="4145176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Projection evidence: Final versus July forecast bridge</a:t>
            </a:r>
            <a:endParaRPr lang="en-US" sz="1400" dirty="0"/>
          </a:p>
        </p:txBody>
      </p:sp>
      <p:sp>
        <p:nvSpPr>
          <p:cNvPr id="8" name="element_3755e2ab8654842bb39286078efb9401"/>
          <p:cNvSpPr txBox="1"/>
          <p:nvPr/>
        </p:nvSpPr>
        <p:spPr>
          <a:xfrm>
            <a:off x="7071183" y="5223739"/>
            <a:ext cx="4145176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Required bridge: final case versus July diligence case</a:t>
            </a:r>
            <a:endParaRPr lang="en-US" sz="1400" dirty="0"/>
          </a:p>
        </p:txBody>
      </p:sp>
      <p:sp>
        <p:nvSpPr>
          <p:cNvPr id="9" name="element_ebbb5bb59132cdf8822e390edf5d8718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d3d34c6ed34837b16fd7618a3c353b1c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1a926dc898e9594d16e929d675805673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2760395ca185517ac4338e4a4154246b"/>
          <p:cNvSpPr/>
          <p:nvPr/>
        </p:nvSpPr>
        <p:spPr>
          <a:xfrm>
            <a:off x="9660699" y="407365"/>
            <a:ext cx="1297196" cy="729691"/>
          </a:xfrm>
          <a:prstGeom prst="roundRect">
            <a:avLst/>
          </a:prstGeom>
          <a:solidFill>
            <a:srgbClr val="DCECF0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043958c7cd18bd5d6f6632384eb652b8"/>
          <p:cNvSpPr/>
          <p:nvPr/>
        </p:nvSpPr>
        <p:spPr>
          <a:xfrm>
            <a:off x="10005724" y="601447"/>
            <a:ext cx="804652" cy="452628"/>
          </a:xfrm>
          <a:prstGeom prst="roundRect">
            <a:avLst/>
          </a:prstGeom>
          <a:solidFill>
            <a:srgbClr val="DCECF0">
              <a:alpha val="4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e8e1dabd66a049aac64ba4cda0d96e47"/>
          <p:cNvSpPr/>
          <p:nvPr/>
        </p:nvSpPr>
        <p:spPr>
          <a:xfrm>
            <a:off x="10314174" y="774954"/>
            <a:ext cx="519366" cy="292151"/>
          </a:xfrm>
          <a:prstGeom prst="roundRect">
            <a:avLst/>
          </a:prstGeom>
          <a:solidFill>
            <a:srgbClr val="287A8D">
              <a:alpha val="6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4503920ecd71a603c1050cdb8764eb4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f4ed3b8cb143663e581b960dc41ab16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38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e87e7bfaeea788e80551eb0f786d684e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749d88d434d28d942051bcdcdde8653"/>
          <p:cNvSpPr txBox="1"/>
          <p:nvPr/>
        </p:nvSpPr>
        <p:spPr>
          <a:xfrm>
            <a:off x="6461598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39 / MANAGEMENT PROJECTIONS AND MODEL DRIVERS</a:t>
            </a:r>
            <a:endParaRPr lang="en-US" sz="1500" dirty="0"/>
          </a:p>
        </p:txBody>
      </p:sp>
      <p:sp>
        <p:nvSpPr>
          <p:cNvPr id="4" name="element_460ad3d0b13839950f27df7d0769a9da"/>
          <p:cNvSpPr txBox="1"/>
          <p:nvPr/>
        </p:nvSpPr>
        <p:spPr>
          <a:xfrm>
            <a:off x="7680768" y="1097280"/>
            <a:ext cx="365750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EBITDA ramp required</a:t>
            </a:r>
            <a:endParaRPr lang="en-US" sz="4200" dirty="0"/>
          </a:p>
        </p:txBody>
      </p:sp>
      <p:sp>
        <p:nvSpPr>
          <p:cNvPr id="5" name="element_50523e7ed331b0e3aab622c91b878995"/>
          <p:cNvSpPr txBox="1"/>
          <p:nvPr/>
        </p:nvSpPr>
        <p:spPr>
          <a:xfrm>
            <a:off x="7680768" y="2743200"/>
            <a:ext cx="3657509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Management projections are unaudited. For ebitda ramp required, separate the final case from July diligence estimates and expose the assumption that creates the bridge.</a:t>
            </a:r>
            <a:endParaRPr lang="en-US" sz="1500" dirty="0"/>
          </a:p>
        </p:txBody>
      </p:sp>
      <p:graphicFrame>
        <p:nvGraphicFramePr>
          <p:cNvPr id="6" name="element_7ef8c1e3f61d89b758acafe327b0005f" descr=""/>
          <p:cNvGraphicFramePr/>
          <p:nvPr/>
        </p:nvGraphicFramePr>
        <p:xfrm>
          <a:off x="975336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190c69b3c67f24b9038fdcaf8f7990a2"/>
          <p:cNvSpPr txBox="1"/>
          <p:nvPr/>
        </p:nvSpPr>
        <p:spPr>
          <a:xfrm>
            <a:off x="7680768" y="4166235"/>
            <a:ext cx="3657509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Projection evidence: EBITDA ramp required</a:t>
            </a:r>
            <a:endParaRPr lang="en-US" sz="1400" dirty="0"/>
          </a:p>
        </p:txBody>
      </p:sp>
      <p:sp>
        <p:nvSpPr>
          <p:cNvPr id="8" name="element_9a407873c673149dc919df0c143e135e"/>
          <p:cNvSpPr txBox="1"/>
          <p:nvPr/>
        </p:nvSpPr>
        <p:spPr>
          <a:xfrm>
            <a:off x="7680768" y="4777969"/>
            <a:ext cx="3657509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Required bridge: final case versus July diligence case</a:t>
            </a:r>
            <a:endParaRPr lang="en-US" sz="1400" dirty="0"/>
          </a:p>
        </p:txBody>
      </p:sp>
      <p:sp>
        <p:nvSpPr>
          <p:cNvPr id="9" name="element_7c0e22fcca89c01bedc25d88f23ee393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DCECF0">
              <a:alpha val="4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dc6cbdf22927b011a83162eb728a3d34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DCECF0">
              <a:alpha val="3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542e22a454b1b81fe50ab2a715d658d2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DCECF0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bacdf7c03998db482d89feebc9d5c60a"/>
          <p:cNvSpPr/>
          <p:nvPr/>
        </p:nvSpPr>
        <p:spPr>
          <a:xfrm>
            <a:off x="1227704" y="405994"/>
            <a:ext cx="1305731" cy="734492"/>
          </a:xfrm>
          <a:prstGeom prst="roundRect">
            <a:avLst/>
          </a:prstGeom>
          <a:solidFill>
            <a:srgbClr val="DCECF0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951ae23a85035f75096e66106105b1fe"/>
          <p:cNvSpPr/>
          <p:nvPr/>
        </p:nvSpPr>
        <p:spPr>
          <a:xfrm>
            <a:off x="1377662" y="600761"/>
            <a:ext cx="809529" cy="455371"/>
          </a:xfrm>
          <a:prstGeom prst="roundRect">
            <a:avLst/>
          </a:prstGeom>
          <a:solidFill>
            <a:srgbClr val="DCECF0">
              <a:alpha val="4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3faf7fd8ee9aa7c7316327adda805ea7"/>
          <p:cNvSpPr/>
          <p:nvPr/>
        </p:nvSpPr>
        <p:spPr>
          <a:xfrm>
            <a:off x="1355717" y="774954"/>
            <a:ext cx="521805" cy="293522"/>
          </a:xfrm>
          <a:prstGeom prst="roundRect">
            <a:avLst/>
          </a:prstGeom>
          <a:solidFill>
            <a:srgbClr val="287A8D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868bcf389dc74593705d85f760765610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2e3b986e9c80cde34580ec91ca97bb16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39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209f2adc8cde91bcc498001025c1899d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288a471f21791da7b7198d959de612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be879cdec881b5835dc67905d692cc05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d87581dd49af1fa9898b83d2e2f60ea6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3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97f0fe57c65981071755829727867c9a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c8ac8312b1afce73f494162000debccf"/>
          <p:cNvSpPr/>
          <p:nvPr/>
        </p:nvSpPr>
        <p:spPr>
          <a:xfrm>
            <a:off x="9654603" y="403936"/>
            <a:ext cx="1314265" cy="739292"/>
          </a:xfrm>
          <a:prstGeom prst="roundRect">
            <a:avLst/>
          </a:prstGeom>
          <a:solidFill>
            <a:srgbClr val="DCECF0">
              <a:alpha val="3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e8ed3fd9ca76ae214cbf31e82f57f41f"/>
          <p:cNvSpPr/>
          <p:nvPr/>
        </p:nvSpPr>
        <p:spPr>
          <a:xfrm>
            <a:off x="10002067" y="599389"/>
            <a:ext cx="814405" cy="458114"/>
          </a:xfrm>
          <a:prstGeom prst="roundRect">
            <a:avLst/>
          </a:prstGeom>
          <a:solidFill>
            <a:srgbClr val="DCECF0">
              <a:alpha val="4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c75cbe172d246a63912f9d2a68ca598e"/>
          <p:cNvSpPr/>
          <p:nvPr/>
        </p:nvSpPr>
        <p:spPr>
          <a:xfrm>
            <a:off x="10314174" y="774954"/>
            <a:ext cx="525462" cy="295580"/>
          </a:xfrm>
          <a:prstGeom prst="roundRect">
            <a:avLst/>
          </a:prstGeom>
          <a:solidFill>
            <a:srgbClr val="287A8D">
              <a:alpha val="6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7802cf29d368b2871828155bd7a8c71b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40 / MANAGEMENT PROJECTIONS AND MODEL DRIVERS</a:t>
            </a:r>
            <a:endParaRPr lang="en-US" sz="1500" dirty="0"/>
          </a:p>
        </p:txBody>
      </p:sp>
      <p:sp>
        <p:nvSpPr>
          <p:cNvPr id="11" name="element_774efa051a113ced560f190c3955819f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China recovery assumptions</a:t>
            </a:r>
            <a:endParaRPr lang="en-US" sz="3800" dirty="0"/>
          </a:p>
        </p:txBody>
      </p:sp>
      <p:sp>
        <p:nvSpPr>
          <p:cNvPr id="12" name="element_22ef3ee0cc091db122b1e3c751bcaf70"/>
          <p:cNvSpPr txBox="1"/>
          <p:nvPr/>
        </p:nvSpPr>
        <p:spPr>
          <a:xfrm>
            <a:off x="853419" y="274320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China recovery assumptions: 2026E net sales: $340 million. 2030E net sales: $495 million.</a:t>
            </a:r>
            <a:endParaRPr lang="en-US" sz="1600" dirty="0"/>
          </a:p>
        </p:txBody>
      </p:sp>
      <p:sp>
        <p:nvSpPr>
          <p:cNvPr id="13" name="element_a169194a33b132bea07e561bab519171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2026E net sales: $340 million.</a:t>
            </a:r>
            <a:endParaRPr lang="en-US" sz="1400" dirty="0"/>
          </a:p>
        </p:txBody>
      </p:sp>
      <p:sp>
        <p:nvSpPr>
          <p:cNvPr id="14" name="element_34bce610075f5ce854b888c80f9f777e"/>
          <p:cNvSpPr txBox="1"/>
          <p:nvPr/>
        </p:nvSpPr>
        <p:spPr>
          <a:xfrm>
            <a:off x="853419" y="507492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2030E net sales: $495 million.</a:t>
            </a:r>
            <a:endParaRPr lang="en-US" sz="1400" dirty="0"/>
          </a:p>
        </p:txBody>
      </p:sp>
      <p:sp>
        <p:nvSpPr>
          <p:cNvPr id="15" name="element_a95fd1adf8524bca6f5565af6112d0db"/>
          <p:cNvSpPr/>
          <p:nvPr/>
        </p:nvSpPr>
        <p:spPr>
          <a:xfrm>
            <a:off x="7380852" y="3852824"/>
            <a:ext cx="145081" cy="82296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16" name="element_f97b1db33a1b8952f5faf2ccdc01b443"/>
          <p:cNvSpPr/>
          <p:nvPr/>
        </p:nvSpPr>
        <p:spPr>
          <a:xfrm>
            <a:off x="9359564" y="2948940"/>
            <a:ext cx="145081" cy="82296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17" name="element_cf466f5ded970971f2a968e9a39e9198"/>
          <p:cNvSpPr/>
          <p:nvPr/>
        </p:nvSpPr>
        <p:spPr>
          <a:xfrm>
            <a:off x="5547221" y="3893972"/>
            <a:ext cx="1833631" cy="2072488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8" name="element_cf466f5ded970971f2a968e9a39e9198:text"/>
          <p:cNvSpPr txBox="1"/>
          <p:nvPr/>
        </p:nvSpPr>
        <p:spPr>
          <a:xfrm>
            <a:off x="5547221" y="3893972"/>
            <a:ext cx="1833631" cy="207248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242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baseline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242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340 USD millions net sales</a:t>
            </a:r>
            <a:endParaRPr lang="en-US" sz="1400" dirty="0"/>
          </a:p>
        </p:txBody>
      </p:sp>
      <p:sp>
        <p:nvSpPr>
          <p:cNvPr id="19" name="element_76045777bb0e276d78f7b2c29234eb09"/>
          <p:cNvSpPr/>
          <p:nvPr/>
        </p:nvSpPr>
        <p:spPr>
          <a:xfrm>
            <a:off x="7525933" y="2948940"/>
            <a:ext cx="1833631" cy="945032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20" name="element_76045777bb0e276d78f7b2c29234eb09:text"/>
          <p:cNvSpPr txBox="1"/>
          <p:nvPr/>
        </p:nvSpPr>
        <p:spPr>
          <a:xfrm>
            <a:off x="7525933" y="2948940"/>
            <a:ext cx="1833631" cy="94503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242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Driver 1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242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155 USD millions net sales</a:t>
            </a:r>
            <a:endParaRPr lang="en-US" sz="1400" dirty="0"/>
          </a:p>
        </p:txBody>
      </p:sp>
      <p:sp>
        <p:nvSpPr>
          <p:cNvPr id="21" name="element_96377b35c0c411376d178527546ee588"/>
          <p:cNvSpPr/>
          <p:nvPr/>
        </p:nvSpPr>
        <p:spPr>
          <a:xfrm>
            <a:off x="9504646" y="2948940"/>
            <a:ext cx="1833631" cy="301752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22" name="element_96377b35c0c411376d178527546ee588:text"/>
          <p:cNvSpPr txBox="1"/>
          <p:nvPr/>
        </p:nvSpPr>
        <p:spPr>
          <a:xfrm>
            <a:off x="9504646" y="2948940"/>
            <a:ext cx="1833631" cy="3017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242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final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7242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495 USD millions net sales</a:t>
            </a:r>
            <a:endParaRPr lang="en-US" sz="1400" dirty="0"/>
          </a:p>
        </p:txBody>
      </p:sp>
      <p:sp>
        <p:nvSpPr>
          <p:cNvPr id="23" name="element_b95d63e5de6e55a26ad04fe6213ddb2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4" name="element_3fd157e88d8ce1178c9050e434593cf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40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59a68ab7a7a01bff52b646e38781371c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19231f987fc8b4cd028e3e577203bcf"/>
          <p:cNvSpPr txBox="1"/>
          <p:nvPr/>
        </p:nvSpPr>
        <p:spPr>
          <a:xfrm>
            <a:off x="853419" y="41148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41 / MANAGEMENT PROJECTIONS AND MODEL DRIVERS</a:t>
            </a:r>
            <a:endParaRPr lang="en-US" sz="1500" dirty="0"/>
          </a:p>
        </p:txBody>
      </p:sp>
      <p:sp>
        <p:nvSpPr>
          <p:cNvPr id="4" name="element_9ee7f61dbae893373b9f0ab7f6ac84d8"/>
          <p:cNvSpPr txBox="1"/>
          <p:nvPr/>
        </p:nvSpPr>
        <p:spPr>
          <a:xfrm>
            <a:off x="853419" y="960120"/>
            <a:ext cx="9997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Margin and operating-leverage drivers</a:t>
            </a:r>
            <a:endParaRPr lang="en-US" sz="3200" dirty="0"/>
          </a:p>
        </p:txBody>
      </p:sp>
      <p:sp>
        <p:nvSpPr>
          <p:cNvPr id="5" name="element_34e7efa0d4a3ccc29dd9bf8f4160faa8"/>
          <p:cNvSpPr/>
          <p:nvPr/>
        </p:nvSpPr>
        <p:spPr>
          <a:xfrm>
            <a:off x="5435058" y="2392070"/>
            <a:ext cx="1320361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6" name="element_f094c892e2bb7af53dd9f9eed70c2b52"/>
          <p:cNvSpPr/>
          <p:nvPr/>
        </p:nvSpPr>
        <p:spPr>
          <a:xfrm>
            <a:off x="5435058" y="3135478"/>
            <a:ext cx="1320361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7" name="element_1cd34000507ef35158ac3fbd0ee49998"/>
          <p:cNvSpPr/>
          <p:nvPr/>
        </p:nvSpPr>
        <p:spPr>
          <a:xfrm>
            <a:off x="853419" y="1851660"/>
            <a:ext cx="10484858" cy="502691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1cd34000507ef35158ac3fbd0ee49998:text"/>
          <p:cNvSpPr txBox="1"/>
          <p:nvPr/>
        </p:nvSpPr>
        <p:spPr>
          <a:xfrm>
            <a:off x="853419" y="1851660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Margin and operating-leverage drivers</a:t>
            </a:r>
            <a:endParaRPr lang="en-US" sz="1200" dirty="0"/>
          </a:p>
        </p:txBody>
      </p:sp>
      <p:sp>
        <p:nvSpPr>
          <p:cNvPr id="9" name="element_4874670a37404b7c5e9b63d32035d511"/>
          <p:cNvSpPr/>
          <p:nvPr/>
        </p:nvSpPr>
        <p:spPr>
          <a:xfrm>
            <a:off x="853419" y="2594381"/>
            <a:ext cx="10484858" cy="502691"/>
          </a:xfrm>
          <a:prstGeom prst="roundRect">
            <a:avLst/>
          </a:prstGeom>
          <a:solidFill>
            <a:srgbClr val="DDEDE8"/>
          </a:solidFill>
          <a:ln w="25400">
            <a:solidFill>
              <a:srgbClr val="287A8D"/>
            </a:solidFill>
            <a:prstDash val="solid"/>
          </a:ln>
        </p:spPr>
      </p:sp>
      <p:sp>
        <p:nvSpPr>
          <p:cNvPr id="10" name="element_4874670a37404b7c5e9b63d32035d511:text"/>
          <p:cNvSpPr txBox="1"/>
          <p:nvPr/>
        </p:nvSpPr>
        <p:spPr>
          <a:xfrm>
            <a:off x="853419" y="2594381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gate: Margin and operating-leverage drivers</a:t>
            </a:r>
            <a:endParaRPr lang="en-US" sz="1200" dirty="0"/>
          </a:p>
        </p:txBody>
      </p:sp>
      <p:sp>
        <p:nvSpPr>
          <p:cNvPr id="11" name="element_f2840aab000db6388a0a4b03ee942fc9"/>
          <p:cNvSpPr/>
          <p:nvPr/>
        </p:nvSpPr>
        <p:spPr>
          <a:xfrm>
            <a:off x="853419" y="3337789"/>
            <a:ext cx="10484858" cy="502691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2" name="element_f2840aab000db6388a0a4b03ee942fc9:text"/>
          <p:cNvSpPr txBox="1"/>
          <p:nvPr/>
        </p:nvSpPr>
        <p:spPr>
          <a:xfrm>
            <a:off x="853419" y="3337789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on margin and operating-leverage drivers</a:t>
            </a:r>
            <a:endParaRPr lang="en-US" sz="1200" dirty="0"/>
          </a:p>
        </p:txBody>
      </p:sp>
      <p:sp>
        <p:nvSpPr>
          <p:cNvPr id="13" name="element_09bc1a255038595d5dfe339981eeb66d"/>
          <p:cNvSpPr txBox="1"/>
          <p:nvPr/>
        </p:nvSpPr>
        <p:spPr>
          <a:xfrm>
            <a:off x="853419" y="4046220"/>
            <a:ext cx="963143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Margin and operating-leverage drivers: Final case: approximately 10% annual sales growth from 2027. Gate: China, forecast bridge, and clearances.</a:t>
            </a:r>
            <a:endParaRPr lang="en-US" sz="1600" dirty="0"/>
          </a:p>
        </p:txBody>
      </p:sp>
      <p:sp>
        <p:nvSpPr>
          <p:cNvPr id="14" name="element_23b1b9ca25b1e7616578c2f609a9acf1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6cd5fea9b982fe0f4c32c8b6e740126f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3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8c84891a9b2764e861069f6e6f1c8d18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074190e470c329bef27ad26b960b3efe"/>
          <p:cNvSpPr/>
          <p:nvPr/>
        </p:nvSpPr>
        <p:spPr>
          <a:xfrm>
            <a:off x="9650946" y="401879"/>
            <a:ext cx="1322799" cy="744093"/>
          </a:xfrm>
          <a:prstGeom prst="roundRect">
            <a:avLst/>
          </a:prstGeom>
          <a:solidFill>
            <a:srgbClr val="DCECF0">
              <a:alpha val="3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7f3f3f023c4787dfcb29a04ac865cab9"/>
          <p:cNvSpPr/>
          <p:nvPr/>
        </p:nvSpPr>
        <p:spPr>
          <a:xfrm>
            <a:off x="10000848" y="598703"/>
            <a:ext cx="819282" cy="460858"/>
          </a:xfrm>
          <a:prstGeom prst="roundRect">
            <a:avLst/>
          </a:prstGeom>
          <a:solidFill>
            <a:srgbClr val="DCECF0">
              <a:alpha val="4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06a03f2d3c3be532b8e89e855be06b66"/>
          <p:cNvSpPr/>
          <p:nvPr/>
        </p:nvSpPr>
        <p:spPr>
          <a:xfrm>
            <a:off x="10314174" y="774954"/>
            <a:ext cx="529120" cy="297637"/>
          </a:xfrm>
          <a:prstGeom prst="roundRect">
            <a:avLst/>
          </a:prstGeom>
          <a:solidFill>
            <a:srgbClr val="287A8D">
              <a:alpha val="6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8856e079d364b416e8510edf456afe4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d2ec4893d286910163fc602077ea5b5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41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0688969767e22e43f91a0cdd85727394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ac8d28ea5ce9636d4ab60a814811da6"/>
          <p:cNvSpPr/>
          <p:nvPr/>
        </p:nvSpPr>
        <p:spPr>
          <a:xfrm>
            <a:off x="8058711" y="3497580"/>
            <a:ext cx="3462441" cy="2359152"/>
          </a:xfrm>
          <a:prstGeom prst="roundRect">
            <a:avLst/>
          </a:prstGeom>
          <a:solidFill>
            <a:srgbClr val="DCECF0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1a85aefa01af9b896b832fbf38820fd0"/>
          <p:cNvSpPr/>
          <p:nvPr/>
        </p:nvSpPr>
        <p:spPr>
          <a:xfrm>
            <a:off x="4523119" y="3497580"/>
            <a:ext cx="3462441" cy="2359152"/>
          </a:xfrm>
          <a:prstGeom prst="roundRect">
            <a:avLst/>
          </a:prstGeom>
          <a:solidFill>
            <a:srgbClr val="DCECF0">
              <a:alpha val="2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10059ce31d6c95874122fde279015018"/>
          <p:cNvSpPr/>
          <p:nvPr/>
        </p:nvSpPr>
        <p:spPr>
          <a:xfrm>
            <a:off x="8058711" y="1097280"/>
            <a:ext cx="3462441" cy="2359152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6d0c86146a9c4bd2f1d2355d8d36e507"/>
          <p:cNvSpPr/>
          <p:nvPr/>
        </p:nvSpPr>
        <p:spPr>
          <a:xfrm>
            <a:off x="4523119" y="1097280"/>
            <a:ext cx="3462441" cy="2359152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a9292a9a9198bd9f5bad99b543ca9111"/>
          <p:cNvSpPr txBox="1"/>
          <p:nvPr/>
        </p:nvSpPr>
        <p:spPr>
          <a:xfrm>
            <a:off x="9570481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RARE</a:t>
            </a:r>
            <a:endParaRPr lang="en-US" sz="1400" dirty="0"/>
          </a:p>
        </p:txBody>
      </p:sp>
      <p:sp>
        <p:nvSpPr>
          <p:cNvPr id="8" name="element_2249c5725518bdd53a48d7dee820ce95"/>
          <p:cNvSpPr txBox="1"/>
          <p:nvPr/>
        </p:nvSpPr>
        <p:spPr>
          <a:xfrm>
            <a:off x="4449969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LIKELY</a:t>
            </a:r>
            <a:endParaRPr lang="en-US" sz="1400" dirty="0"/>
          </a:p>
        </p:txBody>
      </p:sp>
      <p:sp>
        <p:nvSpPr>
          <p:cNvPr id="9" name="element_fea333dff63f35703a533e19166c989f"/>
          <p:cNvSpPr txBox="1"/>
          <p:nvPr/>
        </p:nvSpPr>
        <p:spPr>
          <a:xfrm>
            <a:off x="9424180" y="534924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MINOR</a:t>
            </a:r>
            <a:endParaRPr lang="en-US" sz="1400" dirty="0"/>
          </a:p>
        </p:txBody>
      </p:sp>
      <p:sp>
        <p:nvSpPr>
          <p:cNvPr id="10" name="element_b70cae1423729fae3dc495437a3de3e0"/>
          <p:cNvSpPr txBox="1"/>
          <p:nvPr/>
        </p:nvSpPr>
        <p:spPr>
          <a:xfrm>
            <a:off x="9424180" y="1220724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1" name="element_04aa292e399ed7385daef778d6944ba8"/>
          <p:cNvSpPr/>
          <p:nvPr/>
        </p:nvSpPr>
        <p:spPr>
          <a:xfrm>
            <a:off x="4547502" y="1207008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2" name="element_04aa292e399ed7385daef778d6944ba8:text"/>
          <p:cNvSpPr txBox="1"/>
          <p:nvPr/>
        </p:nvSpPr>
        <p:spPr>
          <a:xfrm>
            <a:off x="4547502" y="1207008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Forecast</a:t>
            </a:r>
            <a:endParaRPr lang="en-US" sz="1400" dirty="0"/>
          </a:p>
        </p:txBody>
      </p:sp>
      <p:sp>
        <p:nvSpPr>
          <p:cNvPr id="13" name="element_303fbf9cfc5a2f184a30531f132b5895"/>
          <p:cNvSpPr/>
          <p:nvPr/>
        </p:nvSpPr>
        <p:spPr>
          <a:xfrm>
            <a:off x="5731316" y="2010080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4" name="element_303fbf9cfc5a2f184a30531f132b5895:text"/>
          <p:cNvSpPr txBox="1"/>
          <p:nvPr/>
        </p:nvSpPr>
        <p:spPr>
          <a:xfrm>
            <a:off x="5731316" y="2010080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5" name="element_b10bc9e1cf144d19a5a2b2e1696ac2d9"/>
          <p:cNvSpPr/>
          <p:nvPr/>
        </p:nvSpPr>
        <p:spPr>
          <a:xfrm>
            <a:off x="7254059" y="2001164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6" name="element_b10bc9e1cf144d19a5a2b2e1696ac2d9:text"/>
          <p:cNvSpPr txBox="1"/>
          <p:nvPr/>
        </p:nvSpPr>
        <p:spPr>
          <a:xfrm>
            <a:off x="7254059" y="2001164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7" name="element_d5b34dfb4a080ac03dc5aca51455046b"/>
          <p:cNvSpPr txBox="1"/>
          <p:nvPr/>
        </p:nvSpPr>
        <p:spPr>
          <a:xfrm>
            <a:off x="731502" y="1028700"/>
            <a:ext cx="304792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42 / MANAGEMENT PROJECTIONS AND MODEL DRIVERS</a:t>
            </a:r>
            <a:endParaRPr lang="en-US" sz="1500" dirty="0"/>
          </a:p>
        </p:txBody>
      </p:sp>
      <p:sp>
        <p:nvSpPr>
          <p:cNvPr id="18" name="element_78200d56bdde6a8147c0c5ff735fcf63"/>
          <p:cNvSpPr txBox="1"/>
          <p:nvPr/>
        </p:nvSpPr>
        <p:spPr>
          <a:xfrm>
            <a:off x="731502" y="1577340"/>
            <a:ext cx="304792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Forecast risk map</a:t>
            </a:r>
            <a:endParaRPr lang="en-US" sz="3600" dirty="0"/>
          </a:p>
        </p:txBody>
      </p:sp>
      <p:sp>
        <p:nvSpPr>
          <p:cNvPr id="19" name="element_2306f08063f1f2377fe397e0da0cc638"/>
          <p:cNvSpPr txBox="1"/>
          <p:nvPr/>
        </p:nvSpPr>
        <p:spPr>
          <a:xfrm>
            <a:off x="731502" y="3703320"/>
            <a:ext cx="3047924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Management projections are unaudited. For forecast risk map, separate the final case from July diligence estimates and expose the assumption that creates the bridge.</a:t>
            </a:r>
            <a:endParaRPr lang="en-US" sz="1500" dirty="0"/>
          </a:p>
        </p:txBody>
      </p:sp>
      <p:sp>
        <p:nvSpPr>
          <p:cNvPr id="20" name="element_e325bdd9dfa01bfdcfa9beca7878924f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d4e2681b2c43dfb4a6e33a635ef44a4d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42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c8f7d62b6b4177bba04067e2b135c848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3afa76ebef55522ff204204ca5e26c1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43 / MANAGEMENT PROJECTIONS AND MODEL DRIVERS</a:t>
            </a:r>
            <a:endParaRPr lang="en-US" sz="1500" dirty="0"/>
          </a:p>
        </p:txBody>
      </p:sp>
      <p:sp>
        <p:nvSpPr>
          <p:cNvPr id="4" name="element_03a8ff7225bc37933e5e39f293f35437"/>
          <p:cNvSpPr txBox="1"/>
          <p:nvPr/>
        </p:nvSpPr>
        <p:spPr>
          <a:xfrm>
            <a:off x="853419" y="1097280"/>
            <a:ext cx="104848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Projection conclusion</a:t>
            </a:r>
            <a:endParaRPr lang="en-US" sz="4200" dirty="0"/>
          </a:p>
        </p:txBody>
      </p:sp>
      <p:sp>
        <p:nvSpPr>
          <p:cNvPr id="5" name="element_4a2e50869379e4ff03f3c65450bd9e5f"/>
          <p:cNvSpPr txBox="1"/>
          <p:nvPr/>
        </p:nvSpPr>
        <p:spPr>
          <a:xfrm>
            <a:off x="853419" y="2743200"/>
            <a:ext cx="963143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Management projections are unaudited. For projection conclusion, separate the final case from July diligence estimates and expose the assumption that creates the bridge.</a:t>
            </a:r>
            <a:endParaRPr lang="en-US" sz="1800" dirty="0"/>
          </a:p>
        </p:txBody>
      </p:sp>
      <p:sp>
        <p:nvSpPr>
          <p:cNvPr id="6" name="element_9cc1580ca73d2e41cc8acbce88e4925f"/>
          <p:cNvSpPr txBox="1"/>
          <p:nvPr/>
        </p:nvSpPr>
        <p:spPr>
          <a:xfrm>
            <a:off x="7193100" y="3909060"/>
            <a:ext cx="4023259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Projection evidence: Projection conclusion</a:t>
            </a:r>
            <a:endParaRPr lang="en-US" sz="1700" dirty="0"/>
          </a:p>
        </p:txBody>
      </p:sp>
      <p:sp>
        <p:nvSpPr>
          <p:cNvPr id="7" name="element_b629ef117cbcf3baa661005c0aa5cfa7"/>
          <p:cNvSpPr txBox="1"/>
          <p:nvPr/>
        </p:nvSpPr>
        <p:spPr>
          <a:xfrm>
            <a:off x="7193100" y="4612691"/>
            <a:ext cx="4023259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Required bridge: final case versus July diligence case</a:t>
            </a:r>
            <a:endParaRPr lang="en-US" sz="1700" dirty="0"/>
          </a:p>
        </p:txBody>
      </p:sp>
      <p:sp>
        <p:nvSpPr>
          <p:cNvPr id="8" name="element_5d2291687453065609e06a6f56c1e8f9"/>
          <p:cNvSpPr txBox="1"/>
          <p:nvPr/>
        </p:nvSpPr>
        <p:spPr>
          <a:xfrm>
            <a:off x="7193100" y="5315636"/>
            <a:ext cx="4023259" cy="859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Downside test: China recovery, new products, and operating leverage</a:t>
            </a:r>
            <a:endParaRPr lang="en-US" sz="1700" dirty="0"/>
          </a:p>
        </p:txBody>
      </p:sp>
      <p:sp>
        <p:nvSpPr>
          <p:cNvPr id="9" name="element_db5584e081b86ffe2026ce608889da22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5fe688eb533d73bd92f6235f8e084179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3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ef3054217ad39404e8266d61b9a0a8ec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2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869e6cfa011001afdcaaabfd2c789ac6"/>
          <p:cNvSpPr/>
          <p:nvPr/>
        </p:nvSpPr>
        <p:spPr>
          <a:xfrm>
            <a:off x="9644850" y="398450"/>
            <a:ext cx="1339867" cy="753694"/>
          </a:xfrm>
          <a:prstGeom prst="roundRect">
            <a:avLst/>
          </a:prstGeom>
          <a:solidFill>
            <a:srgbClr val="DCECF0">
              <a:alpha val="3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7b45d0aeb59d0496e0b81b909fab0685"/>
          <p:cNvSpPr/>
          <p:nvPr/>
        </p:nvSpPr>
        <p:spPr>
          <a:xfrm>
            <a:off x="9997190" y="596646"/>
            <a:ext cx="830254" cy="467030"/>
          </a:xfrm>
          <a:prstGeom prst="roundRect">
            <a:avLst/>
          </a:prstGeom>
          <a:solidFill>
            <a:srgbClr val="DCECF0">
              <a:alpha val="4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c2ef835d15e3316693135a6fb0742044"/>
          <p:cNvSpPr/>
          <p:nvPr/>
        </p:nvSpPr>
        <p:spPr>
          <a:xfrm>
            <a:off x="10314174" y="774954"/>
            <a:ext cx="535215" cy="301066"/>
          </a:xfrm>
          <a:prstGeom prst="roundRect">
            <a:avLst/>
          </a:prstGeom>
          <a:solidFill>
            <a:srgbClr val="287A8D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a2291527c5f363bd120e80674ab053b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22103963a790163fa8767b8c7d59ab4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43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1b615d47b9a273b0f693804cf2d3612e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0e1e527a4105966b5399dcebef71b3c"/>
          <p:cNvSpPr txBox="1"/>
          <p:nvPr/>
        </p:nvSpPr>
        <p:spPr>
          <a:xfrm>
            <a:off x="7680768" y="54864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0" b="1" spc="-300" kern="0" dirty="0">
                <a:solidFill>
                  <a:srgbClr val="287A8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44</a:t>
            </a:r>
            <a:endParaRPr lang="en-US" sz="10000" dirty="0"/>
          </a:p>
        </p:txBody>
      </p:sp>
      <p:sp>
        <p:nvSpPr>
          <p:cNvPr id="4" name="element_0bf47babc18676dede1eedae5c91bcb3"/>
          <p:cNvSpPr txBox="1"/>
          <p:nvPr/>
        </p:nvSpPr>
        <p:spPr>
          <a:xfrm>
            <a:off x="1584920" y="2057400"/>
            <a:ext cx="97533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15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44 / VALUATION ANALYSES</a:t>
            </a:r>
            <a:endParaRPr lang="en-US" sz="1400" dirty="0"/>
          </a:p>
        </p:txBody>
      </p:sp>
      <p:sp>
        <p:nvSpPr>
          <p:cNvPr id="5" name="element_b3541597920a42b6af4033f93f656f48"/>
          <p:cNvSpPr txBox="1"/>
          <p:nvPr/>
        </p:nvSpPr>
        <p:spPr>
          <a:xfrm>
            <a:off x="2560256" y="4114800"/>
            <a:ext cx="87780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Valuation framework</a:t>
            </a:r>
            <a:endParaRPr lang="en-US" sz="4000" dirty="0"/>
          </a:p>
        </p:txBody>
      </p:sp>
      <p:sp>
        <p:nvSpPr>
          <p:cNvPr id="6" name="element_07222a6b4e0c790bc39f837021a14f26"/>
          <p:cNvSpPr/>
          <p:nvPr/>
        </p:nvSpPr>
        <p:spPr>
          <a:xfrm>
            <a:off x="10606775" y="3977640"/>
            <a:ext cx="731502" cy="6858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85b677cc8d9f2563fedfc27c86ab163c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DCECF0">
              <a:alpha val="3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8b0eb0474afaaa0294901f3e468d0513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DCECF0">
              <a:alpha val="3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f4dd20b7b936903082606a3c2f18ae25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DCECF0">
              <a:alpha val="2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f5b27a93307dea28396a392562d402cb"/>
          <p:cNvSpPr/>
          <p:nvPr/>
        </p:nvSpPr>
        <p:spPr>
          <a:xfrm>
            <a:off x="1202101" y="396392"/>
            <a:ext cx="1348401" cy="758495"/>
          </a:xfrm>
          <a:prstGeom prst="roundRect">
            <a:avLst/>
          </a:prstGeom>
          <a:solidFill>
            <a:srgbClr val="DCECF0">
              <a:alpha val="3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16e2f8ae65d7b81d07aceb54aa43cbdf"/>
          <p:cNvSpPr/>
          <p:nvPr/>
        </p:nvSpPr>
        <p:spPr>
          <a:xfrm>
            <a:off x="1360593" y="595960"/>
            <a:ext cx="835131" cy="469773"/>
          </a:xfrm>
          <a:prstGeom prst="roundRect">
            <a:avLst/>
          </a:prstGeom>
          <a:solidFill>
            <a:srgbClr val="DCECF0">
              <a:alpha val="4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2df4b02b24818b5e561d40fa50247aee"/>
          <p:cNvSpPr/>
          <p:nvPr/>
        </p:nvSpPr>
        <p:spPr>
          <a:xfrm>
            <a:off x="1338648" y="774954"/>
            <a:ext cx="538873" cy="303124"/>
          </a:xfrm>
          <a:prstGeom prst="roundRect">
            <a:avLst/>
          </a:prstGeom>
          <a:solidFill>
            <a:srgbClr val="287A8D">
              <a:alpha val="7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12dbe2b91f89cf4335f6ae961e31e317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81aa2c883588894bd4b1aad51436343a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44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54ed52b6e0f396c9b410a1b3e37e5be2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4f7698fbbd9a7f640e953948b549dbf"/>
          <p:cNvSpPr txBox="1"/>
          <p:nvPr/>
        </p:nvSpPr>
        <p:spPr>
          <a:xfrm>
            <a:off x="6461598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45 / VALUATION ANALYSES</a:t>
            </a:r>
            <a:endParaRPr lang="en-US" sz="1500" dirty="0"/>
          </a:p>
        </p:txBody>
      </p:sp>
      <p:sp>
        <p:nvSpPr>
          <p:cNvPr id="4" name="element_1c76f13baf45037a40b98b35963417ae"/>
          <p:cNvSpPr txBox="1"/>
          <p:nvPr/>
        </p:nvSpPr>
        <p:spPr>
          <a:xfrm>
            <a:off x="7680768" y="1097280"/>
            <a:ext cx="3657509" cy="1680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Selected public companies</a:t>
            </a:r>
            <a:endParaRPr lang="en-US" sz="4200" dirty="0"/>
          </a:p>
        </p:txBody>
      </p:sp>
      <p:sp>
        <p:nvSpPr>
          <p:cNvPr id="5" name="element_643b1b6cad8dbc0711ffcae936e51520"/>
          <p:cNvSpPr txBox="1"/>
          <p:nvPr/>
        </p:nvSpPr>
        <p:spPr>
          <a:xfrm>
            <a:off x="7680768" y="3188970"/>
            <a:ext cx="365750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Selected public companies: Public comps: $16.35-$23.80 per share.</a:t>
            </a:r>
            <a:endParaRPr lang="en-US" sz="1800" dirty="0"/>
          </a:p>
        </p:txBody>
      </p:sp>
      <p:graphicFrame>
        <p:nvGraphicFramePr>
          <p:cNvPr id="6" name="element_3cc1839cc962b1395461bb7819ba2d45" descr=""/>
          <p:cNvGraphicFramePr/>
          <p:nvPr/>
        </p:nvGraphicFramePr>
        <p:xfrm>
          <a:off x="975336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e56f4bda7b491cf9a23af08ede5644bd"/>
          <p:cNvSpPr txBox="1"/>
          <p:nvPr/>
        </p:nvSpPr>
        <p:spPr>
          <a:xfrm>
            <a:off x="7680768" y="4354830"/>
            <a:ext cx="3657509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Public comps: $16.35-$23.80 per share.</a:t>
            </a:r>
            <a:endParaRPr lang="en-US" sz="1400" dirty="0"/>
          </a:p>
        </p:txBody>
      </p:sp>
      <p:sp>
        <p:nvSpPr>
          <p:cNvPr id="8" name="element_b23493491b5459c185695b5bfb930294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DCECF0">
              <a:alpha val="3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fed395f50efc9a304671b8c574c61d33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DCECF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e5966c1b9364776eea4b6a074c557b9e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DCECF0">
              <a:alpha val="2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48faff24f352d4a0a04f47cf62c4e3e6"/>
          <p:cNvSpPr/>
          <p:nvPr/>
        </p:nvSpPr>
        <p:spPr>
          <a:xfrm>
            <a:off x="1198444" y="394335"/>
            <a:ext cx="1355717" cy="762610"/>
          </a:xfrm>
          <a:prstGeom prst="roundRect">
            <a:avLst/>
          </a:prstGeom>
          <a:solidFill>
            <a:srgbClr val="DCECF0">
              <a:alpha val="3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c7acc4de0c805d28ce111f14ffb15e05"/>
          <p:cNvSpPr/>
          <p:nvPr/>
        </p:nvSpPr>
        <p:spPr>
          <a:xfrm>
            <a:off x="1355717" y="594589"/>
            <a:ext cx="841227" cy="473202"/>
          </a:xfrm>
          <a:prstGeom prst="roundRect">
            <a:avLst/>
          </a:prstGeom>
          <a:solidFill>
            <a:srgbClr val="DCECF0">
              <a:alpha val="4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dfda8ff142b12b70e2460dbb57aa988f"/>
          <p:cNvSpPr/>
          <p:nvPr/>
        </p:nvSpPr>
        <p:spPr>
          <a:xfrm>
            <a:off x="1334991" y="774954"/>
            <a:ext cx="542530" cy="305181"/>
          </a:xfrm>
          <a:prstGeom prst="roundRect">
            <a:avLst/>
          </a:prstGeom>
          <a:solidFill>
            <a:srgbClr val="287A8D">
              <a:alpha val="7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85f2efe5d94ca4f12b61014c979c00e2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bff28a8fbe2f2a49b5a3f29aff0989f2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45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811fd4f5639d8749a7e4f4e8b0591d87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d28a85f7b5a0d98ab671e1bcf2c9fd4c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46 / VALUATION ANALYSES</a:t>
            </a:r>
            <a:endParaRPr lang="en-US" sz="1500" dirty="0"/>
          </a:p>
        </p:txBody>
      </p:sp>
      <p:sp>
        <p:nvSpPr>
          <p:cNvPr id="4" name="element_db8adb79e2d252a1aa58adfdcb5ff922"/>
          <p:cNvSpPr txBox="1"/>
          <p:nvPr/>
        </p:nvSpPr>
        <p:spPr>
          <a:xfrm>
            <a:off x="7071183" y="1097280"/>
            <a:ext cx="4145176" cy="1680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Selected precedent transactions</a:t>
            </a:r>
            <a:endParaRPr lang="en-US" sz="4200" dirty="0"/>
          </a:p>
        </p:txBody>
      </p:sp>
      <p:sp>
        <p:nvSpPr>
          <p:cNvPr id="5" name="element_dbbc7ac16672d8c128dd6a20018f8e92"/>
          <p:cNvSpPr txBox="1"/>
          <p:nvPr/>
        </p:nvSpPr>
        <p:spPr>
          <a:xfrm>
            <a:off x="7071183" y="3188970"/>
            <a:ext cx="41451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Selected precedent transactions: Precedents: $17.15-$30.80 per share.</a:t>
            </a:r>
            <a:endParaRPr lang="en-US" sz="1800" dirty="0"/>
          </a:p>
        </p:txBody>
      </p:sp>
      <p:graphicFrame>
        <p:nvGraphicFramePr>
          <p:cNvPr id="6" name="element_7c79d404d4ca26c5cceee2a00d0474a7" descr=""/>
          <p:cNvGraphicFramePr/>
          <p:nvPr/>
        </p:nvGraphicFramePr>
        <p:xfrm>
          <a:off x="731502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815b914dbea99f40fe954ae9077887c4"/>
          <p:cNvSpPr txBox="1"/>
          <p:nvPr/>
        </p:nvSpPr>
        <p:spPr>
          <a:xfrm>
            <a:off x="7071183" y="4354830"/>
            <a:ext cx="4145176" cy="29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Precedents: $17.15-$30.80 per share.</a:t>
            </a:r>
            <a:endParaRPr lang="en-US" sz="1400" dirty="0"/>
          </a:p>
        </p:txBody>
      </p:sp>
      <p:sp>
        <p:nvSpPr>
          <p:cNvPr id="8" name="element_98ddb52623ed73eac3c7fa9cdf2115e0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3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b0ab473b4ea1d4a5ebcdf07acd9fcb79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d6d953955e1f6021700ca03f2c8a8c3d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2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6dfcd28d56a767c517c7b69b0d5fdba8"/>
          <p:cNvSpPr/>
          <p:nvPr/>
        </p:nvSpPr>
        <p:spPr>
          <a:xfrm>
            <a:off x="9633878" y="392278"/>
            <a:ext cx="1365470" cy="768096"/>
          </a:xfrm>
          <a:prstGeom prst="roundRect">
            <a:avLst/>
          </a:prstGeom>
          <a:solidFill>
            <a:srgbClr val="DCECF0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d4a78a222011a50280f5ebd9e48132a9"/>
          <p:cNvSpPr/>
          <p:nvPr/>
        </p:nvSpPr>
        <p:spPr>
          <a:xfrm>
            <a:off x="9992313" y="593903"/>
            <a:ext cx="846104" cy="475945"/>
          </a:xfrm>
          <a:prstGeom prst="roundRect">
            <a:avLst/>
          </a:prstGeom>
          <a:solidFill>
            <a:srgbClr val="DCECF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8c7a38b693646970658bb09dd3de24ad"/>
          <p:cNvSpPr/>
          <p:nvPr/>
        </p:nvSpPr>
        <p:spPr>
          <a:xfrm>
            <a:off x="10314174" y="774954"/>
            <a:ext cx="546188" cy="307238"/>
          </a:xfrm>
          <a:prstGeom prst="roundRect">
            <a:avLst/>
          </a:prstGeom>
          <a:solidFill>
            <a:srgbClr val="287A8D">
              <a:alpha val="7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e7d32592cf7df710c4eb29cdd7d2a01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3e1cb24e99f0094d6e7f888f980119b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46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ffc352d8282678a73f3773456b5f533b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5dd796e1feb32ff0a30cf030fc12bc5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47 / VALUATION ANALYSES</a:t>
            </a:r>
            <a:endParaRPr lang="en-US" sz="1500" dirty="0"/>
          </a:p>
        </p:txBody>
      </p:sp>
      <p:sp>
        <p:nvSpPr>
          <p:cNvPr id="4" name="element_2660a7bd50e821f72ffddfaa923ebaac"/>
          <p:cNvSpPr txBox="1"/>
          <p:nvPr/>
        </p:nvSpPr>
        <p:spPr>
          <a:xfrm>
            <a:off x="853419" y="1097280"/>
            <a:ext cx="365750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Discounted cash flow</a:t>
            </a:r>
            <a:endParaRPr lang="en-US" sz="4200" dirty="0"/>
          </a:p>
        </p:txBody>
      </p:sp>
      <p:sp>
        <p:nvSpPr>
          <p:cNvPr id="5" name="element_7bd46f4fd1b01da506592c369682f4dc"/>
          <p:cNvSpPr txBox="1"/>
          <p:nvPr/>
        </p:nvSpPr>
        <p:spPr>
          <a:xfrm>
            <a:off x="853419" y="2743200"/>
            <a:ext cx="365750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Discounted cash flow: DCF: $17.70-$37.50 per share.</a:t>
            </a:r>
            <a:endParaRPr lang="en-US" sz="1800" dirty="0"/>
          </a:p>
        </p:txBody>
      </p:sp>
      <p:graphicFrame>
        <p:nvGraphicFramePr>
          <p:cNvPr id="6" name="element_6ac0df7103d9c3dcb92bae6f547e3a32" descr=""/>
          <p:cNvGraphicFramePr/>
          <p:nvPr/>
        </p:nvGraphicFramePr>
        <p:xfrm>
          <a:off x="5120512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7d3f1619d852ca8708bdd402bfb82045"/>
          <p:cNvSpPr txBox="1"/>
          <p:nvPr/>
        </p:nvSpPr>
        <p:spPr>
          <a:xfrm>
            <a:off x="853419" y="3909060"/>
            <a:ext cx="3657509" cy="29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DCF: $17.70-$37.50 per share.</a:t>
            </a:r>
            <a:endParaRPr lang="en-US" sz="1400" dirty="0"/>
          </a:p>
        </p:txBody>
      </p:sp>
      <p:sp>
        <p:nvSpPr>
          <p:cNvPr id="8" name="element_322c01de56ffd3b2b373313fa7163f23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0f9d4946121afe0d153467c786b662c7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2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0c09bb585493149a1eaf4f111a0af7e2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2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4ef3f3fa9aa1a227ef2f23b8b372ce97"/>
          <p:cNvSpPr/>
          <p:nvPr/>
        </p:nvSpPr>
        <p:spPr>
          <a:xfrm>
            <a:off x="9630220" y="390220"/>
            <a:ext cx="1374004" cy="772897"/>
          </a:xfrm>
          <a:prstGeom prst="roundRect">
            <a:avLst/>
          </a:prstGeom>
          <a:solidFill>
            <a:srgbClr val="DCECF0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2ff2ba80b2c5de574a7795a15919cdbb"/>
          <p:cNvSpPr/>
          <p:nvPr/>
        </p:nvSpPr>
        <p:spPr>
          <a:xfrm>
            <a:off x="9991094" y="593217"/>
            <a:ext cx="850980" cy="478688"/>
          </a:xfrm>
          <a:prstGeom prst="roundRect">
            <a:avLst/>
          </a:prstGeom>
          <a:solidFill>
            <a:srgbClr val="DCECF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3f982781abded8b3290a3035574b180e"/>
          <p:cNvSpPr/>
          <p:nvPr/>
        </p:nvSpPr>
        <p:spPr>
          <a:xfrm>
            <a:off x="10314174" y="774954"/>
            <a:ext cx="549845" cy="309296"/>
          </a:xfrm>
          <a:prstGeom prst="roundRect">
            <a:avLst/>
          </a:prstGeom>
          <a:solidFill>
            <a:srgbClr val="287A8D">
              <a:alpha val="7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0b23ac79df132786f520bc9fc8ef0b8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bba799120426353219d6cdd8377f4513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47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1e07fd752cc91e176652358bd238750f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805ee1eb5b1ee2a56a123a8f65ea01d6"/>
          <p:cNvSpPr txBox="1"/>
          <p:nvPr/>
        </p:nvSpPr>
        <p:spPr>
          <a:xfrm>
            <a:off x="6461598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48 / VALUATION ANALYSES</a:t>
            </a:r>
            <a:endParaRPr lang="en-US" sz="1500" dirty="0"/>
          </a:p>
        </p:txBody>
      </p:sp>
      <p:sp>
        <p:nvSpPr>
          <p:cNvPr id="4" name="element_15911dd2d2f313284491b3c61eaa25cf"/>
          <p:cNvSpPr txBox="1"/>
          <p:nvPr/>
        </p:nvSpPr>
        <p:spPr>
          <a:xfrm>
            <a:off x="975336" y="1097280"/>
            <a:ext cx="4145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DCF sensitivity</a:t>
            </a:r>
            <a:endParaRPr lang="en-US" sz="4200" dirty="0"/>
          </a:p>
        </p:txBody>
      </p:sp>
      <p:sp>
        <p:nvSpPr>
          <p:cNvPr id="5" name="element_28971d9e31a4073f708461c22920d034"/>
          <p:cNvSpPr txBox="1"/>
          <p:nvPr/>
        </p:nvSpPr>
        <p:spPr>
          <a:xfrm>
            <a:off x="975336" y="2743200"/>
            <a:ext cx="4145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DCF sensitivity: DCF: $17.70-$37.50 per share. The DCF used discount rates of 13.4% to 14.6%.</a:t>
            </a:r>
            <a:endParaRPr lang="en-US" sz="1800" dirty="0"/>
          </a:p>
        </p:txBody>
      </p:sp>
      <p:graphicFrame>
        <p:nvGraphicFramePr>
          <p:cNvPr id="6" name="element_6b655e46301f15a20f295f76c4e0f728" descr=""/>
          <p:cNvGraphicFramePr/>
          <p:nvPr/>
        </p:nvGraphicFramePr>
        <p:xfrm>
          <a:off x="5364346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a4f8e56d2d10af3b909ac86fd52d7056"/>
          <p:cNvSpPr txBox="1"/>
          <p:nvPr/>
        </p:nvSpPr>
        <p:spPr>
          <a:xfrm>
            <a:off x="975336" y="4114800"/>
            <a:ext cx="4145176" cy="29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DCF: $17.70-$37.50 per share.</a:t>
            </a:r>
            <a:endParaRPr lang="en-US" sz="1400" dirty="0"/>
          </a:p>
        </p:txBody>
      </p:sp>
      <p:sp>
        <p:nvSpPr>
          <p:cNvPr id="8" name="element_ffbeff194d3240164efa87d490ae500b"/>
          <p:cNvSpPr txBox="1"/>
          <p:nvPr/>
        </p:nvSpPr>
        <p:spPr>
          <a:xfrm>
            <a:off x="975336" y="4513250"/>
            <a:ext cx="4145176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The DCF used discount rates of 13.4% to 14.6%.</a:t>
            </a:r>
            <a:endParaRPr lang="en-US" sz="1400" dirty="0"/>
          </a:p>
        </p:txBody>
      </p:sp>
      <p:sp>
        <p:nvSpPr>
          <p:cNvPr id="9" name="element_98c93cc406b8b583cd27e09910d1b40c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DCECF0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f77083920a6329103cc5777ca6b7555d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d50c7b2dc6cf135ab18f2ff93032ec13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DCECF0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90d55feffb580265a01350295ffee778"/>
          <p:cNvSpPr/>
          <p:nvPr/>
        </p:nvSpPr>
        <p:spPr>
          <a:xfrm>
            <a:off x="1181375" y="388849"/>
            <a:ext cx="1382538" cy="777697"/>
          </a:xfrm>
          <a:prstGeom prst="roundRect">
            <a:avLst/>
          </a:prstGeom>
          <a:solidFill>
            <a:srgbClr val="DCECF0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6dfd95796b2d4c518de5610b7e6048a4"/>
          <p:cNvSpPr/>
          <p:nvPr/>
        </p:nvSpPr>
        <p:spPr>
          <a:xfrm>
            <a:off x="1345963" y="591845"/>
            <a:ext cx="857076" cy="482117"/>
          </a:xfrm>
          <a:prstGeom prst="roundRect">
            <a:avLst/>
          </a:prstGeom>
          <a:solidFill>
            <a:srgbClr val="DCECF0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12c614f5c234eee160a7f0df95376b60"/>
          <p:cNvSpPr/>
          <p:nvPr/>
        </p:nvSpPr>
        <p:spPr>
          <a:xfrm>
            <a:off x="1325237" y="774954"/>
            <a:ext cx="552284" cy="310667"/>
          </a:xfrm>
          <a:prstGeom prst="roundRect">
            <a:avLst/>
          </a:prstGeom>
          <a:solidFill>
            <a:srgbClr val="287A8D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35f4be687089bdb4552f0500ec647890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2581eafd581ef2139c20a6651dd2d4b8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48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6e6b242a1c8ec7fd10aca8a0a5629f52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f857e49b8dd981205bd81f5bd03a323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49 / VALUATION ANALYSES</a:t>
            </a:r>
            <a:endParaRPr lang="en-US" sz="1500" dirty="0"/>
          </a:p>
        </p:txBody>
      </p:sp>
      <p:sp>
        <p:nvSpPr>
          <p:cNvPr id="4" name="element_8598ca5aeac5b0c2f8c48c59ad26dac8"/>
          <p:cNvSpPr txBox="1"/>
          <p:nvPr/>
        </p:nvSpPr>
        <p:spPr>
          <a:xfrm>
            <a:off x="853419" y="1097280"/>
            <a:ext cx="3657509" cy="1680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52-week trading context</a:t>
            </a:r>
            <a:endParaRPr lang="en-US" sz="4200" dirty="0"/>
          </a:p>
        </p:txBody>
      </p:sp>
      <p:sp>
        <p:nvSpPr>
          <p:cNvPr id="5" name="element_25849548dee3a3be7e66fc1955aaa234"/>
          <p:cNvSpPr txBox="1"/>
          <p:nvPr/>
        </p:nvSpPr>
        <p:spPr>
          <a:xfrm>
            <a:off x="853419" y="3188970"/>
            <a:ext cx="3657509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Evaluate 52-week trading context within Citi's stated scope and limitations. Keep the $28 offer marker constant and do not treat the fairness opinion as a voting recommendation.</a:t>
            </a:r>
            <a:endParaRPr lang="en-US" sz="1400" dirty="0"/>
          </a:p>
        </p:txBody>
      </p:sp>
      <p:graphicFrame>
        <p:nvGraphicFramePr>
          <p:cNvPr id="6" name="element_06ec7b9608a25aa0b4facd8b69cf7748" descr=""/>
          <p:cNvGraphicFramePr/>
          <p:nvPr/>
        </p:nvGraphicFramePr>
        <p:xfrm>
          <a:off x="5120512" y="1097280"/>
          <a:ext cx="6095848" cy="4457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element_200e94e1569157564426d709194c91a9"/>
          <p:cNvSpPr txBox="1"/>
          <p:nvPr/>
        </p:nvSpPr>
        <p:spPr>
          <a:xfrm>
            <a:off x="853419" y="4526280"/>
            <a:ext cx="3657509" cy="50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Valuation method: 52-week trading context</a:t>
            </a:r>
            <a:endParaRPr lang="en-US" sz="1400" dirty="0"/>
          </a:p>
        </p:txBody>
      </p:sp>
      <p:sp>
        <p:nvSpPr>
          <p:cNvPr id="8" name="element_c9033b031c76c3e0fb6fc3c241bab88c"/>
          <p:cNvSpPr txBox="1"/>
          <p:nvPr/>
        </p:nvSpPr>
        <p:spPr>
          <a:xfrm>
            <a:off x="853419" y="5138014"/>
            <a:ext cx="3657509" cy="29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Common reference: $28 cash offer</a:t>
            </a:r>
            <a:endParaRPr lang="en-US" sz="1400" dirty="0"/>
          </a:p>
        </p:txBody>
      </p:sp>
      <p:sp>
        <p:nvSpPr>
          <p:cNvPr id="9" name="element_eb75361097cae41e71fc868fe57682ef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31f70a07cb1ab3063d3f8c3b55b2bf93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ee6f82b8dfe5cb60a55e90088ba8cfa8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c34e7e4d512c081f921ce020fc6c4534"/>
          <p:cNvSpPr/>
          <p:nvPr/>
        </p:nvSpPr>
        <p:spPr>
          <a:xfrm>
            <a:off x="9624124" y="386791"/>
            <a:ext cx="1391072" cy="782498"/>
          </a:xfrm>
          <a:prstGeom prst="roundRect">
            <a:avLst/>
          </a:prstGeom>
          <a:solidFill>
            <a:srgbClr val="DCECF0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14544b8a68062ace982d9c2a7fdcf21a"/>
          <p:cNvSpPr/>
          <p:nvPr/>
        </p:nvSpPr>
        <p:spPr>
          <a:xfrm>
            <a:off x="9987437" y="591160"/>
            <a:ext cx="861953" cy="484861"/>
          </a:xfrm>
          <a:prstGeom prst="roundRect">
            <a:avLst/>
          </a:prstGeom>
          <a:solidFill>
            <a:srgbClr val="DCECF0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7a3a0ff7b76ecaec078f49aaff754498"/>
          <p:cNvSpPr/>
          <p:nvPr/>
        </p:nvSpPr>
        <p:spPr>
          <a:xfrm>
            <a:off x="10314174" y="774954"/>
            <a:ext cx="555941" cy="312725"/>
          </a:xfrm>
          <a:prstGeom prst="roundRect">
            <a:avLst/>
          </a:prstGeom>
          <a:solidFill>
            <a:srgbClr val="287A8D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fda24bcbf8b21def2f5ed02e7587c2e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7d923712f7e8e67efb4c93dbdff94d8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49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00f7f438aed0e9b6724377f84caadc11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4edc56d29b70e1718340e03e8bbc185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50 / VALUATION ANALYSES</a:t>
            </a:r>
            <a:endParaRPr lang="en-US" sz="1500" dirty="0"/>
          </a:p>
        </p:txBody>
      </p:sp>
      <p:sp>
        <p:nvSpPr>
          <p:cNvPr id="4" name="element_b649fefd4a84d8b0feb4c1e95485301c"/>
          <p:cNvSpPr txBox="1"/>
          <p:nvPr/>
        </p:nvSpPr>
        <p:spPr>
          <a:xfrm>
            <a:off x="1706837" y="1097280"/>
            <a:ext cx="87780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Analyst target context</a:t>
            </a:r>
            <a:endParaRPr lang="en-US" sz="2400" dirty="0"/>
          </a:p>
        </p:txBody>
      </p:sp>
      <p:sp>
        <p:nvSpPr>
          <p:cNvPr id="5" name="element_143fd448bd9b87873d8682dc72a19bb1"/>
          <p:cNvSpPr/>
          <p:nvPr/>
        </p:nvSpPr>
        <p:spPr>
          <a:xfrm>
            <a:off x="1463003" y="1680210"/>
            <a:ext cx="9265688" cy="2125980"/>
          </a:xfrm>
          <a:prstGeom prst="roundRect">
            <a:avLst/>
          </a:prstGeom>
          <a:solidFill>
            <a:srgbClr val="DCECF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c27cd8832b273688ef25601cd5000cd8"/>
          <p:cNvSpPr txBox="1"/>
          <p:nvPr/>
        </p:nvSpPr>
        <p:spPr>
          <a:xfrm>
            <a:off x="2438339" y="1920240"/>
            <a:ext cx="7315017" cy="150876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5554E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26.6</a:t>
            </a:r>
            <a:endParaRPr lang="en-US" sz="4600" dirty="0"/>
          </a:p>
        </p:txBody>
      </p:sp>
      <p:sp>
        <p:nvSpPr>
          <p:cNvPr id="7" name="element_933578a729f2a7da25c1384c388faea5"/>
          <p:cNvSpPr txBox="1"/>
          <p:nvPr/>
        </p:nvSpPr>
        <p:spPr>
          <a:xfrm>
            <a:off x="1706837" y="3566160"/>
            <a:ext cx="87780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USD millions</a:t>
            </a:r>
            <a:endParaRPr lang="en-US" sz="1600" dirty="0"/>
          </a:p>
        </p:txBody>
      </p:sp>
      <p:sp>
        <p:nvSpPr>
          <p:cNvPr id="8" name="element_0cad8d0860efe32568319191f2d19140"/>
          <p:cNvSpPr txBox="1"/>
          <p:nvPr/>
        </p:nvSpPr>
        <p:spPr>
          <a:xfrm>
            <a:off x="853419" y="4389120"/>
            <a:ext cx="963143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Analyst target context: Citi fee: $26.6M of roughly $30.6M depended on closing. Citi assessed fairness; it did not recommend a stockholder vote.</a:t>
            </a:r>
            <a:endParaRPr lang="en-US" sz="1800" dirty="0"/>
          </a:p>
        </p:txBody>
      </p:sp>
      <p:sp>
        <p:nvSpPr>
          <p:cNvPr id="9" name="element_cfd1c1d578b1135ec4480067e77d1e6c"/>
          <p:cNvSpPr txBox="1"/>
          <p:nvPr/>
        </p:nvSpPr>
        <p:spPr>
          <a:xfrm>
            <a:off x="853419" y="5692140"/>
            <a:ext cx="9631439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Citi fee: $26.6M of roughly $30.6M depended on closing.</a:t>
            </a:r>
            <a:endParaRPr lang="en-US" sz="1400" dirty="0"/>
          </a:p>
        </p:txBody>
      </p:sp>
      <p:sp>
        <p:nvSpPr>
          <p:cNvPr id="10" name="element_374a16e91a5654a59f428c9d9e63f182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3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cda449cfaf6d85342fa166cc81bee111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66d304a75e50fa77cc073b6fcdcc34c4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2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8607d5d2b989ca63caa35d2ca3387afa"/>
          <p:cNvSpPr/>
          <p:nvPr/>
        </p:nvSpPr>
        <p:spPr>
          <a:xfrm>
            <a:off x="9620467" y="384734"/>
            <a:ext cx="1398387" cy="786613"/>
          </a:xfrm>
          <a:prstGeom prst="roundRect">
            <a:avLst/>
          </a:prstGeom>
          <a:solidFill>
            <a:srgbClr val="DCECF0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0922c8d1774c39efd80be225c40b6436"/>
          <p:cNvSpPr/>
          <p:nvPr/>
        </p:nvSpPr>
        <p:spPr>
          <a:xfrm>
            <a:off x="9986218" y="590474"/>
            <a:ext cx="866830" cy="487604"/>
          </a:xfrm>
          <a:prstGeom prst="roundRect">
            <a:avLst/>
          </a:prstGeom>
          <a:solidFill>
            <a:srgbClr val="DCECF0">
              <a:alpha val="5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1f595dd62127fb38a8ee26de40d8e6d3"/>
          <p:cNvSpPr/>
          <p:nvPr/>
        </p:nvSpPr>
        <p:spPr>
          <a:xfrm>
            <a:off x="10314174" y="774954"/>
            <a:ext cx="559599" cy="314782"/>
          </a:xfrm>
          <a:prstGeom prst="roundRect">
            <a:avLst/>
          </a:prstGeom>
          <a:solidFill>
            <a:srgbClr val="287A8D">
              <a:alpha val="7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f271ecd097f5b990d52215e11236cabe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7" name="element_981b921a81a3b98a2b7ade2c93419de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50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ebed7509ab6bacea3e08a2cf420d99ba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276450cf9c0172981516f9959007b5b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51 / VALUATION ANALYSES</a:t>
            </a:r>
            <a:endParaRPr lang="en-US" sz="1500" dirty="0"/>
          </a:p>
        </p:txBody>
      </p:sp>
      <p:sp>
        <p:nvSpPr>
          <p:cNvPr id="4" name="element_b89b589ac94df835779811974f858552"/>
          <p:cNvSpPr txBox="1"/>
          <p:nvPr/>
        </p:nvSpPr>
        <p:spPr>
          <a:xfrm>
            <a:off x="853419" y="1028700"/>
            <a:ext cx="96314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Fairness-opinion conflicts</a:t>
            </a:r>
            <a:endParaRPr lang="en-US" sz="3600" dirty="0"/>
          </a:p>
        </p:txBody>
      </p:sp>
      <p:sp>
        <p:nvSpPr>
          <p:cNvPr id="5" name="element_a631840998ef475208ef888f0911f71a"/>
          <p:cNvSpPr/>
          <p:nvPr/>
        </p:nvSpPr>
        <p:spPr>
          <a:xfrm>
            <a:off x="853419" y="2125980"/>
            <a:ext cx="5090033" cy="219456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6" name="element_06a17fa0100f0f1b4554b57fb9e3fb66"/>
          <p:cNvSpPr txBox="1"/>
          <p:nvPr/>
        </p:nvSpPr>
        <p:spPr>
          <a:xfrm>
            <a:off x="1097253" y="2263140"/>
            <a:ext cx="460236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Citi: forecasts unverified; assumptions not opined.</a:t>
            </a:r>
            <a:endParaRPr lang="en-US" sz="1600" dirty="0"/>
          </a:p>
        </p:txBody>
      </p:sp>
      <p:sp>
        <p:nvSpPr>
          <p:cNvPr id="7" name="element_91c04013f3d85e5f7860b1bc8d772492"/>
          <p:cNvSpPr/>
          <p:nvPr/>
        </p:nvSpPr>
        <p:spPr>
          <a:xfrm>
            <a:off x="6248244" y="2125980"/>
            <a:ext cx="5090033" cy="219456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5accae2bb825a9ddeea2c10366266c96"/>
          <p:cNvSpPr txBox="1"/>
          <p:nvPr/>
        </p:nvSpPr>
        <p:spPr>
          <a:xfrm>
            <a:off x="6492078" y="2263140"/>
            <a:ext cx="460236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Citi assessed fairness; it did not recommend a stockholder vote.</a:t>
            </a:r>
            <a:endParaRPr lang="en-US" sz="1600" dirty="0"/>
          </a:p>
        </p:txBody>
      </p:sp>
      <p:sp>
        <p:nvSpPr>
          <p:cNvPr id="9" name="element_b11281a2792987caddf97d6b0fecb675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3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4ecea316f473bceee6bf2f7b26a58602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51247877de0348b51f0aadf0864cd4ac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2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d2894b850338b953d43fa37e4ab0fe2a"/>
          <p:cNvSpPr/>
          <p:nvPr/>
        </p:nvSpPr>
        <p:spPr>
          <a:xfrm>
            <a:off x="9616809" y="382676"/>
            <a:ext cx="1406922" cy="791413"/>
          </a:xfrm>
          <a:prstGeom prst="roundRect">
            <a:avLst/>
          </a:prstGeom>
          <a:solidFill>
            <a:srgbClr val="DCEC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2c5b41b4d035f41f05ad4bb7538c4a5e"/>
          <p:cNvSpPr/>
          <p:nvPr/>
        </p:nvSpPr>
        <p:spPr>
          <a:xfrm>
            <a:off x="9983779" y="589102"/>
            <a:ext cx="871706" cy="490347"/>
          </a:xfrm>
          <a:prstGeom prst="roundRect">
            <a:avLst/>
          </a:prstGeom>
          <a:solidFill>
            <a:srgbClr val="DCECF0">
              <a:alpha val="5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05baded33ed6499fe2209f9cc44391e7"/>
          <p:cNvSpPr/>
          <p:nvPr/>
        </p:nvSpPr>
        <p:spPr>
          <a:xfrm>
            <a:off x="10314174" y="774954"/>
            <a:ext cx="563256" cy="316840"/>
          </a:xfrm>
          <a:prstGeom prst="roundRect">
            <a:avLst/>
          </a:prstGeom>
          <a:solidFill>
            <a:srgbClr val="287A8D">
              <a:alpha val="7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7a95ad15515bc555657c72cc9bb2e32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194e5942ce0e6b7120d0dd74c5d75a3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51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979a221154f8613978316ade774892ce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4ebbd94e2351be535f1c933ed4ce5ee"/>
          <p:cNvSpPr txBox="1"/>
          <p:nvPr/>
        </p:nvSpPr>
        <p:spPr>
          <a:xfrm>
            <a:off x="7680768" y="54864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0" b="1" spc="-300" kern="0" dirty="0">
                <a:solidFill>
                  <a:srgbClr val="287A8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52</a:t>
            </a:r>
            <a:endParaRPr lang="en-US" sz="10000" dirty="0"/>
          </a:p>
        </p:txBody>
      </p:sp>
      <p:sp>
        <p:nvSpPr>
          <p:cNvPr id="4" name="element_8aae15a6145aab7af7a88d8bf77a453a"/>
          <p:cNvSpPr txBox="1"/>
          <p:nvPr/>
        </p:nvSpPr>
        <p:spPr>
          <a:xfrm>
            <a:off x="1584920" y="2057400"/>
            <a:ext cx="97533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15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52 / SOURCES, USES, FINANCING, AND CAPITAL STRUCTURE</a:t>
            </a:r>
            <a:endParaRPr lang="en-US" sz="1400" dirty="0"/>
          </a:p>
        </p:txBody>
      </p:sp>
      <p:sp>
        <p:nvSpPr>
          <p:cNvPr id="5" name="element_0e48e74d2c9796f860c8ca09db3c3db1"/>
          <p:cNvSpPr txBox="1"/>
          <p:nvPr/>
        </p:nvSpPr>
        <p:spPr>
          <a:xfrm>
            <a:off x="2560256" y="4114800"/>
            <a:ext cx="87780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Funding structure</a:t>
            </a:r>
            <a:endParaRPr lang="en-US" sz="4000" dirty="0"/>
          </a:p>
        </p:txBody>
      </p:sp>
      <p:sp>
        <p:nvSpPr>
          <p:cNvPr id="6" name="element_e9b08ac26a7e230cbea7c2a4ea9099c2"/>
          <p:cNvSpPr/>
          <p:nvPr/>
        </p:nvSpPr>
        <p:spPr>
          <a:xfrm>
            <a:off x="10606775" y="3977640"/>
            <a:ext cx="731502" cy="6858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b459f842715136323debd9d59bcffcb8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DCECF0">
              <a:alpha val="3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5ed99dc27472f5925edd1ae596045550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DCECF0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936fc1e7a79888b3e46f4618aa6f480e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DCEC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1eeb9c2434ca451c5f6e6d3bfa463fc4"/>
          <p:cNvSpPr/>
          <p:nvPr/>
        </p:nvSpPr>
        <p:spPr>
          <a:xfrm>
            <a:off x="1161869" y="381305"/>
            <a:ext cx="1415456" cy="796214"/>
          </a:xfrm>
          <a:prstGeom prst="roundRect">
            <a:avLst/>
          </a:prstGeom>
          <a:solidFill>
            <a:srgbClr val="DCECF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f75b20e5c1d130faa0b473cb39bca920"/>
          <p:cNvSpPr/>
          <p:nvPr/>
        </p:nvSpPr>
        <p:spPr>
          <a:xfrm>
            <a:off x="1331333" y="588416"/>
            <a:ext cx="877802" cy="493776"/>
          </a:xfrm>
          <a:prstGeom prst="roundRect">
            <a:avLst/>
          </a:prstGeom>
          <a:solidFill>
            <a:srgbClr val="DCECF0">
              <a:alpha val="5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4bb0efc3d60509caa8ba5705118f8e10"/>
          <p:cNvSpPr/>
          <p:nvPr/>
        </p:nvSpPr>
        <p:spPr>
          <a:xfrm>
            <a:off x="1311826" y="774954"/>
            <a:ext cx="565695" cy="318211"/>
          </a:xfrm>
          <a:prstGeom prst="roundRect">
            <a:avLst/>
          </a:prstGeom>
          <a:solidFill>
            <a:srgbClr val="287A8D">
              <a:alpha val="7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6bf8e1abb614fcc703887cb1ae6431b1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9ae5198c4bb189c4f9fea5981fe4e6d1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52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55c4fffad50b08bc8ab8a799828f9019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4b5ec13438f9821b2a8b8d92148e1e0"/>
          <p:cNvSpPr txBox="1"/>
          <p:nvPr/>
        </p:nvSpPr>
        <p:spPr>
          <a:xfrm>
            <a:off x="853419" y="41148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53 / SOURCES, USES, FINANCING, AND CAPITAL STRUCTURE</a:t>
            </a:r>
            <a:endParaRPr lang="en-US" sz="1500" dirty="0"/>
          </a:p>
        </p:txBody>
      </p:sp>
      <p:sp>
        <p:nvSpPr>
          <p:cNvPr id="4" name="element_9373d5765576bc6d23b1beadf6094aa9"/>
          <p:cNvSpPr txBox="1"/>
          <p:nvPr/>
        </p:nvSpPr>
        <p:spPr>
          <a:xfrm>
            <a:off x="853419" y="960120"/>
            <a:ext cx="9997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Sources and uses</a:t>
            </a:r>
            <a:endParaRPr lang="en-US" sz="3200" dirty="0"/>
          </a:p>
        </p:txBody>
      </p:sp>
      <p:sp>
        <p:nvSpPr>
          <p:cNvPr id="5" name="element_bfeb1d120c68c51be6409e7dfb66e13c"/>
          <p:cNvSpPr/>
          <p:nvPr/>
        </p:nvSpPr>
        <p:spPr>
          <a:xfrm>
            <a:off x="5435058" y="2392070"/>
            <a:ext cx="1320361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6" name="element_a2ff3ead8ba3967732a0fc1339abd778"/>
          <p:cNvSpPr/>
          <p:nvPr/>
        </p:nvSpPr>
        <p:spPr>
          <a:xfrm>
            <a:off x="5435058" y="3135478"/>
            <a:ext cx="1320361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7" name="element_24e970a5a895fe6ec9389afe72e0ff75"/>
          <p:cNvSpPr/>
          <p:nvPr/>
        </p:nvSpPr>
        <p:spPr>
          <a:xfrm>
            <a:off x="853419" y="1851660"/>
            <a:ext cx="10484858" cy="502691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24e970a5a895fe6ec9389afe72e0ff75:text"/>
          <p:cNvSpPr txBox="1"/>
          <p:nvPr/>
        </p:nvSpPr>
        <p:spPr>
          <a:xfrm>
            <a:off x="853419" y="1851660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Sources and uses</a:t>
            </a:r>
            <a:endParaRPr lang="en-US" sz="1200" dirty="0"/>
          </a:p>
        </p:txBody>
      </p:sp>
      <p:sp>
        <p:nvSpPr>
          <p:cNvPr id="9" name="element_3f904182c8029e923d8140bd32da72b8"/>
          <p:cNvSpPr/>
          <p:nvPr/>
        </p:nvSpPr>
        <p:spPr>
          <a:xfrm>
            <a:off x="853419" y="2594381"/>
            <a:ext cx="10484858" cy="502691"/>
          </a:xfrm>
          <a:prstGeom prst="roundRect">
            <a:avLst/>
          </a:prstGeom>
          <a:solidFill>
            <a:srgbClr val="DDEDE8"/>
          </a:solidFill>
          <a:ln w="25400">
            <a:solidFill>
              <a:srgbClr val="287A8D"/>
            </a:solidFill>
            <a:prstDash val="solid"/>
          </a:ln>
        </p:spPr>
      </p:sp>
      <p:sp>
        <p:nvSpPr>
          <p:cNvPr id="10" name="element_3f904182c8029e923d8140bd32da72b8:text"/>
          <p:cNvSpPr txBox="1"/>
          <p:nvPr/>
        </p:nvSpPr>
        <p:spPr>
          <a:xfrm>
            <a:off x="853419" y="2594381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gate: Sources and uses</a:t>
            </a:r>
            <a:endParaRPr lang="en-US" sz="1200" dirty="0"/>
          </a:p>
        </p:txBody>
      </p:sp>
      <p:sp>
        <p:nvSpPr>
          <p:cNvPr id="11" name="element_96a8acc0e79de6a01b3f6cde4e58e7d2"/>
          <p:cNvSpPr/>
          <p:nvPr/>
        </p:nvSpPr>
        <p:spPr>
          <a:xfrm>
            <a:off x="853419" y="3337789"/>
            <a:ext cx="10484858" cy="502691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2" name="element_96a8acc0e79de6a01b3f6cde4e58e7d2:text"/>
          <p:cNvSpPr txBox="1"/>
          <p:nvPr/>
        </p:nvSpPr>
        <p:spPr>
          <a:xfrm>
            <a:off x="853419" y="3337789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on sources and uses</a:t>
            </a:r>
            <a:endParaRPr lang="en-US" sz="1200" dirty="0"/>
          </a:p>
        </p:txBody>
      </p:sp>
      <p:sp>
        <p:nvSpPr>
          <p:cNvPr id="13" name="element_5e2e877e868840dbf15ec62fc57ca9ca"/>
          <p:cNvSpPr txBox="1"/>
          <p:nvPr/>
        </p:nvSpPr>
        <p:spPr>
          <a:xfrm>
            <a:off x="853419" y="4046220"/>
            <a:ext cx="963143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Sources and uses: Alcon represented that available funds cover the merger consideration, fees, and expenses.</a:t>
            </a:r>
            <a:endParaRPr lang="en-US" sz="1600" dirty="0"/>
          </a:p>
        </p:txBody>
      </p:sp>
      <p:sp>
        <p:nvSpPr>
          <p:cNvPr id="14" name="element_6b1da18fe91e263eab3441837e7d3ba1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3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823d817dbedfaab9c5b23c5183be71ec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61724471344407e39a07f0e08ab6653a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1341e52caa46c8b67eb39157b92b18f7"/>
          <p:cNvSpPr/>
          <p:nvPr/>
        </p:nvSpPr>
        <p:spPr>
          <a:xfrm>
            <a:off x="9610713" y="379247"/>
            <a:ext cx="1423990" cy="801014"/>
          </a:xfrm>
          <a:prstGeom prst="roundRect">
            <a:avLst/>
          </a:prstGeom>
          <a:solidFill>
            <a:srgbClr val="DCECF0">
              <a:alpha val="4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6a46006862206a08f8b9a275608aab6a"/>
          <p:cNvSpPr/>
          <p:nvPr/>
        </p:nvSpPr>
        <p:spPr>
          <a:xfrm>
            <a:off x="9980122" y="587045"/>
            <a:ext cx="882679" cy="496519"/>
          </a:xfrm>
          <a:prstGeom prst="roundRect">
            <a:avLst/>
          </a:prstGeom>
          <a:solidFill>
            <a:srgbClr val="DCECF0">
              <a:alpha val="5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2b14e7a81d517b63b3d9d503ac883092"/>
          <p:cNvSpPr/>
          <p:nvPr/>
        </p:nvSpPr>
        <p:spPr>
          <a:xfrm>
            <a:off x="10314174" y="774954"/>
            <a:ext cx="569352" cy="320269"/>
          </a:xfrm>
          <a:prstGeom prst="roundRect">
            <a:avLst/>
          </a:prstGeom>
          <a:solidFill>
            <a:srgbClr val="287A8D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f71e33c83972815b1bc8e4ff577431f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7f6034c5b8c52735be20e2321380ae75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53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a765459a92105e0ea7350fd03663ac2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f879ea84d3a9958eb6abd1305e82994"/>
          <p:cNvSpPr txBox="1"/>
          <p:nvPr/>
        </p:nvSpPr>
        <p:spPr>
          <a:xfrm>
            <a:off x="1706837" y="514350"/>
            <a:ext cx="877802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54 / SOURCES, USES, FINANCING, AND CAPITAL STRUCTURE</a:t>
            </a:r>
            <a:endParaRPr lang="en-US" sz="1500" dirty="0"/>
          </a:p>
        </p:txBody>
      </p:sp>
      <p:sp>
        <p:nvSpPr>
          <p:cNvPr id="4" name="element_0a5ba4dcf437e993958d6feecd13b662"/>
          <p:cNvSpPr txBox="1"/>
          <p:nvPr/>
        </p:nvSpPr>
        <p:spPr>
          <a:xfrm>
            <a:off x="975336" y="1028700"/>
            <a:ext cx="5120512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Cash consideration flow</a:t>
            </a:r>
            <a:endParaRPr lang="en-US" sz="3200" dirty="0"/>
          </a:p>
        </p:txBody>
      </p:sp>
      <p:sp>
        <p:nvSpPr>
          <p:cNvPr id="5" name="element_95c9b01178b7314832b15636eb90cc2c"/>
          <p:cNvSpPr/>
          <p:nvPr/>
        </p:nvSpPr>
        <p:spPr>
          <a:xfrm>
            <a:off x="2926007" y="3291840"/>
            <a:ext cx="243834" cy="342900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6" name="element_1694f6cf3def6668164c40c7953a9292"/>
          <p:cNvSpPr/>
          <p:nvPr/>
        </p:nvSpPr>
        <p:spPr>
          <a:xfrm>
            <a:off x="2926007" y="4320540"/>
            <a:ext cx="243834" cy="342900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7" name="element_f714646ba1970e1047746f6e2c032959"/>
          <p:cNvSpPr/>
          <p:nvPr/>
        </p:nvSpPr>
        <p:spPr>
          <a:xfrm>
            <a:off x="975336" y="2606040"/>
            <a:ext cx="4145176" cy="685800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f714646ba1970e1047746f6e2c032959:text"/>
          <p:cNvSpPr txBox="1"/>
          <p:nvPr/>
        </p:nvSpPr>
        <p:spPr>
          <a:xfrm>
            <a:off x="975336" y="26060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Cash consideration flow</a:t>
            </a:r>
            <a:endParaRPr lang="en-US" sz="1200" dirty="0"/>
          </a:p>
        </p:txBody>
      </p:sp>
      <p:sp>
        <p:nvSpPr>
          <p:cNvPr id="9" name="element_742ea8ac55940648c7cde5b0b7e1f3af"/>
          <p:cNvSpPr/>
          <p:nvPr/>
        </p:nvSpPr>
        <p:spPr>
          <a:xfrm>
            <a:off x="975336" y="3634740"/>
            <a:ext cx="4145176" cy="685800"/>
          </a:xfrm>
          <a:prstGeom prst="roundRect">
            <a:avLst/>
          </a:prstGeom>
          <a:solidFill>
            <a:srgbClr val="DDEDE8"/>
          </a:solidFill>
          <a:ln w="25400">
            <a:solidFill>
              <a:srgbClr val="287A8D"/>
            </a:solidFill>
            <a:prstDash val="solid"/>
          </a:ln>
        </p:spPr>
      </p:sp>
      <p:sp>
        <p:nvSpPr>
          <p:cNvPr id="10" name="element_742ea8ac55940648c7cde5b0b7e1f3af:text"/>
          <p:cNvSpPr txBox="1"/>
          <p:nvPr/>
        </p:nvSpPr>
        <p:spPr>
          <a:xfrm>
            <a:off x="975336" y="36347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gate: Cash consideration flow</a:t>
            </a:r>
            <a:endParaRPr lang="en-US" sz="1200" dirty="0"/>
          </a:p>
        </p:txBody>
      </p:sp>
      <p:sp>
        <p:nvSpPr>
          <p:cNvPr id="11" name="element_b859c5a963246e5f4096640ea8c6015a"/>
          <p:cNvSpPr/>
          <p:nvPr/>
        </p:nvSpPr>
        <p:spPr>
          <a:xfrm>
            <a:off x="975336" y="4663440"/>
            <a:ext cx="4145176" cy="68580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2" name="element_b859c5a963246e5f4096640ea8c6015a:text"/>
          <p:cNvSpPr txBox="1"/>
          <p:nvPr/>
        </p:nvSpPr>
        <p:spPr>
          <a:xfrm>
            <a:off x="975336" y="46634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on cash consideration flow</a:t>
            </a:r>
            <a:endParaRPr lang="en-US" sz="1200" dirty="0"/>
          </a:p>
        </p:txBody>
      </p:sp>
      <p:sp>
        <p:nvSpPr>
          <p:cNvPr id="13" name="element_bcbb382079b2846178518dc7c4e49e77"/>
          <p:cNvSpPr txBox="1"/>
          <p:nvPr/>
        </p:nvSpPr>
        <p:spPr>
          <a:xfrm>
            <a:off x="6339682" y="2743200"/>
            <a:ext cx="46328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proxy records Alcon's sufficiency-of-funds representation for cash consideration flow; it does not disclose a new financing commitment or justify invented leverage assumptions.</a:t>
            </a:r>
            <a:endParaRPr lang="en-US" sz="1600" dirty="0"/>
          </a:p>
        </p:txBody>
      </p:sp>
      <p:sp>
        <p:nvSpPr>
          <p:cNvPr id="14" name="element_d790d39e41587633ed9155f1dcca46ad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5b246ac422042b1d8d13916edd90108b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b169ad9ccae150210e818cf43bb29808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1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f01228d6d3ac9e11ef74afcceb01f534"/>
          <p:cNvSpPr/>
          <p:nvPr/>
        </p:nvSpPr>
        <p:spPr>
          <a:xfrm>
            <a:off x="9607056" y="377190"/>
            <a:ext cx="1432524" cy="805815"/>
          </a:xfrm>
          <a:prstGeom prst="roundRect">
            <a:avLst/>
          </a:prstGeom>
          <a:solidFill>
            <a:srgbClr val="DCECF0">
              <a:alpha val="4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105616562a94805d215e7054f9ddc991"/>
          <p:cNvSpPr/>
          <p:nvPr/>
        </p:nvSpPr>
        <p:spPr>
          <a:xfrm>
            <a:off x="9978903" y="586359"/>
            <a:ext cx="888775" cy="499948"/>
          </a:xfrm>
          <a:prstGeom prst="roundRect">
            <a:avLst/>
          </a:prstGeom>
          <a:solidFill>
            <a:srgbClr val="DCECF0">
              <a:alpha val="5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4439ad804d1cf24ccd5dc70a7198e0f7"/>
          <p:cNvSpPr/>
          <p:nvPr/>
        </p:nvSpPr>
        <p:spPr>
          <a:xfrm>
            <a:off x="10314174" y="774954"/>
            <a:ext cx="573010" cy="322326"/>
          </a:xfrm>
          <a:prstGeom prst="roundRect">
            <a:avLst/>
          </a:prstGeom>
          <a:solidFill>
            <a:srgbClr val="287A8D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e081990d62b4fc7066e50d726ff96dbc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7b9d72736df9a38849965e20c0622a1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54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2556a18248ffb170b1036e513abe367b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9d005226ee96e798040c99218580949"/>
          <p:cNvSpPr/>
          <p:nvPr/>
        </p:nvSpPr>
        <p:spPr>
          <a:xfrm>
            <a:off x="5608180" y="1234440"/>
            <a:ext cx="5852014" cy="4114800"/>
          </a:xfrm>
          <a:prstGeom prst="roundRect">
            <a:avLst/>
          </a:prstGeom>
          <a:solidFill>
            <a:srgbClr val="DCECF0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589e2a300539c6acb44099a4ff0cc8a3"/>
          <p:cNvSpPr/>
          <p:nvPr/>
        </p:nvSpPr>
        <p:spPr>
          <a:xfrm>
            <a:off x="6131204" y="2125980"/>
            <a:ext cx="327957" cy="514350"/>
          </a:xfrm>
          <a:prstGeom prst="roundRect">
            <a:avLst/>
          </a:prstGeom>
          <a:solidFill>
            <a:srgbClr val="DCECF0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b79221d1ce5277e3fa8badb97f019795"/>
          <p:cNvSpPr/>
          <p:nvPr/>
        </p:nvSpPr>
        <p:spPr>
          <a:xfrm>
            <a:off x="7113854" y="3703320"/>
            <a:ext cx="240176" cy="377190"/>
          </a:xfrm>
          <a:prstGeom prst="roundRect">
            <a:avLst/>
          </a:prstGeom>
          <a:solidFill>
            <a:srgbClr val="DCECF0">
              <a:alpha val="2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9d2e828a232aeb1c48ee208c13760cef"/>
          <p:cNvSpPr/>
          <p:nvPr/>
        </p:nvSpPr>
        <p:spPr>
          <a:xfrm>
            <a:off x="7879493" y="2297430"/>
            <a:ext cx="196286" cy="308610"/>
          </a:xfrm>
          <a:prstGeom prst="roundRect">
            <a:avLst/>
          </a:prstGeom>
          <a:solidFill>
            <a:srgbClr val="DCECF0">
              <a:alpha val="1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f374ddedf7d5ce87408676c54f84131e"/>
          <p:cNvSpPr/>
          <p:nvPr/>
        </p:nvSpPr>
        <p:spPr>
          <a:xfrm>
            <a:off x="8265969" y="1738503"/>
            <a:ext cx="2582201" cy="4053078"/>
          </a:xfrm>
          <a:prstGeom prst="roundRect">
            <a:avLst/>
          </a:prstGeom>
          <a:solidFill>
            <a:srgbClr val="DCECF0">
              <a:alpha val="4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edc2e3b9404ed1e78479c92d19e5b36a"/>
          <p:cNvSpPr/>
          <p:nvPr/>
        </p:nvSpPr>
        <p:spPr>
          <a:xfrm>
            <a:off x="8936513" y="2791206"/>
            <a:ext cx="1600770" cy="2513457"/>
          </a:xfrm>
          <a:prstGeom prst="roundRect">
            <a:avLst/>
          </a:prstGeom>
          <a:solidFill>
            <a:srgbClr val="DCECF0">
              <a:alpha val="5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4a9fa33177b48385f507e9878933d2d0"/>
          <p:cNvSpPr/>
          <p:nvPr/>
        </p:nvSpPr>
        <p:spPr>
          <a:xfrm>
            <a:off x="9538782" y="3737610"/>
            <a:ext cx="1032637" cy="1621917"/>
          </a:xfrm>
          <a:prstGeom prst="roundRect">
            <a:avLst/>
          </a:prstGeom>
          <a:solidFill>
            <a:srgbClr val="287A8D">
              <a:alpha val="8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bfbf5ac82b0e0f42e5020e302ad9ed6f"/>
          <p:cNvSpPr txBox="1"/>
          <p:nvPr/>
        </p:nvSpPr>
        <p:spPr>
          <a:xfrm>
            <a:off x="731502" y="445770"/>
            <a:ext cx="365750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55 / SOURCES, USES, FINANCING, AND CAPITAL STRUCTURE</a:t>
            </a:r>
            <a:endParaRPr lang="en-US" sz="1500" dirty="0"/>
          </a:p>
        </p:txBody>
      </p:sp>
      <p:sp>
        <p:nvSpPr>
          <p:cNvPr id="11" name="element_8da9344f8405ee4201be972f0d6d9974"/>
          <p:cNvSpPr txBox="1"/>
          <p:nvPr/>
        </p:nvSpPr>
        <p:spPr>
          <a:xfrm>
            <a:off x="731502" y="1234440"/>
            <a:ext cx="4145176" cy="1255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5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Pro forma capitalization</a:t>
            </a:r>
            <a:endParaRPr lang="en-US" sz="3800" dirty="0"/>
          </a:p>
        </p:txBody>
      </p:sp>
      <p:sp>
        <p:nvSpPr>
          <p:cNvPr id="12" name="element_85653960bb967d78ce9d25302c5636e3"/>
          <p:cNvSpPr txBox="1"/>
          <p:nvPr/>
        </p:nvSpPr>
        <p:spPr>
          <a:xfrm>
            <a:off x="731502" y="2729484"/>
            <a:ext cx="4145176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proxy records Alcon's sufficiency-of-funds representation for pro forma capitalization; it does not disclose a new financing commitment or justify invented leverage assumptions.</a:t>
            </a:r>
            <a:endParaRPr lang="en-US" sz="1600" dirty="0"/>
          </a:p>
        </p:txBody>
      </p:sp>
      <p:sp>
        <p:nvSpPr>
          <p:cNvPr id="13" name="element_2d7c487f6e6ee8c9133dcf6d5cb5c721"/>
          <p:cNvSpPr txBox="1"/>
          <p:nvPr/>
        </p:nvSpPr>
        <p:spPr>
          <a:xfrm>
            <a:off x="731502" y="5280660"/>
            <a:ext cx="4145176" cy="82296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Funding evidence: Pro forma capitalization</a:t>
            </a:r>
            <a:endParaRPr lang="en-US" sz="1600" dirty="0"/>
          </a:p>
        </p:txBody>
      </p:sp>
      <p:sp>
        <p:nvSpPr>
          <p:cNvPr id="14" name="element_23af2b6784a9ab99d05c6b5296feef3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7f5d0be9efeba446dd95bc5f9af1a59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55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a813a1da3aa8f5d25cadcde420745151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757ba7b0f03286c52c9004ea31e238c"/>
          <p:cNvSpPr txBox="1"/>
          <p:nvPr/>
        </p:nvSpPr>
        <p:spPr>
          <a:xfrm>
            <a:off x="6461598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56 / SOURCES, USES, FINANCING, AND CAPITAL STRUCTURE</a:t>
            </a:r>
            <a:endParaRPr lang="en-US" sz="1500" dirty="0"/>
          </a:p>
        </p:txBody>
      </p:sp>
      <p:sp>
        <p:nvSpPr>
          <p:cNvPr id="4" name="element_fd198d315f066fecb4f9cb7c631385bd"/>
          <p:cNvSpPr txBox="1"/>
          <p:nvPr/>
        </p:nvSpPr>
        <p:spPr>
          <a:xfrm>
            <a:off x="853419" y="1097280"/>
            <a:ext cx="1048485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Financing and capital-structure conclusion</a:t>
            </a:r>
            <a:endParaRPr lang="en-US" sz="4200" dirty="0"/>
          </a:p>
        </p:txBody>
      </p:sp>
      <p:sp>
        <p:nvSpPr>
          <p:cNvPr id="5" name="element_0b934604c7a1672de9bebc37cfdfa38f"/>
          <p:cNvSpPr txBox="1"/>
          <p:nvPr/>
        </p:nvSpPr>
        <p:spPr>
          <a:xfrm>
            <a:off x="1706837" y="2743200"/>
            <a:ext cx="963143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proxy records Alcon's sufficiency-of-funds representation for financing and capital-structure conclusion; it does not disclose a new financing commitment or justify invented leverage assumptions.</a:t>
            </a:r>
            <a:endParaRPr lang="en-US" sz="1800" dirty="0"/>
          </a:p>
        </p:txBody>
      </p:sp>
      <p:sp>
        <p:nvSpPr>
          <p:cNvPr id="6" name="element_4a628375db4620f2f8b2388ea11391ad"/>
          <p:cNvSpPr txBox="1"/>
          <p:nvPr/>
        </p:nvSpPr>
        <p:spPr>
          <a:xfrm>
            <a:off x="975336" y="3909060"/>
            <a:ext cx="4023259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Funding evidence: Financing and capital-structure conclusion</a:t>
            </a:r>
            <a:endParaRPr lang="en-US" sz="1700" dirty="0"/>
          </a:p>
        </p:txBody>
      </p:sp>
      <p:sp>
        <p:nvSpPr>
          <p:cNvPr id="7" name="element_c58caa5ac865339689929507755237be"/>
          <p:cNvSpPr txBox="1"/>
          <p:nvPr/>
        </p:nvSpPr>
        <p:spPr>
          <a:xfrm>
            <a:off x="975336" y="4612691"/>
            <a:ext cx="4023259" cy="859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Known: consideration plus related fees and expenses are covered</a:t>
            </a:r>
            <a:endParaRPr lang="en-US" sz="1700" dirty="0"/>
          </a:p>
        </p:txBody>
      </p:sp>
      <p:sp>
        <p:nvSpPr>
          <p:cNvPr id="8" name="element_065ca4e1c31976d6ed4fd9660ac5a9b2"/>
          <p:cNvSpPr txBox="1"/>
          <p:nvPr/>
        </p:nvSpPr>
        <p:spPr>
          <a:xfrm>
            <a:off x="975336" y="5574868"/>
            <a:ext cx="4023259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Unknown: do not invent debt mix, pricing, or pro forma leverage</a:t>
            </a:r>
            <a:endParaRPr lang="en-US" sz="1700" dirty="0"/>
          </a:p>
        </p:txBody>
      </p:sp>
      <p:sp>
        <p:nvSpPr>
          <p:cNvPr id="9" name="element_2a88be1bbea662943d66c931793f182c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DCECF0">
              <a:alpha val="2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c1b357a9dbfcbb619d79b6b55b2c468b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DCECF0">
              <a:alpha val="2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e0adda6249200e12ea573f4d544b29a8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DCECF0">
              <a:alpha val="1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7ea6cf31c5eec74dc496457de68f38f3"/>
          <p:cNvSpPr/>
          <p:nvPr/>
        </p:nvSpPr>
        <p:spPr>
          <a:xfrm>
            <a:off x="1142362" y="373075"/>
            <a:ext cx="1449593" cy="815416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8c570f5f4d0eefe589bf482c12ab9e24"/>
          <p:cNvSpPr/>
          <p:nvPr/>
        </p:nvSpPr>
        <p:spPr>
          <a:xfrm>
            <a:off x="1317922" y="584302"/>
            <a:ext cx="898528" cy="505435"/>
          </a:xfrm>
          <a:prstGeom prst="roundRect">
            <a:avLst/>
          </a:prstGeom>
          <a:solidFill>
            <a:srgbClr val="DCECF0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a58734397de51aeb511c185067b0b7f0"/>
          <p:cNvSpPr/>
          <p:nvPr/>
        </p:nvSpPr>
        <p:spPr>
          <a:xfrm>
            <a:off x="1297196" y="774954"/>
            <a:ext cx="580325" cy="326441"/>
          </a:xfrm>
          <a:prstGeom prst="roundRect">
            <a:avLst/>
          </a:prstGeom>
          <a:solidFill>
            <a:srgbClr val="287A8D">
              <a:alpha val="8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d473ce994df62c3d0a2b7e898d528101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6" name="element_1bd01b2f0e3d3e0c853a8bb911c95e81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56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ef94791a8b0aaa1747c48f7a3874199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66bbbfa70ea78d5ed7be0ef53ea80a57"/>
          <p:cNvSpPr txBox="1"/>
          <p:nvPr/>
        </p:nvSpPr>
        <p:spPr>
          <a:xfrm>
            <a:off x="6461598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57 / SENSITIVITIES AND DOWNSIDE SCENARIOS</a:t>
            </a:r>
            <a:endParaRPr lang="en-US" sz="1500" dirty="0"/>
          </a:p>
        </p:txBody>
      </p:sp>
      <p:sp>
        <p:nvSpPr>
          <p:cNvPr id="4" name="element_4cf85c61e47dda62ea6522be264e474a"/>
          <p:cNvSpPr txBox="1"/>
          <p:nvPr/>
        </p:nvSpPr>
        <p:spPr>
          <a:xfrm>
            <a:off x="1706837" y="1097280"/>
            <a:ext cx="87780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Downside framework</a:t>
            </a:r>
            <a:endParaRPr lang="en-US" sz="2400" dirty="0"/>
          </a:p>
        </p:txBody>
      </p:sp>
      <p:sp>
        <p:nvSpPr>
          <p:cNvPr id="5" name="element_61f5fc1b11d99b348aada7f03864b6f0"/>
          <p:cNvSpPr/>
          <p:nvPr/>
        </p:nvSpPr>
        <p:spPr>
          <a:xfrm>
            <a:off x="1463003" y="1680210"/>
            <a:ext cx="9265688" cy="2125980"/>
          </a:xfrm>
          <a:prstGeom prst="roundRect">
            <a:avLst/>
          </a:prstGeom>
          <a:solidFill>
            <a:srgbClr val="DCECF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ce607c0ea4f8b21806589a3edf627cf1"/>
          <p:cNvSpPr txBox="1"/>
          <p:nvPr/>
        </p:nvSpPr>
        <p:spPr>
          <a:xfrm>
            <a:off x="2438339" y="1920240"/>
            <a:ext cx="7315017" cy="150876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5554E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44.32</a:t>
            </a:r>
            <a:endParaRPr lang="en-US" sz="4600" dirty="0"/>
          </a:p>
        </p:txBody>
      </p:sp>
      <p:sp>
        <p:nvSpPr>
          <p:cNvPr id="7" name="element_2172e841db729d232d08d0fa4a927627"/>
          <p:cNvSpPr txBox="1"/>
          <p:nvPr/>
        </p:nvSpPr>
        <p:spPr>
          <a:xfrm>
            <a:off x="1706837" y="3566160"/>
            <a:ext cx="87780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USD millions</a:t>
            </a:r>
            <a:endParaRPr lang="en-US" sz="1600" dirty="0"/>
          </a:p>
        </p:txBody>
      </p:sp>
      <p:sp>
        <p:nvSpPr>
          <p:cNvPr id="8" name="element_6ba84891e3ef54034784d78f2cdf4314"/>
          <p:cNvSpPr txBox="1"/>
          <p:nvPr/>
        </p:nvSpPr>
        <p:spPr>
          <a:xfrm>
            <a:off x="1706837" y="4389120"/>
            <a:ext cx="963143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Downside framework: Q2 2025 net sales were $44.320 million, down 55.2% year over year. Q2 2025 net sales declined 55.2% year over year. China sales: $5.299M versus $63.519M.</a:t>
            </a:r>
            <a:endParaRPr lang="en-US" sz="1800" dirty="0"/>
          </a:p>
        </p:txBody>
      </p:sp>
      <p:sp>
        <p:nvSpPr>
          <p:cNvPr id="9" name="element_11cb5b9cce0d45ca55a5ab3cb2de3e11"/>
          <p:cNvSpPr txBox="1"/>
          <p:nvPr/>
        </p:nvSpPr>
        <p:spPr>
          <a:xfrm>
            <a:off x="1706837" y="5692140"/>
            <a:ext cx="9631439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Q2 2025 net sales were $44.320 million, down 55.2% year over year.</a:t>
            </a:r>
            <a:endParaRPr lang="en-US" sz="1400" dirty="0"/>
          </a:p>
        </p:txBody>
      </p:sp>
      <p:sp>
        <p:nvSpPr>
          <p:cNvPr id="10" name="element_fac3409e92ab7d4b4d712226af7319c0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e809b103231e7164151ba3611769ea40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DCECF0">
              <a:alpha val="2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4b77225ae8ad27a41d780a4b79f48eca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DCECF0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4ff7a019eb923173303e6a9c630d301a"/>
          <p:cNvSpPr/>
          <p:nvPr/>
        </p:nvSpPr>
        <p:spPr>
          <a:xfrm>
            <a:off x="1136266" y="371704"/>
            <a:ext cx="1458127" cy="820217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bbef2f8a88a01949c8e3252886addab1"/>
          <p:cNvSpPr/>
          <p:nvPr/>
        </p:nvSpPr>
        <p:spPr>
          <a:xfrm>
            <a:off x="1313046" y="583616"/>
            <a:ext cx="904624" cy="508864"/>
          </a:xfrm>
          <a:prstGeom prst="roundRect">
            <a:avLst/>
          </a:prstGeom>
          <a:solidFill>
            <a:srgbClr val="DCECF0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0fb69827cf069b41cdf6f2b210515f5b"/>
          <p:cNvSpPr/>
          <p:nvPr/>
        </p:nvSpPr>
        <p:spPr>
          <a:xfrm>
            <a:off x="1294758" y="774954"/>
            <a:ext cx="582763" cy="327812"/>
          </a:xfrm>
          <a:prstGeom prst="roundRect">
            <a:avLst/>
          </a:prstGeom>
          <a:solidFill>
            <a:srgbClr val="287A8D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2c8bb46fea2415b23a210c636eb530b1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7" name="element_7a5f00d88795ff64710444b4b0f3a308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57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a414e1e00b906c168cf6bd56e7950bb0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d28ca97ed8caf835b779310164733df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58 / SENSITIVITIES AND DOWNSIDE SCENARIOS</a:t>
            </a:r>
            <a:endParaRPr lang="en-US" sz="1500" dirty="0"/>
          </a:p>
        </p:txBody>
      </p:sp>
      <p:sp>
        <p:nvSpPr>
          <p:cNvPr id="4" name="element_e52d2feaac8c97df792c535f5d1c37a1"/>
          <p:cNvSpPr txBox="1"/>
          <p:nvPr/>
        </p:nvSpPr>
        <p:spPr>
          <a:xfrm>
            <a:off x="853419" y="1028700"/>
            <a:ext cx="96314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China recovery miss</a:t>
            </a:r>
            <a:endParaRPr lang="en-US" sz="3800" dirty="0"/>
          </a:p>
        </p:txBody>
      </p:sp>
      <p:sp>
        <p:nvSpPr>
          <p:cNvPr id="5" name="element_1fba1ff04e4cf53264425575bbe64faf"/>
          <p:cNvSpPr/>
          <p:nvPr/>
        </p:nvSpPr>
        <p:spPr>
          <a:xfrm>
            <a:off x="853419" y="2125980"/>
            <a:ext cx="4998595" cy="2057400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6" name="element_47533f1c16597c76acd1ebaea49e6a71"/>
          <p:cNvSpPr txBox="1"/>
          <p:nvPr/>
        </p:nvSpPr>
        <p:spPr>
          <a:xfrm>
            <a:off x="1097253" y="2263140"/>
            <a:ext cx="451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12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CURRENT</a:t>
            </a:r>
            <a:endParaRPr lang="en-US" sz="1400" dirty="0"/>
          </a:p>
        </p:txBody>
      </p:sp>
      <p:sp>
        <p:nvSpPr>
          <p:cNvPr id="7" name="element_42fad7b299bd870f19f4b55b1c6d33b6"/>
          <p:cNvSpPr txBox="1"/>
          <p:nvPr/>
        </p:nvSpPr>
        <p:spPr>
          <a:xfrm>
            <a:off x="1097253" y="2674620"/>
            <a:ext cx="4510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Downside variable: China recovery miss</a:t>
            </a:r>
            <a:endParaRPr lang="en-US" sz="1600" dirty="0"/>
          </a:p>
        </p:txBody>
      </p:sp>
      <p:sp>
        <p:nvSpPr>
          <p:cNvPr id="8" name="element_4fb8e6e0b53624b67c33566f2795c0f6"/>
          <p:cNvSpPr/>
          <p:nvPr/>
        </p:nvSpPr>
        <p:spPr>
          <a:xfrm>
            <a:off x="6339682" y="2125980"/>
            <a:ext cx="4998595" cy="205740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9" name="element_4e980187ecd7b0b62c1b2375422b17ca"/>
          <p:cNvSpPr txBox="1"/>
          <p:nvPr/>
        </p:nvSpPr>
        <p:spPr>
          <a:xfrm>
            <a:off x="6583515" y="2263140"/>
            <a:ext cx="451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120" kern="0" dirty="0">
                <a:solidFill>
                  <a:srgbClr val="15554E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TARGET</a:t>
            </a:r>
            <a:endParaRPr lang="en-US" sz="1400" dirty="0"/>
          </a:p>
        </p:txBody>
      </p:sp>
      <p:sp>
        <p:nvSpPr>
          <p:cNvPr id="10" name="element_e37d10c69690d137227a7fa99327a634"/>
          <p:cNvSpPr txBox="1"/>
          <p:nvPr/>
        </p:nvSpPr>
        <p:spPr>
          <a:xfrm>
            <a:off x="6583515" y="2674620"/>
            <a:ext cx="4510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Observed anchor: current filed performance</a:t>
            </a:r>
            <a:endParaRPr lang="en-US" sz="1600" dirty="0"/>
          </a:p>
        </p:txBody>
      </p:sp>
      <p:sp>
        <p:nvSpPr>
          <p:cNvPr id="11" name="element_edb38c36ae698ebf4e65bff47bd3352c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939d840cab307ca3a44c4ada38d8300e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2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1ac30782e38e53d2266c246133abefcd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a22014e800fc44222797d2a170825171"/>
          <p:cNvSpPr/>
          <p:nvPr/>
        </p:nvSpPr>
        <p:spPr>
          <a:xfrm>
            <a:off x="9593645" y="369646"/>
            <a:ext cx="1466661" cy="825017"/>
          </a:xfrm>
          <a:prstGeom prst="roundRect">
            <a:avLst/>
          </a:prstGeom>
          <a:solidFill>
            <a:srgbClr val="DCECF0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a67a36bfa17068c555964ef51184bb69"/>
          <p:cNvSpPr/>
          <p:nvPr/>
        </p:nvSpPr>
        <p:spPr>
          <a:xfrm>
            <a:off x="9971588" y="582244"/>
            <a:ext cx="909500" cy="511607"/>
          </a:xfrm>
          <a:prstGeom prst="roundRect">
            <a:avLst/>
          </a:prstGeom>
          <a:solidFill>
            <a:srgbClr val="DCECF0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2ab41cc7143074db97cc591d38a4f57e"/>
          <p:cNvSpPr/>
          <p:nvPr/>
        </p:nvSpPr>
        <p:spPr>
          <a:xfrm>
            <a:off x="10314174" y="774954"/>
            <a:ext cx="586421" cy="329870"/>
          </a:xfrm>
          <a:prstGeom prst="roundRect">
            <a:avLst/>
          </a:prstGeom>
          <a:solidFill>
            <a:srgbClr val="287A8D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3c87ddda25d94a6b153e253d5809463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ad8bc45b698161133690526c93a0cc8f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58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c09968a2c2e869b864a5db301dd8b898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63709f0bb1cd31adabdbe96a5367764"/>
          <p:cNvSpPr txBox="1"/>
          <p:nvPr/>
        </p:nvSpPr>
        <p:spPr>
          <a:xfrm>
            <a:off x="853419" y="41148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59 / SENSITIVITIES AND DOWNSIDE SCENARIOS</a:t>
            </a:r>
            <a:endParaRPr lang="en-US" sz="1500" dirty="0"/>
          </a:p>
        </p:txBody>
      </p:sp>
      <p:sp>
        <p:nvSpPr>
          <p:cNvPr id="4" name="element_bba45e3a0545aa72119d57ac764dd515"/>
          <p:cNvSpPr txBox="1"/>
          <p:nvPr/>
        </p:nvSpPr>
        <p:spPr>
          <a:xfrm>
            <a:off x="853419" y="960120"/>
            <a:ext cx="9997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Forecast sensitivity</a:t>
            </a:r>
            <a:endParaRPr lang="en-US" sz="3200" dirty="0"/>
          </a:p>
        </p:txBody>
      </p:sp>
      <p:sp>
        <p:nvSpPr>
          <p:cNvPr id="5" name="element_13b9d43c74af5be5fc2af09938bb6fdc"/>
          <p:cNvSpPr/>
          <p:nvPr/>
        </p:nvSpPr>
        <p:spPr>
          <a:xfrm>
            <a:off x="5435058" y="2392070"/>
            <a:ext cx="1320361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6" name="element_d9740df329699255b099d1cf6d4d9f52"/>
          <p:cNvSpPr/>
          <p:nvPr/>
        </p:nvSpPr>
        <p:spPr>
          <a:xfrm>
            <a:off x="5435058" y="3135478"/>
            <a:ext cx="1320361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7" name="element_67e880d2b799a3537d8e30f620b01eea"/>
          <p:cNvSpPr/>
          <p:nvPr/>
        </p:nvSpPr>
        <p:spPr>
          <a:xfrm>
            <a:off x="853419" y="1851660"/>
            <a:ext cx="10484858" cy="502691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67e880d2b799a3537d8e30f620b01eea:text"/>
          <p:cNvSpPr txBox="1"/>
          <p:nvPr/>
        </p:nvSpPr>
        <p:spPr>
          <a:xfrm>
            <a:off x="853419" y="1851660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Forecast sensitivity</a:t>
            </a:r>
            <a:endParaRPr lang="en-US" sz="1200" dirty="0"/>
          </a:p>
        </p:txBody>
      </p:sp>
      <p:sp>
        <p:nvSpPr>
          <p:cNvPr id="9" name="element_ef62b7b908c67dbc6bfee2af4ae651a7"/>
          <p:cNvSpPr/>
          <p:nvPr/>
        </p:nvSpPr>
        <p:spPr>
          <a:xfrm>
            <a:off x="853419" y="2594381"/>
            <a:ext cx="10484858" cy="502691"/>
          </a:xfrm>
          <a:prstGeom prst="roundRect">
            <a:avLst/>
          </a:prstGeom>
          <a:solidFill>
            <a:srgbClr val="DDEDE8"/>
          </a:solidFill>
          <a:ln w="25400">
            <a:solidFill>
              <a:srgbClr val="287A8D"/>
            </a:solidFill>
            <a:prstDash val="solid"/>
          </a:ln>
        </p:spPr>
      </p:sp>
      <p:sp>
        <p:nvSpPr>
          <p:cNvPr id="10" name="element_ef62b7b908c67dbc6bfee2af4ae651a7:text"/>
          <p:cNvSpPr txBox="1"/>
          <p:nvPr/>
        </p:nvSpPr>
        <p:spPr>
          <a:xfrm>
            <a:off x="853419" y="2594381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gate: Forecast sensitivity</a:t>
            </a:r>
            <a:endParaRPr lang="en-US" sz="1200" dirty="0"/>
          </a:p>
        </p:txBody>
      </p:sp>
      <p:sp>
        <p:nvSpPr>
          <p:cNvPr id="11" name="element_6328d6822ec0b0cb97e0b235fae5c4af"/>
          <p:cNvSpPr/>
          <p:nvPr/>
        </p:nvSpPr>
        <p:spPr>
          <a:xfrm>
            <a:off x="853419" y="3337789"/>
            <a:ext cx="10484858" cy="502691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2" name="element_6328d6822ec0b0cb97e0b235fae5c4af:text"/>
          <p:cNvSpPr txBox="1"/>
          <p:nvPr/>
        </p:nvSpPr>
        <p:spPr>
          <a:xfrm>
            <a:off x="853419" y="3337789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on forecast sensitivity</a:t>
            </a:r>
            <a:endParaRPr lang="en-US" sz="1200" dirty="0"/>
          </a:p>
        </p:txBody>
      </p:sp>
      <p:sp>
        <p:nvSpPr>
          <p:cNvPr id="13" name="element_1d22b67eccd06ec4d04bc5815532f299"/>
          <p:cNvSpPr txBox="1"/>
          <p:nvPr/>
        </p:nvSpPr>
        <p:spPr>
          <a:xfrm>
            <a:off x="853419" y="4046220"/>
            <a:ext cx="963143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Stress forecast sensitivity against the observed China decline, margin compression, and the final projection assumptions. Preserve the base case and downside case as separate states.</a:t>
            </a:r>
            <a:endParaRPr lang="en-US" sz="1600" dirty="0"/>
          </a:p>
        </p:txBody>
      </p:sp>
      <p:sp>
        <p:nvSpPr>
          <p:cNvPr id="14" name="element_0c3b13c789c5d1b7b3f93b5b80ca6633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30a0b1155e9cd02a0ed4ecfbd18dcec9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c1b9e92e72a2b5b22c33d2b7e874e1d2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1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73ec0464ee76d2f2442b3261488338d6"/>
          <p:cNvSpPr/>
          <p:nvPr/>
        </p:nvSpPr>
        <p:spPr>
          <a:xfrm>
            <a:off x="9589987" y="367589"/>
            <a:ext cx="1475195" cy="829818"/>
          </a:xfrm>
          <a:prstGeom prst="roundRect">
            <a:avLst/>
          </a:prstGeom>
          <a:solidFill>
            <a:srgbClr val="DCECF0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cbd56bb195954f13ac2a7bc2931db410"/>
          <p:cNvSpPr/>
          <p:nvPr/>
        </p:nvSpPr>
        <p:spPr>
          <a:xfrm>
            <a:off x="9970368" y="581558"/>
            <a:ext cx="914377" cy="514350"/>
          </a:xfrm>
          <a:prstGeom prst="roundRect">
            <a:avLst/>
          </a:prstGeom>
          <a:solidFill>
            <a:srgbClr val="DCECF0">
              <a:alpha val="5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e57afda1f54b116c29c516c09982bcfc"/>
          <p:cNvSpPr/>
          <p:nvPr/>
        </p:nvSpPr>
        <p:spPr>
          <a:xfrm>
            <a:off x="10314174" y="774954"/>
            <a:ext cx="590078" cy="331927"/>
          </a:xfrm>
          <a:prstGeom prst="roundRect">
            <a:avLst/>
          </a:prstGeom>
          <a:solidFill>
            <a:srgbClr val="287A8D">
              <a:alpha val="8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f273d0287ce1e6b61e253f651eacc04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5445855ade501c8bc18d8435441b08e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59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3a8eacfdb79359f072d67ac52f8c176d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ce3a1cfe26168a8dec45e405f55affa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60 / SENSITIVITIES AND DOWNSIDE SCENARIOS</a:t>
            </a:r>
            <a:endParaRPr lang="en-US" sz="1500" dirty="0"/>
          </a:p>
        </p:txBody>
      </p:sp>
      <p:sp>
        <p:nvSpPr>
          <p:cNvPr id="4" name="element_3a9294abb5eb38174c3255e9b3f3b48b"/>
          <p:cNvSpPr txBox="1"/>
          <p:nvPr/>
        </p:nvSpPr>
        <p:spPr>
          <a:xfrm>
            <a:off x="853419" y="1028700"/>
            <a:ext cx="96314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Valuation sensitivity</a:t>
            </a:r>
            <a:endParaRPr lang="en-US" sz="3600" dirty="0"/>
          </a:p>
        </p:txBody>
      </p:sp>
      <p:sp>
        <p:nvSpPr>
          <p:cNvPr id="5" name="element_576896f41b7a23c420eebf8d55d76342"/>
          <p:cNvSpPr/>
          <p:nvPr/>
        </p:nvSpPr>
        <p:spPr>
          <a:xfrm>
            <a:off x="853419" y="2125980"/>
            <a:ext cx="3291758" cy="219456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6" name="element_4c61b71e6c175df618cabb09f12e3abb"/>
          <p:cNvSpPr txBox="1"/>
          <p:nvPr/>
        </p:nvSpPr>
        <p:spPr>
          <a:xfrm>
            <a:off x="1097253" y="226314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Downside variable: Valuation sensitivity</a:t>
            </a:r>
            <a:endParaRPr lang="en-US" sz="1600" dirty="0"/>
          </a:p>
        </p:txBody>
      </p:sp>
      <p:sp>
        <p:nvSpPr>
          <p:cNvPr id="7" name="element_ad5a779ab4bdb6005e5d51e6093c2601"/>
          <p:cNvSpPr/>
          <p:nvPr/>
        </p:nvSpPr>
        <p:spPr>
          <a:xfrm>
            <a:off x="4449969" y="2125980"/>
            <a:ext cx="3291758" cy="219456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db05d66287597a46068aec0f7fd2e0aa"/>
          <p:cNvSpPr txBox="1"/>
          <p:nvPr/>
        </p:nvSpPr>
        <p:spPr>
          <a:xfrm>
            <a:off x="4693803" y="226314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Observed anchor: current filed performance</a:t>
            </a:r>
            <a:endParaRPr lang="en-US" sz="1600" dirty="0"/>
          </a:p>
        </p:txBody>
      </p:sp>
      <p:sp>
        <p:nvSpPr>
          <p:cNvPr id="9" name="element_0592ccd12da09476c0a4c70ca6c99004"/>
          <p:cNvSpPr/>
          <p:nvPr/>
        </p:nvSpPr>
        <p:spPr>
          <a:xfrm>
            <a:off x="8046519" y="2125980"/>
            <a:ext cx="3291758" cy="219456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0" name="element_f9f030e055d4501b579ec2a8650d1675"/>
          <p:cNvSpPr txBox="1"/>
          <p:nvPr/>
        </p:nvSpPr>
        <p:spPr>
          <a:xfrm>
            <a:off x="8290353" y="226314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Decision threshold: recommendation changes if recovery evidence fails</a:t>
            </a:r>
            <a:endParaRPr lang="en-US" sz="1600" dirty="0"/>
          </a:p>
        </p:txBody>
      </p:sp>
      <p:sp>
        <p:nvSpPr>
          <p:cNvPr id="11" name="element_8ac529b957431083fdcff06122d2390d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bc632a1d39e999b08b4b8e28e98ba774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fe9d4f497bd2cf243942673933891c52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1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4f378330fd4ac4cbfc27be0da0645f50"/>
          <p:cNvSpPr/>
          <p:nvPr/>
        </p:nvSpPr>
        <p:spPr>
          <a:xfrm>
            <a:off x="9586330" y="365531"/>
            <a:ext cx="1483729" cy="834619"/>
          </a:xfrm>
          <a:prstGeom prst="roundRect">
            <a:avLst/>
          </a:prstGeom>
          <a:solidFill>
            <a:srgbClr val="DCECF0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6e6ff64bfadebc8e5354739b1ff059cf"/>
          <p:cNvSpPr/>
          <p:nvPr/>
        </p:nvSpPr>
        <p:spPr>
          <a:xfrm>
            <a:off x="9969149" y="580873"/>
            <a:ext cx="919254" cy="517093"/>
          </a:xfrm>
          <a:prstGeom prst="roundRect">
            <a:avLst/>
          </a:prstGeom>
          <a:solidFill>
            <a:srgbClr val="DCECF0">
              <a:alpha val="5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90c27211248e1b041cca94d507acdc4e"/>
          <p:cNvSpPr/>
          <p:nvPr/>
        </p:nvSpPr>
        <p:spPr>
          <a:xfrm>
            <a:off x="10314174" y="774954"/>
            <a:ext cx="593736" cy="333985"/>
          </a:xfrm>
          <a:prstGeom prst="roundRect">
            <a:avLst/>
          </a:prstGeom>
          <a:solidFill>
            <a:srgbClr val="287A8D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8c67a20afd9da2e8dfc5d36b3a203a3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088bd55bbfd6c22d5115f48653b6180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60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a71532e48e9f7198cbfba450cc3de0fd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7875dac7e1f4174a49177136eed44d1"/>
          <p:cNvSpPr/>
          <p:nvPr/>
        </p:nvSpPr>
        <p:spPr>
          <a:xfrm>
            <a:off x="609585" y="754380"/>
            <a:ext cx="4145176" cy="521208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f7875dac7e1f4174a49177136eed44d1:text"/>
          <p:cNvSpPr txBox="1"/>
          <p:nvPr/>
        </p:nvSpPr>
        <p:spPr>
          <a:xfrm>
            <a:off x="609585" y="754380"/>
            <a:ext cx="4145176" cy="5212080"/>
          </a:xfrm>
          <a:prstGeom prst="rect">
            <a:avLst/>
          </a:prstGeom>
          <a:noFill/>
          <a:ln/>
        </p:spPr>
        <p:txBody>
          <a:bodyPr wrap="square" lIns="279400" tIns="279400" rIns="279400" bIns="27940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DECIDE</a:t>
            </a:r>
            <a:endParaRPr lang="en-US" sz="3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WITH CONDITIONS</a:t>
            </a:r>
            <a:endParaRPr lang="en-US" sz="3200" dirty="0"/>
          </a:p>
        </p:txBody>
      </p:sp>
      <p:sp>
        <p:nvSpPr>
          <p:cNvPr id="5" name="element_de5950586fa78e071284f93b91fb14f0"/>
          <p:cNvSpPr txBox="1"/>
          <p:nvPr/>
        </p:nvSpPr>
        <p:spPr>
          <a:xfrm>
            <a:off x="5730097" y="617220"/>
            <a:ext cx="536434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61 / SENSITIVITIES AND DOWNSIDE SCENARIOS</a:t>
            </a:r>
            <a:endParaRPr lang="en-US" sz="1500" dirty="0"/>
          </a:p>
        </p:txBody>
      </p:sp>
      <p:sp>
        <p:nvSpPr>
          <p:cNvPr id="6" name="element_e26160faefb668d94f9192e77d81e34e"/>
          <p:cNvSpPr txBox="1"/>
          <p:nvPr/>
        </p:nvSpPr>
        <p:spPr>
          <a:xfrm>
            <a:off x="5730097" y="1234440"/>
            <a:ext cx="56081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Standalone downside conclusion</a:t>
            </a:r>
            <a:endParaRPr lang="en-US" sz="3800" dirty="0"/>
          </a:p>
        </p:txBody>
      </p:sp>
      <p:sp>
        <p:nvSpPr>
          <p:cNvPr id="7" name="element_e5997e662cece00dd2ab3dad368328a6"/>
          <p:cNvSpPr txBox="1"/>
          <p:nvPr/>
        </p:nvSpPr>
        <p:spPr>
          <a:xfrm>
            <a:off x="5730097" y="2948940"/>
            <a:ext cx="56081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Standalone downside conclusion: Gate: China, forecast bridge, and clearances.</a:t>
            </a:r>
            <a:endParaRPr lang="en-US" sz="1600" dirty="0"/>
          </a:p>
        </p:txBody>
      </p:sp>
      <p:sp>
        <p:nvSpPr>
          <p:cNvPr id="8" name="element_800ba3b9731d66b70d0caabb959d00f1"/>
          <p:cNvSpPr/>
          <p:nvPr/>
        </p:nvSpPr>
        <p:spPr>
          <a:xfrm>
            <a:off x="5730097" y="4251960"/>
            <a:ext cx="5608180" cy="534924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800ba3b9731d66b70d0caabb959d00f1:text"/>
          <p:cNvSpPr txBox="1"/>
          <p:nvPr/>
        </p:nvSpPr>
        <p:spPr>
          <a:xfrm>
            <a:off x="5730097" y="4251960"/>
            <a:ext cx="5608180" cy="53492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Gate: China, forecast bridge, and clearances.</a:t>
            </a:r>
            <a:endParaRPr lang="en-US" sz="1400" dirty="0"/>
          </a:p>
        </p:txBody>
      </p:sp>
      <p:sp>
        <p:nvSpPr>
          <p:cNvPr id="10" name="element_4993cebded5a8c9b2076fd4dd7e872d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fb724d3ef589b72b4d4b3b91466bcb3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61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1938b978ba865dea30115e4368c0e057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485c9a6c329140893b4a29d67657010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62 / KEY RISKS AND COUNTERARGUMENTS</a:t>
            </a:r>
            <a:endParaRPr lang="en-US" sz="1500" dirty="0"/>
          </a:p>
        </p:txBody>
      </p:sp>
      <p:sp>
        <p:nvSpPr>
          <p:cNvPr id="4" name="element_00897e599e6dfa2a0299038ef241e318"/>
          <p:cNvSpPr txBox="1"/>
          <p:nvPr/>
        </p:nvSpPr>
        <p:spPr>
          <a:xfrm>
            <a:off x="1706837" y="1097280"/>
            <a:ext cx="877802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Risk framework</a:t>
            </a:r>
            <a:endParaRPr lang="en-US" sz="2400" dirty="0"/>
          </a:p>
        </p:txBody>
      </p:sp>
      <p:sp>
        <p:nvSpPr>
          <p:cNvPr id="5" name="element_f9a148c8519a915458481e96d467ec7f"/>
          <p:cNvSpPr/>
          <p:nvPr/>
        </p:nvSpPr>
        <p:spPr>
          <a:xfrm>
            <a:off x="1463003" y="1680210"/>
            <a:ext cx="9265688" cy="2125980"/>
          </a:xfrm>
          <a:prstGeom prst="roundRect">
            <a:avLst/>
          </a:prstGeom>
          <a:solidFill>
            <a:srgbClr val="DCECF0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e3f4d950ec4cb06abe1efb12d167aeda"/>
          <p:cNvSpPr txBox="1"/>
          <p:nvPr/>
        </p:nvSpPr>
        <p:spPr>
          <a:xfrm>
            <a:off x="2438339" y="1920240"/>
            <a:ext cx="7315017" cy="150876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5554E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58</a:t>
            </a:r>
            <a:endParaRPr lang="en-US" sz="4600" dirty="0"/>
          </a:p>
        </p:txBody>
      </p:sp>
      <p:sp>
        <p:nvSpPr>
          <p:cNvPr id="7" name="element_2b0ee1e994aa3fca614fa3f1f1b60c2e"/>
          <p:cNvSpPr txBox="1"/>
          <p:nvPr/>
        </p:nvSpPr>
        <p:spPr>
          <a:xfrm>
            <a:off x="1706837" y="3566160"/>
            <a:ext cx="877802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USD/share</a:t>
            </a:r>
            <a:endParaRPr lang="en-US" sz="1600" dirty="0"/>
          </a:p>
        </p:txBody>
      </p:sp>
      <p:sp>
        <p:nvSpPr>
          <p:cNvPr id="8" name="element_5036e9649772992cd77c1432b15aa98a"/>
          <p:cNvSpPr txBox="1"/>
          <p:nvPr/>
        </p:nvSpPr>
        <p:spPr>
          <a:xfrm>
            <a:off x="853419" y="4389120"/>
            <a:ext cx="963143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Risk framework: $58/share in April 2024 preceded the $28 agreement.</a:t>
            </a:r>
            <a:endParaRPr lang="en-US" sz="1800" dirty="0"/>
          </a:p>
        </p:txBody>
      </p:sp>
      <p:sp>
        <p:nvSpPr>
          <p:cNvPr id="9" name="element_76ac3e8fb8a93b2aec075602dc810290"/>
          <p:cNvSpPr txBox="1"/>
          <p:nvPr/>
        </p:nvSpPr>
        <p:spPr>
          <a:xfrm>
            <a:off x="853419" y="5692140"/>
            <a:ext cx="9631439" cy="21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$58/share in April 2024 preceded the $28 agreement.</a:t>
            </a:r>
            <a:endParaRPr lang="en-US" sz="1400" dirty="0"/>
          </a:p>
        </p:txBody>
      </p:sp>
      <p:sp>
        <p:nvSpPr>
          <p:cNvPr id="10" name="element_8f9e489b733cd8df22bbb37cab10e864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a836543b658e3a9be61a516ce71e3a11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0686fde0929d0035e1307dad0b78f191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66f53ca035082a27fe5e3b99352f28ad"/>
          <p:cNvSpPr/>
          <p:nvPr/>
        </p:nvSpPr>
        <p:spPr>
          <a:xfrm>
            <a:off x="9580234" y="362102"/>
            <a:ext cx="1500798" cy="844220"/>
          </a:xfrm>
          <a:prstGeom prst="roundRect">
            <a:avLst/>
          </a:prstGeom>
          <a:solidFill>
            <a:srgbClr val="DCECF0">
              <a:alpha val="4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78bee80fd58a3d3f7f756ec9d71040ae"/>
          <p:cNvSpPr/>
          <p:nvPr/>
        </p:nvSpPr>
        <p:spPr>
          <a:xfrm>
            <a:off x="9965492" y="578815"/>
            <a:ext cx="930226" cy="523265"/>
          </a:xfrm>
          <a:prstGeom prst="roundRect">
            <a:avLst/>
          </a:prstGeom>
          <a:solidFill>
            <a:srgbClr val="DCECF0">
              <a:alpha val="5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8af3988668ce39c0e71af2e72ffcbc7d"/>
          <p:cNvSpPr/>
          <p:nvPr/>
        </p:nvSpPr>
        <p:spPr>
          <a:xfrm>
            <a:off x="10314174" y="774954"/>
            <a:ext cx="599831" cy="337414"/>
          </a:xfrm>
          <a:prstGeom prst="roundRect">
            <a:avLst/>
          </a:prstGeom>
          <a:solidFill>
            <a:srgbClr val="287A8D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53d3d395528693e0d7a61f3624e485a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7" name="element_c47cf4976c7e4984e50fbbbe9690cdf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62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807a77ed20b607bf3f46e681875f66ca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5e8f3b911306ae96f0becae002dc018"/>
          <p:cNvSpPr/>
          <p:nvPr/>
        </p:nvSpPr>
        <p:spPr>
          <a:xfrm>
            <a:off x="8058711" y="3497580"/>
            <a:ext cx="3462441" cy="2359152"/>
          </a:xfrm>
          <a:prstGeom prst="roundRect">
            <a:avLst/>
          </a:prstGeom>
          <a:solidFill>
            <a:srgbClr val="DCECF0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a7a2f049616d4b21c40e210c54c2238c"/>
          <p:cNvSpPr/>
          <p:nvPr/>
        </p:nvSpPr>
        <p:spPr>
          <a:xfrm>
            <a:off x="4523119" y="3497580"/>
            <a:ext cx="3462441" cy="2359152"/>
          </a:xfrm>
          <a:prstGeom prst="roundRect">
            <a:avLst/>
          </a:prstGeom>
          <a:solidFill>
            <a:srgbClr val="DCECF0">
              <a:alpha val="2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b65f3ac7967b5d154c83998c3399373c"/>
          <p:cNvSpPr/>
          <p:nvPr/>
        </p:nvSpPr>
        <p:spPr>
          <a:xfrm>
            <a:off x="8058711" y="1097280"/>
            <a:ext cx="3462441" cy="2359152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9c7b2eb5d781fb9c18abc34fd95c9b72"/>
          <p:cNvSpPr/>
          <p:nvPr/>
        </p:nvSpPr>
        <p:spPr>
          <a:xfrm>
            <a:off x="4523119" y="1097280"/>
            <a:ext cx="3462441" cy="2359152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e515e576fd184186ba21086091c25cb6"/>
          <p:cNvSpPr txBox="1"/>
          <p:nvPr/>
        </p:nvSpPr>
        <p:spPr>
          <a:xfrm>
            <a:off x="9570481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RARE</a:t>
            </a:r>
            <a:endParaRPr lang="en-US" sz="1400" dirty="0"/>
          </a:p>
        </p:txBody>
      </p:sp>
      <p:sp>
        <p:nvSpPr>
          <p:cNvPr id="8" name="element_f360d6cf3c0130a0bba49cbc8a070abb"/>
          <p:cNvSpPr txBox="1"/>
          <p:nvPr/>
        </p:nvSpPr>
        <p:spPr>
          <a:xfrm>
            <a:off x="4449969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LIKELY</a:t>
            </a:r>
            <a:endParaRPr lang="en-US" sz="1400" dirty="0"/>
          </a:p>
        </p:txBody>
      </p:sp>
      <p:sp>
        <p:nvSpPr>
          <p:cNvPr id="9" name="element_2452ee164062b7b1823448a034d0c24c"/>
          <p:cNvSpPr txBox="1"/>
          <p:nvPr/>
        </p:nvSpPr>
        <p:spPr>
          <a:xfrm>
            <a:off x="9424180" y="534924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MINOR</a:t>
            </a:r>
            <a:endParaRPr lang="en-US" sz="1400" dirty="0"/>
          </a:p>
        </p:txBody>
      </p:sp>
      <p:sp>
        <p:nvSpPr>
          <p:cNvPr id="10" name="element_b4f8dfda76e322ebf6895e630c4a26c7"/>
          <p:cNvSpPr txBox="1"/>
          <p:nvPr/>
        </p:nvSpPr>
        <p:spPr>
          <a:xfrm>
            <a:off x="9424180" y="1220724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1" name="element_dabb190f1cb8537feb72ca3c39f7299a"/>
          <p:cNvSpPr/>
          <p:nvPr/>
        </p:nvSpPr>
        <p:spPr>
          <a:xfrm>
            <a:off x="4547502" y="1207008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2" name="element_dabb190f1cb8537feb72ca3c39f7299a:text"/>
          <p:cNvSpPr txBox="1"/>
          <p:nvPr/>
        </p:nvSpPr>
        <p:spPr>
          <a:xfrm>
            <a:off x="4547502" y="1207008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China</a:t>
            </a:r>
            <a:endParaRPr lang="en-US" sz="1400" dirty="0"/>
          </a:p>
        </p:txBody>
      </p:sp>
      <p:sp>
        <p:nvSpPr>
          <p:cNvPr id="13" name="element_768ce5ea423c185f7a0f96406ba5de22"/>
          <p:cNvSpPr/>
          <p:nvPr/>
        </p:nvSpPr>
        <p:spPr>
          <a:xfrm>
            <a:off x="5731316" y="2010080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4" name="element_768ce5ea423c185f7a0f96406ba5de22:text"/>
          <p:cNvSpPr txBox="1"/>
          <p:nvPr/>
        </p:nvSpPr>
        <p:spPr>
          <a:xfrm>
            <a:off x="5731316" y="2010080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5" name="element_ac3d09711f4636aa27b8275b6766b40c"/>
          <p:cNvSpPr/>
          <p:nvPr/>
        </p:nvSpPr>
        <p:spPr>
          <a:xfrm>
            <a:off x="7254059" y="2001164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6" name="element_ac3d09711f4636aa27b8275b6766b40c:text"/>
          <p:cNvSpPr txBox="1"/>
          <p:nvPr/>
        </p:nvSpPr>
        <p:spPr>
          <a:xfrm>
            <a:off x="7254059" y="2001164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7" name="element_ccc3912ac838aef056838b280d6afa8a"/>
          <p:cNvSpPr txBox="1"/>
          <p:nvPr/>
        </p:nvSpPr>
        <p:spPr>
          <a:xfrm>
            <a:off x="731502" y="1028700"/>
            <a:ext cx="304792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63 / KEY RISKS AND COUNTERARGUMENTS</a:t>
            </a:r>
            <a:endParaRPr lang="en-US" sz="1500" dirty="0"/>
          </a:p>
        </p:txBody>
      </p:sp>
      <p:sp>
        <p:nvSpPr>
          <p:cNvPr id="18" name="element_2920b0e7d4c16366754b3d9c616ac7fd"/>
          <p:cNvSpPr txBox="1"/>
          <p:nvPr/>
        </p:nvSpPr>
        <p:spPr>
          <a:xfrm>
            <a:off x="731502" y="1577340"/>
            <a:ext cx="304792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China and channel risk</a:t>
            </a:r>
            <a:endParaRPr lang="en-US" sz="3600" dirty="0"/>
          </a:p>
        </p:txBody>
      </p:sp>
      <p:sp>
        <p:nvSpPr>
          <p:cNvPr id="19" name="element_88f4554fdaad8a8c3ce3fdec3decd148"/>
          <p:cNvSpPr txBox="1"/>
          <p:nvPr/>
        </p:nvSpPr>
        <p:spPr>
          <a:xfrm>
            <a:off x="731502" y="3703320"/>
            <a:ext cx="3047924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China and channel risk: China sales: $5.299M versus $63.519M.</a:t>
            </a:r>
            <a:endParaRPr lang="en-US" sz="1700" dirty="0"/>
          </a:p>
        </p:txBody>
      </p:sp>
      <p:sp>
        <p:nvSpPr>
          <p:cNvPr id="20" name="element_0d8b5e70521a418cf52c8c3c59de6a27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eb5b8243bee73e85ac931c2820948a4f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63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b71e1ecf32fc361a935fafe38b784590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be34c1284e1c635d07d6b4055ebf616"/>
          <p:cNvSpPr/>
          <p:nvPr/>
        </p:nvSpPr>
        <p:spPr>
          <a:xfrm>
            <a:off x="670543" y="3497580"/>
            <a:ext cx="3462441" cy="2359152"/>
          </a:xfrm>
          <a:prstGeom prst="roundRect">
            <a:avLst/>
          </a:prstGeom>
          <a:solidFill>
            <a:srgbClr val="DCECF0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ebb73b2ecfe3c5fd9122ff3e79391770"/>
          <p:cNvSpPr/>
          <p:nvPr/>
        </p:nvSpPr>
        <p:spPr>
          <a:xfrm>
            <a:off x="4206135" y="3497580"/>
            <a:ext cx="3462441" cy="2359152"/>
          </a:xfrm>
          <a:prstGeom prst="roundRect">
            <a:avLst/>
          </a:prstGeom>
          <a:solidFill>
            <a:srgbClr val="DCECF0">
              <a:alpha val="2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640a942d3363427634ae0a7f4a9455a6"/>
          <p:cNvSpPr/>
          <p:nvPr/>
        </p:nvSpPr>
        <p:spPr>
          <a:xfrm>
            <a:off x="670543" y="1097280"/>
            <a:ext cx="3462441" cy="2359152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5895002cd2291737bb8281618b0a6da6"/>
          <p:cNvSpPr/>
          <p:nvPr/>
        </p:nvSpPr>
        <p:spPr>
          <a:xfrm>
            <a:off x="4206135" y="1097280"/>
            <a:ext cx="3462441" cy="2359152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78994475688d395430a8b70a61e01818"/>
          <p:cNvSpPr txBox="1"/>
          <p:nvPr/>
        </p:nvSpPr>
        <p:spPr>
          <a:xfrm>
            <a:off x="670543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RARE</a:t>
            </a:r>
            <a:endParaRPr lang="en-US" sz="1400" dirty="0"/>
          </a:p>
        </p:txBody>
      </p:sp>
      <p:sp>
        <p:nvSpPr>
          <p:cNvPr id="8" name="element_4fd16e75765e8ad82da91217a2fb45ac"/>
          <p:cNvSpPr txBox="1"/>
          <p:nvPr/>
        </p:nvSpPr>
        <p:spPr>
          <a:xfrm>
            <a:off x="5791055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LIKELY</a:t>
            </a:r>
            <a:endParaRPr lang="en-US" sz="1400" dirty="0"/>
          </a:p>
        </p:txBody>
      </p:sp>
      <p:sp>
        <p:nvSpPr>
          <p:cNvPr id="9" name="element_0be4f9c03ac23e7f5399657c9cb48ba0"/>
          <p:cNvSpPr txBox="1"/>
          <p:nvPr/>
        </p:nvSpPr>
        <p:spPr>
          <a:xfrm>
            <a:off x="816844" y="534924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MINOR</a:t>
            </a:r>
            <a:endParaRPr lang="en-US" sz="1400" dirty="0"/>
          </a:p>
        </p:txBody>
      </p:sp>
      <p:sp>
        <p:nvSpPr>
          <p:cNvPr id="10" name="element_72e3c329e15a48f9b816b284de39ef33"/>
          <p:cNvSpPr txBox="1"/>
          <p:nvPr/>
        </p:nvSpPr>
        <p:spPr>
          <a:xfrm>
            <a:off x="816844" y="1220724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1" name="element_9f2f3d49d6e69694f37542f0c5177b14"/>
          <p:cNvSpPr/>
          <p:nvPr/>
        </p:nvSpPr>
        <p:spPr>
          <a:xfrm>
            <a:off x="6181189" y="1207008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2" name="element_9f2f3d49d6e69694f37542f0c5177b14:text"/>
          <p:cNvSpPr txBox="1"/>
          <p:nvPr/>
        </p:nvSpPr>
        <p:spPr>
          <a:xfrm>
            <a:off x="6181189" y="1207008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Forecast</a:t>
            </a:r>
            <a:endParaRPr lang="en-US" sz="1400" dirty="0"/>
          </a:p>
        </p:txBody>
      </p:sp>
      <p:sp>
        <p:nvSpPr>
          <p:cNvPr id="13" name="element_6d8d7727cf02535780287a83117381a1"/>
          <p:cNvSpPr/>
          <p:nvPr/>
        </p:nvSpPr>
        <p:spPr>
          <a:xfrm>
            <a:off x="4997376" y="2010080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4" name="element_6d8d7727cf02535780287a83117381a1:text"/>
          <p:cNvSpPr txBox="1"/>
          <p:nvPr/>
        </p:nvSpPr>
        <p:spPr>
          <a:xfrm>
            <a:off x="4997376" y="2010080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5" name="element_25a69c48318bdde1090090ba436b870a"/>
          <p:cNvSpPr/>
          <p:nvPr/>
        </p:nvSpPr>
        <p:spPr>
          <a:xfrm>
            <a:off x="3474633" y="2001164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6" name="element_25a69c48318bdde1090090ba436b870a:text"/>
          <p:cNvSpPr txBox="1"/>
          <p:nvPr/>
        </p:nvSpPr>
        <p:spPr>
          <a:xfrm>
            <a:off x="3474633" y="2001164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7" name="element_c65fc436ecd17b96600ff4770bcd8a9d"/>
          <p:cNvSpPr txBox="1"/>
          <p:nvPr/>
        </p:nvSpPr>
        <p:spPr>
          <a:xfrm>
            <a:off x="8412270" y="1028700"/>
            <a:ext cx="304792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64 / KEY RISKS AND COUNTERARGUMENTS</a:t>
            </a:r>
            <a:endParaRPr lang="en-US" sz="1500" dirty="0"/>
          </a:p>
        </p:txBody>
      </p:sp>
      <p:sp>
        <p:nvSpPr>
          <p:cNvPr id="18" name="element_2d805ace392292cde52b4c7a4894b8d4"/>
          <p:cNvSpPr txBox="1"/>
          <p:nvPr/>
        </p:nvSpPr>
        <p:spPr>
          <a:xfrm>
            <a:off x="8412270" y="1577340"/>
            <a:ext cx="304792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Forecast credibility</a:t>
            </a:r>
            <a:endParaRPr lang="en-US" sz="3600" dirty="0"/>
          </a:p>
        </p:txBody>
      </p:sp>
      <p:sp>
        <p:nvSpPr>
          <p:cNvPr id="19" name="element_351e6abff8bcf4bfd4c202ebd4655729"/>
          <p:cNvSpPr txBox="1"/>
          <p:nvPr/>
        </p:nvSpPr>
        <p:spPr>
          <a:xfrm>
            <a:off x="8412270" y="3703320"/>
            <a:ext cx="3047924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Forecast credibility: Citi: forecasts unverified; assumptions not opined.</a:t>
            </a:r>
            <a:endParaRPr lang="en-US" sz="1700" dirty="0"/>
          </a:p>
        </p:txBody>
      </p:sp>
      <p:sp>
        <p:nvSpPr>
          <p:cNvPr id="20" name="element_803352bf24fc17b7813cae4f3cb48c4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eb9db3271bd50fcd2f6cda003708c45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64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e9ed76b74b186ca9654f8704ebc217a5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4d0df1985fbafc90dcfe1457c441d72d"/>
          <p:cNvSpPr/>
          <p:nvPr/>
        </p:nvSpPr>
        <p:spPr>
          <a:xfrm>
            <a:off x="670543" y="3497580"/>
            <a:ext cx="3462441" cy="2359152"/>
          </a:xfrm>
          <a:prstGeom prst="roundRect">
            <a:avLst/>
          </a:prstGeom>
          <a:solidFill>
            <a:srgbClr val="DCECF0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300de6c6f598a504727b0f01be54d5ba"/>
          <p:cNvSpPr/>
          <p:nvPr/>
        </p:nvSpPr>
        <p:spPr>
          <a:xfrm>
            <a:off x="4206135" y="3497580"/>
            <a:ext cx="3462441" cy="2359152"/>
          </a:xfrm>
          <a:prstGeom prst="roundRect">
            <a:avLst/>
          </a:prstGeom>
          <a:solidFill>
            <a:srgbClr val="DCECF0">
              <a:alpha val="2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7d5f398a889aa9c3f90090dfb4ec061d"/>
          <p:cNvSpPr/>
          <p:nvPr/>
        </p:nvSpPr>
        <p:spPr>
          <a:xfrm>
            <a:off x="670543" y="1097280"/>
            <a:ext cx="3462441" cy="2359152"/>
          </a:xfrm>
          <a:prstGeom prst="roundRect">
            <a:avLst/>
          </a:prstGeom>
          <a:solidFill>
            <a:srgbClr val="DCECF0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e141d3ac3d5565fefccdf66b94de4a65"/>
          <p:cNvSpPr/>
          <p:nvPr/>
        </p:nvSpPr>
        <p:spPr>
          <a:xfrm>
            <a:off x="4206135" y="1097280"/>
            <a:ext cx="3462441" cy="2359152"/>
          </a:xfrm>
          <a:prstGeom prst="roundRect">
            <a:avLst/>
          </a:prstGeom>
          <a:solidFill>
            <a:srgbClr val="DCECF0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c7b7fbca722372a434d6d12c3fa18a4b"/>
          <p:cNvSpPr txBox="1"/>
          <p:nvPr/>
        </p:nvSpPr>
        <p:spPr>
          <a:xfrm>
            <a:off x="670543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RARE</a:t>
            </a:r>
            <a:endParaRPr lang="en-US" sz="1400" dirty="0"/>
          </a:p>
        </p:txBody>
      </p:sp>
      <p:sp>
        <p:nvSpPr>
          <p:cNvPr id="8" name="element_ab7ee5e9db83a959d7ed7a48ee59ee0e"/>
          <p:cNvSpPr txBox="1"/>
          <p:nvPr/>
        </p:nvSpPr>
        <p:spPr>
          <a:xfrm>
            <a:off x="5791055" y="600075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LIKELY</a:t>
            </a:r>
            <a:endParaRPr lang="en-US" sz="1400" dirty="0"/>
          </a:p>
        </p:txBody>
      </p:sp>
      <p:sp>
        <p:nvSpPr>
          <p:cNvPr id="9" name="element_bcc37230cd7c5d8a7218b0e36bd06232"/>
          <p:cNvSpPr txBox="1"/>
          <p:nvPr/>
        </p:nvSpPr>
        <p:spPr>
          <a:xfrm>
            <a:off x="816844" y="5349240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MINOR</a:t>
            </a:r>
            <a:endParaRPr lang="en-US" sz="1400" dirty="0"/>
          </a:p>
        </p:txBody>
      </p:sp>
      <p:sp>
        <p:nvSpPr>
          <p:cNvPr id="10" name="element_43c86e41eed42a57b00d9c5d768e830c"/>
          <p:cNvSpPr txBox="1"/>
          <p:nvPr/>
        </p:nvSpPr>
        <p:spPr>
          <a:xfrm>
            <a:off x="816844" y="1220724"/>
            <a:ext cx="195067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8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CRITICAL</a:t>
            </a:r>
            <a:endParaRPr lang="en-US" sz="1400" dirty="0"/>
          </a:p>
        </p:txBody>
      </p:sp>
      <p:sp>
        <p:nvSpPr>
          <p:cNvPr id="11" name="element_65dd9808a3aec50d853924fcac9f7c88"/>
          <p:cNvSpPr/>
          <p:nvPr/>
        </p:nvSpPr>
        <p:spPr>
          <a:xfrm>
            <a:off x="6181189" y="1207008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2" name="element_65dd9808a3aec50d853924fcac9f7c88:text"/>
          <p:cNvSpPr txBox="1"/>
          <p:nvPr/>
        </p:nvSpPr>
        <p:spPr>
          <a:xfrm>
            <a:off x="6181189" y="1207008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Process</a:t>
            </a:r>
            <a:endParaRPr lang="en-US" sz="1400" dirty="0"/>
          </a:p>
        </p:txBody>
      </p:sp>
      <p:sp>
        <p:nvSpPr>
          <p:cNvPr id="13" name="element_b179523c0e622125438fb4704549d14c"/>
          <p:cNvSpPr/>
          <p:nvPr/>
        </p:nvSpPr>
        <p:spPr>
          <a:xfrm>
            <a:off x="4997376" y="2010080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4" name="element_b179523c0e622125438fb4704549d14c:text"/>
          <p:cNvSpPr txBox="1"/>
          <p:nvPr/>
        </p:nvSpPr>
        <p:spPr>
          <a:xfrm>
            <a:off x="4997376" y="2010080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5" name="element_07a5050ce6c4992519f4002814610307"/>
          <p:cNvSpPr/>
          <p:nvPr/>
        </p:nvSpPr>
        <p:spPr>
          <a:xfrm>
            <a:off x="3474633" y="2001164"/>
            <a:ext cx="1463003" cy="5486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15554E"/>
            </a:solidFill>
            <a:prstDash val="solid"/>
          </a:ln>
        </p:spPr>
      </p:sp>
      <p:sp>
        <p:nvSpPr>
          <p:cNvPr id="16" name="element_07a5050ce6c4992519f4002814610307:text"/>
          <p:cNvSpPr txBox="1"/>
          <p:nvPr/>
        </p:nvSpPr>
        <p:spPr>
          <a:xfrm>
            <a:off x="3474633" y="2001164"/>
            <a:ext cx="1463003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7" name="element_662cc95bd9238c5c0cf3f1ccf9af32b3"/>
          <p:cNvSpPr txBox="1"/>
          <p:nvPr/>
        </p:nvSpPr>
        <p:spPr>
          <a:xfrm>
            <a:off x="8412270" y="1028700"/>
            <a:ext cx="304792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65 / KEY RISKS AND COUNTERARGUMENTS</a:t>
            </a:r>
            <a:endParaRPr lang="en-US" sz="1500" dirty="0"/>
          </a:p>
        </p:txBody>
      </p:sp>
      <p:sp>
        <p:nvSpPr>
          <p:cNvPr id="18" name="element_d37c25816b11aa2a31bc4a62e50ac162"/>
          <p:cNvSpPr txBox="1"/>
          <p:nvPr/>
        </p:nvSpPr>
        <p:spPr>
          <a:xfrm>
            <a:off x="8412270" y="1577340"/>
            <a:ext cx="304792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Process and price challenge</a:t>
            </a:r>
            <a:endParaRPr lang="en-US" sz="3600" dirty="0"/>
          </a:p>
        </p:txBody>
      </p:sp>
      <p:sp>
        <p:nvSpPr>
          <p:cNvPr id="19" name="element_6ee888695b3e3b6302e5e5aeb704bc91"/>
          <p:cNvSpPr txBox="1"/>
          <p:nvPr/>
        </p:nvSpPr>
        <p:spPr>
          <a:xfrm>
            <a:off x="8412270" y="3703320"/>
            <a:ext cx="3047924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Process and price challenge: Citi fee: $26.6M of roughly $30.6M depended on closing. Broadwood: 27.3% ownership; opposed the merger.</a:t>
            </a:r>
            <a:endParaRPr lang="en-US" sz="1600" dirty="0"/>
          </a:p>
        </p:txBody>
      </p:sp>
      <p:sp>
        <p:nvSpPr>
          <p:cNvPr id="20" name="element_d4215b8675748718f4ded0732d201106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13d46bf9404bcd23d94dda1ccdfa360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65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c9ad99fe5ceea2063af927c7f4e64bdb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2d8035fc8bcbd24013a93f7188c5cb0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66 / KEY RISKS AND COUNTERARGUMENTS</a:t>
            </a:r>
            <a:endParaRPr lang="en-US" sz="1500" dirty="0"/>
          </a:p>
        </p:txBody>
      </p:sp>
      <p:sp>
        <p:nvSpPr>
          <p:cNvPr id="4" name="element_4f45dab1cfaa6110a77b1ba1b3a8ae07"/>
          <p:cNvSpPr txBox="1"/>
          <p:nvPr/>
        </p:nvSpPr>
        <p:spPr>
          <a:xfrm>
            <a:off x="853419" y="1028700"/>
            <a:ext cx="96314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Advisor conflicts and fairness limitations</a:t>
            </a:r>
            <a:endParaRPr lang="en-US" sz="3600" dirty="0"/>
          </a:p>
        </p:txBody>
      </p:sp>
      <p:sp>
        <p:nvSpPr>
          <p:cNvPr id="5" name="element_f260ce7e6e291be6727024d7b7cc2168"/>
          <p:cNvSpPr/>
          <p:nvPr/>
        </p:nvSpPr>
        <p:spPr>
          <a:xfrm>
            <a:off x="853419" y="2400300"/>
            <a:ext cx="3291758" cy="219456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6" name="element_7f18cf29335ddc19c75afdd40c26e774"/>
          <p:cNvSpPr txBox="1"/>
          <p:nvPr/>
        </p:nvSpPr>
        <p:spPr>
          <a:xfrm>
            <a:off x="109725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Risk: Advisor conflicts and fairness limitations</a:t>
            </a:r>
            <a:endParaRPr lang="en-US" sz="1600" dirty="0"/>
          </a:p>
        </p:txBody>
      </p:sp>
      <p:sp>
        <p:nvSpPr>
          <p:cNvPr id="7" name="element_77711abef5b4a10492812010bfc505ec"/>
          <p:cNvSpPr/>
          <p:nvPr/>
        </p:nvSpPr>
        <p:spPr>
          <a:xfrm>
            <a:off x="4449969" y="2400300"/>
            <a:ext cx="3291758" cy="219456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ac85c1e4d68d570a8cb9be715c545a97"/>
          <p:cNvSpPr txBox="1"/>
          <p:nvPr/>
        </p:nvSpPr>
        <p:spPr>
          <a:xfrm>
            <a:off x="469380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Evidence: primary filing or attributed opposition only</a:t>
            </a:r>
            <a:endParaRPr lang="en-US" sz="1600" dirty="0"/>
          </a:p>
        </p:txBody>
      </p:sp>
      <p:sp>
        <p:nvSpPr>
          <p:cNvPr id="9" name="element_a3c0e0f276471cdd102cf2d352ac5095"/>
          <p:cNvSpPr/>
          <p:nvPr/>
        </p:nvSpPr>
        <p:spPr>
          <a:xfrm>
            <a:off x="8046519" y="2400300"/>
            <a:ext cx="3291758" cy="219456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0" name="element_3703589964296bc3403550ddbaea3ed4"/>
          <p:cNvSpPr txBox="1"/>
          <p:nvPr/>
        </p:nvSpPr>
        <p:spPr>
          <a:xfrm>
            <a:off x="829035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Mitigation: named owner and dated proof before approval</a:t>
            </a:r>
            <a:endParaRPr lang="en-US" sz="1600" dirty="0"/>
          </a:p>
        </p:txBody>
      </p:sp>
      <p:sp>
        <p:nvSpPr>
          <p:cNvPr id="11" name="element_794ae877afc85cf064b5ef17fff1d060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35bf704e45f0342a31a4898de6710c27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80acb9d5d173ae604594169b64a288b8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50d26753576b0dd1d9c6b9c9974f62bf"/>
          <p:cNvSpPr/>
          <p:nvPr/>
        </p:nvSpPr>
        <p:spPr>
          <a:xfrm>
            <a:off x="9566823" y="354559"/>
            <a:ext cx="1534934" cy="863422"/>
          </a:xfrm>
          <a:prstGeom prst="roundRect">
            <a:avLst/>
          </a:prstGeom>
          <a:solidFill>
            <a:srgbClr val="DCECF0">
              <a:alpha val="4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cb8b93444fe104573e385fb0386d2f5b"/>
          <p:cNvSpPr/>
          <p:nvPr/>
        </p:nvSpPr>
        <p:spPr>
          <a:xfrm>
            <a:off x="9958177" y="574700"/>
            <a:ext cx="950952" cy="534924"/>
          </a:xfrm>
          <a:prstGeom prst="roundRect">
            <a:avLst/>
          </a:prstGeom>
          <a:solidFill>
            <a:srgbClr val="DCECF0">
              <a:alpha val="5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ee3f49c5e7e855c79df26fcb337971de"/>
          <p:cNvSpPr/>
          <p:nvPr/>
        </p:nvSpPr>
        <p:spPr>
          <a:xfrm>
            <a:off x="10314174" y="774954"/>
            <a:ext cx="613242" cy="344957"/>
          </a:xfrm>
          <a:prstGeom prst="roundRect">
            <a:avLst/>
          </a:prstGeom>
          <a:solidFill>
            <a:srgbClr val="287A8D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469a0ba27c962477a154059014677bd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19df69cb5f2cc74c68e9e8e8b9c67c7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66</a:t>
            </a:r>
            <a:endParaRPr lang="en-US" sz="13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64f86415e5168fc1228bddb93dc8c7f1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2d542e6eeba9a78f3f607c63bb854420"/>
          <p:cNvSpPr/>
          <p:nvPr/>
        </p:nvSpPr>
        <p:spPr>
          <a:xfrm>
            <a:off x="609585" y="754380"/>
            <a:ext cx="4145176" cy="521208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2d542e6eeba9a78f3f607c63bb854420:text"/>
          <p:cNvSpPr txBox="1"/>
          <p:nvPr/>
        </p:nvSpPr>
        <p:spPr>
          <a:xfrm>
            <a:off x="609585" y="754380"/>
            <a:ext cx="4145176" cy="5212080"/>
          </a:xfrm>
          <a:prstGeom prst="rect">
            <a:avLst/>
          </a:prstGeom>
          <a:noFill/>
          <a:ln/>
        </p:spPr>
        <p:txBody>
          <a:bodyPr wrap="square" lIns="279400" tIns="279400" rIns="279400" bIns="27940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24,677,062</a:t>
            </a:r>
            <a:endParaRPr lang="en-US" sz="4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shares at the majority threshold</a:t>
            </a:r>
            <a:endParaRPr lang="en-US" sz="4200" dirty="0"/>
          </a:p>
        </p:txBody>
      </p:sp>
      <p:sp>
        <p:nvSpPr>
          <p:cNvPr id="5" name="element_2b1a871078fd92e5a577f55a642ddefe"/>
          <p:cNvSpPr txBox="1"/>
          <p:nvPr/>
        </p:nvSpPr>
        <p:spPr>
          <a:xfrm>
            <a:off x="5730097" y="617220"/>
            <a:ext cx="536434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67 / PROCESS, APPROVALS, AND OUTSTANDING DILIGENCE</a:t>
            </a:r>
            <a:endParaRPr lang="en-US" sz="1500" dirty="0"/>
          </a:p>
        </p:txBody>
      </p:sp>
      <p:sp>
        <p:nvSpPr>
          <p:cNvPr id="6" name="element_42f5a803aaee7e1f3e10d7e7fb25b592"/>
          <p:cNvSpPr txBox="1"/>
          <p:nvPr/>
        </p:nvSpPr>
        <p:spPr>
          <a:xfrm>
            <a:off x="5730097" y="1234440"/>
            <a:ext cx="56081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Approvals and decision rights</a:t>
            </a:r>
            <a:endParaRPr lang="en-US" sz="3800" dirty="0"/>
          </a:p>
        </p:txBody>
      </p:sp>
      <p:sp>
        <p:nvSpPr>
          <p:cNvPr id="7" name="element_4a98f0aa8d44e6f98442bdf24f78182b"/>
          <p:cNvSpPr txBox="1"/>
          <p:nvPr/>
        </p:nvSpPr>
        <p:spPr>
          <a:xfrm>
            <a:off x="5730097" y="2948940"/>
            <a:ext cx="56081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Approvals and decision rights: Majority threshold: 24,677,062 shares.</a:t>
            </a:r>
            <a:endParaRPr lang="en-US" sz="1600" dirty="0"/>
          </a:p>
        </p:txBody>
      </p:sp>
      <p:sp>
        <p:nvSpPr>
          <p:cNvPr id="8" name="element_4729ff08b2727c475ebf873c1b2b14b2"/>
          <p:cNvSpPr/>
          <p:nvPr/>
        </p:nvSpPr>
        <p:spPr>
          <a:xfrm>
            <a:off x="5730097" y="4251960"/>
            <a:ext cx="5608180" cy="534924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4729ff08b2727c475ebf873c1b2b14b2:text"/>
          <p:cNvSpPr txBox="1"/>
          <p:nvPr/>
        </p:nvSpPr>
        <p:spPr>
          <a:xfrm>
            <a:off x="5730097" y="4251960"/>
            <a:ext cx="5608180" cy="53492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Majority threshold: 24,677,062 shares.</a:t>
            </a:r>
            <a:endParaRPr lang="en-US" sz="1400" dirty="0"/>
          </a:p>
        </p:txBody>
      </p:sp>
      <p:sp>
        <p:nvSpPr>
          <p:cNvPr id="10" name="element_127864ba3691241fc8fa73fb58a4d670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aef746ad522950581ab381a7638f48f8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67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aac0ea428ed1f700dc5632385c17cbf5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83224bf2b50672981760da917eb9139"/>
          <p:cNvSpPr txBox="1"/>
          <p:nvPr/>
        </p:nvSpPr>
        <p:spPr>
          <a:xfrm>
            <a:off x="1706837" y="514350"/>
            <a:ext cx="877802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68 / PROCESS, APPROVALS, AND OUTSTANDING DILIGENCE</a:t>
            </a:r>
            <a:endParaRPr lang="en-US" sz="1500" dirty="0"/>
          </a:p>
        </p:txBody>
      </p:sp>
      <p:sp>
        <p:nvSpPr>
          <p:cNvPr id="4" name="element_4cd5f8baf2bb6f932afb4dcdf9d6563f"/>
          <p:cNvSpPr txBox="1"/>
          <p:nvPr/>
        </p:nvSpPr>
        <p:spPr>
          <a:xfrm>
            <a:off x="975336" y="1028700"/>
            <a:ext cx="5120512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Outstanding diligence</a:t>
            </a:r>
            <a:endParaRPr lang="en-US" sz="3200" dirty="0"/>
          </a:p>
        </p:txBody>
      </p:sp>
      <p:sp>
        <p:nvSpPr>
          <p:cNvPr id="5" name="element_b8446d70c680d230212ad35178220bab"/>
          <p:cNvSpPr/>
          <p:nvPr/>
        </p:nvSpPr>
        <p:spPr>
          <a:xfrm>
            <a:off x="2926007" y="3291840"/>
            <a:ext cx="243834" cy="342900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6" name="element_f22a5f97a89bffbeeb434c8e020be291"/>
          <p:cNvSpPr/>
          <p:nvPr/>
        </p:nvSpPr>
        <p:spPr>
          <a:xfrm>
            <a:off x="2926007" y="4320540"/>
            <a:ext cx="243834" cy="342900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7" name="element_fafbf5fe6aca450f17b45de4e8dced1e"/>
          <p:cNvSpPr/>
          <p:nvPr/>
        </p:nvSpPr>
        <p:spPr>
          <a:xfrm>
            <a:off x="975336" y="2606040"/>
            <a:ext cx="4145176" cy="685800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fafbf5fe6aca450f17b45de4e8dced1e:text"/>
          <p:cNvSpPr txBox="1"/>
          <p:nvPr/>
        </p:nvSpPr>
        <p:spPr>
          <a:xfrm>
            <a:off x="975336" y="26060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Outstanding diligence</a:t>
            </a:r>
            <a:endParaRPr lang="en-US" sz="1200" dirty="0"/>
          </a:p>
        </p:txBody>
      </p:sp>
      <p:sp>
        <p:nvSpPr>
          <p:cNvPr id="9" name="element_7a23191f26065620a623b77f341fd11d"/>
          <p:cNvSpPr/>
          <p:nvPr/>
        </p:nvSpPr>
        <p:spPr>
          <a:xfrm>
            <a:off x="975336" y="3634740"/>
            <a:ext cx="4145176" cy="685800"/>
          </a:xfrm>
          <a:prstGeom prst="roundRect">
            <a:avLst/>
          </a:prstGeom>
          <a:solidFill>
            <a:srgbClr val="DDEDE8"/>
          </a:solidFill>
          <a:ln w="25400">
            <a:solidFill>
              <a:srgbClr val="287A8D"/>
            </a:solidFill>
            <a:prstDash val="solid"/>
          </a:ln>
        </p:spPr>
      </p:sp>
      <p:sp>
        <p:nvSpPr>
          <p:cNvPr id="10" name="element_7a23191f26065620a623b77f341fd11d:text"/>
          <p:cNvSpPr txBox="1"/>
          <p:nvPr/>
        </p:nvSpPr>
        <p:spPr>
          <a:xfrm>
            <a:off x="975336" y="36347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gate: Outstanding diligence</a:t>
            </a:r>
            <a:endParaRPr lang="en-US" sz="1200" dirty="0"/>
          </a:p>
        </p:txBody>
      </p:sp>
      <p:sp>
        <p:nvSpPr>
          <p:cNvPr id="11" name="element_d8d547e9620c2f67ea6106b566ed4b51"/>
          <p:cNvSpPr/>
          <p:nvPr/>
        </p:nvSpPr>
        <p:spPr>
          <a:xfrm>
            <a:off x="975336" y="4663440"/>
            <a:ext cx="4145176" cy="68580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2" name="element_d8d547e9620c2f67ea6106b566ed4b51:text"/>
          <p:cNvSpPr txBox="1"/>
          <p:nvPr/>
        </p:nvSpPr>
        <p:spPr>
          <a:xfrm>
            <a:off x="975336" y="46634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on outstanding diligence</a:t>
            </a:r>
            <a:endParaRPr lang="en-US" sz="1200" dirty="0"/>
          </a:p>
        </p:txBody>
      </p:sp>
      <p:sp>
        <p:nvSpPr>
          <p:cNvPr id="13" name="element_576bb165a1125e882b9338056c04b074"/>
          <p:cNvSpPr txBox="1"/>
          <p:nvPr/>
        </p:nvSpPr>
        <p:spPr>
          <a:xfrm>
            <a:off x="6339682" y="2743200"/>
            <a:ext cx="46328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Outstanding diligence: Closing requires HSR and antitrust clearances. Gate: China, forecast bridge, and clearances.</a:t>
            </a:r>
            <a:endParaRPr lang="en-US" sz="1600" dirty="0"/>
          </a:p>
        </p:txBody>
      </p:sp>
      <p:sp>
        <p:nvSpPr>
          <p:cNvPr id="14" name="element_0615e801c6a13c7fd107c190b7051ef4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2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693a390e940ac4c2378fc80f305cd938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1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d13dd594212fc5f87e7eb4cd0f986fff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1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b256384e67896569bc2f76cfab4a216e"/>
          <p:cNvSpPr/>
          <p:nvPr/>
        </p:nvSpPr>
        <p:spPr>
          <a:xfrm>
            <a:off x="9559508" y="350444"/>
            <a:ext cx="1550784" cy="872338"/>
          </a:xfrm>
          <a:prstGeom prst="roundRect">
            <a:avLst/>
          </a:prstGeom>
          <a:solidFill>
            <a:srgbClr val="DCECF0">
              <a:alpha val="4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fed45486a28ba9b2f33eda688dae8125"/>
          <p:cNvSpPr/>
          <p:nvPr/>
        </p:nvSpPr>
        <p:spPr>
          <a:xfrm>
            <a:off x="9955738" y="573329"/>
            <a:ext cx="961925" cy="541096"/>
          </a:xfrm>
          <a:prstGeom prst="roundRect">
            <a:avLst/>
          </a:prstGeom>
          <a:solidFill>
            <a:srgbClr val="DCECF0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c2143bee8d5f3a72f83c23a75007d036"/>
          <p:cNvSpPr/>
          <p:nvPr/>
        </p:nvSpPr>
        <p:spPr>
          <a:xfrm>
            <a:off x="10314174" y="774954"/>
            <a:ext cx="620557" cy="349072"/>
          </a:xfrm>
          <a:prstGeom prst="roundRect">
            <a:avLst/>
          </a:prstGeom>
          <a:solidFill>
            <a:srgbClr val="287A8D">
              <a:alpha val="9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e7607814a9e0bdd86a182f248ce86116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ccb1ccbb26ac440a2d090eebff06ff1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68</a:t>
            </a:r>
            <a:endParaRPr lang="en-US" sz="13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cc3f9eb83a4ee082519110649f0c0413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acf4925cf426951c28eca6b9236daad"/>
          <p:cNvSpPr txBox="1"/>
          <p:nvPr/>
        </p:nvSpPr>
        <p:spPr>
          <a:xfrm>
            <a:off x="853419" y="41148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69 / PROCESS, APPROVALS, AND OUTSTANDING DILIGENCE</a:t>
            </a:r>
            <a:endParaRPr lang="en-US" sz="1500" dirty="0"/>
          </a:p>
        </p:txBody>
      </p:sp>
      <p:sp>
        <p:nvSpPr>
          <p:cNvPr id="4" name="element_7cb5ad48ee6986913de58b075a6bc24a"/>
          <p:cNvSpPr txBox="1"/>
          <p:nvPr/>
        </p:nvSpPr>
        <p:spPr>
          <a:xfrm>
            <a:off x="853419" y="960120"/>
            <a:ext cx="99971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Closing path and owners</a:t>
            </a:r>
            <a:endParaRPr lang="en-US" sz="3200" dirty="0"/>
          </a:p>
        </p:txBody>
      </p:sp>
      <p:sp>
        <p:nvSpPr>
          <p:cNvPr id="5" name="element_b65853268bbfeb2aedabd4cab2d5a51f"/>
          <p:cNvSpPr/>
          <p:nvPr/>
        </p:nvSpPr>
        <p:spPr>
          <a:xfrm>
            <a:off x="5435058" y="2392070"/>
            <a:ext cx="1320361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6" name="element_8f91eccfa4330625bb276cca3e321a40"/>
          <p:cNvSpPr/>
          <p:nvPr/>
        </p:nvSpPr>
        <p:spPr>
          <a:xfrm>
            <a:off x="5435058" y="3135478"/>
            <a:ext cx="1320361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7" name="element_35ba91a7a414b46e949bac54336c446e"/>
          <p:cNvSpPr/>
          <p:nvPr/>
        </p:nvSpPr>
        <p:spPr>
          <a:xfrm>
            <a:off x="853419" y="1851660"/>
            <a:ext cx="10484858" cy="502691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8" name="element_35ba91a7a414b46e949bac54336c446e:text"/>
          <p:cNvSpPr txBox="1"/>
          <p:nvPr/>
        </p:nvSpPr>
        <p:spPr>
          <a:xfrm>
            <a:off x="853419" y="1851660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Closing path and owners</a:t>
            </a:r>
            <a:endParaRPr lang="en-US" sz="1200" dirty="0"/>
          </a:p>
        </p:txBody>
      </p:sp>
      <p:sp>
        <p:nvSpPr>
          <p:cNvPr id="9" name="element_dd2313640287487ee195cd9820962f1e"/>
          <p:cNvSpPr/>
          <p:nvPr/>
        </p:nvSpPr>
        <p:spPr>
          <a:xfrm>
            <a:off x="853419" y="2594381"/>
            <a:ext cx="10484858" cy="502691"/>
          </a:xfrm>
          <a:prstGeom prst="roundRect">
            <a:avLst/>
          </a:prstGeom>
          <a:solidFill>
            <a:srgbClr val="DDEDE8"/>
          </a:solidFill>
          <a:ln w="25400">
            <a:solidFill>
              <a:srgbClr val="287A8D"/>
            </a:solidFill>
            <a:prstDash val="solid"/>
          </a:ln>
        </p:spPr>
      </p:sp>
      <p:sp>
        <p:nvSpPr>
          <p:cNvPr id="10" name="element_dd2313640287487ee195cd9820962f1e:text"/>
          <p:cNvSpPr txBox="1"/>
          <p:nvPr/>
        </p:nvSpPr>
        <p:spPr>
          <a:xfrm>
            <a:off x="853419" y="2594381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Evidence gate: Closing path and owners</a:t>
            </a:r>
            <a:endParaRPr lang="en-US" sz="1200" dirty="0"/>
          </a:p>
        </p:txBody>
      </p:sp>
      <p:sp>
        <p:nvSpPr>
          <p:cNvPr id="11" name="element_5d93b20eaa8928902417f8fbd3460022"/>
          <p:cNvSpPr/>
          <p:nvPr/>
        </p:nvSpPr>
        <p:spPr>
          <a:xfrm>
            <a:off x="853419" y="3337789"/>
            <a:ext cx="10484858" cy="502691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2" name="element_5d93b20eaa8928902417f8fbd3460022:text"/>
          <p:cNvSpPr txBox="1"/>
          <p:nvPr/>
        </p:nvSpPr>
        <p:spPr>
          <a:xfrm>
            <a:off x="853419" y="3337789"/>
            <a:ext cx="10484858" cy="502691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on closing path and owners</a:t>
            </a:r>
            <a:endParaRPr lang="en-US" sz="1200" dirty="0"/>
          </a:p>
        </p:txBody>
      </p:sp>
      <p:sp>
        <p:nvSpPr>
          <p:cNvPr id="13" name="element_9042d9f2b77c14aba0fb5625850e55e8"/>
          <p:cNvSpPr txBox="1"/>
          <p:nvPr/>
        </p:nvSpPr>
        <p:spPr>
          <a:xfrm>
            <a:off x="853419" y="4046220"/>
            <a:ext cx="963143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Closing path and owners: Closing requires HSR and antitrust clearances. Gate: China, forecast bridge, and clearances.</a:t>
            </a:r>
            <a:endParaRPr lang="en-US" sz="1600" dirty="0"/>
          </a:p>
        </p:txBody>
      </p:sp>
      <p:sp>
        <p:nvSpPr>
          <p:cNvPr id="14" name="element_fa63d8c81b199a00a6879f55740d8ddc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f487a0ede0b855d066489fb841230591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12dd9c7e45c9a657fa3594c74609c0a5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1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45ddef1dc25f840a0d7d37ab4d629c05"/>
          <p:cNvSpPr/>
          <p:nvPr/>
        </p:nvSpPr>
        <p:spPr>
          <a:xfrm>
            <a:off x="9555851" y="348386"/>
            <a:ext cx="1559318" cy="877138"/>
          </a:xfrm>
          <a:prstGeom prst="roundRect">
            <a:avLst/>
          </a:prstGeom>
          <a:solidFill>
            <a:srgbClr val="DCECF0">
              <a:alpha val="4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15bbaf42637ca222c07d6367615a5e01"/>
          <p:cNvSpPr/>
          <p:nvPr/>
        </p:nvSpPr>
        <p:spPr>
          <a:xfrm>
            <a:off x="9953300" y="571957"/>
            <a:ext cx="966801" cy="543839"/>
          </a:xfrm>
          <a:prstGeom prst="roundRect">
            <a:avLst/>
          </a:prstGeom>
          <a:solidFill>
            <a:srgbClr val="DCECF0">
              <a:alpha val="6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a58c9243294f7e58ab3eabdafffdedea"/>
          <p:cNvSpPr/>
          <p:nvPr/>
        </p:nvSpPr>
        <p:spPr>
          <a:xfrm>
            <a:off x="10314174" y="774954"/>
            <a:ext cx="624215" cy="351130"/>
          </a:xfrm>
          <a:prstGeom prst="roundRect">
            <a:avLst/>
          </a:prstGeom>
          <a:solidFill>
            <a:srgbClr val="287A8D">
              <a:alpha val="9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a1f1cfddd0aaa32da1cee38d82ae4b38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33461e1c34f2e5ca314a9459459b2ea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69</a:t>
            </a:r>
            <a:endParaRPr lang="en-US" sz="13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806c03393f55c16fb98f3fd7f9a6130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bf852a92bcb32d5bf4600a3c6763192"/>
          <p:cNvSpPr/>
          <p:nvPr/>
        </p:nvSpPr>
        <p:spPr>
          <a:xfrm>
            <a:off x="609585" y="754380"/>
            <a:ext cx="4145176" cy="521208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1bf852a92bcb32d5bf4600a3c6763192:text"/>
          <p:cNvSpPr txBox="1"/>
          <p:nvPr/>
        </p:nvSpPr>
        <p:spPr>
          <a:xfrm>
            <a:off x="609585" y="754380"/>
            <a:ext cx="4145176" cy="5212080"/>
          </a:xfrm>
          <a:prstGeom prst="rect">
            <a:avLst/>
          </a:prstGeom>
          <a:noFill/>
          <a:ln/>
        </p:spPr>
        <p:txBody>
          <a:bodyPr wrap="square" lIns="279400" tIns="279400" rIns="279400" bIns="27940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28</a:t>
            </a:r>
            <a:endParaRPr lang="en-US" sz="4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4F7F8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USD/share</a:t>
            </a:r>
            <a:endParaRPr lang="en-US" sz="4200" dirty="0"/>
          </a:p>
        </p:txBody>
      </p:sp>
      <p:sp>
        <p:nvSpPr>
          <p:cNvPr id="5" name="element_8442f6a76c6c6570d021687aa17bc4ab"/>
          <p:cNvSpPr txBox="1"/>
          <p:nvPr/>
        </p:nvSpPr>
        <p:spPr>
          <a:xfrm>
            <a:off x="5730097" y="617220"/>
            <a:ext cx="536434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70 / RECOMMENDATION</a:t>
            </a:r>
            <a:endParaRPr lang="en-US" sz="1500" dirty="0"/>
          </a:p>
        </p:txBody>
      </p:sp>
      <p:sp>
        <p:nvSpPr>
          <p:cNvPr id="6" name="element_5792ba398ce3eb14fd02a66ee217a28f"/>
          <p:cNvSpPr txBox="1"/>
          <p:nvPr/>
        </p:nvSpPr>
        <p:spPr>
          <a:xfrm>
            <a:off x="5730097" y="1234440"/>
            <a:ext cx="56081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Conditional recommendation</a:t>
            </a:r>
            <a:endParaRPr lang="en-US" sz="3800" dirty="0"/>
          </a:p>
        </p:txBody>
      </p:sp>
      <p:sp>
        <p:nvSpPr>
          <p:cNvPr id="7" name="element_598da3c64beb90e43c88ff2c6d1fb079"/>
          <p:cNvSpPr txBox="1"/>
          <p:nvPr/>
        </p:nvSpPr>
        <p:spPr>
          <a:xfrm>
            <a:off x="5730097" y="2948940"/>
            <a:ext cx="560818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Conditional recommendation: Alcon offered $28.00 in cash per STAAR share. Gate: China, forecast bridge, and clearances.</a:t>
            </a:r>
            <a:endParaRPr lang="en-US" sz="1600" dirty="0"/>
          </a:p>
        </p:txBody>
      </p:sp>
      <p:sp>
        <p:nvSpPr>
          <p:cNvPr id="8" name="element_4787dbfb91fff88eb099bd022370d70f"/>
          <p:cNvSpPr/>
          <p:nvPr/>
        </p:nvSpPr>
        <p:spPr>
          <a:xfrm>
            <a:off x="5730097" y="4251960"/>
            <a:ext cx="5608180" cy="534924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4787dbfb91fff88eb099bd022370d70f:text"/>
          <p:cNvSpPr txBox="1"/>
          <p:nvPr/>
        </p:nvSpPr>
        <p:spPr>
          <a:xfrm>
            <a:off x="5730097" y="4251960"/>
            <a:ext cx="5608180" cy="53492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Alcon offered $28.00 in cash per STAAR share.</a:t>
            </a:r>
            <a:endParaRPr lang="en-US" sz="1400" dirty="0"/>
          </a:p>
        </p:txBody>
      </p:sp>
      <p:sp>
        <p:nvSpPr>
          <p:cNvPr id="10" name="element_2c497cb5a5c57cb5d26e9200a5622a94"/>
          <p:cNvSpPr/>
          <p:nvPr/>
        </p:nvSpPr>
        <p:spPr>
          <a:xfrm>
            <a:off x="5730097" y="4903470"/>
            <a:ext cx="5608180" cy="534924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2c497cb5a5c57cb5d26e9200a5622a94:text"/>
          <p:cNvSpPr txBox="1"/>
          <p:nvPr/>
        </p:nvSpPr>
        <p:spPr>
          <a:xfrm>
            <a:off x="5730097" y="4903470"/>
            <a:ext cx="5608180" cy="534924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554E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Gate: China, forecast bridge, and clearances.</a:t>
            </a:r>
            <a:endParaRPr lang="en-US" sz="1400" dirty="0"/>
          </a:p>
        </p:txBody>
      </p:sp>
      <p:sp>
        <p:nvSpPr>
          <p:cNvPr id="12" name="element_c7219b95b384e2c6a53d07a95c0bbbe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d0db9446e450688a94d58f179a2c9f6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70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72fc18d853d5d0a7764382afe19c86c0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bafbf2cde6d4b63fe8399b624ca6b282"/>
          <p:cNvSpPr txBox="1"/>
          <p:nvPr/>
        </p:nvSpPr>
        <p:spPr>
          <a:xfrm>
            <a:off x="7680768" y="548640"/>
            <a:ext cx="36575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0" b="1" spc="-300" kern="0" dirty="0">
                <a:solidFill>
                  <a:srgbClr val="287A8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71</a:t>
            </a:r>
            <a:endParaRPr lang="en-US" sz="10000" dirty="0"/>
          </a:p>
        </p:txBody>
      </p:sp>
      <p:sp>
        <p:nvSpPr>
          <p:cNvPr id="4" name="element_6892ba6a2e5a468cd6a21403ab61aa9d"/>
          <p:cNvSpPr txBox="1"/>
          <p:nvPr/>
        </p:nvSpPr>
        <p:spPr>
          <a:xfrm>
            <a:off x="1584920" y="2057400"/>
            <a:ext cx="97533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15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71 / SOURCE REGISTER AND APPENDIX INDEX</a:t>
            </a:r>
            <a:endParaRPr lang="en-US" sz="1400" dirty="0"/>
          </a:p>
        </p:txBody>
      </p:sp>
      <p:sp>
        <p:nvSpPr>
          <p:cNvPr id="5" name="element_c2f360749531daa1e041fac5c4a2550f"/>
          <p:cNvSpPr txBox="1"/>
          <p:nvPr/>
        </p:nvSpPr>
        <p:spPr>
          <a:xfrm>
            <a:off x="2560256" y="4114800"/>
            <a:ext cx="877802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spc="-6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Source register</a:t>
            </a:r>
            <a:endParaRPr lang="en-US" sz="4000" dirty="0"/>
          </a:p>
        </p:txBody>
      </p:sp>
      <p:sp>
        <p:nvSpPr>
          <p:cNvPr id="6" name="element_089e35d5645e4483cdba7693036b6666"/>
          <p:cNvSpPr/>
          <p:nvPr/>
        </p:nvSpPr>
        <p:spPr>
          <a:xfrm>
            <a:off x="10606775" y="3977640"/>
            <a:ext cx="731502" cy="6858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7280b09182cdc1f3eb98587379f7a4b2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DCECF0">
              <a:alpha val="1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b6d3807f8a7022a2dc9e89fd437c6ec1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DCECF0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fc015adb850c77633f7b383996a981b0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DCECF0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ed72aa2ab377e45cae57a3e6c3b17076"/>
          <p:cNvSpPr/>
          <p:nvPr/>
        </p:nvSpPr>
        <p:spPr>
          <a:xfrm>
            <a:off x="1065554" y="344957"/>
            <a:ext cx="1576386" cy="886739"/>
          </a:xfrm>
          <a:prstGeom prst="roundRect">
            <a:avLst/>
          </a:prstGeom>
          <a:solidFill>
            <a:srgbClr val="DCECF0">
              <a:alpha val="4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024cb9a1d5ee51f4e0175f3e5585d8e4"/>
          <p:cNvSpPr/>
          <p:nvPr/>
        </p:nvSpPr>
        <p:spPr>
          <a:xfrm>
            <a:off x="1264279" y="569900"/>
            <a:ext cx="977774" cy="550012"/>
          </a:xfrm>
          <a:prstGeom prst="roundRect">
            <a:avLst/>
          </a:prstGeom>
          <a:solidFill>
            <a:srgbClr val="DCECF0">
              <a:alpha val="6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2ba07aad243eaf2f6de6be8f966199d7"/>
          <p:cNvSpPr/>
          <p:nvPr/>
        </p:nvSpPr>
        <p:spPr>
          <a:xfrm>
            <a:off x="1247210" y="774954"/>
            <a:ext cx="630311" cy="354559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3e50e16677321e7c28c7d748573c19ff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69962614b477552e486006a2ae9bbac5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71</a:t>
            </a:r>
            <a:endParaRPr lang="en-US" sz="13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d55d1e075c1782040a11200fc6487ac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afc8167218f8fa125e23d40742808b86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72 / SOURCE REGISTER AND APPENDIX INDEX</a:t>
            </a:r>
            <a:endParaRPr lang="en-US" sz="1500" dirty="0"/>
          </a:p>
        </p:txBody>
      </p:sp>
      <p:sp>
        <p:nvSpPr>
          <p:cNvPr id="4" name="element_38c134189f25bf86669ed50c8343b0c2"/>
          <p:cNvSpPr txBox="1"/>
          <p:nvPr/>
        </p:nvSpPr>
        <p:spPr>
          <a:xfrm>
            <a:off x="853419" y="1028700"/>
            <a:ext cx="96314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Appendix and claim index</a:t>
            </a:r>
            <a:endParaRPr lang="en-US" sz="3600" dirty="0"/>
          </a:p>
        </p:txBody>
      </p:sp>
      <p:sp>
        <p:nvSpPr>
          <p:cNvPr id="5" name="element_bac49c622d5dd0b58fbf46f99a17ba17"/>
          <p:cNvSpPr txBox="1"/>
          <p:nvPr/>
        </p:nvSpPr>
        <p:spPr>
          <a:xfrm>
            <a:off x="853419" y="198882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element_1dd1d37103343258b03b866e6b40b802"/>
          <p:cNvSpPr txBox="1"/>
          <p:nvPr/>
        </p:nvSpPr>
        <p:spPr>
          <a:xfrm>
            <a:off x="853419" y="253746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Register: Appendix and claim index</a:t>
            </a:r>
            <a:endParaRPr lang="en-US" sz="1700" dirty="0"/>
          </a:p>
        </p:txBody>
      </p:sp>
      <p:sp>
        <p:nvSpPr>
          <p:cNvPr id="7" name="element_561b67d490839aba9df0f12ad8f20d6b"/>
          <p:cNvSpPr/>
          <p:nvPr/>
        </p:nvSpPr>
        <p:spPr>
          <a:xfrm>
            <a:off x="4287819" y="1988820"/>
            <a:ext cx="121917" cy="2880360"/>
          </a:xfrm>
          <a:prstGeom prst="rect">
            <a:avLst/>
          </a:prstGeom>
          <a:solidFill>
            <a:srgbClr val="CFDC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1374ce9cd1769c8173c11c830ee2881c"/>
          <p:cNvSpPr txBox="1"/>
          <p:nvPr/>
        </p:nvSpPr>
        <p:spPr>
          <a:xfrm>
            <a:off x="4470695" y="198882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element_c72d45d80be4721e3162650ba8320868"/>
          <p:cNvSpPr txBox="1"/>
          <p:nvPr/>
        </p:nvSpPr>
        <p:spPr>
          <a:xfrm>
            <a:off x="4470695" y="253746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Separate evidence, visual precedent, evaluation target, and hidden hindsight</a:t>
            </a:r>
            <a:endParaRPr lang="en-US" sz="1700" dirty="0"/>
          </a:p>
        </p:txBody>
      </p:sp>
      <p:sp>
        <p:nvSpPr>
          <p:cNvPr id="10" name="element_fb8b1db9be3c9ff580f4c5d891d688b7"/>
          <p:cNvSpPr/>
          <p:nvPr/>
        </p:nvSpPr>
        <p:spPr>
          <a:xfrm>
            <a:off x="7903876" y="1988820"/>
            <a:ext cx="121917" cy="2880360"/>
          </a:xfrm>
          <a:prstGeom prst="rect">
            <a:avLst/>
          </a:prstGeom>
          <a:solidFill>
            <a:srgbClr val="CFDCE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65501c5fb8fba538588a1ac71ea12209"/>
          <p:cNvSpPr txBox="1"/>
          <p:nvPr/>
        </p:nvSpPr>
        <p:spPr>
          <a:xfrm>
            <a:off x="8086751" y="1988820"/>
            <a:ext cx="32515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element_0db2aa01498c4eba1f340e2e04609e79"/>
          <p:cNvSpPr txBox="1"/>
          <p:nvPr/>
        </p:nvSpPr>
        <p:spPr>
          <a:xfrm>
            <a:off x="8086751" y="2537460"/>
            <a:ext cx="325152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No missing locator for a decision-critical claim</a:t>
            </a:r>
            <a:endParaRPr lang="en-US" sz="1700" dirty="0"/>
          </a:p>
        </p:txBody>
      </p:sp>
      <p:sp>
        <p:nvSpPr>
          <p:cNvPr id="13" name="element_fb450c9b779348f23f23c72fd22b4f42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DCECF0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d94a45f2ded315a0e69366404571be36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DCECF0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a0013ef9ad511d7da93de22eb4f57b82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DCECF0">
              <a:alpha val="1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f9d2a4413816279768398c7c5b7fe87f"/>
          <p:cNvSpPr/>
          <p:nvPr/>
        </p:nvSpPr>
        <p:spPr>
          <a:xfrm>
            <a:off x="9546097" y="342900"/>
            <a:ext cx="1584920" cy="891540"/>
          </a:xfrm>
          <a:prstGeom prst="roundRect">
            <a:avLst/>
          </a:prstGeom>
          <a:solidFill>
            <a:srgbClr val="DCECF0">
              <a:alpha val="4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c66288c8ceff7aacca69280f9820e7aa"/>
          <p:cNvSpPr/>
          <p:nvPr/>
        </p:nvSpPr>
        <p:spPr>
          <a:xfrm>
            <a:off x="9948423" y="569214"/>
            <a:ext cx="982651" cy="552755"/>
          </a:xfrm>
          <a:prstGeom prst="roundRect">
            <a:avLst/>
          </a:prstGeom>
          <a:solidFill>
            <a:srgbClr val="DCECF0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2d9d479192a63c5cca26c661ac65cec4"/>
          <p:cNvSpPr/>
          <p:nvPr/>
        </p:nvSpPr>
        <p:spPr>
          <a:xfrm>
            <a:off x="10314174" y="774954"/>
            <a:ext cx="633968" cy="356616"/>
          </a:xfrm>
          <a:prstGeom prst="roundRect">
            <a:avLst/>
          </a:prstGeom>
          <a:solidFill>
            <a:srgbClr val="287A8D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2c64cf99402f7f81c78e60d7744cec71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0" name="element_5ed60afb1b9878d37a645e4c4a40c03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72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STAAR Surgical / Alcon — 72-slide transaction approval</dc:title>
  <dc:subject>decide whether to approve the transaction</dc:subject>
  <dc:creator>NodeSlide</dc:creator>
  <cp:lastModifiedBy>NodeSlide</cp:lastModifiedBy>
  <cp:revision>1</cp:revision>
  <dcterms:created xsi:type="dcterms:W3CDTF">2026-08-02T12:19:12Z</dcterms:created>
  <dcterms:modified xsi:type="dcterms:W3CDTF">2026-08-02T12:19:12Z</dcterms:modified>
</cp:coreProperties>
</file>