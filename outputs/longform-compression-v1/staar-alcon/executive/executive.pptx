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Readout / 01. Composition grammar: process-canvas. Keep the spoken transition focused on "Decision"
Evidence note: Content is based on the supplied creation brief. Illustrative examples are not independently verified; replace them with measured evidence before external publication.
NodeSlide sources
[source_8f601cca21fbea50859ddbe481db8b44] STAAR Surgical / Alcon — 4-slide executive readout — creation brief
Citation: Create exactly 4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[source_c36d3d0e2b311e549ec7f1595dadf989]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[source_a6816ffe9774bdd3f76bf722930c5d37]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[source_14071431e0a33df55e30ef1ba0b7a54b]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[source_6b4367028e7ffba94addb95ff96e164c]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[source_71b327d222b7fb2904dbe4b3e4622960] data.sec.gov · supplied source 5
Citation: https://data.sec.gov/api/xbrl/companyfacts/CIK0000718937.json
URL: https://data.sec.gov/api/xbrl/companyfacts/CIK0000718937.json
Disclaimer: User-supplied linked evidence; verify reuse rights before external publication.
[source_a7550dc96759f06d7b39b8f399c55b5e]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[source_3fa3fc2b68c1d4e1588deee6772f8c2e]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Readout / 02. Composition grammar: scene-stage. Keep the spoken transition focused on "Economics"
Evidence note: Content is based on the supplied creation brief. Illustrative examples are not independently verified; replace them with measured evidence before external publication.
NodeSlide sources
[source_8f601cca21fbea50859ddbe481db8b44] STAAR Surgical / Alcon — 4-slide executive readout — creation brief
Citation: Create exactly 4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[source_c36d3d0e2b311e549ec7f1595dadf989]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[source_a6816ffe9774bdd3f76bf722930c5d37]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[source_14071431e0a33df55e30ef1ba0b7a54b]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[source_6b4367028e7ffba94addb95ff96e164c]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[source_71b327d222b7fb2904dbe4b3e4622960] data.sec.gov · supplied source 5
Citation: https://data.sec.gov/api/xbrl/companyfacts/CIK0000718937.json
URL: https://data.sec.gov/api/xbrl/companyfacts/CIK0000718937.json
Disclaimer: User-supplied linked evidence; verify reuse rights before external publication.
[source_a7550dc96759f06d7b39b8f399c55b5e]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[source_3fa3fc2b68c1d4e1588deee6772f8c2e]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
[source_96c236625073d51bece5880fe9590ca7] Brief success criteria
Citation: Preserve exact transaction terms and critical numbers; Expose downside, conflicts, and unresolved diligence; Keep every material claim source-grounded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Readout / 03. Composition grammar: risk-field. Keep the spoken transition focused on "Downside"
Evidence note: Content is based on the supplied creation brief. Illustrative examples are not independently verified; replace them with measured evidence before external publication.
NodeSlide sources
[source_8f601cca21fbea50859ddbe481db8b44] STAAR Surgical / Alcon — 4-slide executive readout — creation brief
Citation: Create exactly 4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[source_c36d3d0e2b311e549ec7f1595dadf989]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[source_a6816ffe9774bdd3f76bf722930c5d37]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[source_14071431e0a33df55e30ef1ba0b7a54b]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[source_6b4367028e7ffba94addb95ff96e164c]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[source_71b327d222b7fb2904dbe4b3e4622960] data.sec.gov · supplied source 5
Citation: https://data.sec.gov/api/xbrl/companyfacts/CIK0000718937.json
URL: https://data.sec.gov/api/xbrl/companyfacts/CIK0000718937.json
Disclaimer: User-supplied linked evidence; verify reuse rights before external publication.
[source_a7550dc96759f06d7b39b8f399c55b5e]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[source_3fa3fc2b68c1d4e1588deee6772f8c2e]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Readout / 04. Composition grammar: decision-gate. Keep the spoken transition focused on "Conditions to proceed"
Evidence note: Content is based on the supplied creation brief. Illustrative examples are not independently verified; replace them with measured evidence before external publication.
NodeSlide sources
[source_8f601cca21fbea50859ddbe481db8b44] STAAR Surgical / Alcon — 4-slide executive readout — creation brief
Citation: Create exactly 4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[source_c36d3d0e2b311e549ec7f1595dadf989]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[source_a6816ffe9774bdd3f76bf722930c5d37]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[source_14071431e0a33df55e30ef1ba0b7a54b]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[source_6b4367028e7ffba94addb95ff96e164c]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[source_71b327d222b7fb2904dbe4b3e4622960] data.sec.gov · supplied source 5
Citation: https://data.sec.gov/api/xbrl/companyfacts/CIK0000718937.json
URL: https://data.sec.gov/api/xbrl/companyfacts/CIK0000718937.json
Disclaimer: User-supplied linked evidence; verify reuse rights before external publication.
[source_a7550dc96759f06d7b39b8f399c55b5e]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[source_3fa3fc2b68c1d4e1588deee6772f8c2e]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09f3a3e030f51442d9ae2b955291a2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98249f3fa5d031f5e793596b009ad12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READOUT / 01</a:t>
            </a:r>
            <a:endParaRPr lang="en-US" sz="1500" dirty="0"/>
          </a:p>
        </p:txBody>
      </p:sp>
      <p:sp>
        <p:nvSpPr>
          <p:cNvPr id="4" name="element_d49028fa9db845aeb4c8a39535e312d7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3200" dirty="0"/>
          </a:p>
        </p:txBody>
      </p:sp>
      <p:sp>
        <p:nvSpPr>
          <p:cNvPr id="5" name="element_a0cc1efa30a7794cb85d337f0e4d3b97"/>
          <p:cNvSpPr/>
          <p:nvPr/>
        </p:nvSpPr>
        <p:spPr>
          <a:xfrm>
            <a:off x="5435058" y="2392070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2e46d07ba4d9912aab09466776405267"/>
          <p:cNvSpPr/>
          <p:nvPr/>
        </p:nvSpPr>
        <p:spPr>
          <a:xfrm>
            <a:off x="5435058" y="3135478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b3c14e9c9499d0359ad8504bebe04351"/>
          <p:cNvSpPr/>
          <p:nvPr/>
        </p:nvSpPr>
        <p:spPr>
          <a:xfrm>
            <a:off x="853419" y="1851660"/>
            <a:ext cx="10484858" cy="502691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b3c14e9c9499d0359ad8504bebe04351:text"/>
          <p:cNvSpPr txBox="1"/>
          <p:nvPr/>
        </p:nvSpPr>
        <p:spPr>
          <a:xfrm>
            <a:off x="853419" y="1851660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9" name="element_bfeb8df3bfd492b9d9c484808f6507a4"/>
          <p:cNvSpPr/>
          <p:nvPr/>
        </p:nvSpPr>
        <p:spPr>
          <a:xfrm>
            <a:off x="853419" y="2594381"/>
            <a:ext cx="10484858" cy="502691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bfeb8df3bfd492b9d9c484808f6507a4:text"/>
          <p:cNvSpPr txBox="1"/>
          <p:nvPr/>
        </p:nvSpPr>
        <p:spPr>
          <a:xfrm>
            <a:off x="853419" y="2594381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Decision</a:t>
            </a:r>
            <a:endParaRPr lang="en-US" sz="1200" dirty="0"/>
          </a:p>
        </p:txBody>
      </p:sp>
      <p:sp>
        <p:nvSpPr>
          <p:cNvPr id="11" name="element_306e0eb1b4746ac11b78090aaf0bcbed"/>
          <p:cNvSpPr/>
          <p:nvPr/>
        </p:nvSpPr>
        <p:spPr>
          <a:xfrm>
            <a:off x="853419" y="3337789"/>
            <a:ext cx="10484858" cy="502691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306e0eb1b4746ac11b78090aaf0bcbed:text"/>
          <p:cNvSpPr txBox="1"/>
          <p:nvPr/>
        </p:nvSpPr>
        <p:spPr>
          <a:xfrm>
            <a:off x="853419" y="3337789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decision</a:t>
            </a:r>
            <a:endParaRPr lang="en-US" sz="1200" dirty="0"/>
          </a:p>
        </p:txBody>
      </p:sp>
      <p:sp>
        <p:nvSpPr>
          <p:cNvPr id="13" name="element_8fdd10364381d0e2aa59c005d5f91dd6"/>
          <p:cNvSpPr txBox="1"/>
          <p:nvPr/>
        </p:nvSpPr>
        <p:spPr>
          <a:xfrm>
            <a:off x="853419" y="4046220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Alcon offered $28.00 in cash per STAAR share. Majority threshold: 24,677,062 shares. Gate: China, forecast bridge, and clearances.</a:t>
            </a:r>
            <a:endParaRPr lang="en-US" sz="1600" dirty="0"/>
          </a:p>
        </p:txBody>
      </p:sp>
      <p:sp>
        <p:nvSpPr>
          <p:cNvPr id="14" name="element_eafdcbb9e968494f09a8d236fe7613d5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19b1c90be8179675eaa2d061dfae315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28098588b3a17d4e85ef08fbe6797401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789fa7d6267c4c80325ccef27d7fc79e"/>
          <p:cNvSpPr/>
          <p:nvPr/>
        </p:nvSpPr>
        <p:spPr>
          <a:xfrm>
            <a:off x="9728973" y="445770"/>
            <a:ext cx="1127732" cy="634365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ad6a3f742a0ba9186cd229bc7b143773"/>
          <p:cNvSpPr/>
          <p:nvPr/>
        </p:nvSpPr>
        <p:spPr>
          <a:xfrm>
            <a:off x="10039861" y="620649"/>
            <a:ext cx="699803" cy="393649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2c2fe636f68b34559e861d8b85cc3f21"/>
          <p:cNvSpPr/>
          <p:nvPr/>
        </p:nvSpPr>
        <p:spPr>
          <a:xfrm>
            <a:off x="10314174" y="774954"/>
            <a:ext cx="451093" cy="253746"/>
          </a:xfrm>
          <a:prstGeom prst="roundRect">
            <a:avLst/>
          </a:prstGeom>
          <a:solidFill>
            <a:srgbClr val="287A8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a7986abdad28ee8b567911c527aba90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3bf6abc39d5a6d86efa82e1a13189f2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877b1515b38100fdc4eb02f615af64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5df859a867e14899065ecbe5c6c33cd"/>
          <p:cNvSpPr/>
          <p:nvPr/>
        </p:nvSpPr>
        <p:spPr>
          <a:xfrm>
            <a:off x="3291758" y="960120"/>
            <a:ext cx="5608180" cy="2331720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e502a820b0f30d4f621b78e4782371b"/>
          <p:cNvSpPr/>
          <p:nvPr/>
        </p:nvSpPr>
        <p:spPr>
          <a:xfrm>
            <a:off x="3805028" y="1566367"/>
            <a:ext cx="312107" cy="246888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d272558e06e2829d382b216762d3f886"/>
          <p:cNvSpPr/>
          <p:nvPr/>
        </p:nvSpPr>
        <p:spPr>
          <a:xfrm>
            <a:off x="4742569" y="2323490"/>
            <a:ext cx="229204" cy="181051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ea2788c8d74a0924aaf2b98cb17962c7"/>
          <p:cNvSpPr/>
          <p:nvPr/>
        </p:nvSpPr>
        <p:spPr>
          <a:xfrm>
            <a:off x="5471633" y="1648663"/>
            <a:ext cx="187752" cy="148133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18a6e298dbafe50f1752d1a1aee9b1c2"/>
          <p:cNvSpPr/>
          <p:nvPr/>
        </p:nvSpPr>
        <p:spPr>
          <a:xfrm>
            <a:off x="5949547" y="1467612"/>
            <a:ext cx="2187190" cy="1728216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75e05cf495a7b0733cf628806a33f165"/>
          <p:cNvSpPr/>
          <p:nvPr/>
        </p:nvSpPr>
        <p:spPr>
          <a:xfrm>
            <a:off x="6533529" y="1928470"/>
            <a:ext cx="1355717" cy="1071220"/>
          </a:xfrm>
          <a:prstGeom prst="roundRect">
            <a:avLst/>
          </a:prstGeom>
          <a:solidFill>
            <a:srgbClr val="DCECF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6c0055620b7d64c653b37c525b848de6"/>
          <p:cNvSpPr/>
          <p:nvPr/>
        </p:nvSpPr>
        <p:spPr>
          <a:xfrm>
            <a:off x="7054115" y="2339950"/>
            <a:ext cx="875364" cy="691286"/>
          </a:xfrm>
          <a:prstGeom prst="roundRect">
            <a:avLst/>
          </a:prstGeom>
          <a:solidFill>
            <a:srgbClr val="287A8D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c9b5cb768945b2e92c062e5d56e68db5"/>
          <p:cNvSpPr txBox="1"/>
          <p:nvPr/>
        </p:nvSpPr>
        <p:spPr>
          <a:xfrm>
            <a:off x="853419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READOUT / 02</a:t>
            </a:r>
            <a:endParaRPr lang="en-US" sz="1500" dirty="0"/>
          </a:p>
        </p:txBody>
      </p:sp>
      <p:sp>
        <p:nvSpPr>
          <p:cNvPr id="11" name="element_7897b70f477c0a1db9bdea95d2899c8f"/>
          <p:cNvSpPr txBox="1"/>
          <p:nvPr/>
        </p:nvSpPr>
        <p:spPr>
          <a:xfrm>
            <a:off x="853419" y="3909060"/>
            <a:ext cx="6095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5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Economics</a:t>
            </a:r>
            <a:endParaRPr lang="en-US" sz="3800" dirty="0"/>
          </a:p>
        </p:txBody>
      </p:sp>
      <p:sp>
        <p:nvSpPr>
          <p:cNvPr id="12" name="element_f9aaf8a26aa7beecb066f575c6952d81"/>
          <p:cNvSpPr txBox="1"/>
          <p:nvPr/>
        </p:nvSpPr>
        <p:spPr>
          <a:xfrm>
            <a:off x="6827349" y="397764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Q2 2025 net sales were $44.320 million, down 55.2% year over year. Cash and available-for-sale investments totaled $189.883 million at June 27, 2025.</a:t>
            </a:r>
            <a:endParaRPr lang="en-US" sz="1600" dirty="0"/>
          </a:p>
        </p:txBody>
      </p:sp>
      <p:sp>
        <p:nvSpPr>
          <p:cNvPr id="13" name="element_662a79d77cb7498c8a8383f59f83a3ad"/>
          <p:cNvSpPr txBox="1"/>
          <p:nvPr/>
        </p:nvSpPr>
        <p:spPr>
          <a:xfrm>
            <a:off x="6827349" y="5486400"/>
            <a:ext cx="4754761" cy="10287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$28 was approximately 59% above STAAR's 90-day VWAP and 51% above its August 4, 2025 close.</a:t>
            </a:r>
            <a:endParaRPr lang="en-US" sz="1500" dirty="0"/>
          </a:p>
        </p:txBody>
      </p:sp>
      <p:sp>
        <p:nvSpPr>
          <p:cNvPr id="14" name="element_08372799a7fb3a3935e35bb1010ab55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b8286fb8ce6d022971f518ab470d326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358de388eb7f3fc1ff3f25fa567273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aa639aa30ec16dbb71586e52a04c831"/>
          <p:cNvSpPr/>
          <p:nvPr/>
        </p:nvSpPr>
        <p:spPr>
          <a:xfrm>
            <a:off x="8058711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9fb6eab090a68ee614b4be9495d4dbd"/>
          <p:cNvSpPr/>
          <p:nvPr/>
        </p:nvSpPr>
        <p:spPr>
          <a:xfrm>
            <a:off x="4523119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239baaab8d8d9faa9b23ef6ca9cda7a5"/>
          <p:cNvSpPr/>
          <p:nvPr/>
        </p:nvSpPr>
        <p:spPr>
          <a:xfrm>
            <a:off x="8058711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87101340667b784b0e5e1ed81c1fb5db"/>
          <p:cNvSpPr/>
          <p:nvPr/>
        </p:nvSpPr>
        <p:spPr>
          <a:xfrm>
            <a:off x="4523119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c1252b872347e38ae49cb478873c01cb"/>
          <p:cNvSpPr txBox="1"/>
          <p:nvPr/>
        </p:nvSpPr>
        <p:spPr>
          <a:xfrm>
            <a:off x="9570481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f252ccfec1adc7b76a7d905a32787b71"/>
          <p:cNvSpPr txBox="1"/>
          <p:nvPr/>
        </p:nvSpPr>
        <p:spPr>
          <a:xfrm>
            <a:off x="4449969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aa0e959a5606f5e4e6af2c9e00c0013d"/>
          <p:cNvSpPr txBox="1"/>
          <p:nvPr/>
        </p:nvSpPr>
        <p:spPr>
          <a:xfrm>
            <a:off x="9424180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ce6a807f87312321c435f62198dc5403"/>
          <p:cNvSpPr txBox="1"/>
          <p:nvPr/>
        </p:nvSpPr>
        <p:spPr>
          <a:xfrm>
            <a:off x="9424180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6e45274bdd198fcb456079783c46f277"/>
          <p:cNvSpPr/>
          <p:nvPr/>
        </p:nvSpPr>
        <p:spPr>
          <a:xfrm>
            <a:off x="4547502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6e45274bdd198fcb456079783c46f277:text"/>
          <p:cNvSpPr txBox="1"/>
          <p:nvPr/>
        </p:nvSpPr>
        <p:spPr>
          <a:xfrm>
            <a:off x="4547502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Downside</a:t>
            </a:r>
            <a:endParaRPr lang="en-US" sz="1400" dirty="0"/>
          </a:p>
        </p:txBody>
      </p:sp>
      <p:sp>
        <p:nvSpPr>
          <p:cNvPr id="13" name="element_b86c0c7e62ccc541e1f0e8ae83a56060"/>
          <p:cNvSpPr/>
          <p:nvPr/>
        </p:nvSpPr>
        <p:spPr>
          <a:xfrm>
            <a:off x="573131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b86c0c7e62ccc541e1f0e8ae83a56060:text"/>
          <p:cNvSpPr txBox="1"/>
          <p:nvPr/>
        </p:nvSpPr>
        <p:spPr>
          <a:xfrm>
            <a:off x="573131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0c488db3c524e85c15698b0145321d0f"/>
          <p:cNvSpPr/>
          <p:nvPr/>
        </p:nvSpPr>
        <p:spPr>
          <a:xfrm>
            <a:off x="7254059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0c488db3c524e85c15698b0145321d0f:text"/>
          <p:cNvSpPr txBox="1"/>
          <p:nvPr/>
        </p:nvSpPr>
        <p:spPr>
          <a:xfrm>
            <a:off x="7254059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62bbefe948fc1a58073d3d978781d71a"/>
          <p:cNvSpPr txBox="1"/>
          <p:nvPr/>
        </p:nvSpPr>
        <p:spPr>
          <a:xfrm>
            <a:off x="731502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READOUT / 03</a:t>
            </a:r>
            <a:endParaRPr lang="en-US" sz="1500" dirty="0"/>
          </a:p>
        </p:txBody>
      </p:sp>
      <p:sp>
        <p:nvSpPr>
          <p:cNvPr id="18" name="element_c97c9d3057e279e82a3124e1886cf92d"/>
          <p:cNvSpPr txBox="1"/>
          <p:nvPr/>
        </p:nvSpPr>
        <p:spPr>
          <a:xfrm>
            <a:off x="731502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Downside</a:t>
            </a:r>
            <a:endParaRPr lang="en-US" sz="3600" dirty="0"/>
          </a:p>
        </p:txBody>
      </p:sp>
      <p:sp>
        <p:nvSpPr>
          <p:cNvPr id="19" name="element_62e9b85a1a83f2fb5e2403ba3ecf0270"/>
          <p:cNvSpPr txBox="1"/>
          <p:nvPr/>
        </p:nvSpPr>
        <p:spPr>
          <a:xfrm>
            <a:off x="731502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sales: $5.299M versus $63.519M. Final case: approximately 10% annual sales growth from 2027. $58/share in April 2024 preceded the $28 agreement.</a:t>
            </a:r>
            <a:endParaRPr lang="en-US" sz="1500" dirty="0"/>
          </a:p>
        </p:txBody>
      </p:sp>
      <p:sp>
        <p:nvSpPr>
          <p:cNvPr id="20" name="element_e7f2b13dfc5dcf42968cff0f96be67f5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4e82b9b4f18714f3bb0cf97c51a3b80b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cec95bbca387effc508b070591c12d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67330ed45e04f8d319cd8ba80a663cc"/>
          <p:cNvSpPr/>
          <p:nvPr/>
        </p:nvSpPr>
        <p:spPr>
          <a:xfrm>
            <a:off x="609585" y="754380"/>
            <a:ext cx="4145176" cy="52120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967330ed45e04f8d319cd8ba80a663cc:text"/>
          <p:cNvSpPr txBox="1"/>
          <p:nvPr/>
        </p:nvSpPr>
        <p:spPr>
          <a:xfrm>
            <a:off x="609585" y="754380"/>
            <a:ext cx="4145176" cy="521208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DECIDE</a:t>
            </a:r>
            <a:endParaRPr lang="en-US" sz="3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WITH CONDITIONS</a:t>
            </a:r>
            <a:endParaRPr lang="en-US" sz="3200" dirty="0"/>
          </a:p>
        </p:txBody>
      </p:sp>
      <p:sp>
        <p:nvSpPr>
          <p:cNvPr id="5" name="element_5445f7b5d60b68fd0d1e3f987dc0b698"/>
          <p:cNvSpPr txBox="1"/>
          <p:nvPr/>
        </p:nvSpPr>
        <p:spPr>
          <a:xfrm>
            <a:off x="5730097" y="617220"/>
            <a:ext cx="5364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READOUT / 04</a:t>
            </a:r>
            <a:endParaRPr lang="en-US" sz="1500" dirty="0"/>
          </a:p>
        </p:txBody>
      </p:sp>
      <p:sp>
        <p:nvSpPr>
          <p:cNvPr id="6" name="element_a4cdc16e2166f65ae1d78b156fbb0bbd"/>
          <p:cNvSpPr txBox="1"/>
          <p:nvPr/>
        </p:nvSpPr>
        <p:spPr>
          <a:xfrm>
            <a:off x="5730097" y="1234440"/>
            <a:ext cx="5608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Conditions to proceed</a:t>
            </a:r>
            <a:endParaRPr lang="en-US" sz="3800" dirty="0"/>
          </a:p>
        </p:txBody>
      </p:sp>
      <p:sp>
        <p:nvSpPr>
          <p:cNvPr id="7" name="element_7fc56a222e0f3685dae167832324e70d"/>
          <p:cNvSpPr txBox="1"/>
          <p:nvPr/>
        </p:nvSpPr>
        <p:spPr>
          <a:xfrm>
            <a:off x="5730097" y="2948940"/>
            <a:ext cx="56081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Closing requires HSR and antitrust clearances. Broadwood: 27.3% ownership; opposed the merger. Citi: forecasts unverified; assumptions not opined.</a:t>
            </a:r>
            <a:endParaRPr lang="en-US" sz="1600" dirty="0"/>
          </a:p>
        </p:txBody>
      </p:sp>
      <p:sp>
        <p:nvSpPr>
          <p:cNvPr id="8" name="element_b50cd7a80fbccf5c0365ef70cee1628e"/>
          <p:cNvSpPr/>
          <p:nvPr/>
        </p:nvSpPr>
        <p:spPr>
          <a:xfrm>
            <a:off x="5730097" y="4251960"/>
            <a:ext cx="5608180" cy="5349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b50cd7a80fbccf5c0365ef70cee1628e:text"/>
          <p:cNvSpPr txBox="1"/>
          <p:nvPr/>
        </p:nvSpPr>
        <p:spPr>
          <a:xfrm>
            <a:off x="5730097" y="425196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Closing requires HSR and antitrust clearances.</a:t>
            </a:r>
            <a:endParaRPr lang="en-US" sz="1400" dirty="0"/>
          </a:p>
        </p:txBody>
      </p:sp>
      <p:sp>
        <p:nvSpPr>
          <p:cNvPr id="10" name="element_c2ce45ca21969e927e7ae420c73dc873"/>
          <p:cNvSpPr/>
          <p:nvPr/>
        </p:nvSpPr>
        <p:spPr>
          <a:xfrm>
            <a:off x="5730097" y="4903470"/>
            <a:ext cx="5608180" cy="534924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c2ce45ca21969e927e7ae420c73dc873:text"/>
          <p:cNvSpPr txBox="1"/>
          <p:nvPr/>
        </p:nvSpPr>
        <p:spPr>
          <a:xfrm>
            <a:off x="5730097" y="490347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Broadwood: 27.3% ownership; opposed the merger.</a:t>
            </a:r>
            <a:endParaRPr lang="en-US" sz="1400" dirty="0"/>
          </a:p>
        </p:txBody>
      </p:sp>
      <p:sp>
        <p:nvSpPr>
          <p:cNvPr id="12" name="element_bb976eafcfda66863fcd0c7eb4ae471c"/>
          <p:cNvSpPr/>
          <p:nvPr/>
        </p:nvSpPr>
        <p:spPr>
          <a:xfrm>
            <a:off x="5730097" y="5554980"/>
            <a:ext cx="5608180" cy="534924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bb976eafcfda66863fcd0c7eb4ae471c:text"/>
          <p:cNvSpPr txBox="1"/>
          <p:nvPr/>
        </p:nvSpPr>
        <p:spPr>
          <a:xfrm>
            <a:off x="5730097" y="555498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Citi: forecasts unverified; assumptions not opined.</a:t>
            </a:r>
            <a:endParaRPr lang="en-US" sz="1400" dirty="0"/>
          </a:p>
        </p:txBody>
      </p:sp>
      <p:sp>
        <p:nvSpPr>
          <p:cNvPr id="14" name="element_ea0e3ac9f785a5fdd01fb0f05a451d8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763cf62fc725de220ff5d91a6ee3fc1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STAAR Surgical / Alcon — 4-slide executive readout</dc:title>
  <dc:subject>compress the accepted decision structure without changing its interpretation</dc:subject>
  <dc:creator>NodeSlide</dc:creator>
  <cp:lastModifiedBy>NodeSlide</cp:lastModifiedBy>
  <cp:revision>1</cp:revision>
  <dcterms:created xsi:type="dcterms:W3CDTF">2026-08-02T12:20:10Z</dcterms:created>
  <dcterms:modified xsi:type="dcterms:W3CDTF">2026-08-02T12:20:10Z</dcterms:modified>
</cp:coreProperties>
</file>