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artifact kinds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Shallow inspection</c:v>
                  </c:pt>
                  <c:pt idx="1">
                    <c:v>Deep inspection</c:v>
                  </c:pt>
                  <c:pt idx="2">
                    <c:v>Never observable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10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Walnut v3 export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Chart parts</c:v>
                  </c:pt>
                  <c:pt idx="1">
                    <c:v>Data series</c:v>
                  </c:pt>
                  <c:pt idx="2">
                    <c:v>Tables</c:v>
                  </c:pt>
                  <c:pt idx="3">
                    <c:v>Bound connectors</c:v>
                  </c:pt>
                  <c:pt idx="4">
                    <c:v>Equations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Native rebuild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Chart parts</c:v>
                  </c:pt>
                  <c:pt idx="1">
                    <c:v>Data series</c:v>
                  </c:pt>
                  <c:pt idx="2">
                    <c:v>Tables</c:v>
                  </c:pt>
                  <c:pt idx="3">
                    <c:v>Bound connectors</c:v>
                  </c:pt>
                  <c:pt idx="4">
                    <c:v>Equations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18</c:v>
                </c:pt>
                <c:pt idx="2">
                  <c:v>5</c:v>
                </c:pt>
                <c:pt idx="3">
                  <c:v>38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topology gate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Inspected</c:v>
                  </c:pt>
                  <c:pt idx="1">
                    <c:v>Decided</c:v>
                  </c:pt>
                  <c:pt idx="2">
                    <c:v>Passed</c:v>
                  </c:pt>
                  <c:pt idx="3">
                    <c:v>Declared fallback</c:v>
                  </c:pt>
                  <c:pt idx="4">
                    <c:v>Violated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38</c:v>
                </c:pt>
                <c:pt idx="2">
                  <c:v>36</c:v>
                </c:pt>
                <c:pt idx="3">
                  <c:v>2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NARRATIVE.HERO-THESIS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Every slide here was gated by the rule it describes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53 archetypes, each naming the artifact that must exist on the slide and the near-misses that do not count.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DATA.KPI-STRIP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Six artifact kinds are visible to a shallow reader, ten to a deep one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DATA.MULTI-SERIES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Zero native chart parts became ten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DATA.FUNNEL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gate decides every slide, or says it could not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model's authority ends at the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</a:t>
            </a:r>
            <a:endParaRPr lang="en-US" sz="1000" dirty="0"/>
          </a:p>
        </p:txBody>
      </p:sp>
      <p:sp>
        <p:nvSpPr>
          <p:cNvPr id="5" name="node-brief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brief</a:t>
            </a:r>
            <a:endParaRPr lang="en-US" sz="1400" dirty="0"/>
          </a:p>
        </p:txBody>
      </p:sp>
      <p:sp>
        <p:nvSpPr>
          <p:cNvPr id="7" name="node-model plan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model plan</a:t>
            </a:r>
            <a:endParaRPr lang="en-US" sz="1400" dirty="0"/>
          </a:p>
        </p:txBody>
      </p:sp>
      <p:sp>
        <p:nvSpPr>
          <p:cNvPr id="9" name="node-compiler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compiler</a:t>
            </a:r>
            <a:endParaRPr lang="en-US" sz="1400" dirty="0"/>
          </a:p>
        </p:txBody>
      </p:sp>
      <p:sp>
        <p:nvSpPr>
          <p:cNvPr id="11" name="node-emitted bytes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emitted bytes</a:t>
            </a:r>
            <a:endParaRPr lang="en-US" sz="1400" dirty="0"/>
          </a:p>
        </p:txBody>
      </p:sp>
      <p:sp>
        <p:nvSpPr>
          <p:cNvPr id="13" name="node-gate verdict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gate verdict</a:t>
            </a:r>
            <a:endParaRPr lang="en-US" sz="1400" dirty="0"/>
          </a:p>
        </p:txBody>
      </p:sp>
      <p:cxnSp>
        <p:nvCxnSpPr>
          <p:cNvPr id="15" name="edge-brief-model plan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model plan-compiler"/>
          <p:cNvCxnSpPr>
            <a:stCxn id="7" idx="3"/>
            <a:endCxn id="9" idx="1"/>
          </p:cNvCxnSpPr>
          <p:nvPr/>
        </p:nvCxnSpPr>
        <p:spPr>
          <a:xfrm>
            <a:off x="36576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compiler-emitted bytes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emitted bytes-gate verdict"/>
          <p:cNvCxnSpPr>
            <a:stCxn id="11" idx="3"/>
            <a:endCxn id="13" idx="1"/>
          </p:cNvCxnSpPr>
          <p:nvPr/>
        </p:nvCxnSpPr>
        <p:spPr>
          <a:xfrm>
            <a:off x="68580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Portability is recorded per artifact kind, and measured twice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beforeRoundTrip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afterRoundTrip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chart parts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data 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connector bindings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equation runs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workbook links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m="http://schemas.openxmlformats.org/officeDocument/2006/math" xmlns:a14="http://schemas.microsoft.com/office/drawing/2010/main"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mc:Ignorable="a14">
  <p:cSld name="Slide 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TECHNICAL.EQUATION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equation is a real object, and it took a wrapper to make it travel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14:m>
              <m:oMathPara>
                <m:oMath>
                  <m:f>
                    <m:num>
                      <m:r>
                        <m:t>?</m:t>
                      </m:r>
                    </m:num>
                    <m:den>
                      <m:r>
                        <m:t>?</m:t>
                      </m:r>
                    </m:den>
                  </m:f>
                </m:oMath>
              </m:oMathPara>
            </a14:m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DATA.TABLE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Eighty-two of eighty-four candidates cleared every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Requested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Passed gates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Eligible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Human-preferred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claude-sonnet-5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moonshotai/kimi-k3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google/gemma-4-26b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deterministic baseline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Maturity is derived from receipts, never written beside them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9</a:t>
            </a:r>
            <a:endParaRPr lang="en-US" sz="1000" dirty="0"/>
          </a:p>
        </p:txBody>
      </p:sp>
      <p:sp>
        <p:nvSpPr>
          <p:cNvPr id="5" name="node-discovered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discovered</a:t>
            </a:r>
            <a:endParaRPr lang="en-US" sz="1400" dirty="0"/>
          </a:p>
        </p:txBody>
      </p:sp>
      <p:sp>
        <p:nvSpPr>
          <p:cNvPr id="7" name="node-extracted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extracted</a:t>
            </a:r>
            <a:endParaRPr lang="en-US" sz="1400" dirty="0"/>
          </a:p>
        </p:txBody>
      </p:sp>
      <p:sp>
        <p:nvSpPr>
          <p:cNvPr id="9" name="node-vetted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vetted</a:t>
            </a:r>
            <a:endParaRPr lang="en-US" sz="1400" dirty="0"/>
          </a:p>
        </p:txBody>
      </p:sp>
      <p:sp>
        <p:nvSpPr>
          <p:cNvPr id="11" name="node-proven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proven</a:t>
            </a:r>
            <a:endParaRPr lang="en-US" sz="1400" dirty="0"/>
          </a:p>
        </p:txBody>
      </p:sp>
      <p:sp>
        <p:nvSpPr>
          <p:cNvPr id="13" name="node-certified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certified</a:t>
            </a:r>
            <a:endParaRPr lang="en-US" sz="1400" dirty="0"/>
          </a:p>
        </p:txBody>
      </p:sp>
      <p:cxnSp>
        <p:nvCxnSpPr>
          <p:cNvPr id="15" name="edge-discovered-extracted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extracted-vetted"/>
          <p:cNvCxnSpPr>
            <a:stCxn id="7" idx="3"/>
            <a:endCxn id="9" idx="1"/>
          </p:cNvCxnSpPr>
          <p:nvPr/>
        </p:nvCxnSpPr>
        <p:spPr>
          <a:xfrm>
            <a:off x="36576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vetted-proven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proven-certified"/>
          <p:cNvCxnSpPr>
            <a:stCxn id="11" idx="3"/>
            <a:endCxn id="13" idx="1"/>
          </p:cNvCxnSpPr>
          <p:nvPr/>
        </p:nvCxnSpPr>
        <p:spPr>
          <a:xfrm>
            <a:off x="68580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One gate is open, and no amount of compute can close 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Certified requires a human blind preference. humanPreferred is null on all 84 receipts, so the ladder stops at proven and says so on the surface.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2026-07-23T10:08:07Z</dcterms:created>
  <dcterms:modified xsi:type="dcterms:W3CDTF">2026-07-23T10:08:07Z</dcterms:modified>
</cp:coreProperties>
</file>