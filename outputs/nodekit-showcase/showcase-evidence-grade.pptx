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artifact kinds</c:v>
                </c:pt>
              </c:strCache>
            </c:strRef>
          </c:tx>
          <c:spPr>
            <a:solidFill>
              <a:srgbClr val="2A4A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Shallow inspection</c:v>
                  </c:pt>
                  <c:pt idx="1">
                    <c:v>Deep inspection</c:v>
                  </c:pt>
                  <c:pt idx="2">
                    <c:v>Never observable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10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C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C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Walnut v3 export</c:v>
                </c:pt>
              </c:strCache>
            </c:strRef>
          </c:tx>
          <c:spPr>
            <a:solidFill>
              <a:srgbClr val="2A4A8F"/>
            </a:solidFill>
            <a:ln w="25400" cap="flat">
              <a:solidFill>
                <a:srgbClr val="2A4A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4A8F"/>
              </a:solidFill>
              <a:ln w="9525" cap="flat">
                <a:solidFill>
                  <a:srgbClr val="2A4A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Chart parts</c:v>
                  </c:pt>
                  <c:pt idx="1">
                    <c:v>Data series</c:v>
                  </c:pt>
                  <c:pt idx="2">
                    <c:v>Tables</c:v>
                  </c:pt>
                  <c:pt idx="3">
                    <c:v>Bound connectors</c:v>
                  </c:pt>
                  <c:pt idx="4">
                    <c:v>Equations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Native rebuild</c:v>
                </c:pt>
              </c:strCache>
            </c:strRef>
          </c:tx>
          <c:spPr>
            <a:solidFill>
              <a:srgbClr val="2E7D46"/>
            </a:solidFill>
            <a:ln w="25400" cap="flat">
              <a:solidFill>
                <a:srgbClr val="2E7D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46"/>
              </a:solidFill>
              <a:ln w="9525" cap="flat">
                <a:solidFill>
                  <a:srgbClr val="2E7D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Chart parts</c:v>
                  </c:pt>
                  <c:pt idx="1">
                    <c:v>Data series</c:v>
                  </c:pt>
                  <c:pt idx="2">
                    <c:v>Tables</c:v>
                  </c:pt>
                  <c:pt idx="3">
                    <c:v>Bound connectors</c:v>
                  </c:pt>
                  <c:pt idx="4">
                    <c:v>Equations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18</c:v>
                </c:pt>
                <c:pt idx="2">
                  <c:v>5</c:v>
                </c:pt>
                <c:pt idx="3">
                  <c:v>38</c:v>
                </c:pt>
                <c:pt idx="4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C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C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topology gate</c:v>
                </c:pt>
              </c:strCache>
            </c:strRef>
          </c:tx>
          <c:spPr>
            <a:solidFill>
              <a:srgbClr val="2A4A8F"/>
            </a:solidFill>
            <a:ln w="25400" cap="flat">
              <a:solidFill>
                <a:srgbClr val="2A4A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4A8F"/>
              </a:solidFill>
              <a:ln w="9525" cap="flat">
                <a:solidFill>
                  <a:srgbClr val="2A4A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Inspected</c:v>
                  </c:pt>
                  <c:pt idx="1">
                    <c:v>Decided</c:v>
                  </c:pt>
                  <c:pt idx="2">
                    <c:v>Passed</c:v>
                  </c:pt>
                  <c:pt idx="3">
                    <c:v>Declared fallback</c:v>
                  </c:pt>
                  <c:pt idx="4">
                    <c:v>Violated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38</c:v>
                </c:pt>
                <c:pt idx="2">
                  <c:v>36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C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C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omenShum/parity-studio/pull/5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NARRATIVE.HERO-THESIS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slide here was gated by the rule it describes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archetypes, each naming the artifact that must exist on the slide and the near-misses that do not count.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DATA.KPI-STRIP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Six artifact kinds are visible to a shallow reader, ten to a deep 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4630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6304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22208" y="14630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0" y="146304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7548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59028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47548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0" y="459028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CHART PART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DATA.MULTI-SERIES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Zero native chart parts became ten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4630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6304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22208" y="14630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0" y="146304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7548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59028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47548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0" y="459028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CHART PART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DATA.FUNNEL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gate decides every slide, or says it could not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4630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6304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22208" y="14630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0" y="146304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7548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59028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47548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0" y="459028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CHART PART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SYSTEMS.ARCHITECTURE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model's authority ends at the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node-brief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brief</a:t>
            </a:r>
            <a:endParaRPr lang="en-US" sz="1400" dirty="0"/>
          </a:p>
        </p:txBody>
      </p:sp>
      <p:sp>
        <p:nvSpPr>
          <p:cNvPr id="8" name="node-model plan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model plan</a:t>
            </a:r>
            <a:endParaRPr lang="en-US" sz="1400" dirty="0"/>
          </a:p>
        </p:txBody>
      </p:sp>
      <p:sp>
        <p:nvSpPr>
          <p:cNvPr id="10" name="node-compiler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compiler</a:t>
            </a:r>
            <a:endParaRPr lang="en-US" sz="1400" dirty="0"/>
          </a:p>
        </p:txBody>
      </p:sp>
      <p:sp>
        <p:nvSpPr>
          <p:cNvPr id="12" name="node-emitted bytes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emitted bytes</a:t>
            </a:r>
            <a:endParaRPr lang="en-US" sz="1400" dirty="0"/>
          </a:p>
        </p:txBody>
      </p:sp>
      <p:sp>
        <p:nvSpPr>
          <p:cNvPr id="14" name="node-gate verdict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gate verdict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1168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2208" y="20116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201168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918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2724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32918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312724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BOUND DIAGRAM</a:t>
            </a:r>
            <a:endParaRPr lang="en-US" sz="900" dirty="0"/>
          </a:p>
        </p:txBody>
      </p:sp>
      <p:cxnSp>
        <p:nvCxnSpPr>
          <p:cNvPr id="26" name="edge-brief-model plan"/>
          <p:cNvCxnSpPr>
            <a:stCxn id="6" idx="3"/>
            <a:endCxn id="8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dge-model plan-compiler"/>
          <p:cNvCxnSpPr>
            <a:stCxn id="8" idx="3"/>
            <a:endCxn id="10" idx="1"/>
          </p:cNvCxnSpPr>
          <p:nvPr/>
        </p:nvCxnSpPr>
        <p:spPr>
          <a:xfrm>
            <a:off x="36576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dge-compiler-emitted bytes"/>
          <p:cNvCxnSpPr>
            <a:stCxn id="10" idx="3"/>
            <a:endCxn id="12" idx="1"/>
          </p:cNvCxnSpPr>
          <p:nvPr/>
        </p:nvCxnSpPr>
        <p:spPr>
          <a:xfrm>
            <a:off x="52578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dge-emitted bytes-gate verdict"/>
          <p:cNvCxnSpPr>
            <a:stCxn id="12" idx="3"/>
            <a:endCxn id="14" idx="1"/>
          </p:cNvCxnSpPr>
          <p:nvPr/>
        </p:nvCxnSpPr>
        <p:spPr>
          <a:xfrm>
            <a:off x="68580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SYSTEMS.COMPARISON-MATRIX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Portability is recorded per artifact kind, and measured twice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beforeRoundTrip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afterRoundTrip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chart parts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data series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connector bindings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equation runs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workbook links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02336" y="1408176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36" y="1408176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77072" y="1408176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41664" y="1408176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2336" y="3346704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2336" y="3182112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77072" y="3346704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41664" y="3182112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TABLE GRID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m="http://schemas.openxmlformats.org/officeDocument/2006/math" xmlns:a14="http://schemas.microsoft.com/office/drawing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mc:Ignorable="a14">
  <p:cSld name="Slide 7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TECHNICAL.EQUATION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equation is a real object, and it took a wrapper to make it travel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14:m>
              <m:oMathPara>
                <m:oMath>
                  <m:f>
                    <m:num>
                      <m:r>
                        <m:t>?</m:t>
                      </m:r>
                    </m:num>
                    <m:den>
                      <m:r>
                        <m:t>?</m:t>
                      </m:r>
                    </m:den>
                  </m:f>
                </m:oMath>
              </m:oMathPara>
            </a14:m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2208" y="20116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201168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918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2724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22208" y="32918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312724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OMML EQUATION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DATA.TABLE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Eighty-two of eighty-four candidates cleared every gate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Requested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Passed gates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Eligible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Human-preferred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claude-sonnet-5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moonshotai/kimi-k3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google/gemma-4-26b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deterministic baseline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A2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02336" y="1408176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36" y="1408176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77072" y="1408176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41664" y="1408176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2336" y="3681984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2336" y="3517392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77072" y="3681984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41664" y="3517392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TABLE GRID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SYSTEMS.HIERARCHY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Maturity is derived from receipts, never written beside 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https://github.com/HomenShum/parity-studio/pull/5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Maturity is derived from the 84 projected arena receipts</a:t>
            </a:r>
            <a:endParaRPr lang="en-US" sz="1000" dirty="0"/>
          </a:p>
        </p:txBody>
      </p:sp>
      <p:sp>
        <p:nvSpPr>
          <p:cNvPr id="7" name="node-discovered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discovered</a:t>
            </a:r>
            <a:endParaRPr lang="en-US" sz="1400" dirty="0"/>
          </a:p>
        </p:txBody>
      </p:sp>
      <p:sp>
        <p:nvSpPr>
          <p:cNvPr id="9" name="node-extracted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extracted</a:t>
            </a:r>
            <a:endParaRPr lang="en-US" sz="1400" dirty="0"/>
          </a:p>
        </p:txBody>
      </p:sp>
      <p:sp>
        <p:nvSpPr>
          <p:cNvPr id="11" name="node-vetted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vetted</a:t>
            </a:r>
            <a:endParaRPr lang="en-US" sz="1400" dirty="0"/>
          </a:p>
        </p:txBody>
      </p:sp>
      <p:sp>
        <p:nvSpPr>
          <p:cNvPr id="13" name="node-proven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proven</a:t>
            </a:r>
            <a:endParaRPr lang="en-US" sz="1400" dirty="0"/>
          </a:p>
        </p:txBody>
      </p:sp>
      <p:sp>
        <p:nvSpPr>
          <p:cNvPr id="15" name="node-certified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BFCFE"/>
          </a:solidFill>
          <a:ln w="19050">
            <a:solidFill>
              <a:srgbClr val="2A4A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certified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1168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2208" y="201168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2011680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2724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3291840"/>
            <a:ext cx="164592" cy="0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3127248"/>
            <a:ext cx="0" cy="164592"/>
          </a:xfrm>
          <a:prstGeom prst="line">
            <a:avLst/>
          </a:prstGeom>
          <a:noFill/>
          <a:ln w="12700">
            <a:solidFill>
              <a:srgbClr val="2A4A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791456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E4F2E8"/>
          </a:solidFill>
          <a:ln w="9525">
            <a:solidFill>
              <a:srgbClr val="2E7D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914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· BOUND DIAGRAM</a:t>
            </a:r>
            <a:endParaRPr lang="en-US" sz="900" dirty="0"/>
          </a:p>
        </p:txBody>
      </p:sp>
      <p:cxnSp>
        <p:nvCxnSpPr>
          <p:cNvPr id="27" name="edge-discovered-extracted"/>
          <p:cNvCxnSpPr>
            <a:stCxn id="7" idx="3"/>
            <a:endCxn id="9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dge-extracted-vetted"/>
          <p:cNvCxnSpPr>
            <a:stCxn id="9" idx="3"/>
            <a:endCxn id="11" idx="1"/>
          </p:cNvCxnSpPr>
          <p:nvPr/>
        </p:nvCxnSpPr>
        <p:spPr>
          <a:xfrm>
            <a:off x="36576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dge-vetted-proven"/>
          <p:cNvCxnSpPr>
            <a:stCxn id="11" idx="3"/>
            <a:endCxn id="13" idx="1"/>
          </p:cNvCxnSpPr>
          <p:nvPr/>
        </p:nvCxnSpPr>
        <p:spPr>
          <a:xfrm>
            <a:off x="52578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dge-proven-certified"/>
          <p:cNvCxnSpPr>
            <a:stCxn id="13" idx="3"/>
            <a:endCxn id="15" idx="1"/>
          </p:cNvCxnSpPr>
          <p:nvPr/>
        </p:nvCxnSpPr>
        <p:spPr>
          <a:xfrm>
            <a:off x="68580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A4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DECISION.RECOMMENDATION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gate is open, and no amount of compute can close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C69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9525">
            <a:solidFill>
              <a:srgbClr val="C2CA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requires a human blind preference. humanPreferred is null on all 84 receipts, so the ladder stops at proven and says so on the surface.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2026-07-23T22:51:09Z</dcterms:created>
  <dcterms:modified xsi:type="dcterms:W3CDTF">2026-07-23T22:51:09Z</dcterms:modified>
</cp:coreProperties>
</file>