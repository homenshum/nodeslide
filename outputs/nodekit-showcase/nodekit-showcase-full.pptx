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  <p:sldId id="270" r:id="rIdSlide15"/>
    <p:sldId id="271" r:id="rIdSlide16"/>
    <p:sldId id="272" r:id="rIdSlide17"/>
    <p:sldId id="273" r:id="rIdSlide18"/>
    <p:sldId id="274" r:id="rIdSlide19"/>
    <p:sldId id="275" r:id="rIdSlide20"/>
    <p:sldId id="276" r:id="rIdSlide21"/>
    <p:sldId id="277" r:id="rIdSlide22"/>
    <p:sldId id="278" r:id="rIdSlide23"/>
    <p:sldId id="279" r:id="rIdSlide24"/>
    <p:sldId id="280" r:id="rIdSlide25"/>
    <p:sldId id="281" r:id="rIdSlide26"/>
    <p:sldId id="282" r:id="rIdSlide27"/>
    <p:sldId id="283" r:id="rIdSlide28"/>
    <p:sldId id="284" r:id="rIdSlide29"/>
    <p:sldId id="285" r:id="rIdSlide30"/>
    <p:sldId id="286" r:id="rIdSlide31"/>
    <p:sldId id="287" r:id="rIdSlide32"/>
    <p:sldId id="288" r:id="rIdSlide33"/>
    <p:sldId id="289" r:id="rIdSlide34"/>
    <p:sldId id="290" r:id="rIdSlide35"/>
    <p:sldId id="291" r:id="rIdSlide36"/>
    <p:sldId id="292" r:id="rIdSlide37"/>
    <p:sldId id="293" r:id="rIdSlide38"/>
    <p:sldId id="294" r:id="rIdSlide39"/>
    <p:sldId id="295" r:id="rIdSlide40"/>
    <p:sldId id="296" r:id="rIdSlide41"/>
    <p:sldId id="297" r:id="rIdSlide42"/>
    <p:sldId id="298" r:id="rIdSlide43"/>
    <p:sldId id="299" r:id="rIdSlide44"/>
    <p:sldId id="300" r:id="rIdSlide45"/>
    <p:sldId id="301" r:id="rIdSlide46"/>
    <p:sldId id="302" r:id="rIdSlide47"/>
    <p:sldId id="303" r:id="rIdSlide48"/>
    <p:sldId id="304" r:id="rIdSlide49"/>
    <p:sldId id="305" r:id="rIdSlide50"/>
    <p:sldId id="306" r:id="rIdSlide51"/>
    <p:sldId id="307" r:id="rIdSlide52"/>
    <p:sldId id="308" r:id="rIdSlide53"/>
    <p:sldId id="309" r:id="rIdSlide54"/>
    <p:sldId id="310" r:id="rIdSlide55"/>
    <p:sldId id="311" r:id="rIdSlide56"/>
    <p:sldId id="312" r:id="rIdSlide57"/>
    <p:sldId id="313" r:id="rIdSlide58"/>
    <p:sldId id="314" r:id="rIdSlide59"/>
    <p:sldId id="315" r:id="rIdSlide60"/>
    <p:sldId id="316" r:id="rIdSlide61"/>
    <p:sldId id="317" r:id="rIdSlide62"/>
    <p:sldId id="318" r:id="rIdSlide63"/>
    <p:sldId id="319" r:id="rIdSlide64"/>
    <p:sldId id="320" r:id="rIdSlide65"/>
    <p:sldId id="321" r:id="rIdSlide66"/>
    <p:sldId id="322" r:id="rIdSlide67"/>
    <p:sldId id="323" r:id="rIdSlide68"/>
    <p:sldId id="324" r:id="rIdSlide69"/>
    <p:sldId id="325" r:id="rIdSlide70"/>
    <p:sldId id="326" r:id="rIdSlide71"/>
    <p:sldId id="327" r:id="rIdSlide72"/>
    <p:sldId id="328" r:id="rIdSlide73"/>
    <p:sldId id="329" r:id="rIdSlide74"/>
    <p:sldId id="330" r:id="rIdSlide75"/>
    <p:sldId id="331" r:id="rIdSlide76"/>
    <p:sldId id="332" r:id="rIdSlide77"/>
    <p:sldId id="333" r:id="rIdSlide78"/>
    <p:sldId id="334" r:id="rIdSlide79"/>
    <p:sldId id="335" r:id="rIdSlide80"/>
    <p:sldId id="336" r:id="rIdSlide81"/>
    <p:sldId id="337" r:id="rIdSlide82"/>
    <p:sldId id="338" r:id="rIdSlide83"/>
    <p:sldId id="339" r:id="rIdSlide84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Relationship Id="rIdSlide15" Type="http://schemas.openxmlformats.org/officeDocument/2006/relationships/slide" Target="slides/slide15.xml"/><Relationship Id="rIdSlide16" Type="http://schemas.openxmlformats.org/officeDocument/2006/relationships/slide" Target="slides/slide16.xml"/><Relationship Id="rIdSlide17" Type="http://schemas.openxmlformats.org/officeDocument/2006/relationships/slide" Target="slides/slide17.xml"/><Relationship Id="rIdSlide18" Type="http://schemas.openxmlformats.org/officeDocument/2006/relationships/slide" Target="slides/slide18.xml"/><Relationship Id="rIdSlide19" Type="http://schemas.openxmlformats.org/officeDocument/2006/relationships/slide" Target="slides/slide19.xml"/><Relationship Id="rIdSlide20" Type="http://schemas.openxmlformats.org/officeDocument/2006/relationships/slide" Target="slides/slide20.xml"/><Relationship Id="rIdSlide21" Type="http://schemas.openxmlformats.org/officeDocument/2006/relationships/slide" Target="slides/slide21.xml"/><Relationship Id="rIdSlide22" Type="http://schemas.openxmlformats.org/officeDocument/2006/relationships/slide" Target="slides/slide22.xml"/><Relationship Id="rIdSlide23" Type="http://schemas.openxmlformats.org/officeDocument/2006/relationships/slide" Target="slides/slide23.xml"/><Relationship Id="rIdSlide24" Type="http://schemas.openxmlformats.org/officeDocument/2006/relationships/slide" Target="slides/slide24.xml"/><Relationship Id="rIdSlide25" Type="http://schemas.openxmlformats.org/officeDocument/2006/relationships/slide" Target="slides/slide25.xml"/><Relationship Id="rIdSlide26" Type="http://schemas.openxmlformats.org/officeDocument/2006/relationships/slide" Target="slides/slide26.xml"/><Relationship Id="rIdSlide27" Type="http://schemas.openxmlformats.org/officeDocument/2006/relationships/slide" Target="slides/slide27.xml"/><Relationship Id="rIdSlide28" Type="http://schemas.openxmlformats.org/officeDocument/2006/relationships/slide" Target="slides/slide28.xml"/><Relationship Id="rIdSlide29" Type="http://schemas.openxmlformats.org/officeDocument/2006/relationships/slide" Target="slides/slide29.xml"/><Relationship Id="rIdSlide30" Type="http://schemas.openxmlformats.org/officeDocument/2006/relationships/slide" Target="slides/slide30.xml"/><Relationship Id="rIdSlide31" Type="http://schemas.openxmlformats.org/officeDocument/2006/relationships/slide" Target="slides/slide31.xml"/><Relationship Id="rIdSlide32" Type="http://schemas.openxmlformats.org/officeDocument/2006/relationships/slide" Target="slides/slide32.xml"/><Relationship Id="rIdSlide33" Type="http://schemas.openxmlformats.org/officeDocument/2006/relationships/slide" Target="slides/slide33.xml"/><Relationship Id="rIdSlide34" Type="http://schemas.openxmlformats.org/officeDocument/2006/relationships/slide" Target="slides/slide34.xml"/><Relationship Id="rIdSlide35" Type="http://schemas.openxmlformats.org/officeDocument/2006/relationships/slide" Target="slides/slide35.xml"/><Relationship Id="rIdSlide36" Type="http://schemas.openxmlformats.org/officeDocument/2006/relationships/slide" Target="slides/slide36.xml"/><Relationship Id="rIdSlide37" Type="http://schemas.openxmlformats.org/officeDocument/2006/relationships/slide" Target="slides/slide37.xml"/><Relationship Id="rIdSlide38" Type="http://schemas.openxmlformats.org/officeDocument/2006/relationships/slide" Target="slides/slide38.xml"/><Relationship Id="rIdSlide39" Type="http://schemas.openxmlformats.org/officeDocument/2006/relationships/slide" Target="slides/slide39.xml"/><Relationship Id="rIdSlide40" Type="http://schemas.openxmlformats.org/officeDocument/2006/relationships/slide" Target="slides/slide40.xml"/><Relationship Id="rIdSlide41" Type="http://schemas.openxmlformats.org/officeDocument/2006/relationships/slide" Target="slides/slide41.xml"/><Relationship Id="rIdSlide42" Type="http://schemas.openxmlformats.org/officeDocument/2006/relationships/slide" Target="slides/slide42.xml"/><Relationship Id="rIdSlide43" Type="http://schemas.openxmlformats.org/officeDocument/2006/relationships/slide" Target="slides/slide43.xml"/><Relationship Id="rIdSlide44" Type="http://schemas.openxmlformats.org/officeDocument/2006/relationships/slide" Target="slides/slide44.xml"/><Relationship Id="rIdSlide45" Type="http://schemas.openxmlformats.org/officeDocument/2006/relationships/slide" Target="slides/slide45.xml"/><Relationship Id="rIdSlide46" Type="http://schemas.openxmlformats.org/officeDocument/2006/relationships/slide" Target="slides/slide46.xml"/><Relationship Id="rIdSlide47" Type="http://schemas.openxmlformats.org/officeDocument/2006/relationships/slide" Target="slides/slide47.xml"/><Relationship Id="rIdSlide48" Type="http://schemas.openxmlformats.org/officeDocument/2006/relationships/slide" Target="slides/slide48.xml"/><Relationship Id="rIdSlide49" Type="http://schemas.openxmlformats.org/officeDocument/2006/relationships/slide" Target="slides/slide49.xml"/><Relationship Id="rIdSlide50" Type="http://schemas.openxmlformats.org/officeDocument/2006/relationships/slide" Target="slides/slide50.xml"/><Relationship Id="rIdSlide51" Type="http://schemas.openxmlformats.org/officeDocument/2006/relationships/slide" Target="slides/slide51.xml"/><Relationship Id="rIdSlide52" Type="http://schemas.openxmlformats.org/officeDocument/2006/relationships/slide" Target="slides/slide52.xml"/><Relationship Id="rIdSlide53" Type="http://schemas.openxmlformats.org/officeDocument/2006/relationships/slide" Target="slides/slide53.xml"/><Relationship Id="rIdSlide54" Type="http://schemas.openxmlformats.org/officeDocument/2006/relationships/slide" Target="slides/slide54.xml"/><Relationship Id="rIdSlide55" Type="http://schemas.openxmlformats.org/officeDocument/2006/relationships/slide" Target="slides/slide55.xml"/><Relationship Id="rIdSlide56" Type="http://schemas.openxmlformats.org/officeDocument/2006/relationships/slide" Target="slides/slide56.xml"/><Relationship Id="rIdSlide57" Type="http://schemas.openxmlformats.org/officeDocument/2006/relationships/slide" Target="slides/slide57.xml"/><Relationship Id="rIdSlide58" Type="http://schemas.openxmlformats.org/officeDocument/2006/relationships/slide" Target="slides/slide58.xml"/><Relationship Id="rIdSlide59" Type="http://schemas.openxmlformats.org/officeDocument/2006/relationships/slide" Target="slides/slide59.xml"/><Relationship Id="rIdSlide60" Type="http://schemas.openxmlformats.org/officeDocument/2006/relationships/slide" Target="slides/slide60.xml"/><Relationship Id="rIdSlide61" Type="http://schemas.openxmlformats.org/officeDocument/2006/relationships/slide" Target="slides/slide61.xml"/><Relationship Id="rIdSlide62" Type="http://schemas.openxmlformats.org/officeDocument/2006/relationships/slide" Target="slides/slide62.xml"/><Relationship Id="rIdSlide63" Type="http://schemas.openxmlformats.org/officeDocument/2006/relationships/slide" Target="slides/slide63.xml"/><Relationship Id="rIdSlide64" Type="http://schemas.openxmlformats.org/officeDocument/2006/relationships/slide" Target="slides/slide64.xml"/><Relationship Id="rIdSlide65" Type="http://schemas.openxmlformats.org/officeDocument/2006/relationships/slide" Target="slides/slide65.xml"/><Relationship Id="rIdSlide66" Type="http://schemas.openxmlformats.org/officeDocument/2006/relationships/slide" Target="slides/slide66.xml"/><Relationship Id="rIdSlide67" Type="http://schemas.openxmlformats.org/officeDocument/2006/relationships/slide" Target="slides/slide67.xml"/><Relationship Id="rIdSlide68" Type="http://schemas.openxmlformats.org/officeDocument/2006/relationships/slide" Target="slides/slide68.xml"/><Relationship Id="rIdSlide69" Type="http://schemas.openxmlformats.org/officeDocument/2006/relationships/slide" Target="slides/slide69.xml"/><Relationship Id="rIdSlide70" Type="http://schemas.openxmlformats.org/officeDocument/2006/relationships/slide" Target="slides/slide70.xml"/><Relationship Id="rIdSlide71" Type="http://schemas.openxmlformats.org/officeDocument/2006/relationships/slide" Target="slides/slide71.xml"/><Relationship Id="rIdSlide72" Type="http://schemas.openxmlformats.org/officeDocument/2006/relationships/slide" Target="slides/slide72.xml"/><Relationship Id="rIdSlide73" Type="http://schemas.openxmlformats.org/officeDocument/2006/relationships/slide" Target="slides/slide73.xml"/><Relationship Id="rIdSlide74" Type="http://schemas.openxmlformats.org/officeDocument/2006/relationships/slide" Target="slides/slide74.xml"/><Relationship Id="rIdSlide75" Type="http://schemas.openxmlformats.org/officeDocument/2006/relationships/slide" Target="slides/slide75.xml"/><Relationship Id="rIdSlide76" Type="http://schemas.openxmlformats.org/officeDocument/2006/relationships/slide" Target="slides/slide76.xml"/><Relationship Id="rIdSlide77" Type="http://schemas.openxmlformats.org/officeDocument/2006/relationships/slide" Target="slides/slide77.xml"/><Relationship Id="rIdSlide78" Type="http://schemas.openxmlformats.org/officeDocument/2006/relationships/slide" Target="slides/slide78.xml"/><Relationship Id="rIdSlide79" Type="http://schemas.openxmlformats.org/officeDocument/2006/relationships/slide" Target="slides/slide79.xml"/><Relationship Id="rIdSlide80" Type="http://schemas.openxmlformats.org/officeDocument/2006/relationships/slide" Target="slides/slide80.xml"/><Relationship Id="rIdSlide81" Type="http://schemas.openxmlformats.org/officeDocument/2006/relationships/slide" Target="slides/slide81.xml"/><Relationship Id="rIdSlide82" Type="http://schemas.openxmlformats.org/officeDocument/2006/relationships/slide" Target="slides/slide82.xml"/><Relationship Id="rIdSlide83" Type="http://schemas.openxmlformats.org/officeDocument/2006/relationships/slide" Target="slides/slide83.xml"/><Relationship Id="rIdSlide84" Type="http://schemas.openxmlformats.org/officeDocument/2006/relationships/slide" Target="slides/slide8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c1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2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3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4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5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6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7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8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9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10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11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12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13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14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15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16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17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18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19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20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21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22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23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24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25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26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27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28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29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30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31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32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33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34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35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36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37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38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39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40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41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42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43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44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45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46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47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48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49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50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51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52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53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54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55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56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57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58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59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60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61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62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63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64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65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66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67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68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69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70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71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72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73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74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75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76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77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78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79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80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81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82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83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c84_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c1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1_notesMaster1.xml"/>
			<Relationship Id="rId2" Type="http://schemas.openxmlformats.org/officeDocument/2006/relationships/slide" Target="c1_slide1.xml"/>
		</Relationships>
</file>

<file path=ppt/notesSlides/_rels/c2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2_notesMaster1.xml"/>
			<Relationship Id="rId2" Type="http://schemas.openxmlformats.org/officeDocument/2006/relationships/slide" Target="c2_slide1.xml"/>
		</Relationships>
</file>

<file path=ppt/notesSlides/_rels/c3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3_notesMaster1.xml"/>
			<Relationship Id="rId2" Type="http://schemas.openxmlformats.org/officeDocument/2006/relationships/slide" Target="c3_slide1.xml"/>
		</Relationships>
</file>

<file path=ppt/notesSlides/_rels/c4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4_notesMaster1.xml"/>
			<Relationship Id="rId2" Type="http://schemas.openxmlformats.org/officeDocument/2006/relationships/slide" Target="c4_slide1.xml"/>
		</Relationships>
</file>

<file path=ppt/notesSlides/_rels/c5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5_notesMaster1.xml"/>
			<Relationship Id="rId2" Type="http://schemas.openxmlformats.org/officeDocument/2006/relationships/slide" Target="c5_slide1.xml"/>
		</Relationships>
</file>

<file path=ppt/notesSlides/_rels/c6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6_notesMaster1.xml"/>
			<Relationship Id="rId2" Type="http://schemas.openxmlformats.org/officeDocument/2006/relationships/slide" Target="c6_slide1.xml"/>
		</Relationships>
</file>

<file path=ppt/notesSlides/_rels/c7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7_notesMaster1.xml"/>
			<Relationship Id="rId2" Type="http://schemas.openxmlformats.org/officeDocument/2006/relationships/slide" Target="c7_slide1.xml"/>
		</Relationships>
</file>

<file path=ppt/notesSlides/_rels/c8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8_notesMaster1.xml"/>
			<Relationship Id="rId2" Type="http://schemas.openxmlformats.org/officeDocument/2006/relationships/slide" Target="c8_slide1.xml"/>
		</Relationships>
</file>

<file path=ppt/notesSlides/_rels/c9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9_notesMaster1.xml"/>
			<Relationship Id="rId2" Type="http://schemas.openxmlformats.org/officeDocument/2006/relationships/slide" Target="c9_slide1.xml"/>
		</Relationships>
</file>

<file path=ppt/notesSlides/_rels/c10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10_notesMaster1.xml"/>
			<Relationship Id="rId2" Type="http://schemas.openxmlformats.org/officeDocument/2006/relationships/slide" Target="c10_slide1.xml"/>
		</Relationships>
</file>

<file path=ppt/notesSlides/_rels/c11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11_notesMaster1.xml"/>
			<Relationship Id="rId2" Type="http://schemas.openxmlformats.org/officeDocument/2006/relationships/slide" Target="c11_slide1.xml"/>
		</Relationships>
</file>

<file path=ppt/notesSlides/_rels/c12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12_notesMaster1.xml"/>
			<Relationship Id="rId2" Type="http://schemas.openxmlformats.org/officeDocument/2006/relationships/slide" Target="c12_slide1.xml"/>
		</Relationships>
</file>

<file path=ppt/notesSlides/_rels/c13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13_notesMaster1.xml"/>
			<Relationship Id="rId2" Type="http://schemas.openxmlformats.org/officeDocument/2006/relationships/slide" Target="c13_slide1.xml"/>
		</Relationships>
</file>

<file path=ppt/notesSlides/_rels/c14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14_notesMaster1.xml"/>
			<Relationship Id="rId2" Type="http://schemas.openxmlformats.org/officeDocument/2006/relationships/slide" Target="c14_slide1.xml"/>
		</Relationships>
</file>

<file path=ppt/notesSlides/_rels/c15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15_notesMaster1.xml"/>
			<Relationship Id="rId2" Type="http://schemas.openxmlformats.org/officeDocument/2006/relationships/slide" Target="c15_slide1.xml"/>
		</Relationships>
</file>

<file path=ppt/notesSlides/_rels/c16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16_notesMaster1.xml"/>
			<Relationship Id="rId2" Type="http://schemas.openxmlformats.org/officeDocument/2006/relationships/slide" Target="c16_slide1.xml"/>
		</Relationships>
</file>

<file path=ppt/notesSlides/_rels/c17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17_notesMaster1.xml"/>
			<Relationship Id="rId2" Type="http://schemas.openxmlformats.org/officeDocument/2006/relationships/slide" Target="c17_slide1.xml"/>
		</Relationships>
</file>

<file path=ppt/notesSlides/_rels/c18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18_notesMaster1.xml"/>
			<Relationship Id="rId2" Type="http://schemas.openxmlformats.org/officeDocument/2006/relationships/slide" Target="c18_slide1.xml"/>
		</Relationships>
</file>

<file path=ppt/notesSlides/_rels/c19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19_notesMaster1.xml"/>
			<Relationship Id="rId2" Type="http://schemas.openxmlformats.org/officeDocument/2006/relationships/slide" Target="c19_slide1.xml"/>
		</Relationships>
</file>

<file path=ppt/notesSlides/_rels/c20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20_notesMaster1.xml"/>
			<Relationship Id="rId2" Type="http://schemas.openxmlformats.org/officeDocument/2006/relationships/slide" Target="c20_slide1.xml"/>
		</Relationships>
</file>

<file path=ppt/notesSlides/_rels/c21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21_notesMaster1.xml"/>
			<Relationship Id="rId2" Type="http://schemas.openxmlformats.org/officeDocument/2006/relationships/slide" Target="c21_slide1.xml"/>
		</Relationships>
</file>

<file path=ppt/notesSlides/_rels/c22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22_notesMaster1.xml"/>
			<Relationship Id="rId2" Type="http://schemas.openxmlformats.org/officeDocument/2006/relationships/slide" Target="c22_slide1.xml"/>
		</Relationships>
</file>

<file path=ppt/notesSlides/_rels/c23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23_notesMaster1.xml"/>
			<Relationship Id="rId2" Type="http://schemas.openxmlformats.org/officeDocument/2006/relationships/slide" Target="c23_slide1.xml"/>
		</Relationships>
</file>

<file path=ppt/notesSlides/_rels/c24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24_notesMaster1.xml"/>
			<Relationship Id="rId2" Type="http://schemas.openxmlformats.org/officeDocument/2006/relationships/slide" Target="c24_slide1.xml"/>
		</Relationships>
</file>

<file path=ppt/notesSlides/_rels/c25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25_notesMaster1.xml"/>
			<Relationship Id="rId2" Type="http://schemas.openxmlformats.org/officeDocument/2006/relationships/slide" Target="c25_slide1.xml"/>
		</Relationships>
</file>

<file path=ppt/notesSlides/_rels/c26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26_notesMaster1.xml"/>
			<Relationship Id="rId2" Type="http://schemas.openxmlformats.org/officeDocument/2006/relationships/slide" Target="c26_slide1.xml"/>
		</Relationships>
</file>

<file path=ppt/notesSlides/_rels/c27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27_notesMaster1.xml"/>
			<Relationship Id="rId2" Type="http://schemas.openxmlformats.org/officeDocument/2006/relationships/slide" Target="c27_slide1.xml"/>
		</Relationships>
</file>

<file path=ppt/notesSlides/_rels/c28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28_notesMaster1.xml"/>
			<Relationship Id="rId2" Type="http://schemas.openxmlformats.org/officeDocument/2006/relationships/slide" Target="c28_slide1.xml"/>
		</Relationships>
</file>

<file path=ppt/notesSlides/_rels/c29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29_notesMaster1.xml"/>
			<Relationship Id="rId2" Type="http://schemas.openxmlformats.org/officeDocument/2006/relationships/slide" Target="c29_slide1.xml"/>
		</Relationships>
</file>

<file path=ppt/notesSlides/_rels/c30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30_notesMaster1.xml"/>
			<Relationship Id="rId2" Type="http://schemas.openxmlformats.org/officeDocument/2006/relationships/slide" Target="c30_slide1.xml"/>
		</Relationships>
</file>

<file path=ppt/notesSlides/_rels/c31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31_notesMaster1.xml"/>
			<Relationship Id="rId2" Type="http://schemas.openxmlformats.org/officeDocument/2006/relationships/slide" Target="c31_slide1.xml"/>
		</Relationships>
</file>

<file path=ppt/notesSlides/_rels/c32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32_notesMaster1.xml"/>
			<Relationship Id="rId2" Type="http://schemas.openxmlformats.org/officeDocument/2006/relationships/slide" Target="c32_slide1.xml"/>
		</Relationships>
</file>

<file path=ppt/notesSlides/_rels/c33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33_notesMaster1.xml"/>
			<Relationship Id="rId2" Type="http://schemas.openxmlformats.org/officeDocument/2006/relationships/slide" Target="c33_slide1.xml"/>
		</Relationships>
</file>

<file path=ppt/notesSlides/_rels/c34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34_notesMaster1.xml"/>
			<Relationship Id="rId2" Type="http://schemas.openxmlformats.org/officeDocument/2006/relationships/slide" Target="c34_slide1.xml"/>
		</Relationships>
</file>

<file path=ppt/notesSlides/_rels/c35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35_notesMaster1.xml"/>
			<Relationship Id="rId2" Type="http://schemas.openxmlformats.org/officeDocument/2006/relationships/slide" Target="c35_slide1.xml"/>
		</Relationships>
</file>

<file path=ppt/notesSlides/_rels/c36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36_notesMaster1.xml"/>
			<Relationship Id="rId2" Type="http://schemas.openxmlformats.org/officeDocument/2006/relationships/slide" Target="c36_slide1.xml"/>
		</Relationships>
</file>

<file path=ppt/notesSlides/_rels/c37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37_notesMaster1.xml"/>
			<Relationship Id="rId2" Type="http://schemas.openxmlformats.org/officeDocument/2006/relationships/slide" Target="c37_slide1.xml"/>
		</Relationships>
</file>

<file path=ppt/notesSlides/_rels/c38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38_notesMaster1.xml"/>
			<Relationship Id="rId2" Type="http://schemas.openxmlformats.org/officeDocument/2006/relationships/slide" Target="c38_slide1.xml"/>
		</Relationships>
</file>

<file path=ppt/notesSlides/_rels/c39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39_notesMaster1.xml"/>
			<Relationship Id="rId2" Type="http://schemas.openxmlformats.org/officeDocument/2006/relationships/slide" Target="c39_slide1.xml"/>
		</Relationships>
</file>

<file path=ppt/notesSlides/_rels/c40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40_notesMaster1.xml"/>
			<Relationship Id="rId2" Type="http://schemas.openxmlformats.org/officeDocument/2006/relationships/slide" Target="c40_slide1.xml"/>
		</Relationships>
</file>

<file path=ppt/notesSlides/_rels/c41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41_notesMaster1.xml"/>
			<Relationship Id="rId2" Type="http://schemas.openxmlformats.org/officeDocument/2006/relationships/slide" Target="c41_slide1.xml"/>
		</Relationships>
</file>

<file path=ppt/notesSlides/_rels/c42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42_notesMaster1.xml"/>
			<Relationship Id="rId2" Type="http://schemas.openxmlformats.org/officeDocument/2006/relationships/slide" Target="c42_slide1.xml"/>
		</Relationships>
</file>

<file path=ppt/notesSlides/_rels/c43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43_notesMaster1.xml"/>
			<Relationship Id="rId2" Type="http://schemas.openxmlformats.org/officeDocument/2006/relationships/slide" Target="c43_slide1.xml"/>
		</Relationships>
</file>

<file path=ppt/notesSlides/_rels/c44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44_notesMaster1.xml"/>
			<Relationship Id="rId2" Type="http://schemas.openxmlformats.org/officeDocument/2006/relationships/slide" Target="c44_slide1.xml"/>
		</Relationships>
</file>

<file path=ppt/notesSlides/_rels/c45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45_notesMaster1.xml"/>
			<Relationship Id="rId2" Type="http://schemas.openxmlformats.org/officeDocument/2006/relationships/slide" Target="c45_slide1.xml"/>
		</Relationships>
</file>

<file path=ppt/notesSlides/_rels/c46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46_notesMaster1.xml"/>
			<Relationship Id="rId2" Type="http://schemas.openxmlformats.org/officeDocument/2006/relationships/slide" Target="c46_slide1.xml"/>
		</Relationships>
</file>

<file path=ppt/notesSlides/_rels/c47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47_notesMaster1.xml"/>
			<Relationship Id="rId2" Type="http://schemas.openxmlformats.org/officeDocument/2006/relationships/slide" Target="c47_slide1.xml"/>
		</Relationships>
</file>

<file path=ppt/notesSlides/_rels/c48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48_notesMaster1.xml"/>
			<Relationship Id="rId2" Type="http://schemas.openxmlformats.org/officeDocument/2006/relationships/slide" Target="c48_slide1.xml"/>
		</Relationships>
</file>

<file path=ppt/notesSlides/_rels/c49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49_notesMaster1.xml"/>
			<Relationship Id="rId2" Type="http://schemas.openxmlformats.org/officeDocument/2006/relationships/slide" Target="c49_slide1.xml"/>
		</Relationships>
</file>

<file path=ppt/notesSlides/_rels/c50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50_notesMaster1.xml"/>
			<Relationship Id="rId2" Type="http://schemas.openxmlformats.org/officeDocument/2006/relationships/slide" Target="c50_slide1.xml"/>
		</Relationships>
</file>

<file path=ppt/notesSlides/_rels/c51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51_notesMaster1.xml"/>
			<Relationship Id="rId2" Type="http://schemas.openxmlformats.org/officeDocument/2006/relationships/slide" Target="c51_slide1.xml"/>
		</Relationships>
</file>

<file path=ppt/notesSlides/_rels/c52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52_notesMaster1.xml"/>
			<Relationship Id="rId2" Type="http://schemas.openxmlformats.org/officeDocument/2006/relationships/slide" Target="c52_slide1.xml"/>
		</Relationships>
</file>

<file path=ppt/notesSlides/_rels/c53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53_notesMaster1.xml"/>
			<Relationship Id="rId2" Type="http://schemas.openxmlformats.org/officeDocument/2006/relationships/slide" Target="c53_slide1.xml"/>
		</Relationships>
</file>

<file path=ppt/notesSlides/_rels/c54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54_notesMaster1.xml"/>
			<Relationship Id="rId2" Type="http://schemas.openxmlformats.org/officeDocument/2006/relationships/slide" Target="c54_slide1.xml"/>
		</Relationships>
</file>

<file path=ppt/notesSlides/_rels/c55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55_notesMaster1.xml"/>
			<Relationship Id="rId2" Type="http://schemas.openxmlformats.org/officeDocument/2006/relationships/slide" Target="c55_slide1.xml"/>
		</Relationships>
</file>

<file path=ppt/notesSlides/_rels/c56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56_notesMaster1.xml"/>
			<Relationship Id="rId2" Type="http://schemas.openxmlformats.org/officeDocument/2006/relationships/slide" Target="c56_slide1.xml"/>
		</Relationships>
</file>

<file path=ppt/notesSlides/_rels/c57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57_notesMaster1.xml"/>
			<Relationship Id="rId2" Type="http://schemas.openxmlformats.org/officeDocument/2006/relationships/slide" Target="c57_slide1.xml"/>
		</Relationships>
</file>

<file path=ppt/notesSlides/_rels/c58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58_notesMaster1.xml"/>
			<Relationship Id="rId2" Type="http://schemas.openxmlformats.org/officeDocument/2006/relationships/slide" Target="c58_slide1.xml"/>
		</Relationships>
</file>

<file path=ppt/notesSlides/_rels/c59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59_notesMaster1.xml"/>
			<Relationship Id="rId2" Type="http://schemas.openxmlformats.org/officeDocument/2006/relationships/slide" Target="c59_slide1.xml"/>
		</Relationships>
</file>

<file path=ppt/notesSlides/_rels/c60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60_notesMaster1.xml"/>
			<Relationship Id="rId2" Type="http://schemas.openxmlformats.org/officeDocument/2006/relationships/slide" Target="c60_slide1.xml"/>
		</Relationships>
</file>

<file path=ppt/notesSlides/_rels/c61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61_notesMaster1.xml"/>
			<Relationship Id="rId2" Type="http://schemas.openxmlformats.org/officeDocument/2006/relationships/slide" Target="c61_slide1.xml"/>
		</Relationships>
</file>

<file path=ppt/notesSlides/_rels/c62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62_notesMaster1.xml"/>
			<Relationship Id="rId2" Type="http://schemas.openxmlformats.org/officeDocument/2006/relationships/slide" Target="c62_slide1.xml"/>
		</Relationships>
</file>

<file path=ppt/notesSlides/_rels/c63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63_notesMaster1.xml"/>
			<Relationship Id="rId2" Type="http://schemas.openxmlformats.org/officeDocument/2006/relationships/slide" Target="c63_slide1.xml"/>
		</Relationships>
</file>

<file path=ppt/notesSlides/_rels/c64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64_notesMaster1.xml"/>
			<Relationship Id="rId2" Type="http://schemas.openxmlformats.org/officeDocument/2006/relationships/slide" Target="c64_slide1.xml"/>
		</Relationships>
</file>

<file path=ppt/notesSlides/_rels/c65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65_notesMaster1.xml"/>
			<Relationship Id="rId2" Type="http://schemas.openxmlformats.org/officeDocument/2006/relationships/slide" Target="c65_slide1.xml"/>
		</Relationships>
</file>

<file path=ppt/notesSlides/_rels/c66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66_notesMaster1.xml"/>
			<Relationship Id="rId2" Type="http://schemas.openxmlformats.org/officeDocument/2006/relationships/slide" Target="c66_slide1.xml"/>
		</Relationships>
</file>

<file path=ppt/notesSlides/_rels/c67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67_notesMaster1.xml"/>
			<Relationship Id="rId2" Type="http://schemas.openxmlformats.org/officeDocument/2006/relationships/slide" Target="c67_slide1.xml"/>
		</Relationships>
</file>

<file path=ppt/notesSlides/_rels/c68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68_notesMaster1.xml"/>
			<Relationship Id="rId2" Type="http://schemas.openxmlformats.org/officeDocument/2006/relationships/slide" Target="c68_slide1.xml"/>
		</Relationships>
</file>

<file path=ppt/notesSlides/_rels/c69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69_notesMaster1.xml"/>
			<Relationship Id="rId2" Type="http://schemas.openxmlformats.org/officeDocument/2006/relationships/slide" Target="c69_slide1.xml"/>
		</Relationships>
</file>

<file path=ppt/notesSlides/_rels/c70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70_notesMaster1.xml"/>
			<Relationship Id="rId2" Type="http://schemas.openxmlformats.org/officeDocument/2006/relationships/slide" Target="c70_slide1.xml"/>
		</Relationships>
</file>

<file path=ppt/notesSlides/_rels/c71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71_notesMaster1.xml"/>
			<Relationship Id="rId2" Type="http://schemas.openxmlformats.org/officeDocument/2006/relationships/slide" Target="c71_slide1.xml"/>
		</Relationships>
</file>

<file path=ppt/notesSlides/_rels/c72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72_notesMaster1.xml"/>
			<Relationship Id="rId2" Type="http://schemas.openxmlformats.org/officeDocument/2006/relationships/slide" Target="c72_slide1.xml"/>
		</Relationships>
</file>

<file path=ppt/notesSlides/_rels/c73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73_notesMaster1.xml"/>
			<Relationship Id="rId2" Type="http://schemas.openxmlformats.org/officeDocument/2006/relationships/slide" Target="c73_slide1.xml"/>
		</Relationships>
</file>

<file path=ppt/notesSlides/_rels/c74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74_notesMaster1.xml"/>
			<Relationship Id="rId2" Type="http://schemas.openxmlformats.org/officeDocument/2006/relationships/slide" Target="c74_slide1.xml"/>
		</Relationships>
</file>

<file path=ppt/notesSlides/_rels/c75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75_notesMaster1.xml"/>
			<Relationship Id="rId2" Type="http://schemas.openxmlformats.org/officeDocument/2006/relationships/slide" Target="c75_slide1.xml"/>
		</Relationships>
</file>

<file path=ppt/notesSlides/_rels/c76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76_notesMaster1.xml"/>
			<Relationship Id="rId2" Type="http://schemas.openxmlformats.org/officeDocument/2006/relationships/slide" Target="c76_slide1.xml"/>
		</Relationships>
</file>

<file path=ppt/notesSlides/_rels/c77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77_notesMaster1.xml"/>
			<Relationship Id="rId2" Type="http://schemas.openxmlformats.org/officeDocument/2006/relationships/slide" Target="c77_slide1.xml"/>
		</Relationships>
</file>

<file path=ppt/notesSlides/_rels/c78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78_notesMaster1.xml"/>
			<Relationship Id="rId2" Type="http://schemas.openxmlformats.org/officeDocument/2006/relationships/slide" Target="c78_slide1.xml"/>
		</Relationships>
</file>

<file path=ppt/notesSlides/_rels/c79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79_notesMaster1.xml"/>
			<Relationship Id="rId2" Type="http://schemas.openxmlformats.org/officeDocument/2006/relationships/slide" Target="c79_slide1.xml"/>
		</Relationships>
</file>

<file path=ppt/notesSlides/_rels/c80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80_notesMaster1.xml"/>
			<Relationship Id="rId2" Type="http://schemas.openxmlformats.org/officeDocument/2006/relationships/slide" Target="c80_slide1.xml"/>
		</Relationships>
</file>

<file path=ppt/notesSlides/_rels/c81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81_notesMaster1.xml"/>
			<Relationship Id="rId2" Type="http://schemas.openxmlformats.org/officeDocument/2006/relationships/slide" Target="c81_slide1.xml"/>
		</Relationships>
</file>

<file path=ppt/notesSlides/_rels/c82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82_notesMaster1.xml"/>
			<Relationship Id="rId2" Type="http://schemas.openxmlformats.org/officeDocument/2006/relationships/slide" Target="c82_slide1.xml"/>
		</Relationships>
</file>

<file path=ppt/notesSlides/_rels/c83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83_notesMaster1.xml"/>
			<Relationship Id="rId2" Type="http://schemas.openxmlformats.org/officeDocument/2006/relationships/slide" Target="c83_slide1.xml"/>
		</Relationships>
</file>

<file path=ppt/notesSlides/_rels/c84_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c84_notesMaster1.xml"/>
			<Relationship Id="rId2" Type="http://schemas.openxmlformats.org/officeDocument/2006/relationships/slide" Target="c84_slide1.xml"/>
		</Relationships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c1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2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3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4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5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6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7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8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9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10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11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12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13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14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15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16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17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18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19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20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21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22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23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24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25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26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27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28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29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30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31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32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33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34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35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36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37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38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39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40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41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42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43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44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45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46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47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48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49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50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51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52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53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54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55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56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57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58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59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60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61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62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63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64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65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66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67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68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69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70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71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72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73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74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75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76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77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78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79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80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81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82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83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c84_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1_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2_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3_notesSlid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4_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5_notesSl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6_notesSl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7_notesSlid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8_notesSlid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9_notesSlid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10_notesSlid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11_notesSlide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12_notesSlid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13_notesSlid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14_notesSlide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15_notesSlid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16_notesSlide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17_notesSlid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18_notesSlide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19_notesSlide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20_notesSlide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21_notesSlide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22_notesSlid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23_notesSlide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24_notesSlide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25_notesSlide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26_notesSlid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27_notesSlide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28_notesSlide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29_notesSlide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30_notesSlide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31_notesSlide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32_notesSlide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33_notesSlide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34_notesSlide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35_notesSlide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36_notesSlide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37_notesSlide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38_notesSlide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39_notesSlide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40_notesSlide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41_notesSlide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42_notesSlide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43_notesSlide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44_notesSlide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45_notesSlide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46_notesSlide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47_notesSlide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48_notesSlide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49_notesSlide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50_notesSlide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51_notesSlide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52_notesSlide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53_notesSlide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54_notesSlide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55_notesSlide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56_notesSlide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57_notesSlide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58_notesSlide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59_notesSlide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60_notesSlide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61_notesSlide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62_notesSlide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63_notesSlide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64_notesSlide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65_notesSlide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66_notesSlide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67_notesSlide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68_notesSlide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69_notesSlide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70_notesSlide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71_notesSlide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72_notesSlide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73_notesSlide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74_notesSlide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75_notesSlide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76_notesSlide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77_notesSlide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78_notesSlide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79_notesSlide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80_notesSlide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81_notesSlide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82_notesSlide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83_notesSlide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c84_notesSlide1.xml"/></Relationships>
</file>

<file path=ppt/slides/c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before commit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portable protocol boundary and backend-specific responsibilities immediately inspectable.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DCE8EB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DCE8EB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DCE8EB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DCE8EB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B3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adapter</a:t>
            </a:r>
            <a:endParaRPr lang="en-US" sz="800" dirty="0"/>
          </a:p>
        </p:txBody>
      </p:sp>
    </p:spTree>
  </p:cSld>
  <p:clrMapOvr>
    <a:masterClrMapping/>
  </p:clrMapOvr>
</p:sld>
</file>

<file path=ppt/slides/c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 Boundary and Backend Adapters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portable protocol validates before commit, then hands off to backend-specific adapters behind a clear trust boundary.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flow: client to protocol to validation to adapter boundary to backends.</a:t>
            </a:r>
            <a:endParaRPr lang="en-US" sz="800" dirty="0"/>
          </a:p>
        </p:txBody>
      </p:sp>
    </p:spTree>
  </p:cSld>
  <p:clrMapOvr>
    <a:masterClrMapping/>
  </p:clrMapOvr>
</p:sld>
</file>

<file path=ppt/slides/c3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NodeSlide Protocol &amp; Adapter Architecture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portable protocol enforces validation before commit, isolating backend-specific persistence behind an adapter boundary.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occurs prior to the commit operation within the protocol layer.</a:t>
            </a:r>
            <a:endParaRPr lang="en-US" sz="800" dirty="0"/>
          </a:p>
        </p:txBody>
      </p:sp>
    </p:spTree>
  </p:cSld>
  <p:clrMapOvr>
    <a:masterClrMapping/>
  </p:clrMapOvr>
</p:sld>
</file>

<file path=ppt/slides/c4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 &amp; Adapter Boundary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calls flow through a portable protocol and validation engine before commit, with memory, Convex, and Postgres adapters implementing persistence behind a distinct adapter trust boundary.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Portable runtime contract (architecture-contract). Validation runs before commit; three named adapters sit behind the adapter boundary.</a:t>
            </a:r>
            <a:endParaRPr lang="en-US" sz="800" dirty="0"/>
          </a:p>
        </p:txBody>
      </p:sp>
    </p:spTree>
  </p:cSld>
  <p:clrMapOvr>
    <a:masterClrMapping/>
  </p:clrMapOvr>
</p:sld>
</file>

<file path=ppt/slides/c5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 Boundary and Backend Adapters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portable protocol enforces validation before commit, then hands off to swappable backend adapters.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flow: client, protocol, validation, adapter boundary, and three backend adapters, with the trust boundary marking where portable logic ends and backend-specific persistence begins.</a:t>
            </a:r>
            <a:endParaRPr lang="en-US" sz="800" dirty="0"/>
          </a:p>
        </p:txBody>
      </p:sp>
    </p:spTree>
  </p:cSld>
  <p:clrMapOvr>
    <a:masterClrMapping/>
  </p:clrMapOvr>
</p:sld>
</file>

<file path=ppt/slides/c6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NodeSlide Protocol &amp; Adapter Architecture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portable protocol ensures consistent lifecycle management while adapters isolate backend-specific persistence logic.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occurs strictly before the commit operation within the protocol lifecycle.</a:t>
            </a:r>
            <a:endParaRPr lang="en-US" sz="800" dirty="0"/>
          </a:p>
        </p:txBody>
      </p:sp>
    </p:spTree>
  </p:cSld>
  <p:clrMapOvr>
    <a:masterClrMapping/>
  </p:clrMapOvr>
</p:sld>
</file>

<file path=ppt/slides/c7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NodeSlide Portable Protocol Architecture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portable protocol carries client operations through validation to backend-specific adapters behind one trust boundary.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flow: Client → Portable Protocol (initialize, stage, commit, restore) → Validation Engine (validation before commit) → Adapter Boundary → Memory, Convex, and Postgres adapters. The adapter boundary is the one marked trust boundary; everything right of it is backend-specific.</a:t>
            </a:r>
            <a:endParaRPr lang="en-US" sz="800" dirty="0"/>
          </a:p>
        </p:txBody>
      </p:sp>
    </p:spTree>
  </p:cSld>
  <p:clrMapOvr>
    <a:masterClrMapping/>
  </p:clrMapOvr>
</p:sld>
</file>

<file path=ppt/slides/c8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acceptance at 52 seconds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a reviewer trace one headline claim through source, extraction, validation, and slide usage.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DCE8EB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6350">
            <a:solidFill>
              <a:srgbClr val="B347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B3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journey-receipt</a:t>
            </a:r>
            <a:endParaRPr lang="en-US" sz="800" dirty="0"/>
          </a:p>
        </p:txBody>
      </p:sp>
    </p:spTree>
  </p:cSld>
  <p:clrMapOvr>
    <a:masterClrMapping/>
  </p:clrMapOvr>
</p:sld>
</file>

<file path=ppt/slides/c9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Lineage: Source to Slide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acceptance at 52 seconds traces cleanly to journey-receipt; the unsupported zero-errors claim is rejected on a separate branch.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FBF8F2"/>
          </a:solidFill>
          <a:ln w="6350">
            <a:solidFill>
              <a:srgbClr val="A63B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lineage: source record, extracted fact, bounded claim, slide element, exported receipt. Rejected branch shown separately with no supporting evidence.</a:t>
            </a:r>
            <a:endParaRPr lang="en-US" sz="800" dirty="0"/>
          </a:p>
        </p:txBody>
      </p:sp>
    </p:spTree>
  </p:cSld>
  <p:clrMapOvr>
    <a:masterClrMapping/>
  </p:clrMapOvr>
</p:sld>
</file>

<file path=ppt/slides/c1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Lineage: Human Acceptance Timing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of 52-second human acceptance is directly traced to the journey receipt, while the 'zero errors' claim is rejected due to lack of evidence.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FBF8F2"/>
          </a:solidFill>
          <a:ln w="6350">
            <a:solidFill>
              <a:srgbClr val="A63B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lineage from source record to slide element.</a:t>
            </a:r>
            <a:endParaRPr lang="en-US" sz="800" dirty="0"/>
          </a:p>
        </p:txBody>
      </p:sp>
    </p:spTree>
  </p:cSld>
  <p:clrMapOvr>
    <a:masterClrMapping/>
  </p:clrMapOvr>
</p:sld>
</file>

<file path=ppt/slides/c1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Lineage: Human Acceptance at 52 Seconds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measured claim 'human acceptance at 52 seconds' traces directly to source journey-receipt; the unsupported 'zero errors' claim is rejected.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FBF8F2"/>
          </a:solidFill>
          <a:ln w="6350">
            <a:solidFill>
              <a:srgbClr val="A63B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left to right: source record (journey-receipt) → extracted fact (elapsed 52s, status complete) → bounded claim (human acceptance at 52 seconds) → slide element → exported receipt. A separate branch marks 'zero errors' as rejected: no browser-error evidence is present in the source.</a:t>
            </a:r>
            <a:endParaRPr lang="en-US" sz="800" dirty="0"/>
          </a:p>
        </p:txBody>
      </p:sp>
    </p:spTree>
  </p:cSld>
  <p:clrMapOvr>
    <a:masterClrMapping/>
  </p:clrMapOvr>
</p:sld>
</file>

<file path=ppt/slides/c1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Lineage: Human Acceptance Claim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'human acceptance at 52 seconds' traces directly to journey-receipt; the unsupported 'zero errors' claim is rejected on a separate branch.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172132"/>
          </a:solidFill>
          <a:ln w="6350">
            <a:solidFill>
              <a:srgbClr val="FF7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left to right: source record → extracted fact → bounded claim → slide element → exported receipt, with the rejected branch shown apart from the validated path.</a:t>
            </a:r>
            <a:endParaRPr lang="en-US" sz="800" dirty="0"/>
          </a:p>
        </p:txBody>
      </p:sp>
    </p:spTree>
  </p:cSld>
  <p:clrMapOvr>
    <a:masterClrMapping/>
  </p:clrMapOvr>
</p:sld>
</file>

<file path=ppt/slides/c13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Lineage: Human Acceptance Timing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of human acceptance at 52 seconds is directly linked to the journey receipt, while the 'zero errors' claim is rejected due to lack of evidence.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172132"/>
          </a:solidFill>
          <a:ln w="6350">
            <a:solidFill>
              <a:srgbClr val="FF7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the validated claim path versus the unsupported error claim.</a:t>
            </a:r>
            <a:endParaRPr lang="en-US" sz="800" dirty="0"/>
          </a:p>
        </p:txBody>
      </p:sp>
    </p:spTree>
  </p:cSld>
  <p:clrMapOvr>
    <a:masterClrMapping/>
  </p:clrMapOvr>
</p:sld>
</file>

<file path=ppt/slides/c14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Lineage: Human Acceptance at 52 Seconds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'human acceptance at 52 seconds' is directly supported by source journey-receipt, while the 'zero errors' claim is rejected due to lack of evidence.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172132"/>
          </a:solidFill>
          <a:ln w="6350">
            <a:solidFill>
              <a:srgbClr val="FF7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traces the lineage of the claim 'human acceptance at 52 seconds' from its source record (journey-receipt) through extraction, validation, and slide usage. The unsupported 'zero errors' claim is shown on a separate rejected branch.</a:t>
            </a:r>
            <a:endParaRPr lang="en-US" sz="800" dirty="0"/>
          </a:p>
        </p:txBody>
      </p:sp>
    </p:spTree>
  </p:cSld>
  <p:clrMapOvr>
    <a:masterClrMapping/>
  </p:clrMapOvr>
</p:sld>
</file>

<file path=ppt/slides/c15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returns Proposal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a small API contract with measured runtime behavior so code and evidence reinforce each other.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DCE8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287A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287A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287A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returns Receipt</a:t>
            </a:r>
            <a:endParaRPr lang="en-US" sz="800" dirty="0"/>
          </a:p>
        </p:txBody>
      </p:sp>
    </p:spTree>
  </p:cSld>
  <p:clrMapOvr>
    <a:masterClrMapping/>
  </p:clrMapOvr>
</p:sld>
</file>

<file path=ppt/slides/c16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to Receipt: Measured Adapter Latency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CaseflowAdapter contract is backed by measured Convex latency: p50 38ms, p95 92ms, receipt 1160 bytes.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contract and runtime measurement are drawn from the same adapter and connected directly; figures reflect benchmark conditions only.</a:t>
            </a:r>
            <a:endParaRPr lang="en-US" sz="800" dirty="0"/>
          </a:p>
        </p:txBody>
      </p:sp>
    </p:spTree>
  </p:cSld>
  <p:clrMapOvr>
    <a:masterClrMapping/>
  </p:clrMapOvr>
</p:sld>
</file>

<file path=ppt/slides/c17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Performance Validation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latency for Convex adapter implementation.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metrics derived from benchmark suite.</a:t>
            </a:r>
            <a:endParaRPr lang="en-US" sz="800" dirty="0"/>
          </a:p>
        </p:txBody>
      </p:sp>
    </p:spTree>
  </p:cSld>
  <p:clrMapOvr>
    <a:masterClrMapping/>
  </p:clrMapOvr>
</p:sld>
</file>

<file path=ppt/slides/c18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Caseflow Adapter: Contract Meets Measured Runtime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TypeScript contract's commit path returns a Receipt, and the Convex adapter benchmark measures p50 at 38 milliseconds and p95 at 92 milliseconds for that path.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Left: the adapter interface as supplied. Right: benchmark output from the Convex adapter run. The connector ties the commit signature to its measured latency and 1160-byte receipt, labeled as benchmark evidence rather than production proof.</a:t>
            </a:r>
            <a:endParaRPr lang="en-US" sz="800" dirty="0"/>
          </a:p>
        </p:txBody>
      </p:sp>
    </p:spTree>
  </p:cSld>
  <p:clrMapOvr>
    <a:masterClrMapping/>
  </p:clrMapOvr>
</p:sld>
</file>

<file path=ppt/slides/c19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Meets Measured Runtime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CaseflowAdapter contract holds under measured load: p50 38ms, p95 92ms, receipt 1160 bytes.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call maps directly to the receipt payload measured in the Convex benchmark; timings reflect this benchmark only.</a:t>
            </a:r>
            <a:endParaRPr lang="en-US" sz="800" dirty="0"/>
          </a:p>
        </p:txBody>
      </p:sp>
    </p:spTree>
  </p:cSld>
  <p:clrMapOvr>
    <a:masterClrMapping/>
  </p:clrMapOvr>
</p:sld>
</file>

<file path=ppt/slides/c2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Performance Validation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latency for Convex adapter implementation.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metrics based on benchmark results.</a:t>
            </a:r>
            <a:endParaRPr lang="en-US" sz="800" dirty="0"/>
          </a:p>
        </p:txBody>
      </p:sp>
    </p:spTree>
  </p:cSld>
  <p:clrMapOvr>
    <a:masterClrMapping/>
  </p:clrMapOvr>
</p:sld>
</file>

<file path=ppt/slides/c2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Caseflow Adapter: Contract Meets Measured Runtime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TypeScript contract returns a Receipt on commit, and the Convex adapter measured p50 38 milliseconds and p95 92 milliseconds.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Convex adapter run; receipt payload 1160 bytes. Latency is measured, not zero, and not production-proven.</a:t>
            </a:r>
            <a:endParaRPr lang="en-US" sz="800" dirty="0"/>
          </a:p>
        </p:txBody>
      </p:sp>
    </p:spTree>
  </p:cSld>
  <p:clrMapOvr>
    <a:masterClrMapping/>
  </p:clrMapOvr>
</p:sld>
</file>

<file path=ppt/slides/c2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one memorable, evidence-bounded thesis before the detailed argument begins.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one memorable, evidence-bounded thesis before the detailed argument begins.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287A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 seconds to human acceptance</a:t>
            </a:r>
            <a:endParaRPr lang="en-US" sz="800" dirty="0"/>
          </a:p>
        </p:txBody>
      </p:sp>
    </p:spTree>
  </p:cSld>
  <p:clrMapOvr>
    <a:masterClrMapping/>
  </p:clrMapOvr>
</p:sld>
</file>

<file path=ppt/slides/c23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Makes Presentation Automation Safer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 turns automated drafting into a trustworthy workflow, not a blind one.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 turns automated drafting into a trustworthy workflow, not a blind one.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 time (52s to human acceptance, 58s to PowerPoint export) is distinct from the broader safety claim above.</a:t>
            </a:r>
            <a:endParaRPr lang="en-US" sz="800" dirty="0"/>
          </a:p>
        </p:txBody>
      </p:sp>
    </p:spTree>
  </p:cSld>
  <p:clrMapOvr>
    <a:masterClrMapping/>
  </p:clrMapOvr>
</p:sld>
</file>

<file path=ppt/slides/c24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Presentation Automation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ensures safety by validating drafts before human acceptance.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ensures safety by validating drafts before human acceptance.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 from frozen fixture to export.</a:t>
            </a:r>
            <a:endParaRPr lang="en-US" sz="800" dirty="0"/>
          </a:p>
        </p:txBody>
      </p:sp>
    </p:spTree>
  </p:cSld>
  <p:clrMapOvr>
    <a:masterClrMapping/>
  </p:clrMapOvr>
</p:sld>
</file>

<file path=ppt/slides/c25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makes presentation automation safer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before acceptance: 52 seconds to human acceptance, 58 seconds to PowerPoint export.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before acceptance: 52 seconds to human acceptance, 58 seconds to PowerPoint export.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timing reflects one frozen product-demo workflow receipt; the broader safety claim rests on review before acceptance, not on the timing alone.</a:t>
            </a:r>
            <a:endParaRPr lang="en-US" sz="800" dirty="0"/>
          </a:p>
        </p:txBody>
      </p:sp>
    </p:spTree>
  </p:cSld>
  <p:clrMapOvr>
    <a:masterClrMapping/>
  </p:clrMapOvr>
</p:sld>
</file>

<file path=ppt/slides/c26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Makes Presentation Automation Safer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 turns automated drafts into trustworthy decks: 52 seconds to human acceptance, 58 seconds to PowerPoint export.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 turns automated drafts into trustworthy decks: 52 seconds to human acceptance, 58 seconds to PowerPoint export.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 timing (52s acceptance, 58s export) is distinct from the broader product thesis about reviewable automation.</a:t>
            </a:r>
            <a:endParaRPr lang="en-US" sz="800" dirty="0"/>
          </a:p>
        </p:txBody>
      </p:sp>
    </p:spTree>
  </p:cSld>
  <p:clrMapOvr>
    <a:masterClrMapping/>
  </p:clrMapOvr>
</p:sld>
</file>

<file path=ppt/slides/c27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Presentation Automation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ensures safety by validating drafts before human acceptance.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ensures safety by validating drafts before human acceptance.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workflow: 52s to human acceptance, 58s to PowerPoint export.</a:t>
            </a:r>
            <a:endParaRPr lang="en-US" sz="800" dirty="0"/>
          </a:p>
        </p:txBody>
      </p:sp>
    </p:spTree>
  </p:cSld>
  <p:clrMapOvr>
    <a:masterClrMapping/>
  </p:clrMapOvr>
</p:sld>
</file>

<file path=ppt/slides/c28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makes presentation automation safer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acceptance at 52 seconds; PowerPoint export at 58 seconds.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acceptance at 52 seconds; PowerPoint export at 58 seconds.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 time is shown separately from the broader product claim.</a:t>
            </a:r>
            <a:endParaRPr lang="en-US" sz="800" dirty="0"/>
          </a:p>
        </p:txBody>
      </p:sp>
    </p:spTree>
  </p:cSld>
  <p:clrMapOvr>
    <a:masterClrMapping/>
  </p:clrMapOvr>
</p:sld>
</file>

<file path=ppt/slides/c29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equals 0.75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cost-adjusted quality measure and connect every symbol to the supplied experiment table.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6350">
            <a:solidFill>
              <a:srgbClr val="DCE8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287A8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equals 0.038</a:t>
            </a:r>
            <a:endParaRPr lang="en-US" sz="800" dirty="0"/>
          </a:p>
        </p:txBody>
      </p:sp>
    </p:spTree>
  </p:cSld>
  <p:clrMapOvr>
    <a:masterClrMapping/>
  </p:clrMapOvr>
</p:sld>
</file>

<file path=ppt/slides/c3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divided by C is approximately 19.74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C455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is the adaptive quality score and C is the cost in USD, taken from the adaptive retrieval result.</a:t>
            </a:r>
            <a:endParaRPr lang="en-US" sz="800" dirty="0"/>
          </a:p>
        </p:txBody>
      </p:sp>
    </p:spTree>
  </p:cSld>
  <p:clrMapOvr>
    <a:masterClrMapping/>
  </p:clrMapOvr>
</p:sld>
</file>

<file path=ppt/slides/c3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policy value is approximately 19.74.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C455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from experimental retrieval results.</a:t>
            </a:r>
            <a:endParaRPr lang="en-US" sz="800" dirty="0"/>
          </a:p>
        </p:txBody>
      </p:sp>
    </p:spTree>
  </p:cSld>
  <p:clrMapOvr>
    <a:masterClrMapping/>
  </p:clrMapOvr>
</p:sld>
</file>

<file path=ppt/slides/c3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divided by C is approximately 19.74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C455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equals 0.75; C equals 0.038; Q divided by C is approximately 19.74</a:t>
            </a:r>
            <a:endParaRPr lang="en-US" sz="800" dirty="0"/>
          </a:p>
        </p:txBody>
      </p:sp>
    </p:spTree>
  </p:cSld>
  <p:clrMapOvr>
    <a:masterClrMapping/>
  </p:clrMapOvr>
</p:sld>
</file>

<file path=ppt/slides/c33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divided by C is approximately 19.74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B6E36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is quality_score (0.75) and C is cost_usd (0.038) from the adaptive retrieval result; their ratio gives the adaptive policy value used to compare configurations.</a:t>
            </a:r>
            <a:endParaRPr lang="en-US" sz="800" dirty="0"/>
          </a:p>
        </p:txBody>
      </p:sp>
    </p:spTree>
  </p:cSld>
  <p:clrMapOvr>
    <a:masterClrMapping/>
  </p:clrMapOvr>
</p:sld>
</file>

<file path=ppt/slides/c34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policy value is approximately 19.74.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B6E36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from experimental retrieval results.</a:t>
            </a:r>
            <a:endParaRPr lang="en-US" sz="800" dirty="0"/>
          </a:p>
        </p:txBody>
      </p:sp>
    </p:spTree>
  </p:cSld>
  <p:clrMapOvr>
    <a:masterClrMapping/>
  </p:clrMapOvr>
</p:sld>
</file>

<file path=ppt/slides/c35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Metric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policy achieves a cost-adjusted quality value of approximately 19.74.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B6E36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represents the quality score (0.75) and C represents the cost in USD (0.038) from the adaptive retrieval experiment.</a:t>
            </a:r>
            <a:endParaRPr lang="en-US" sz="800" dirty="0"/>
          </a:p>
        </p:txBody>
      </p:sp>
    </p:spTree>
  </p:cSld>
  <p:clrMapOvr>
    <a:masterClrMapping/>
  </p:clrMapOvr>
</p:sld>
</file>

<file path=ppt/slides/c36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4.8 million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operating verdict scannable while preserving comparison context for every metric.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B3473F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7.4 million</a:t>
            </a:r>
            <a:endParaRPr lang="en-US" sz="800" dirty="0"/>
          </a:p>
        </p:txBody>
      </p:sp>
    </p:spTree>
  </p:cSld>
  <p:clrMapOvr>
    <a:masterClrMapping/>
  </p:clrMapOvr>
</p:sld>
</file>

<file path=ppt/slides/c37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Review: Mixed Results Against Target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retention gained ground, but pipeline, win rate, and implementation time missed target by material margins.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A63B32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Bars show Q2 actual against prior-quarter and target markers; flagged metrics missed target by more than one point of scale.</a:t>
            </a:r>
            <a:endParaRPr lang="en-US" sz="800" dirty="0"/>
          </a:p>
        </p:txBody>
      </p:sp>
    </p:spTree>
  </p:cSld>
  <p:clrMapOvr>
    <a:masterClrMapping/>
  </p:clrMapOvr>
</p:sld>
</file>

<file path=ppt/slides/c38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Performance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retention remain stable, but pipeline and win rate show significant downward variance against targets.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A63B32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compared to Q1 and Q2 targets.</a:t>
            </a:r>
            <a:endParaRPr lang="en-US" sz="800" dirty="0"/>
          </a:p>
        </p:txBody>
      </p:sp>
    </p:spTree>
  </p:cSld>
  <p:clrMapOvr>
    <a:masterClrMapping/>
  </p:clrMapOvr>
</p:sld>
</file>

<file path=ppt/slides/c39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Review: KPI Verdict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delivered revenue 4.8 million and retention 94 percent, but pipeline 7.4 million and win rate 21 percent are material misses against target.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A63B32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from the Q2 KPI export; each metric shows Q2 value with prior-quarter and target context, and only material misses are flagged.</a:t>
            </a:r>
            <a:endParaRPr lang="en-US" sz="800" dirty="0"/>
          </a:p>
        </p:txBody>
      </p:sp>
    </p:spTree>
  </p:cSld>
  <p:clrMapOvr>
    <a:masterClrMapping/>
  </p:clrMapOvr>
</p:sld>
</file>

<file path=ppt/slides/c4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KPI Strip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retention gained ground, but pipeline, win rate, and implementation time remain materially off target.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FF7A70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Bold central emphasis flags the two metrics with the widest gap to target while preserving prior-quarter context for all five.</a:t>
            </a:r>
            <a:endParaRPr lang="en-US" sz="800" dirty="0"/>
          </a:p>
        </p:txBody>
      </p:sp>
    </p:spTree>
  </p:cSld>
  <p:clrMapOvr>
    <a:masterClrMapping/>
  </p:clrMapOvr>
</p:sld>
</file>

<file path=ppt/slides/c4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Performance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retention show growth, while pipeline and win rate face significant headwinds against targets.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FF7A70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compared to Q1 and Q2 targets.</a:t>
            </a:r>
            <a:endParaRPr lang="en-US" sz="800" dirty="0"/>
          </a:p>
        </p:txBody>
      </p:sp>
    </p:spTree>
  </p:cSld>
  <p:clrMapOvr>
    <a:masterClrMapping/>
  </p:clrMapOvr>
</p:sld>
</file>

<file path=ppt/slides/c4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Review: KPI Strip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shows revenue and retention near target, but pipeline and win rate are material misses against plan.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FF7A70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variance flagged only where Q2 is meaningfully off target; prior-quarter and target context shown for every metric.</a:t>
            </a:r>
            <a:endParaRPr lang="en-US" sz="800" dirty="0"/>
          </a:p>
        </p:txBody>
      </p:sp>
    </p:spTree>
  </p:cSld>
  <p:clrMapOvr>
    <a:masterClrMapping/>
  </p:clrMapOvr>
</p:sld>
</file>

<file path=ppt/slides/c43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reached 91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divergence between related series without inventing a cause for the observed pattern.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3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8B5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DCE8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reached 67</a:t>
            </a:r>
            <a:endParaRPr lang="en-US" sz="800" dirty="0"/>
          </a:p>
        </p:txBody>
      </p:sp>
    </p:spTree>
  </p:cSld>
  <p:clrMapOvr>
    <a:masterClrMapping/>
  </p:clrMapOvr>
</p:sld>
</file>

<file path=ppt/slides/c44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Bus, Local Bus, and Rail: January–June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least, ending at 67 while rapid bus reached 91 and rail reached 82.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trails both rapid bus and rail through June, ending at the lowest indexed value.</a:t>
            </a:r>
            <a:endParaRPr lang="en-US" sz="800" dirty="0"/>
          </a:p>
        </p:txBody>
      </p:sp>
    </p:spTree>
  </p:cSld>
  <p:clrMapOvr>
    <a:masterClrMapping/>
  </p:clrMapOvr>
</p:sld>
</file>

<file path=ppt/slides/c45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Mobility Ridership Trends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ridership shows the lowest growth rate compared to rapid bus and rail.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reached 67</a:t>
            </a:r>
            <a:endParaRPr lang="en-US" sz="800" dirty="0"/>
          </a:p>
        </p:txBody>
      </p:sp>
    </p:spTree>
  </p:cSld>
  <p:clrMapOvr>
    <a:masterClrMapping/>
  </p:clrMapOvr>
</p:sld>
</file>

<file path=ppt/slides/c46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Ridership Recovery Diverges Across Modes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least, reaching 67 by June while rapid bus reached 91 and rail reached 82.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ends at 67, the lowest June recovery across the three modes.</a:t>
            </a:r>
            <a:endParaRPr lang="en-US" sz="800" dirty="0"/>
          </a:p>
        </p:txBody>
      </p:sp>
    </p:spTree>
  </p:cSld>
  <p:clrMapOvr>
    <a:masterClrMapping/>
  </p:clrMapOvr>
</p:sld>
</file>

<file path=ppt/slides/c47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Recovers Fastest; Local Bus Trails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June, rapid bus and rail outpaced local bus, which recovered least across the six months.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rose from 61 to 67, the smallest gain of the three series.</a:t>
            </a:r>
            <a:endParaRPr lang="en-US" sz="800" dirty="0"/>
          </a:p>
        </p:txBody>
      </p:sp>
    </p:spTree>
  </p:cSld>
  <p:clrMapOvr>
    <a:masterClrMapping/>
  </p:clrMapOvr>
</p:sld>
</file>

<file path=ppt/slides/c48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Mobility Ridership Trends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ridership shows the lowest growth rate compared to rapid bus and rail.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reached 67</a:t>
            </a:r>
            <a:endParaRPr lang="en-US" sz="800" dirty="0"/>
          </a:p>
        </p:txBody>
      </p:sp>
    </p:spTree>
  </p:cSld>
  <p:clrMapOvr>
    <a:masterClrMapping/>
  </p:clrMapOvr>
</p:sld>
</file>

<file path=ppt/slides/c49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Ridership Index Jan–Jun: Rapid Bus, Local Bus, Rail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 by June, reaching 67 while rapid bus hit 91 and rail hit 82.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least, ending at 67 in June versus 91 for rapid bus and 82 for rail.</a:t>
            </a:r>
            <a:endParaRPr lang="en-US" sz="800" dirty="0"/>
          </a:p>
        </p:txBody>
      </p:sp>
    </p:spTree>
  </p:cSld>
  <p:clrMapOvr>
    <a:masterClrMapping/>
  </p:clrMapOvr>
</p:sld>
</file>

<file path=ppt/slides/c5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operating risks by likelihood and impact instead of presenting an unlabeled list.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B3473F">
              <a:alpha val="15000"/>
            </a:srgbClr>
          </a:solidFill>
          <a:ln w="6350">
            <a:solidFill>
              <a:srgbClr val="B3473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B3473F">
              <a:alpha val="15000"/>
            </a:srgbClr>
          </a:solidFill>
          <a:ln w="6350">
            <a:solidFill>
              <a:srgbClr val="B3473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B3473F">
              <a:alpha val="15000"/>
            </a:srgbClr>
          </a:solidFill>
          <a:ln w="6350">
            <a:solidFill>
              <a:srgbClr val="B3473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B3473F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287A8D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8B5E3C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DCE8EB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 is 3 by 4</a:t>
            </a:r>
            <a:endParaRPr lang="en-US" sz="800" dirty="0"/>
          </a:p>
        </p:txBody>
      </p:sp>
    </p:spTree>
  </p:cSld>
  <p:clrMapOvr>
    <a:masterClrMapping/>
  </p:clrMapOvr>
</p:sld>
</file>

<file path=ppt/slides/c5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Risk Matrix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risk demanding immediate action.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FBF8F2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A63B32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2B7A7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mitigation on pipeline coverage before addressing lower-likelihood, high-impact risks.</a:t>
            </a:r>
            <a:endParaRPr lang="en-US" sz="800" dirty="0"/>
          </a:p>
        </p:txBody>
      </p:sp>
    </p:spTree>
  </p:cSld>
  <p:clrMapOvr>
    <a:masterClrMapping/>
  </p:clrMapOvr>
</p:sld>
</file>

<file path=ppt/slides/c5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Risk Prioritization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FBF8F2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A63B32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2B7A7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mapped by likelihood and impact scales.</a:t>
            </a:r>
            <a:endParaRPr lang="en-US" sz="800" dirty="0"/>
          </a:p>
        </p:txBody>
      </p:sp>
    </p:spTree>
  </p:cSld>
  <p:clrMapOvr>
    <a:masterClrMapping/>
  </p:clrMapOvr>
</p:sld>
</file>

<file path=ppt/slides/c53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Risk Priorities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priority; implementation capacity is 3 by 4 and retention concentration is 2 by 5.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FBF8F2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A63B32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2B7A7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Likelihood and impact on consistent 1–5 scales; upper-right zone marks the priority region. Source: Q2 risk register.</a:t>
            </a:r>
            <a:endParaRPr lang="en-US" sz="800" dirty="0"/>
          </a:p>
        </p:txBody>
      </p:sp>
    </p:spTree>
  </p:cSld>
  <p:clrMapOvr>
    <a:masterClrMapping/>
  </p:clrMapOvr>
</p:sld>
</file>

<file path=ppt/slides/c54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Risk Matrix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 priority risk requiring immediate attention.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172132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FF7A70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A98BFF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mitigation resources on the upper-right zone before addressing lower-priority risks.</a:t>
            </a:r>
            <a:endParaRPr lang="en-US" sz="800" dirty="0"/>
          </a:p>
        </p:txBody>
      </p:sp>
    </p:spTree>
  </p:cSld>
  <p:clrMapOvr>
    <a:masterClrMapping/>
  </p:clrMapOvr>
</p:sld>
</file>

<file path=ppt/slides/c55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Risk Prioritization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172132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FF7A70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A98BFF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plotted by likelihood and impact scales.</a:t>
            </a:r>
            <a:endParaRPr lang="en-US" sz="800" dirty="0"/>
          </a:p>
        </p:txBody>
      </p:sp>
    </p:spTree>
  </p:cSld>
  <p:clrMapOvr>
    <a:masterClrMapping/>
  </p:clrMapOvr>
</p:sld>
</file>

<file path=ppt/slides/c56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Risk Matrix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priority; retention concentration and implementation capacity follow.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172132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FF7A70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A98BFF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Markers placed on 1–5 likelihood and impact scales from the Q2 risk register.</a:t>
            </a:r>
            <a:endParaRPr lang="en-US" sz="800" dirty="0"/>
          </a:p>
        </p:txBody>
      </p:sp>
    </p:spTree>
  </p:cSld>
  <p:clrMapOvr>
    <a:masterClrMapping/>
  </p:clrMapOvr>
</p:sld>
</file>

<file path=ppt/slides/c57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 is visible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visible product controls to the claimed reviewable-generation workflow without fabricating UI evidence.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6350">
            <a:solidFill>
              <a:srgbClr val="DCE8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DCE8EB"/>
          </a:solidFill>
          <a:ln w="6350">
            <a:solidFill>
              <a:srgbClr val="6474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287A8D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3F6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287A8D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287A8D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3F6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287A8D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287A8D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3F6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287A8D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 is visible</a:t>
            </a:r>
            <a:endParaRPr lang="en-US" sz="800" dirty="0"/>
          </a:p>
        </p:txBody>
      </p:sp>
    </p:spTree>
  </p:cSld>
  <p:clrMapOvr>
    <a:masterClrMapping/>
  </p:clrMapOvr>
</p:sld>
</file>

<file path=ppt/slides/c58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Reviewable-Generation Workflow: Verified Controls, Missing Screenshot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selection, validation status, and trace inspection are verified product surfaces; the interface bitmap itself is not yet supplied and must not be simulated.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E2DDD3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 region marks where the real editor screenshot must be inserted before this slide ships; callouts point to confirmed controls only.</a:t>
            </a:r>
            <a:endParaRPr lang="en-US" sz="800" dirty="0"/>
          </a:p>
        </p:txBody>
      </p:sp>
    </p:spTree>
  </p:cSld>
  <p:clrMapOvr>
    <a:masterClrMapping/>
  </p:clrMapOvr>
</p:sld>
</file>

<file path=ppt/slides/c59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Workflow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integrates model selection, validation status, and trace inspection for verifiable output.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E2DDD3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Callouts map to verified product surfaces within the editor interface.</a:t>
            </a:r>
            <a:endParaRPr lang="en-US" sz="800" dirty="0"/>
          </a:p>
        </p:txBody>
      </p:sp>
    </p:spTree>
  </p:cSld>
  <p:clrMapOvr>
    <a:masterClrMapping/>
  </p:clrMapOvr>
</p:sld>
</file>

<file path=ppt/slides/c6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Generation: Product Controls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selection, validation status, and trace inspection are the verified surfaces of the reviewable-generation workflow; the screenshot itself must be supplied before this slide is final.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E2DDD3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product screenshot bitmap was supplied. The 16:9 media region is an explicit replacement-required placeholder; the three numbered callouts map only to verified product surfaces.</a:t>
            </a:r>
            <a:endParaRPr lang="en-US" sz="800" dirty="0"/>
          </a:p>
        </p:txBody>
      </p:sp>
    </p:spTree>
  </p:cSld>
  <p:clrMapOvr>
    <a:masterClrMapping/>
  </p:clrMapOvr>
</p:sld>
</file>

<file path=ppt/slides/c6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Workflow: Product Controls Mapped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selection, validation status, and trace inspection are verified controls awaiting a real screenshot.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253044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 media region marked replacement-required; three numbered callouts identify verified product surfaces without simulating UI.</a:t>
            </a:r>
            <a:endParaRPr lang="en-US" sz="800" dirty="0"/>
          </a:p>
        </p:txBody>
      </p:sp>
    </p:spTree>
  </p:cSld>
  <p:clrMapOvr>
    <a:masterClrMapping/>
  </p:clrMapOvr>
</p:sld>
</file>

<file path=ppt/slides/c6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Workflow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integrates model selection, validation status, and trace inspection for verifiable output.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253044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Callouts map to verified product surfaces within the editor interface.</a:t>
            </a:r>
            <a:endParaRPr lang="en-US" sz="800" dirty="0"/>
          </a:p>
        </p:txBody>
      </p:sp>
    </p:spTree>
  </p:cSld>
  <p:clrMapOvr>
    <a:masterClrMapping/>
  </p:clrMapOvr>
</p:sld>
</file>

<file path=ppt/slides/c63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NodeSlide Reviewable Generation: Product Proof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verified controls — model selection, validation status, and the Trace inspector — anchor the reviewable-generation story once the real screenshot is dropped in.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253044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16:9 media region is an explicit replacement-required placeholder: no product bitmap was supplied, so no interface is simulated. Numbered callouts are positioned to bind to the corresponding controls the moment authentic evidence replaces the placeholder.</a:t>
            </a:r>
            <a:endParaRPr lang="en-US" sz="800" dirty="0"/>
          </a:p>
        </p:txBody>
      </p:sp>
    </p:spTree>
  </p:cSld>
  <p:clrMapOvr>
    <a:masterClrMapping/>
  </p:clrMapOvr>
</p:sld>
</file>

<file path=ppt/slides/c64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ordering, review custody, and failure boundaries across one request lifecycle.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8B5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3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8B5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precedes commit</a:t>
            </a:r>
            <a:endParaRPr lang="en-US" sz="800" dirty="0"/>
          </a:p>
        </p:txBody>
      </p:sp>
    </p:spTree>
  </p:cSld>
  <p:clrMapOvr>
    <a:masterClrMapping/>
  </p:clrMapOvr>
</p:sld>
</file>

<file path=ppt/slides/c65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Lifecycle: Submission to Receipt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review, acceptance precedes commit, and the adapter returns a versioned receipt.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Lifelines trace one bounded request from submission through validation, human review, and committed receipt, with the failed-validation path shown returning separately.</a:t>
            </a:r>
            <a:endParaRPr lang="en-US" sz="800" dirty="0"/>
          </a:p>
        </p:txBody>
      </p:sp>
    </p:spTree>
  </p:cSld>
  <p:clrMapOvr>
    <a:masterClrMapping/>
  </p:clrMapOvr>
</p:sld>
</file>

<file path=ppt/slides/c66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 &amp; Validation Boundaries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acts as a gatekeeper between the planning model and human review/adapter commit.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illustrates the flow from submission to receipt, highlighting the validation failure path.</a:t>
            </a:r>
            <a:endParaRPr lang="en-US" sz="800" dirty="0"/>
          </a:p>
        </p:txBody>
      </p:sp>
    </p:spTree>
  </p:cSld>
  <p:clrMapOvr>
    <a:masterClrMapping/>
  </p:clrMapOvr>
</p:sld>
</file>

<file path=ppt/slides/c67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Lifecycle: Submit to Versioned Receipt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review, acceptance precedes commit, and only accepted proposals reach the adapter, which returns a versioned receipt.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Direction: top-to-bottom. The dashed return path shows validation issues routed back to the client before any review or commit can occur. Source: Lifecycle events (sequence-events).</a:t>
            </a:r>
            <a:endParaRPr lang="en-US" sz="800" dirty="0"/>
          </a:p>
        </p:txBody>
      </p:sp>
    </p:spTree>
  </p:cSld>
  <p:clrMapOvr>
    <a:masterClrMapping/>
  </p:clrMapOvr>
</p:sld>
</file>

<file path=ppt/slides/c68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Lifecycle: Custody and Failure Boundaries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review, acceptance precedes commit, and every path—success or failure—ends in an explicit return.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lifelines trace one bounded request: submission flows through planning and validation, only accepted proposals reach adapter commit, and failed validation returns directly to the client rather than silently mutating state.</a:t>
            </a:r>
            <a:endParaRPr lang="en-US" sz="800" dirty="0"/>
          </a:p>
        </p:txBody>
      </p:sp>
    </p:spTree>
  </p:cSld>
  <p:clrMapOvr>
    <a:masterClrMapping/>
  </p:clrMapOvr>
</p:sld>
</file>

<file path=ppt/slides/c69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 &amp; Validation Boundaries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acts as the critical gatekeeper between planning and human review/adapter commitment.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review; acceptance precedes commit.</a:t>
            </a:r>
            <a:endParaRPr lang="en-US" sz="800" dirty="0"/>
          </a:p>
        </p:txBody>
      </p:sp>
    </p:spTree>
  </p:cSld>
  <p:clrMapOvr>
    <a:masterClrMapping/>
  </p:clrMapOvr>
</p:sld>
</file>

<file path=ppt/slides/c7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Lifecycle: Validation Gate Before Review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proposal reaches human review only after validation passes, and only accepted proposals are committed by the adapter.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top-to-bottom: validation precedes review; acceptance precedes commit; the adapter returns a versioned receipt. The failed-validation path returns issues to the client instead of advancing.</a:t>
            </a:r>
            <a:endParaRPr lang="en-US" sz="800" dirty="0"/>
          </a:p>
        </p:txBody>
      </p:sp>
    </p:spTree>
  </p:cSld>
  <p:clrMapOvr>
    <a:masterClrMapping/>
  </p:clrMapOvr>
</p:sld>
</file>

<file path=ppt/slides/c7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 July 1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progression from research question to evidence-backed decision with honest stage timing.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DCE8EB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8B5E3C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8B5E3C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8B5E3C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287A8D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8B5E3C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 completed July 9</a:t>
            </a:r>
            <a:endParaRPr lang="en-US" sz="800" dirty="0"/>
          </a:p>
        </p:txBody>
      </p:sp>
    </p:spTree>
  </p:cSld>
  <p:clrMapOvr>
    <a:masterClrMapping/>
  </p:clrMapOvr>
</p:sld>
</file>

<file path=ppt/slides/c7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Timeline: Question to Approved Update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milestones spaced by elapsed days show a deliberate path from framing to approval, with blind review as the gate before harness update.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E2DDD3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C4553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 is time-proportional; the review gate is emphasized to show it precedes approval, not follows it.</a:t>
            </a:r>
            <a:endParaRPr lang="en-US" sz="800" dirty="0"/>
          </a:p>
        </p:txBody>
      </p:sp>
    </p:spTree>
  </p:cSld>
  <p:clrMapOvr>
    <a:masterClrMapping/>
  </p:clrMapOvr>
</p:sld>
</file>

<file path=ppt/slides/c73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Progression to Decision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research lifecycle moves from question definition to approved harness updates through a structured review process.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E2DDD3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C4553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spacing reflects actual elapsed days between milestones.</a:t>
            </a:r>
            <a:endParaRPr lang="en-US" sz="800" dirty="0"/>
          </a:p>
        </p:txBody>
      </p:sp>
    </p:spTree>
  </p:cSld>
  <p:clrMapOvr>
    <a:masterClrMapping/>
  </p:clrMapOvr>
</p:sld>
</file>

<file path=ppt/slides/c74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Timeline: Question to Decision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Progression from frozen question to approved harness update, with honest elapsed-day spacing.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E2DDD3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C4553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 gate emphasized; harness update occurs only after human approval.</a:t>
            </a:r>
            <a:endParaRPr lang="en-US" sz="800" dirty="0"/>
          </a:p>
        </p:txBody>
      </p:sp>
    </p:spTree>
  </p:cSld>
  <p:clrMapOvr>
    <a:masterClrMapping/>
  </p:clrMapOvr>
</p:sld>
</file>

<file path=ppt/slides/c75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Timeline: Question to Approval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Evidence-backed decision reached in 10 days, with a clear human review gate before harness approval.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253044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B6E36B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 spacing reflects elapsed days; review gate emphasized to show human checkpoint before update approval.</a:t>
            </a:r>
            <a:endParaRPr lang="en-US" sz="800" dirty="0"/>
          </a:p>
        </p:txBody>
      </p:sp>
    </p:spTree>
  </p:cSld>
  <p:clrMapOvr>
    <a:masterClrMapping/>
  </p:clrMapOvr>
</p:sld>
</file>

<file path=ppt/slides/c76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Progression to Decision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progression from initial question to approved harness update.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253044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B6E36B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spacing reflects actual elapsed days between milestones.</a:t>
            </a:r>
            <a:endParaRPr lang="en-US" sz="800" dirty="0"/>
          </a:p>
        </p:txBody>
      </p:sp>
    </p:spTree>
  </p:cSld>
  <p:clrMapOvr>
    <a:masterClrMapping/>
  </p:clrMapOvr>
</p:sld>
</file>

<file path=ppt/slides/c77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Question to Approved Harness Update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moved from a frozen question on July 1 to an approved harness update on July 11, with blind review as the decision gate.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253044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B6E36B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 are spaced by elapsed days; the blind review gate is emphasized as the approval checkpoint before the harness update.</a:t>
            </a:r>
            <a:endParaRPr lang="en-US" sz="800" dirty="0"/>
          </a:p>
        </p:txBody>
      </p:sp>
    </p:spTree>
  </p:cSld>
  <p:clrMapOvr>
    <a:masterClrMapping/>
  </p:clrMapOvr>
</p:sld>
</file>

<file path=ppt/slides/c78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a forecast and its uncertainty honestly instead of presenting one modeled value as certain.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1724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 is 9.0 to 13.8</a:t>
            </a:r>
            <a:endParaRPr lang="en-US" sz="800" dirty="0"/>
          </a:p>
        </p:txBody>
      </p:sp>
    </p:spTree>
  </p:cSld>
  <p:clrMapOvr>
    <a:masterClrMapping/>
  </p:clrMapOvr>
</p:sld>
</file>

<file path=ppt/slides/c79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vs. Actual: Widening Uncertainty Ahead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 by Q5, but the modeled range widens to 9.0–13.8, so no single value should be treated as certain.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1724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Q1–Q2 are observed actuals; Q3–Q5 are modeled forecasts with low-to-high ranges. Uncertainty widens materially as the horizon extends.</a:t>
            </a:r>
            <a:endParaRPr lang="en-US" sz="800" dirty="0"/>
          </a:p>
        </p:txBody>
      </p:sp>
    </p:spTree>
  </p:cSld>
  <p:clrMapOvr>
    <a:masterClrMapping/>
  </p:clrMapOvr>
</p:sld>
</file>

<file path=ppt/slides/c80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Forecast vs. Observed Performance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11.4, with uncertainty widening through Q5.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1724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 is 9.0 to 13.8</a:t>
            </a:r>
            <a:endParaRPr lang="en-US" sz="800" dirty="0"/>
          </a:p>
        </p:txBody>
      </p:sp>
    </p:spTree>
  </p:cSld>
  <p:clrMapOvr>
    <a:masterClrMapping/>
  </p:clrMapOvr>
</p:sld>
</file>

<file path=ppt/slides/c81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vs. Actual with Modeled Uncertainty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 by Q5, while the modeled range widens from 9.0 to 13.8.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1724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Q1–Q2 actuals; Q3–Q5 base forecast with modeled low–high range. Range is modeled, not a confidence interval.</a:t>
            </a:r>
            <a:endParaRPr lang="en-US" sz="800" dirty="0"/>
          </a:p>
        </p:txBody>
      </p:sp>
    </p:spTree>
  </p:cSld>
  <p:clrMapOvr>
    <a:masterClrMapping/>
  </p:clrMapOvr>
</p:sld>
</file>

<file path=ppt/slides/c82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vs. Actual: Widening Uncertainty Ahead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 by Q5, but the modeled range widens to 9.0–13.8, showing growing uncertainty rather than false precision.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F7F2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Q1–Q2 are observed actuals; Q3–Q5 are modeled forecasts with low-high ranges. The uncertainty widens as the forecast horizon extends.</a:t>
            </a:r>
            <a:endParaRPr lang="en-US" sz="800" dirty="0"/>
          </a:p>
        </p:txBody>
      </p:sp>
    </p:spTree>
  </p:cSld>
  <p:clrMapOvr>
    <a:masterClrMapping/>
  </p:clrMapOvr>
</p:sld>
</file>

<file path=ppt/slides/c83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Forecast &amp; Uncertainty Projection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11.4, with uncertainty widening through Q5.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F7F2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 is 9.0 to 13.8</a:t>
            </a:r>
            <a:endParaRPr lang="en-US" sz="800" dirty="0"/>
          </a:p>
        </p:txBody>
      </p:sp>
    </p:spTree>
  </p:cSld>
  <p:clrMapOvr>
    <a:masterClrMapping/>
  </p:clrMapOvr>
</p:sld>
</file>

<file path=ppt/slides/c84_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vs. Observed: Widening Modeled Range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Q1–Q2 track near base; the base forecast reaches 11.4 by Q5 while the modeled range widens to 9.0–13.8.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F7F2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 shows the supplied modeled low–high range for Q3–Q5; it is not a confidence interval.</a:t>
            </a:r>
            <a:endParaRPr lang="en-US" sz="800" dirty="0"/>
          </a:p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before commit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portable protocol boundary and backend-specific responsibilities immediately inspectable.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DCE8EB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FFFFFF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DCE8EB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DCE8EB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DCE8EB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B3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 adapter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 Boundary and Backend Adapters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portable protocol validates before commit, then hands off to backend-specific adapters behind a clear trust boundary.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flow: client to protocol to validation to adapter boundary to backends.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NodeSlide Protocol &amp; Adapter Architecture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portable protocol enforces validation before commit, isolating backend-specific persistence behind an adapter boundary.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occurs prior to the commit operation within the protocol layer.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 &amp; Adapter Boundary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calls flow through a portable protocol and validation engine before commit, with memory, Convex, and Postgres adapters implementing persistence behind a distinct adapter trust boundary.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FBF8F2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Portable runtime contract (architecture-contract). Validation runs before commit; three named adapters sit behind the adapter boundary.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 Boundary and Backend Adapters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portable protocol enforces validation before commit, then hands off to swappable backend adapters.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flow: client, protocol, validation, adapter boundary, and three backend adapters, with the trust boundary marking where portable logic ends and backend-specific persistence begins.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NodeSlide Protocol &amp; Adapter Architecture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portable protocol ensures consistent lifecycle management while adapters isolate backend-specific persistence logic.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occurs strictly before the commit operation within the protocol lifecycle.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NodeSlide Portable Protocol Architecture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portable protocol carries client operations through validation to backend-specific adapters behind one trust boundary.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architecture-contract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57400" y="3390900"/>
            <a:ext cx="571500" cy="-30480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686300" y="3086100"/>
            <a:ext cx="5334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124700" y="3086100"/>
            <a:ext cx="76200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9600" y="2971800"/>
            <a:ext cx="14478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000" y="33375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344" dirty="0"/>
          </a:p>
        </p:txBody>
      </p:sp>
      <p:sp>
        <p:nvSpPr>
          <p:cNvPr id="13" name="Shape 11"/>
          <p:cNvSpPr/>
          <p:nvPr/>
        </p:nvSpPr>
        <p:spPr>
          <a:xfrm>
            <a:off x="2628900" y="2514600"/>
            <a:ext cx="2057400" cy="1104900"/>
          </a:xfrm>
          <a:prstGeom prst="roundRect">
            <a:avLst>
              <a:gd name="adj" fmla="val 6621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1300" y="2880360"/>
            <a:ext cx="1752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Portable protocol</a:t>
            </a:r>
            <a:endParaRPr lang="en-US" sz="1344" dirty="0"/>
          </a:p>
        </p:txBody>
      </p:sp>
      <p:sp>
        <p:nvSpPr>
          <p:cNvPr id="15" name="Shape 13"/>
          <p:cNvSpPr/>
          <p:nvPr/>
        </p:nvSpPr>
        <p:spPr>
          <a:xfrm>
            <a:off x="5219700" y="2514600"/>
            <a:ext cx="19050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72100" y="28803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engine</a:t>
            </a:r>
            <a:endParaRPr lang="en-US" sz="1344" dirty="0"/>
          </a:p>
        </p:txBody>
      </p:sp>
      <p:sp>
        <p:nvSpPr>
          <p:cNvPr id="17" name="Shape 15"/>
          <p:cNvSpPr/>
          <p:nvPr/>
        </p:nvSpPr>
        <p:spPr>
          <a:xfrm>
            <a:off x="7886700" y="1943100"/>
            <a:ext cx="3200400" cy="1104900"/>
          </a:xfrm>
          <a:prstGeom prst="roundRect">
            <a:avLst>
              <a:gd name="adj" fmla="val 6621"/>
            </a:avLst>
          </a:prstGeom>
          <a:solidFill>
            <a:srgbClr val="172132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9100" y="2308860"/>
            <a:ext cx="289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boundary</a:t>
            </a:r>
            <a:endParaRPr lang="en-US" sz="1344" dirty="0"/>
          </a:p>
        </p:txBody>
      </p:sp>
      <p:sp>
        <p:nvSpPr>
          <p:cNvPr id="19" name="Shape 17"/>
          <p:cNvSpPr/>
          <p:nvPr/>
        </p:nvSpPr>
        <p:spPr>
          <a:xfrm>
            <a:off x="8305800" y="25527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27051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Memory</a:t>
            </a:r>
            <a:endParaRPr lang="en-US" sz="1152" dirty="0"/>
          </a:p>
        </p:txBody>
      </p:sp>
      <p:sp>
        <p:nvSpPr>
          <p:cNvPr id="21" name="Shape 19"/>
          <p:cNvSpPr/>
          <p:nvPr/>
        </p:nvSpPr>
        <p:spPr>
          <a:xfrm>
            <a:off x="8305800" y="32766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58200" y="34290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Convex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8305800" y="4000500"/>
            <a:ext cx="2286000" cy="518160"/>
          </a:xfrm>
          <a:prstGeom prst="roundRect">
            <a:avLst>
              <a:gd name="adj" fmla="val 14118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58200" y="415290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</a:t>
            </a:r>
            <a:endParaRPr lang="en-US" sz="1152" dirty="0"/>
          </a:p>
        </p:txBody>
      </p:sp>
      <p:sp>
        <p:nvSpPr>
          <p:cNvPr id="25" name="Shape 23"/>
          <p:cNvSpPr/>
          <p:nvPr/>
        </p:nvSpPr>
        <p:spPr>
          <a:xfrm>
            <a:off x="7658100" y="1676400"/>
            <a:ext cx="0" cy="32766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277100" y="5067300"/>
            <a:ext cx="20574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6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backend-specific trust boundary</a:t>
            </a:r>
            <a:endParaRPr lang="en-US" sz="896" dirty="0"/>
          </a:p>
        </p:txBody>
      </p:sp>
      <p:sp>
        <p:nvSpPr>
          <p:cNvPr id="27" name="Text 25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before commit · memory adapter · Convex adapter · Postgres adapter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flow: Client → Portable Protocol (initialize, stage, commit, restore) → Validation Engine (validation before commit) → Adapter Boundary → Memory, Convex, and Postgres adapters. The adapter boundary is the one marked trust boundary; everything right of it is backend-specific.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acceptance at 52 seconds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a reviewer trace one headline claim through source, extraction, validation, and slide usage.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DCE8EB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FFFFFF"/>
          </a:solidFill>
          <a:ln w="6350">
            <a:solidFill>
              <a:srgbClr val="B3473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B3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journey-receipt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Lineage: Source to Slide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acceptance at 52 seconds traces cleanly to journey-receipt; the unsupported zero-errors claim is rejected on a separate branch.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FBF8F2"/>
          </a:solidFill>
          <a:ln w="6350">
            <a:solidFill>
              <a:srgbClr val="A63B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Left-to-right lineage: source record, extracted fact, bounded claim, slide element, exported receipt. Rejected branch shown separately with no supporting evidence.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Lineage: Human Acceptance Timing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of 52-second human acceptance is directly traced to the journey receipt, while the 'zero errors' claim is rejected due to lack of evidence.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FBF8F2"/>
          </a:solidFill>
          <a:ln w="6350">
            <a:solidFill>
              <a:srgbClr val="A63B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Traceable lineage from source record to slide element.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Lineage: Human Acceptance at 52 Seconds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measured claim 'human acceptance at 52 seconds' traces directly to source journey-receipt; the unsupported 'zero errors' claim is rejected.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E2DDD3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FBF8F2"/>
          </a:solidFill>
          <a:ln w="6350">
            <a:solidFill>
              <a:srgbClr val="A63B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left to right: source record (journey-receipt) → extracted fact (elapsed 52s, status complete) → bounded claim (human acceptance at 52 seconds) → slide element → exported receipt. A separate branch marks 'zero errors' as rejected: no browser-error evidence is present in the source.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Lineage: Human Acceptance Claim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'human acceptance at 52 seconds' traces directly to journey-receipt; the unsupported 'zero errors' claim is rejected on a separate branch.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172132"/>
          </a:solidFill>
          <a:ln w="6350">
            <a:solidFill>
              <a:srgbClr val="FF7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left to right: source record → extracted fact → bounded claim → slide element → exported receipt, with the rejected branch shown apart from the validated path.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Lineage: Human Acceptance Timing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of human acceptance at 52 seconds is directly linked to the journey receipt, while the 'zero errors' claim is rejected due to lack of evidence.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172132"/>
          </a:solidFill>
          <a:ln w="6350">
            <a:solidFill>
              <a:srgbClr val="FF7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the validated claim path versus the unsupported error claim.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SOURCE LINEAGE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Lineage: Human Acceptance at 52 Seconds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claim 'human acceptance at 52 seconds' is directly supported by source journey-receipt, while the 'zero errors' claim is rejected due to lack of evidence.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journey-receipt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3622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7818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991600" y="3390900"/>
            <a:ext cx="533400" cy="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858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receipt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8956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27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Extracted fact</a:t>
            </a:r>
            <a:endParaRPr lang="en-US" sz="1152" dirty="0"/>
          </a:p>
        </p:txBody>
      </p:sp>
      <p:sp>
        <p:nvSpPr>
          <p:cNvPr id="17" name="Text 15"/>
          <p:cNvSpPr/>
          <p:nvPr/>
        </p:nvSpPr>
        <p:spPr>
          <a:xfrm>
            <a:off x="30327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51054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253044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425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claim</a:t>
            </a:r>
            <a:endParaRPr lang="en-US" sz="1152" dirty="0"/>
          </a:p>
        </p:txBody>
      </p:sp>
      <p:sp>
        <p:nvSpPr>
          <p:cNvPr id="20" name="Text 18"/>
          <p:cNvSpPr/>
          <p:nvPr/>
        </p:nvSpPr>
        <p:spPr>
          <a:xfrm>
            <a:off x="52425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 seconds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3152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element</a:t>
            </a:r>
            <a:endParaRPr lang="en-US" sz="1152" dirty="0"/>
          </a:p>
        </p:txBody>
      </p:sp>
      <p:sp>
        <p:nvSpPr>
          <p:cNvPr id="23" name="Text 21"/>
          <p:cNvSpPr/>
          <p:nvPr/>
        </p:nvSpPr>
        <p:spPr>
          <a:xfrm>
            <a:off x="74523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525000" y="2895600"/>
            <a:ext cx="1676400" cy="990600"/>
          </a:xfrm>
          <a:prstGeom prst="roundRect">
            <a:avLst>
              <a:gd name="adj" fmla="val 7385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62160" y="3108960"/>
            <a:ext cx="140208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receipt</a:t>
            </a:r>
            <a:endParaRPr lang="en-US" sz="1152" dirty="0"/>
          </a:p>
        </p:txBody>
      </p:sp>
      <p:sp>
        <p:nvSpPr>
          <p:cNvPr id="26" name="Text 24"/>
          <p:cNvSpPr/>
          <p:nvPr/>
        </p:nvSpPr>
        <p:spPr>
          <a:xfrm>
            <a:off x="9662160" y="3474720"/>
            <a:ext cx="1402080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5943600" y="3886200"/>
            <a:ext cx="0" cy="106680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0" y="4953000"/>
            <a:ext cx="1828800" cy="533400"/>
          </a:xfrm>
          <a:prstGeom prst="roundRect">
            <a:avLst>
              <a:gd name="adj" fmla="val 13714"/>
            </a:avLst>
          </a:prstGeom>
          <a:solidFill>
            <a:srgbClr val="172132"/>
          </a:solidFill>
          <a:ln w="6350">
            <a:solidFill>
              <a:srgbClr val="FF7A7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81600" y="5105400"/>
            <a:ext cx="152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“zero errors” rejected</a:t>
            </a:r>
            <a:endParaRPr lang="en-US" sz="1024" dirty="0"/>
          </a:p>
        </p:txBody>
      </p:sp>
      <p:sp>
        <p:nvSpPr>
          <p:cNvPr id="30" name="Text 28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human acceptance at 52 seconds · source journey-receipt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slide traces the lineage of the claim 'human acceptance at 52 seconds' from its source record (journey-receipt) through extraction, validation, and slide usage. The unsupported 'zero errors' claim is shown on a separate rejected branch.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returns Proposal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Pair a small API contract with measured runtime behavior so code and evidence reinforce each other.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DCE8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287A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287A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287A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returns Receipt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to Receipt: Measured Adapter Latency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CaseflowAdapter contract is backed by measured Convex latency: p50 38ms, p95 92ms, receipt 1160 bytes.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contract and runtime measurement are drawn from the same adapter and connected directly; figures reflect benchmark conditions only.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Performance Validation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latency for Convex adapter implementation.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metrics derived from benchmark suite.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Caseflow Adapter: Contract Meets Measured Runtime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TypeScript contract's commit path returns a Receipt, and the Convex adapter benchmark measures p50 at 38 milliseconds and p95 at 92 milliseconds for that path.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Left: the adapter interface as supplied. Right: benchmark output from the Convex adapter run. The connector ties the commit signature to its measured latency and 1160-byte receipt, labeled as benchmark evidence rather than production proof.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Meets Measured Runtime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CaseflowAdapter contract holds under measured load: p50 38ms, p95 92ms, receipt 1160 bytes.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call maps directly to the receipt payload measured in the Convex benchmark; timings reflect this benchmark only.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 Performance Validation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latency for Convex adapter implementation.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metrics based on benchmark results.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RUNTIME PROOF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Caseflow Adapter: Contract Meets Measured Runtime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TypeScript contract returns a Receipt on commit, and the Convex adapter measured p50 38 milliseconds and p95 92 milliseconds.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adapter-interface · adapter-benchmark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85800" y="1828800"/>
            <a:ext cx="7086600" cy="3581400"/>
          </a:xfrm>
          <a:prstGeom prst="roundRect">
            <a:avLst>
              <a:gd name="adj" fmla="val 2043"/>
            </a:avLst>
          </a:prstGeom>
          <a:solidFill>
            <a:srgbClr val="10151C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77200" y="1981200"/>
            <a:ext cx="0" cy="32766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1028700" y="220980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interface CaseflowAdapter {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028700" y="268224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stage(input): Promise&lt;Proposal&gt;;</a:t>
            </a:r>
            <a:endParaRPr lang="en-US" sz="1344" dirty="0"/>
          </a:p>
        </p:txBody>
      </p:sp>
      <p:sp>
        <p:nvSpPr>
          <p:cNvPr id="12" name="Text 10"/>
          <p:cNvSpPr/>
          <p:nvPr/>
        </p:nvSpPr>
        <p:spPr>
          <a:xfrm>
            <a:off x="1028700" y="315468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commit(input): Promise&lt;Receipt&gt;;</a:t>
            </a:r>
            <a:endParaRPr lang="en-US" sz="1344" dirty="0"/>
          </a:p>
        </p:txBody>
      </p:sp>
      <p:sp>
        <p:nvSpPr>
          <p:cNvPr id="13" name="Text 11"/>
          <p:cNvSpPr/>
          <p:nvPr/>
        </p:nvSpPr>
        <p:spPr>
          <a:xfrm>
            <a:off x="1028700" y="362712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E6EDF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restore(versionId): Promise&lt;Receipt&gt;;</a:t>
            </a:r>
            <a:endParaRPr lang="en-US" sz="1344" dirty="0"/>
          </a:p>
        </p:txBody>
      </p:sp>
      <p:sp>
        <p:nvSpPr>
          <p:cNvPr id="14" name="Text 12"/>
          <p:cNvSpPr/>
          <p:nvPr/>
        </p:nvSpPr>
        <p:spPr>
          <a:xfrm>
            <a:off x="1028700" y="4099560"/>
            <a:ext cx="63246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8458200" y="20955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38 ms</a:t>
            </a:r>
            <a:endParaRPr lang="en-US" sz="2880" dirty="0"/>
          </a:p>
        </p:txBody>
      </p:sp>
      <p:sp>
        <p:nvSpPr>
          <p:cNvPr id="16" name="Text 14"/>
          <p:cNvSpPr/>
          <p:nvPr/>
        </p:nvSpPr>
        <p:spPr>
          <a:xfrm>
            <a:off x="8458200" y="26136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p50 latency</a:t>
            </a:r>
            <a:endParaRPr lang="en-US" sz="1024" dirty="0"/>
          </a:p>
        </p:txBody>
      </p:sp>
      <p:sp>
        <p:nvSpPr>
          <p:cNvPr id="17" name="Text 15"/>
          <p:cNvSpPr/>
          <p:nvPr/>
        </p:nvSpPr>
        <p:spPr>
          <a:xfrm>
            <a:off x="8458200" y="3200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92 ms</a:t>
            </a:r>
            <a:endParaRPr lang="en-US" sz="2880" dirty="0"/>
          </a:p>
        </p:txBody>
      </p:sp>
      <p:sp>
        <p:nvSpPr>
          <p:cNvPr id="18" name="Text 16"/>
          <p:cNvSpPr/>
          <p:nvPr/>
        </p:nvSpPr>
        <p:spPr>
          <a:xfrm>
            <a:off x="8458200" y="37185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latency</a:t>
            </a:r>
            <a:endParaRPr lang="en-US" sz="1024" dirty="0"/>
          </a:p>
        </p:txBody>
      </p:sp>
      <p:sp>
        <p:nvSpPr>
          <p:cNvPr id="19" name="Text 17"/>
          <p:cNvSpPr/>
          <p:nvPr/>
        </p:nvSpPr>
        <p:spPr>
          <a:xfrm>
            <a:off x="8458200" y="43053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288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1,160 B</a:t>
            </a:r>
            <a:endParaRPr lang="en-US" sz="2880" dirty="0"/>
          </a:p>
        </p:txBody>
      </p:sp>
      <p:sp>
        <p:nvSpPr>
          <p:cNvPr id="20" name="Text 18"/>
          <p:cNvSpPr/>
          <p:nvPr/>
        </p:nvSpPr>
        <p:spPr>
          <a:xfrm>
            <a:off x="8458200" y="4823460"/>
            <a:ext cx="2743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receipt size</a:t>
            </a:r>
            <a:endParaRPr lang="en-US" sz="1024" dirty="0"/>
          </a:p>
        </p:txBody>
      </p:sp>
      <p:sp>
        <p:nvSpPr>
          <p:cNvPr id="21" name="Text 19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stage returns Proposal · commit returns Receipt · p50 38 milliseconds · p95 92 milliseconds · receipt 1160 bytes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Convex adapter run; receipt payload 1160 bytes. Latency is measured, not zero, and not production-proven.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one memorable, evidence-bounded thesis before the detailed argument begins.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Establish one memorable, evidence-bounded thesis before the detailed argument begins.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287A8D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 seconds to human acceptance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Makes Presentation Automation Safer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 turns automated drafting into a trustworthy workflow, not a blind one.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 turns automated drafting into a trustworthy workflow, not a blind one.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 time (52s to human acceptance, 58s to PowerPoint export) is distinct from the broader safety claim above.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Presentation Automation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ensures safety by validating drafts before human acceptance.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ensures safety by validating drafts before human acceptance.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 from frozen fixture to export.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makes presentation automation safer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before acceptance: 52 seconds to human acceptance, 58 seconds to PowerPoint export.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review before acceptance: 52 seconds to human acceptance, 58 seconds to PowerPoint export.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C4553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timing reflects one frozen product-demo workflow receipt; the broader safety claim rests on review before acceptance, not on the timing alone.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Makes Presentation Automation Safer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 turns automated drafts into trustworthy decks: 52 seconds to human acceptance, 58 seconds to PowerPoint export.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before acceptance turns automated drafts into trustworthy decks: 52 seconds to human acceptance, 58 seconds to PowerPoint export.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 timing (52s acceptance, 58s export) is distinct from the broader product thesis about reviewable automation.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Presentation Automation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ensures safety by validating drafts before human acceptance.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ensures safety by validating drafts before human acceptance.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workflow: 52s to human acceptance, 58s to PowerPoint export.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HERO THESIS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makes presentation automation safer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acceptance at 52 seconds; PowerPoint export at 58 seconds.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hero-workflow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05000"/>
            <a:ext cx="2956560" cy="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171700"/>
            <a:ext cx="7162800" cy="2552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 acceptance at 52 seconds; PowerPoint export at 58 seconds.</a:t>
            </a:r>
            <a:endParaRPr lang="en-US" sz="3584" dirty="0"/>
          </a:p>
        </p:txBody>
      </p:sp>
      <p:sp>
        <p:nvSpPr>
          <p:cNvPr id="10" name="Text 8"/>
          <p:cNvSpPr/>
          <p:nvPr/>
        </p:nvSpPr>
        <p:spPr>
          <a:xfrm>
            <a:off x="9067800" y="2225040"/>
            <a:ext cx="21336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5248" b="1" dirty="0">
                <a:solidFill>
                  <a:srgbClr val="B6E36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52s</a:t>
            </a:r>
            <a:endParaRPr lang="en-US" sz="5248" dirty="0"/>
          </a:p>
        </p:txBody>
      </p:sp>
      <p:sp>
        <p:nvSpPr>
          <p:cNvPr id="11" name="Text 9"/>
          <p:cNvSpPr/>
          <p:nvPr/>
        </p:nvSpPr>
        <p:spPr>
          <a:xfrm>
            <a:off x="8534400" y="3009900"/>
            <a:ext cx="2667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human acceptance</a:t>
            </a:r>
            <a:endParaRPr lang="en-US" sz="1152" dirty="0"/>
          </a:p>
        </p:txBody>
      </p:sp>
      <p:sp>
        <p:nvSpPr>
          <p:cNvPr id="12" name="Text 1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review before acceptance · 52 seconds to human acceptance · 58 seconds to PowerPoint export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workflow time is shown separately from the broader product claim.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equals 0.75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cost-adjusted quality measure and connect every symbol to the supplied experiment table.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6350">
            <a:solidFill>
              <a:srgbClr val="DCE8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287A8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equals 0.038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divided by C is approximately 19.74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C455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is the adaptive quality score and C is the cost in USD, taken from the adaptive retrieval result.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policy value is approximately 19.74.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C455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from experimental retrieval results.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divided by C is approximately 19.74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C4553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equals 0.75; C equals 0.038; Q divided by C is approximately 19.74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divided by C is approximately 19.74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B6E36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is quality_score (0.75) and C is cost_usd (0.038) from the adaptive retrieval result; their ratio gives the adaptive policy value used to compare configurations.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Measure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policy value is approximately 19.74.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B6E36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Calculated from experimental retrieval results.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KATEX EQUATION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Cost-Adjusted Quality Metric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adaptive policy achieves a cost-adjusted quality value of approximately 19.74.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retrieval-result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62000" y="1905000"/>
            <a:ext cx="7010400" cy="3352800"/>
          </a:xfrm>
          <a:prstGeom prst="roundRect">
            <a:avLst>
              <a:gd name="adj" fmla="val 2182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1100" y="2514600"/>
            <a:ext cx="6172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 / C = 0.75 / 0.038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1181100" y="3810000"/>
            <a:ext cx="6172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968" b="1" dirty="0">
                <a:solidFill>
                  <a:srgbClr val="B6E36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19.74</a:t>
            </a:r>
            <a:endParaRPr lang="en-US" sz="3968" dirty="0"/>
          </a:p>
        </p:txBody>
      </p:sp>
      <p:sp>
        <p:nvSpPr>
          <p:cNvPr id="11" name="Shape 9"/>
          <p:cNvSpPr/>
          <p:nvPr/>
        </p:nvSpPr>
        <p:spPr>
          <a:xfrm>
            <a:off x="8229600" y="2286000"/>
            <a:ext cx="0" cy="266700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8610600" y="25908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Q  Quality score</a:t>
            </a:r>
            <a:endParaRPr lang="en-US" sz="1472" dirty="0"/>
          </a:p>
        </p:txBody>
      </p:sp>
      <p:sp>
        <p:nvSpPr>
          <p:cNvPr id="13" name="Text 11"/>
          <p:cNvSpPr/>
          <p:nvPr/>
        </p:nvSpPr>
        <p:spPr>
          <a:xfrm>
            <a:off x="8610600" y="3124200"/>
            <a:ext cx="259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  Cost in USD</a:t>
            </a:r>
            <a:endParaRPr lang="en-US" sz="1472" dirty="0"/>
          </a:p>
        </p:txBody>
      </p:sp>
      <p:sp>
        <p:nvSpPr>
          <p:cNvPr id="14" name="Text 12"/>
          <p:cNvSpPr/>
          <p:nvPr/>
        </p:nvSpPr>
        <p:spPr>
          <a:xfrm>
            <a:off x="8610600" y="3886200"/>
            <a:ext cx="259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comparison measure—not a statistical significance claim.</a:t>
            </a:r>
            <a:endParaRPr lang="en-US" sz="1280" dirty="0"/>
          </a:p>
        </p:txBody>
      </p:sp>
      <p:sp>
        <p:nvSpPr>
          <p:cNvPr id="15" name="Text 1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 equals 0.75 · C equals 0.038 · Q divided by C is approximately 19.74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represents the quality score (0.75) and C represents the cost in USD (0.038) from the adaptive retrieval experiment.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4.8 million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operating verdict scannable while preserving comparison context for every metric.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B3473F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7.4 million</a:t>
            </a:r>
            <a:endParaRPr lang="en-US" sz="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Review: Mixed Results Against Target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retention gained ground, but pipeline, win rate, and implementation time missed target by material margins.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A63B32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Bars show Q2 actual against prior-quarter and target markers; flagged metrics missed target by more than one point of scale.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Performance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retention remain stable, but pipeline and win rate show significant downward variance against targets.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A63B32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compared to Q1 and Q2 targets.</a:t>
            </a:r>
            <a:endParaRPr lang="en-US" sz="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Review: KPI Verdict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delivered revenue 4.8 million and retention 94 percent, but pipeline 7.4 million and win rate 21 percent are material misses against target.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A63B32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from the Q2 KPI export; each metric shows Q2 value with prior-quarter and target context, and only material misses are flagged.</a:t>
            </a:r>
            <a:endParaRPr lang="en-US" sz="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KPI Strip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retention gained ground, but pipeline, win rate, and implementation time remain materially off target.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FF7A70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Bold central emphasis flags the two metrics with the widest gap to target while preserving prior-quarter context for all five.</a:t>
            </a:r>
            <a:endParaRPr lang="en-US" sz="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Performance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retention show growth, while pipeline and win rate face significant headwinds against targets.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FF7A70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compared to Q1 and Q2 targets.</a:t>
            </a:r>
            <a:endParaRPr lang="en-US" sz="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Review: KPI Strip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shows revenue and retention near target, but pipeline and win rate are material misses against plan.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FF7A70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Material variance flagged only where Q2 is meaningfully off target; prior-quarter and target context shown for every metric.</a:t>
            </a:r>
            <a:endParaRPr lang="en-US" sz="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reached 91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divergence between related series without inventing a cause for the observed pattern.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287A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B347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3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8B5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8B5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6350">
            <a:solidFill>
              <a:srgbClr val="DCE8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reached 67</a:t>
            </a:r>
            <a:endParaRPr lang="en-US" sz="8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Bus, Local Bus, and Rail: January–June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least, ending at 67 while rapid bus reached 91 and rail reached 82.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trails both rapid bus and rail through June, ending at the lowest indexed value.</a:t>
            </a:r>
            <a:endParaRPr lang="en-US" sz="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Mobility Ridership Trends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ridership shows the lowest growth rate compared to rapid bus and rail.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reached 67</a:t>
            </a:r>
            <a:endParaRPr lang="en-US" sz="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Ridership Recovery Diverges Across Modes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least, reaching 67 by June while rapid bus reached 91 and rail reached 82.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C455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A63B3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2B7A7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ends at 67, the lowest June recovery across the three modes.</a:t>
            </a:r>
            <a:endParaRPr lang="en-US" sz="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Recovers Fastest; Local Bus Trails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June, rapid bus and rail outpaced local bus, which recovered least across the six months.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rose from 61 to 67, the smallest gain of the three series.</a:t>
            </a:r>
            <a:endParaRPr lang="en-US" sz="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Mobility Ridership Trends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ridership shows the lowest growth rate compared to rapid bus and rail.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reached 67</a:t>
            </a:r>
            <a:endParaRPr lang="en-US" sz="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 SERIES CHART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Ridership Index Jan–Jun: Rapid Bus, Local Bus, Rail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 by June, reaching 67 while rapid bus hit 91 and rail hit 82.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ridership-series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04900" y="4953000"/>
            <a:ext cx="9220200" cy="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104900" y="1981200"/>
            <a:ext cx="0" cy="297180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104900" y="3689985"/>
            <a:ext cx="1844040" cy="-14859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48940" y="3541395"/>
            <a:ext cx="1844040" cy="-371475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92980" y="316992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7020" y="287274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81060" y="2575560"/>
            <a:ext cx="1844040" cy="-297180"/>
          </a:xfrm>
          <a:prstGeom prst="line">
            <a:avLst/>
          </a:prstGeom>
          <a:noFill/>
          <a:ln w="25400">
            <a:solidFill>
              <a:srgbClr val="B6E3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47020" y="217170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 bus 91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1104900" y="450723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48940" y="443293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92980" y="4358640"/>
            <a:ext cx="1844040" cy="-148590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7020" y="4210050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1060" y="4135755"/>
            <a:ext cx="1844040" cy="-74295"/>
          </a:xfrm>
          <a:prstGeom prst="line">
            <a:avLst/>
          </a:prstGeom>
          <a:noFill/>
          <a:ln w="38100">
            <a:solidFill>
              <a:srgbClr val="FF7A7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447020" y="3954780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67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104900" y="3987165"/>
            <a:ext cx="1844040" cy="-148590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48940" y="383857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92980" y="361569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37020" y="3392805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81060" y="3169920"/>
            <a:ext cx="1844040" cy="-222885"/>
          </a:xfrm>
          <a:prstGeom prst="line">
            <a:avLst/>
          </a:prstGeom>
          <a:noFill/>
          <a:ln w="25400">
            <a:solidFill>
              <a:srgbClr val="A98B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47020" y="2840355"/>
            <a:ext cx="13716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Rail 82</a:t>
            </a:r>
            <a:endParaRPr lang="en-US" sz="1024" dirty="0"/>
          </a:p>
        </p:txBody>
      </p:sp>
      <p:sp>
        <p:nvSpPr>
          <p:cNvPr id="28" name="Text 26"/>
          <p:cNvSpPr/>
          <p:nvPr/>
        </p:nvSpPr>
        <p:spPr>
          <a:xfrm>
            <a:off x="9220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</a:t>
            </a:r>
            <a:endParaRPr lang="en-US" sz="832" dirty="0"/>
          </a:p>
        </p:txBody>
      </p:sp>
      <p:sp>
        <p:nvSpPr>
          <p:cNvPr id="29" name="Text 27"/>
          <p:cNvSpPr/>
          <p:nvPr/>
        </p:nvSpPr>
        <p:spPr>
          <a:xfrm>
            <a:off x="276606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</a:t>
            </a:r>
            <a:endParaRPr lang="en-US" sz="832" dirty="0"/>
          </a:p>
        </p:txBody>
      </p:sp>
      <p:sp>
        <p:nvSpPr>
          <p:cNvPr id="30" name="Text 28"/>
          <p:cNvSpPr/>
          <p:nvPr/>
        </p:nvSpPr>
        <p:spPr>
          <a:xfrm>
            <a:off x="461010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</a:t>
            </a:r>
            <a:endParaRPr lang="en-US" sz="832" dirty="0"/>
          </a:p>
        </p:txBody>
      </p:sp>
      <p:sp>
        <p:nvSpPr>
          <p:cNvPr id="31" name="Text 29"/>
          <p:cNvSpPr/>
          <p:nvPr/>
        </p:nvSpPr>
        <p:spPr>
          <a:xfrm>
            <a:off x="645414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</a:t>
            </a:r>
            <a:endParaRPr lang="en-US" sz="832" dirty="0"/>
          </a:p>
        </p:txBody>
      </p:sp>
      <p:sp>
        <p:nvSpPr>
          <p:cNvPr id="32" name="Text 30"/>
          <p:cNvSpPr/>
          <p:nvPr/>
        </p:nvSpPr>
        <p:spPr>
          <a:xfrm>
            <a:off x="829818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May</a:t>
            </a:r>
            <a:endParaRPr lang="en-US" sz="832" dirty="0"/>
          </a:p>
        </p:txBody>
      </p:sp>
      <p:sp>
        <p:nvSpPr>
          <p:cNvPr id="33" name="Text 31"/>
          <p:cNvSpPr/>
          <p:nvPr/>
        </p:nvSpPr>
        <p:spPr>
          <a:xfrm>
            <a:off x="10142220" y="5135880"/>
            <a:ext cx="53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</a:t>
            </a:r>
            <a:endParaRPr lang="en-US" sz="832" dirty="0"/>
          </a:p>
        </p:txBody>
      </p:sp>
      <p:sp>
        <p:nvSpPr>
          <p:cNvPr id="34" name="Shape 32"/>
          <p:cNvSpPr/>
          <p:nvPr/>
        </p:nvSpPr>
        <p:spPr>
          <a:xfrm>
            <a:off x="6477000" y="2171700"/>
            <a:ext cx="3581400" cy="594360"/>
          </a:xfrm>
          <a:prstGeom prst="roundRect">
            <a:avLst>
              <a:gd name="adj" fmla="val 12308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59880" y="2308860"/>
            <a:ext cx="3200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least: 67</a:t>
            </a:r>
            <a:endParaRPr lang="en-US" sz="1408" dirty="0"/>
          </a:p>
        </p:txBody>
      </p:sp>
      <p:sp>
        <p:nvSpPr>
          <p:cNvPr id="36" name="Text 34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rapid bus reached 91 · local bus reached 67 · rail reached 82 · local bus recovered least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bus recovered least, ending at 67 in June versus 91 for rapid bus and 82 for rail.</a:t>
            </a:r>
            <a:endParaRPr lang="en-US" sz="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operating risks by likelihood and impact instead of presenting an unlabeled list.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FFFFFF"/>
          </a:solidFill>
          <a:ln w="6350">
            <a:solidFill>
              <a:srgbClr val="6474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DCE8EB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B3473F">
              <a:alpha val="15000"/>
            </a:srgbClr>
          </a:solidFill>
          <a:ln w="6350">
            <a:solidFill>
              <a:srgbClr val="B3473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B3473F">
              <a:alpha val="15000"/>
            </a:srgbClr>
          </a:solidFill>
          <a:ln w="6350">
            <a:solidFill>
              <a:srgbClr val="B3473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B3473F">
              <a:alpha val="15000"/>
            </a:srgbClr>
          </a:solidFill>
          <a:ln w="6350">
            <a:solidFill>
              <a:srgbClr val="B3473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B3473F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287A8D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8B5E3C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DCE8EB"/>
          </a:solidFill>
          <a:ln w="6350">
            <a:solidFill>
              <a:srgbClr val="287A8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 is 3 by 4</a:t>
            </a:r>
            <a:endParaRPr lang="en-US" sz="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Risk Matrix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risk demanding immediate action.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FBF8F2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A63B32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2B7A7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mitigation on pipeline coverage before addressing lower-likelihood, high-impact risks.</a:t>
            </a:r>
            <a:endParaRPr lang="en-US" sz="8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Risk Prioritization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FBF8F2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A63B32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2B7A7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mapped by likelihood and impact scales.</a:t>
            </a:r>
            <a:endParaRPr lang="en-US" sz="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Risk Priorities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priority; implementation capacity is 3 by 4 and retention concentration is 2 by 5.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FBF8F2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E2DDD3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A63B32">
              <a:alpha val="15000"/>
            </a:srgbClr>
          </a:solidFill>
          <a:ln w="6350">
            <a:solidFill>
              <a:srgbClr val="A63B3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A63B32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2B7A7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E2DDD3"/>
          </a:solidFill>
          <a:ln w="6350">
            <a:solidFill>
              <a:srgbClr val="C4553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Likelihood and impact on consistent 1–5 scales; upper-right zone marks the priority region. Source: Q2 risk register.</a:t>
            </a:r>
            <a:endParaRPr lang="en-US" sz="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Risk Matrix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 priority risk requiring immediate attention.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172132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FF7A70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A98BFF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mitigation resources on the upper-right zone before addressing lower-priority risks.</a:t>
            </a:r>
            <a:endParaRPr lang="en-US" sz="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Operating Risk Prioritization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172132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FF7A70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A98BFF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plotted by likelihood and impact scales.</a:t>
            </a:r>
            <a:endParaRPr lang="en-US" sz="8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MATRIX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Risk Matrix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highest priority; retention concentration and implementation capacity follow.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q2-risks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05000" y="1790700"/>
            <a:ext cx="3810000" cy="3810000"/>
          </a:xfrm>
          <a:prstGeom prst="rect">
            <a:avLst/>
          </a:prstGeom>
          <a:solidFill>
            <a:srgbClr val="172132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67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1905000" y="2552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429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905000" y="3314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4191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905000" y="4076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953000" y="1790700"/>
            <a:ext cx="0" cy="381000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905000" y="4838700"/>
            <a:ext cx="3810000" cy="0"/>
          </a:xfrm>
          <a:prstGeom prst="line">
            <a:avLst/>
          </a:prstGeom>
          <a:noFill/>
          <a:ln w="12700">
            <a:solidFill>
              <a:srgbClr val="253044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4191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53000" y="1790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53000" y="2552700"/>
            <a:ext cx="762000" cy="762000"/>
          </a:xfrm>
          <a:prstGeom prst="rect">
            <a:avLst/>
          </a:prstGeom>
          <a:solidFill>
            <a:srgbClr val="FF7A70">
              <a:alpha val="15000"/>
            </a:srgbClr>
          </a:solidFill>
          <a:ln w="6350">
            <a:solidFill>
              <a:srgbClr val="FF7A70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58902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LIKELIHOOD →</a:t>
            </a:r>
            <a:endParaRPr lang="en-US" sz="960" dirty="0"/>
          </a:p>
        </p:txBody>
      </p:sp>
      <p:sp>
        <p:nvSpPr>
          <p:cNvPr id="21" name="Text 19"/>
          <p:cNvSpPr/>
          <p:nvPr/>
        </p:nvSpPr>
        <p:spPr>
          <a:xfrm>
            <a:off x="762000" y="3352800"/>
            <a:ext cx="9144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IMPACT ↑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404360" y="2004060"/>
            <a:ext cx="335280" cy="335280"/>
          </a:xfrm>
          <a:prstGeom prst="ellipse">
            <a:avLst/>
          </a:prstGeom>
          <a:solidFill>
            <a:srgbClr val="FF7A70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5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3642360" y="2766060"/>
            <a:ext cx="335280" cy="33528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53840" y="2819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capacity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880360" y="2004060"/>
            <a:ext cx="335280" cy="335280"/>
          </a:xfrm>
          <a:prstGeom prst="ellipse">
            <a:avLst/>
          </a:prstGeom>
          <a:solidFill>
            <a:srgbClr val="A98BFF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0574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 concentration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6858000" y="2209800"/>
            <a:ext cx="411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8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coverage is the highest-priority operating risk.</a:t>
            </a:r>
            <a:endParaRPr lang="en-US" sz="1984" dirty="0"/>
          </a:p>
        </p:txBody>
      </p:sp>
      <p:sp>
        <p:nvSpPr>
          <p:cNvPr id="29" name="Text 27"/>
          <p:cNvSpPr/>
          <p:nvPr/>
        </p:nvSpPr>
        <p:spPr>
          <a:xfrm>
            <a:off x="6858000" y="3048000"/>
            <a:ext cx="3886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8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combines the highest likelihood observed in the register with maximum impact.</a:t>
            </a:r>
            <a:endParaRPr lang="en-US" sz="1408" dirty="0"/>
          </a:p>
        </p:txBody>
      </p:sp>
      <p:sp>
        <p:nvSpPr>
          <p:cNvPr id="30" name="Shape 28"/>
          <p:cNvSpPr/>
          <p:nvPr/>
        </p:nvSpPr>
        <p:spPr>
          <a:xfrm>
            <a:off x="6858000" y="4343400"/>
            <a:ext cx="3581400" cy="640080"/>
          </a:xfrm>
          <a:prstGeom prst="roundRect">
            <a:avLst>
              <a:gd name="adj" fmla="val 11429"/>
            </a:avLst>
          </a:prstGeom>
          <a:solidFill>
            <a:srgbClr val="253044"/>
          </a:solidFill>
          <a:ln w="6350">
            <a:solidFill>
              <a:srgbClr val="B6E3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11040"/>
            <a:ext cx="3124200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intervene before Q3 planning</a:t>
            </a:r>
            <a:endParaRPr lang="en-US" sz="1280" dirty="0"/>
          </a:p>
        </p:txBody>
      </p:sp>
      <p:sp>
        <p:nvSpPr>
          <p:cNvPr id="32" name="Text 30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pipeline coverage is highest priority · implementation capacity is 3 by 4 · retention concentration is 2 by 5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Markers placed on 1–5 likelihood and impact scales from the Q2 risk register.</a:t>
            </a:r>
            <a:endParaRPr lang="en-US" sz="8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 is visible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visible product controls to the claimed reviewable-generation workflow without fabricating UI evidence.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6350">
            <a:solidFill>
              <a:srgbClr val="DCE8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DCE8EB"/>
          </a:solidFill>
          <a:ln w="6350">
            <a:solidFill>
              <a:srgbClr val="6474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287A8D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3F6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287A8D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287A8D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3F6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287A8D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287A8D"/>
          </a:solidFill>
          <a:ln w="25400">
            <a:solidFill>
              <a:srgbClr val="F3F6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3F6F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287A8D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 is visible</a:t>
            </a:r>
            <a:endParaRPr lang="en-US" sz="8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Reviewable-Generation Workflow: Verified Controls, Missing Screenshot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selection, validation status, and trace inspection are verified product surfaces; the interface bitmap itself is not yet supplied and must not be simulated.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E2DDD3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 region marks where the real editor screenshot must be inserted before this slide ships; callouts point to confirmed controls only.</a:t>
            </a:r>
            <a:endParaRPr lang="en-US" sz="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Workflow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integrates model selection, validation status, and trace inspection for verifiable output.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E2DDD3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Callouts map to verified product surfaces within the editor interface.</a:t>
            </a:r>
            <a:endParaRPr lang="en-US" sz="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Generation: Product Controls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selection, validation status, and trace inspection are the verified surfaces of the reviewable-generation workflow; the screenshot itself must be supplied before this slide is final.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E2DDD3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product screenshot bitmap was supplied. The 16:9 media region is an explicit replacement-required placeholder; the three numbered callouts map only to verified product surfaces.</a:t>
            </a:r>
            <a:endParaRPr lang="en-US" sz="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Workflow: Product Controls Mapped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selection, validation status, and trace inspection are verified controls awaiting a real screenshot.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253044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Placeholder media region marked replacement-required; three numbered callouts identify verified product surfaces without simulating UI.</a:t>
            </a:r>
            <a:endParaRPr lang="en-US" sz="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Workflow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integrates model selection, validation status, and trace inspection for verifiable output.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253044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Callouts map to verified product surfaces within the editor interface.</a:t>
            </a:r>
            <a:endParaRPr lang="en-US" sz="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NodeSlide Reviewable Generation: Product Proof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verified controls — model selection, validation status, and the Trace inspector — anchor the reviewable-generation story once the real screenshot is dropped in.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172132"/>
          </a:solidFill>
          <a:ln w="6350">
            <a:solidFill>
              <a:srgbClr val="2530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253044"/>
          </a:solidFill>
          <a:ln w="6350">
            <a:solidFill>
              <a:srgbClr val="A4B1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B6E36B"/>
          </a:solidFill>
          <a:ln w="25400">
            <a:solidFill>
              <a:srgbClr val="1017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10172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B6E36B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16:9 media region is an explicit replacement-required placeholder: no product bitmap was supplied, so no interface is simulated. Numbered callouts are positioned to bind to the corresponding controls the moment authentic evidence replaces the placeholder.</a:t>
            </a:r>
            <a:endParaRPr lang="en-US" sz="8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Expose ordering, review custody, and failure boundaries across one request lifecycle.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6350">
            <a:solidFill>
              <a:srgbClr val="8B5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8B5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B3473F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347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287A8D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8B5E3C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8B5E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acceptance precedes commit</a:t>
            </a:r>
            <a:endParaRPr lang="en-US" sz="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Lifecycle: Submission to Receipt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review, acceptance precedes commit, and the adapter returns a versioned receipt.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Lifelines trace one bounded request from submission through validation, human review, and committed receipt, with the failed-validation path shown returning separately.</a:t>
            </a:r>
            <a:endParaRPr lang="en-US" sz="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 &amp; Validation Boundaries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acts as a gatekeeper between the planning model and human review/adapter commit.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illustrates the flow from submission to receipt, highlighting the validation failure path.</a:t>
            </a:r>
            <a:endParaRPr lang="en-US" sz="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Lifecycle: Submit to Versioned Receipt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review, acceptance precedes commit, and only accepted proposals reach the adapter, which returns a versioned receipt.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FBF8F2"/>
          </a:solidFill>
          <a:ln w="6350">
            <a:solidFill>
              <a:srgbClr val="2B7A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63B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C45538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2B7A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Direction: top-to-bottom. The dashed return path shows validation issues routed back to the client before any review or commit can occur. Source: Lifecycle events (sequence-events).</a:t>
            </a:r>
            <a:endParaRPr lang="en-US" sz="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Lifecycle: Custody and Failure Boundaries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review, acceptance precedes commit, and every path—success or failure—ends in an explicit return.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lifelines trace one bounded request: submission flows through planning and validation, only accepted proposals reach adapter commit, and failed validation returns directly to the client rather than silently mutating state.</a:t>
            </a:r>
            <a:endParaRPr lang="en-US" sz="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 &amp; Validation Boundaries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acts as the critical gatekeeper between planning and human review/adapter commitment.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precedes review; acceptance precedes commit.</a:t>
            </a:r>
            <a:endParaRPr lang="en-US" sz="8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SEQUENCE DIAGRAM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Lifecycle: Validation Gate Before Review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proposal reaches human review only after validation passes, and only accepted proposals are committed by the adapter.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sequence-events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</a:t>
            </a:r>
            <a:endParaRPr lang="en-US" sz="1024" dirty="0"/>
          </a:p>
        </p:txBody>
      </p:sp>
      <p:sp>
        <p:nvSpPr>
          <p:cNvPr id="10" name="Shape 8"/>
          <p:cNvSpPr/>
          <p:nvPr/>
        </p:nvSpPr>
        <p:spPr>
          <a:xfrm>
            <a:off x="1638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3200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024" dirty="0"/>
          </a:p>
        </p:txBody>
      </p:sp>
      <p:sp>
        <p:nvSpPr>
          <p:cNvPr id="13" name="Shape 11"/>
          <p:cNvSpPr/>
          <p:nvPr/>
        </p:nvSpPr>
        <p:spPr>
          <a:xfrm>
            <a:off x="3924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5486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model</a:t>
            </a:r>
            <a:endParaRPr lang="en-US" sz="1024" dirty="0"/>
          </a:p>
        </p:txBody>
      </p:sp>
      <p:sp>
        <p:nvSpPr>
          <p:cNvPr id="16" name="Shape 14"/>
          <p:cNvSpPr/>
          <p:nvPr/>
        </p:nvSpPr>
        <p:spPr>
          <a:xfrm>
            <a:off x="6210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4" dirty="0"/>
          </a:p>
        </p:txBody>
      </p:sp>
      <p:sp>
        <p:nvSpPr>
          <p:cNvPr id="19" name="Shape 17"/>
          <p:cNvSpPr/>
          <p:nvPr/>
        </p:nvSpPr>
        <p:spPr>
          <a:xfrm>
            <a:off x="8496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0058400" y="1828800"/>
            <a:ext cx="1447800" cy="487680"/>
          </a:xfrm>
          <a:prstGeom prst="roundRect">
            <a:avLst>
              <a:gd name="adj" fmla="val 15000"/>
            </a:avLst>
          </a:prstGeom>
          <a:solidFill>
            <a:srgbClr val="172132"/>
          </a:solidFill>
          <a:ln w="6350">
            <a:solidFill>
              <a:srgbClr val="A98B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149840" y="1965960"/>
            <a:ext cx="1264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Adapter</a:t>
            </a:r>
            <a:endParaRPr lang="en-US" sz="1024" dirty="0"/>
          </a:p>
        </p:txBody>
      </p:sp>
      <p:sp>
        <p:nvSpPr>
          <p:cNvPr id="22" name="Shape 20"/>
          <p:cNvSpPr/>
          <p:nvPr/>
        </p:nvSpPr>
        <p:spPr>
          <a:xfrm>
            <a:off x="10782300" y="2316480"/>
            <a:ext cx="0" cy="294132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638300" y="26670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1729740" y="24688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brief</a:t>
            </a:r>
            <a:endParaRPr lang="en-US" sz="832" dirty="0"/>
          </a:p>
        </p:txBody>
      </p:sp>
      <p:sp>
        <p:nvSpPr>
          <p:cNvPr id="25" name="Shape 23"/>
          <p:cNvSpPr/>
          <p:nvPr/>
        </p:nvSpPr>
        <p:spPr>
          <a:xfrm>
            <a:off x="3924300" y="3124200"/>
            <a:ext cx="2286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4015740" y="29260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bounded context</a:t>
            </a:r>
            <a:endParaRPr lang="en-US" sz="832" dirty="0"/>
          </a:p>
        </p:txBody>
      </p:sp>
      <p:sp>
        <p:nvSpPr>
          <p:cNvPr id="27" name="Shape 25"/>
          <p:cNvSpPr/>
          <p:nvPr/>
        </p:nvSpPr>
        <p:spPr>
          <a:xfrm>
            <a:off x="6210300" y="3581400"/>
            <a:ext cx="2286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6301740" y="3383280"/>
            <a:ext cx="2103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typed plan</a:t>
            </a:r>
            <a:endParaRPr lang="en-US" sz="832" dirty="0"/>
          </a:p>
        </p:txBody>
      </p:sp>
      <p:sp>
        <p:nvSpPr>
          <p:cNvPr id="29" name="Shape 27"/>
          <p:cNvSpPr/>
          <p:nvPr/>
        </p:nvSpPr>
        <p:spPr>
          <a:xfrm>
            <a:off x="8496300" y="4038600"/>
            <a:ext cx="-4572000" cy="0"/>
          </a:xfrm>
          <a:prstGeom prst="line">
            <a:avLst/>
          </a:prstGeom>
          <a:noFill/>
          <a:ln w="19050">
            <a:solidFill>
              <a:srgbClr val="FF7A70"/>
            </a:solidFill>
            <a:prstDash val="solid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4015740" y="3840480"/>
            <a:ext cx="4389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FF7A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issues / review</a:t>
            </a:r>
            <a:endParaRPr lang="en-US" sz="832" dirty="0"/>
          </a:p>
        </p:txBody>
      </p:sp>
      <p:sp>
        <p:nvSpPr>
          <p:cNvPr id="31" name="Shape 29"/>
          <p:cNvSpPr/>
          <p:nvPr/>
        </p:nvSpPr>
        <p:spPr>
          <a:xfrm>
            <a:off x="3924300" y="4572000"/>
            <a:ext cx="6858000" cy="0"/>
          </a:xfrm>
          <a:prstGeom prst="line">
            <a:avLst/>
          </a:prstGeom>
          <a:noFill/>
          <a:ln w="19050">
            <a:solidFill>
              <a:srgbClr val="B6E36B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4015740" y="4373880"/>
            <a:ext cx="6675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commit</a:t>
            </a:r>
            <a:endParaRPr lang="en-US" sz="832" dirty="0"/>
          </a:p>
        </p:txBody>
      </p:sp>
      <p:sp>
        <p:nvSpPr>
          <p:cNvPr id="33" name="Shape 31"/>
          <p:cNvSpPr/>
          <p:nvPr/>
        </p:nvSpPr>
        <p:spPr>
          <a:xfrm>
            <a:off x="10782300" y="5029200"/>
            <a:ext cx="-9144000" cy="0"/>
          </a:xfrm>
          <a:prstGeom prst="line">
            <a:avLst/>
          </a:prstGeom>
          <a:noFill/>
          <a:ln w="19050">
            <a:solidFill>
              <a:srgbClr val="A98BFF"/>
            </a:solidFill>
            <a:prstDash val="solid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729740" y="4831080"/>
            <a:ext cx="8961120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b="1" dirty="0">
                <a:solidFill>
                  <a:srgbClr val="A98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receipt</a:t>
            </a:r>
            <a:endParaRPr lang="en-US" sz="832" dirty="0"/>
          </a:p>
        </p:txBody>
      </p:sp>
      <p:sp>
        <p:nvSpPr>
          <p:cNvPr id="35" name="Text 3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validation precedes review · acceptance precedes commit · adapter returns receipt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Reading top-to-bottom: validation precedes review; acceptance precedes commit; the adapter returns a versioned receipt. The failed-validation path returns issues to the client instead of advancing.</a:t>
            </a:r>
            <a:endParaRPr lang="en-US" sz="8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 July 1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the progression from research question to evidence-backed decision with honest stage timing.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DCE8EB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8B5E3C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8B5E3C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8B5E3C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287A8D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8B5E3C"/>
          </a:solidFill>
          <a:ln w="31750">
            <a:solidFill>
              <a:srgbClr val="F3F6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 completed July 9</a:t>
            </a:r>
            <a:endParaRPr lang="en-US" sz="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Timeline: Question to Approved Update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milestones spaced by elapsed days show a deliberate path from framing to approval, with blind review as the gate before harness update.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E2DDD3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C4553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Spacing is time-proportional; the review gate is emphasized to show it precedes approval, not follows it.</a:t>
            </a:r>
            <a:endParaRPr lang="en-US" sz="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Progression to Decision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research lifecycle moves from question definition to approved harness updates through a structured review process.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E2DDD3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C4553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spacing reflects actual elapsed days between milestones.</a:t>
            </a:r>
            <a:endParaRPr lang="en-US" sz="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Timeline: Question to Decision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Progression from frozen question to approved harness update, with honest elapsed-day spacing.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E2DDD3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C4553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2B7A78"/>
          </a:solidFill>
          <a:ln w="31750">
            <a:solidFill>
              <a:srgbClr val="F5F0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 gate emphasized; harness update occurs only after human approval.</a:t>
            </a:r>
            <a:endParaRPr lang="en-US" sz="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Timeline: Question to Approval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Evidence-backed decision reached in 10 days, with a clear human review gate before harness approval.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253044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B6E36B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 spacing reflects elapsed days; review gate emphasized to show human checkpoint before update approval.</a:t>
            </a:r>
            <a:endParaRPr lang="en-US" sz="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Progression to Decision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progression from initial question to approved harness update.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253044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B6E36B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spacing reflects actual elapsed days between milestones.</a:t>
            </a:r>
            <a:endParaRPr lang="en-US" sz="8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Question to Approved Harness Update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moved from a frozen question on July 1 to an approved harness update on July 11, with blind review as the decision gate.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research-dates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90600" y="3581400"/>
            <a:ext cx="10058400" cy="0"/>
          </a:xfrm>
          <a:prstGeom prst="line">
            <a:avLst/>
          </a:prstGeom>
          <a:noFill/>
          <a:ln w="76200">
            <a:solidFill>
              <a:srgbClr val="253044"/>
            </a:solidFill>
            <a:prstDash val="solid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944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228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frozen</a:t>
            </a:r>
            <a:endParaRPr lang="en-US" sz="1088" dirty="0"/>
          </a:p>
        </p:txBody>
      </p:sp>
      <p:sp>
        <p:nvSpPr>
          <p:cNvPr id="12" name="Shape 10"/>
          <p:cNvSpPr/>
          <p:nvPr/>
        </p:nvSpPr>
        <p:spPr>
          <a:xfrm>
            <a:off x="34213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9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3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2705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collected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897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6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5181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generated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8313420" y="3398520"/>
            <a:ext cx="365760" cy="365760"/>
          </a:xfrm>
          <a:prstGeom prst="ellipse">
            <a:avLst/>
          </a:prstGeom>
          <a:solidFill>
            <a:srgbClr val="B6E36B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62900" y="39624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9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7658100" y="42519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Blind review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10850880" y="3459480"/>
            <a:ext cx="243840" cy="243840"/>
          </a:xfrm>
          <a:prstGeom prst="ellipse">
            <a:avLst/>
          </a:prstGeom>
          <a:solidFill>
            <a:srgbClr val="A98BFF"/>
          </a:solidFill>
          <a:ln w="31750">
            <a:solidFill>
              <a:srgbClr val="1017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39400" y="2667000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Jul 11</a:t>
            </a:r>
            <a:endParaRPr lang="en-US" sz="1088" dirty="0"/>
          </a:p>
        </p:txBody>
      </p:sp>
      <p:sp>
        <p:nvSpPr>
          <p:cNvPr id="23" name="Text 21"/>
          <p:cNvSpPr/>
          <p:nvPr/>
        </p:nvSpPr>
        <p:spPr>
          <a:xfrm>
            <a:off x="10134600" y="294132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8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approved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8191500" y="2057400"/>
            <a:ext cx="27432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is the gate—not generation.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question frozen July 1 · blind review completed July 9 · update approved July 11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Milestones are spaced by elapsed days; the blind review gate is emphasized as the approval checkpoint before the harness update.</a:t>
            </a:r>
            <a:endParaRPr lang="en-US" sz="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6F7"/>
          </a:solidFill>
          <a:ln w="635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287A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a forecast and its uncertainty honestly instead of presenting one modeled value as certain.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NodeSlide deterministic builder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DCE8EB">
              <a:alpha val="72000"/>
            </a:srgbClr>
          </a:solidFill>
          <a:ln w="6350">
            <a:solidFill>
              <a:srgbClr val="DCE8EB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287A8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1724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64747C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7242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474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4747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 is 9.0 to 13.8</a:t>
            </a:r>
            <a:endParaRPr lang="en-US" sz="8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vs. Actual: Widening Uncertainty Ahead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 by Q5, but the modeled range widens to 9.0–13.8, so no single value should be treated as certain.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1724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Q1–Q2 are observed actuals; Q3–Q5 are modeled forecasts with low-to-high ranges. Uncertainty widens materially as the horizon extends.</a:t>
            </a:r>
            <a:endParaRPr lang="en-US" sz="8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Forecast vs. Observed Performance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11.4, with uncertainty widening through Q5.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1724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 is 9.0 to 13.8</a:t>
            </a:r>
            <a:endParaRPr lang="en-US" sz="8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vs. Actual with Modeled Uncertainty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 by Q5, while the modeled range widens from 9.0 to 13.8.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1724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Q1–Q2 actuals; Q3–Q5 base forecast with modeled low–high range. Range is modeled, not a confidence interval.</a:t>
            </a:r>
            <a:endParaRPr lang="en-US" sz="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vs. Actual: Widening Uncertainty Ahead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 by Q5, but the modeled range widens to 9.0–13.8, showing growing uncertainty rather than false precision.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Claude Sonnet 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F7F2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Q1–Q2 are observed actuals; Q3–Q5 are modeled forecasts with low-high ranges. The uncertainty widens as the forecast horizon extends.</a:t>
            </a:r>
            <a:endParaRPr lang="en-US" sz="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Forecast &amp; Uncertainty Projection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11.4, with uncertainty widening through Q5.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F7F2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 is 9.0 to 13.8</a:t>
            </a:r>
            <a:endParaRPr lang="en-US" sz="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7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723"/>
          </a:solidFill>
          <a:ln w="6350">
            <a:solidFill>
              <a:srgbClr val="10172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B6E3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vs. Observed: Widening Modeled Range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Q1–Q2 track near base; the base forecast reaches 11.4 by Q5 while the modeled range widens to 9.0–13.8.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253044">
              <a:alpha val="72000"/>
            </a:srgbClr>
          </a:solidFill>
          <a:ln w="6350">
            <a:solidFill>
              <a:srgbClr val="253044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B6E36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F7F2E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A4B1C1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F7F2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A4B1C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4B1C1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F7F2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 shows the supplied modeled low–high range for Q3–Q5; it is not a confidence interval.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validation before commit</dc:title>
  <dc:subject>architecture-diagram benchmark candidate</dc:subject>
  <dc:creator>NodeSlide Artifact Arena</dc:creator>
  <cp:lastModifiedBy>NodeSlide Artifact Arena</cp:lastModifiedBy>
  <cp:revision>1</cp:revision>
  <dcterms:created xsi:type="dcterms:W3CDTF">2026-07-22T03:34:37Z</dcterms:created>
  <dcterms:modified xsi:type="dcterms:W3CDTF">2026-07-22T03:34:37Z</dcterms:modified>
</cp:coreProperties>
</file>