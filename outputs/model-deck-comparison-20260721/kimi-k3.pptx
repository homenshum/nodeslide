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France</c:v>
                  </c:pt>
                  <c:pt idx="1">
                    <c:v>Argentina</c:v>
                  </c:pt>
                  <c:pt idx="2">
                    <c:v>England</c:v>
                  </c:pt>
                  <c:pt idx="3">
                    <c:v>Portugal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15</c:v>
                </c:pt>
                <c:pt idx="2">
                  <c:v>13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“172 Goals Across 64 Matches”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“France Leads with 16 Goals”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“Mbappe Tops Scoring Charts”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“Calculating Scoring Rate”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“Group Stage to Knockout Progression”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“Tournament Imagery Slot”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
[source_9ee05e52c4789e6188d0e74b8e54ecda] Brief success criteria
Citation: A coherent 6–8 slide narrative; Structured chart, formula, and image primitives where relevant; Validation passes before presentation or export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“Three Strategic Actions”
Evidence note: Content is based on the supplied creation brief. Illustrative examples are not independently verified; replace them with measured evidence before external publication.
NodeSlide sources
[source_35b1c0307ce65f60fefcd1ed44d5d60b] Create an evidence-led seven-slide executive briefing on the 2022 FIF… — creation brief
Citation: Create an evidence-led seven-slide executive briefing on the 2022 FIFA World Cup for sports-media leadership. Use only these supplied facts: France scored 16 goals, Argentina 15, England 13, and Portugal 12; Kylian Mbappe scored 8, Lionel Messi 7, Julian Alvarez 4, and Olivier Giroud 4; the tournament produced 172 goals in 64 matches, or 2.69 goals per match. Include an editable comparison chart, an editable process diagram explaining how group-stage momentum became knockout resilience, and an editable formula for goals per match. Conclude with three implications for audience engagement. Do not invent sources, images, quotes, or statistics; mark unsupported claims [source needed].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01a7dcd35210dee99de44e7de9fba26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80ae8b89e3d4e6ef6a52322e4950ce9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a40552d884d7235dc1c5dd46a6b819d6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 Goals Across 64 Matches</a:t>
            </a:r>
            <a:endParaRPr lang="en-US" sz="4800" dirty="0"/>
          </a:p>
        </p:txBody>
      </p:sp>
      <p:sp>
        <p:nvSpPr>
          <p:cNvPr id="5" name="element_e320dd99556df17db695a1783830da87"/>
          <p:cNvSpPr txBox="1"/>
          <p:nvPr/>
        </p:nvSpPr>
        <p:spPr>
          <a:xfrm>
            <a:off x="853419" y="3291840"/>
            <a:ext cx="475476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2022 FIFA World Cup produced 172 goals in 64 matches, achieving a rate of 2.69 goals per match. This scoring consistency created sustained narrative tension throughout the tournament.</a:t>
            </a:r>
            <a:endParaRPr lang="en-US" sz="1900" dirty="0"/>
          </a:p>
        </p:txBody>
      </p:sp>
      <p:sp>
        <p:nvSpPr>
          <p:cNvPr id="6" name="element_c6eee75adb54d9960e49b0098c9ec0bc"/>
          <p:cNvSpPr txBox="1"/>
          <p:nvPr/>
        </p:nvSpPr>
        <p:spPr>
          <a:xfrm>
            <a:off x="853419" y="4594860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172 total goals scored</a:t>
            </a:r>
            <a:endParaRPr lang="en-US" sz="1700" dirty="0"/>
          </a:p>
        </p:txBody>
      </p:sp>
      <p:sp>
        <p:nvSpPr>
          <p:cNvPr id="7" name="element_c2627f19726e2805ec099f3b255eacd9"/>
          <p:cNvSpPr txBox="1"/>
          <p:nvPr/>
        </p:nvSpPr>
        <p:spPr>
          <a:xfrm>
            <a:off x="853419" y="5258029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64 matches played</a:t>
            </a:r>
            <a:endParaRPr lang="en-US" sz="1700" dirty="0"/>
          </a:p>
        </p:txBody>
      </p:sp>
      <p:sp>
        <p:nvSpPr>
          <p:cNvPr id="8" name="element_f92de0e84335c659fa5140a5e5d5ee87"/>
          <p:cNvSpPr txBox="1"/>
          <p:nvPr/>
        </p:nvSpPr>
        <p:spPr>
          <a:xfrm>
            <a:off x="853419" y="5920511"/>
            <a:ext cx="4754761" cy="594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69 goals per match average</a:t>
            </a:r>
            <a:endParaRPr lang="en-US" sz="1700" dirty="0"/>
          </a:p>
        </p:txBody>
      </p:sp>
      <p:sp>
        <p:nvSpPr>
          <p:cNvPr id="9" name="element_d27ea512319673fc90f7d4112efc9711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2.69</a:t>
            </a:r>
            <a:endParaRPr lang="en-US" sz="5600" dirty="0"/>
          </a:p>
        </p:txBody>
      </p:sp>
      <p:sp>
        <p:nvSpPr>
          <p:cNvPr id="10" name="element_d6d5e136b5f09954bd87167f782d00b4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Goals per match</a:t>
            </a:r>
            <a:endParaRPr lang="en-US" sz="1500" dirty="0"/>
          </a:p>
        </p:txBody>
      </p:sp>
      <p:sp>
        <p:nvSpPr>
          <p:cNvPr id="11" name="element_08bc6ddb5c8dbe3ccbe506cbec6159e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958dbc79427ae690708df115e43fc34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b61c760325f48518a06a42e146573ae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b3ef6d5434ebe5365015b19ae0b372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dc7d129481f4208f0345bd0c5adaff29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 Leads with 16 Goals</a:t>
            </a:r>
            <a:endParaRPr lang="en-US" sz="3800" dirty="0"/>
          </a:p>
        </p:txBody>
      </p:sp>
      <p:sp>
        <p:nvSpPr>
          <p:cNvPr id="5" name="element_a28d0f3788d7724cdaecde193e2cb28f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Four teams distinguished themselves with double-digit goal tallies. France scored 16 goals, Argentina 15, England 13, and Portugal 12, demonstrating offensive depth across the tournament's elite squads.</a:t>
            </a:r>
            <a:endParaRPr lang="en-US" sz="1900" dirty="0"/>
          </a:p>
        </p:txBody>
      </p:sp>
      <p:sp>
        <p:nvSpPr>
          <p:cNvPr id="6" name="element_5b13a1c5b1d8dc999e8ff4cb30568f85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France: 16 goals</a:t>
            </a:r>
            <a:endParaRPr lang="en-US" sz="1700" dirty="0"/>
          </a:p>
        </p:txBody>
      </p:sp>
      <p:sp>
        <p:nvSpPr>
          <p:cNvPr id="7" name="element_4f87aa97c3232cf1aeb31eb34c77b345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Argentina: 15 goals</a:t>
            </a:r>
            <a:endParaRPr lang="en-US" sz="1700" dirty="0"/>
          </a:p>
        </p:txBody>
      </p:sp>
      <p:sp>
        <p:nvSpPr>
          <p:cNvPr id="8" name="element_ef9a6266208e8cdbaf7b92a7a13ec6c8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England: 13 goals, Portugal: 12 goals</a:t>
            </a:r>
            <a:endParaRPr lang="en-US" sz="1700" dirty="0"/>
          </a:p>
        </p:txBody>
      </p:sp>
      <p:graphicFrame>
        <p:nvGraphicFramePr>
          <p:cNvPr id="9" name="element_f38243d5baa77a4f4eb3978f2437554c" descr=""/>
          <p:cNvGraphicFramePr/>
          <p:nvPr/>
        </p:nvGraphicFramePr>
        <p:xfrm>
          <a:off x="4876678" y="2754173"/>
          <a:ext cx="6583515" cy="340705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element_f0bbe95b85fbcd6daa8638c7fbc00edb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93da58268c3737a554f8821d819635a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571b88f6793721a09d2c8b893bca979c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33ce7bceb3ecb3aee865d02fec3ff59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ab045bc1a165d9b117075a6eddc15f52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Mbappe Tops Scoring Charts</a:t>
            </a:r>
            <a:endParaRPr lang="en-US" sz="3800" dirty="0"/>
          </a:p>
        </p:txBody>
      </p:sp>
      <p:sp>
        <p:nvSpPr>
          <p:cNvPr id="5" name="element_b35a24feefa145d8aae894b9185428cf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Kylian Mbappe led all scorers with 8 goals, followed by Lionel Messi with 7. Julian Alvarez and Olivier Giroud each contributed 4 goals, showcasing concentrated individual brilliance.</a:t>
            </a:r>
            <a:endParaRPr lang="en-US" sz="1900" dirty="0"/>
          </a:p>
        </p:txBody>
      </p:sp>
      <p:sp>
        <p:nvSpPr>
          <p:cNvPr id="6" name="element_06af1f5edc4eb867c8b1079f6398de4c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Kylian Mbappe: 8 goals</a:t>
            </a:r>
            <a:endParaRPr lang="en-US" sz="1700" dirty="0"/>
          </a:p>
        </p:txBody>
      </p:sp>
      <p:sp>
        <p:nvSpPr>
          <p:cNvPr id="7" name="element_2c0439680812c24bdabe75db1c69a635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Lionel Messi: 7 goals</a:t>
            </a:r>
            <a:endParaRPr lang="en-US" sz="1700" dirty="0"/>
          </a:p>
        </p:txBody>
      </p:sp>
      <p:sp>
        <p:nvSpPr>
          <p:cNvPr id="8" name="element_31238ec22afb80fbe3d9149c25e7bf17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Julian Alvarez &amp; Olivier Giroud: 4 goals each</a:t>
            </a:r>
            <a:endParaRPr lang="en-US" sz="1700" dirty="0"/>
          </a:p>
        </p:txBody>
      </p:sp>
      <p:sp>
        <p:nvSpPr>
          <p:cNvPr id="9" name="element_4d03379cfe355d97d129e9157b45baee"/>
          <p:cNvSpPr txBox="1"/>
          <p:nvPr/>
        </p:nvSpPr>
        <p:spPr>
          <a:xfrm>
            <a:off x="1219170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8</a:t>
            </a:r>
            <a:endParaRPr lang="en-US" sz="5600" dirty="0"/>
          </a:p>
        </p:txBody>
      </p:sp>
      <p:sp>
        <p:nvSpPr>
          <p:cNvPr id="10" name="element_5431803057c061fbe4d2f15b215ef19f"/>
          <p:cNvSpPr txBox="1"/>
          <p:nvPr/>
        </p:nvSpPr>
        <p:spPr>
          <a:xfrm>
            <a:off x="1463003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Top scorer goals (Mbappe)</a:t>
            </a:r>
            <a:endParaRPr lang="en-US" sz="1500" dirty="0"/>
          </a:p>
        </p:txBody>
      </p:sp>
      <p:sp>
        <p:nvSpPr>
          <p:cNvPr id="11" name="element_a8ce55c6c0efa43a0ef1d6995ccaa95a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7bfc898bf33c0eed117499a0aabbc004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90dcdbce65377c0d05eeb40dea8c1b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24d679b410664639c2f36d1509ada8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c8ca8df41797ada9e95e4cf9c324e4d3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Calculating Scoring Rate</a:t>
            </a:r>
            <a:endParaRPr lang="en-US" sz="3800" dirty="0"/>
          </a:p>
        </p:txBody>
      </p:sp>
      <p:sp>
        <p:nvSpPr>
          <p:cNvPr id="5" name="element_c6b6653e3c780352281cc1692b29a44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tournament's goals-per-match rate is derived by dividing total goals by total matches. This metric provides a standardized measure of offensive production across the competition.</a:t>
            </a:r>
            <a:endParaRPr lang="en-US" sz="1900" dirty="0"/>
          </a:p>
        </p:txBody>
      </p:sp>
      <p:sp>
        <p:nvSpPr>
          <p:cNvPr id="6" name="element_cb4640ca5c4b015b81e6edff89ac9a65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Total goals: 172</a:t>
            </a:r>
            <a:endParaRPr lang="en-US" sz="1700" dirty="0"/>
          </a:p>
        </p:txBody>
      </p:sp>
      <p:sp>
        <p:nvSpPr>
          <p:cNvPr id="7" name="element_83957d64eb9907d7992f6edbf8279f8c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Total matches: 64</a:t>
            </a:r>
            <a:endParaRPr lang="en-US" sz="1700" dirty="0"/>
          </a:p>
        </p:txBody>
      </p:sp>
      <p:sp>
        <p:nvSpPr>
          <p:cNvPr id="8" name="element_de3d2aa8f1365219efe18f3b7c3d6a6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Rate: 2.69 goals per match</a:t>
            </a:r>
            <a:endParaRPr lang="en-US" sz="1700" dirty="0"/>
          </a:p>
        </p:txBody>
      </p:sp>
      <p:sp>
        <p:nvSpPr>
          <p:cNvPr id="9" name="element_f952467a52e7cefbce661bf4f2a5d4ad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Goals per Match = Total Goals ÷ Total Matches = 172 ÷ 64 = 2.69</a:t>
            </a:r>
            <a:endParaRPr lang="en-US" sz="3000" dirty="0"/>
          </a:p>
        </p:txBody>
      </p:sp>
      <p:sp>
        <p:nvSpPr>
          <p:cNvPr id="10" name="element_0c1319fbe201c78293c912ddf5c77d3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6129c6de24566d5225745faf26ff94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a79c2f7a1d3be0175e3cd6c88934c47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c0880c9b8af13c15885574e498492b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666f31e7419ecd297710ddd55e95a48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Stage to Knockout Progression</a:t>
            </a:r>
            <a:endParaRPr lang="en-US" sz="3800" dirty="0"/>
          </a:p>
        </p:txBody>
      </p:sp>
      <p:sp>
        <p:nvSpPr>
          <p:cNvPr id="5" name="element_c181c22d52d6ea3bebb8bfa0eae8bea7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Teams that established scoring momentum in group stages developed tactical confidence and squad rotation patterns that translated into knockout-round resilience. This process reveals how early offensive success compounds into tournament longevity.</a:t>
            </a:r>
            <a:endParaRPr lang="en-US" sz="1700" dirty="0"/>
          </a:p>
        </p:txBody>
      </p:sp>
      <p:sp>
        <p:nvSpPr>
          <p:cNvPr id="6" name="element_02f5fd31e1a6d1e733fbd54f4df6ac7f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Group stage momentum builds confidence</a:t>
            </a:r>
            <a:endParaRPr lang="en-US" sz="1700" dirty="0"/>
          </a:p>
        </p:txBody>
      </p:sp>
      <p:sp>
        <p:nvSpPr>
          <p:cNvPr id="7" name="element_25a329abfffee774ac808f67b418791f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Tactical systems mature through repetition</a:t>
            </a:r>
            <a:endParaRPr lang="en-US" sz="1700" dirty="0"/>
          </a:p>
        </p:txBody>
      </p:sp>
      <p:sp>
        <p:nvSpPr>
          <p:cNvPr id="8" name="element_62f17ee0b785fae6171a96a54aad6f41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Knockout resilience emerges from foundation</a:t>
            </a:r>
            <a:endParaRPr lang="en-US" sz="1700" dirty="0"/>
          </a:p>
        </p:txBody>
      </p:sp>
      <p:sp>
        <p:nvSpPr>
          <p:cNvPr id="9" name="element_2693682cc2020eeab6cf9e61c1cebe01"/>
          <p:cNvSpPr/>
          <p:nvPr/>
        </p:nvSpPr>
        <p:spPr>
          <a:xfrm>
            <a:off x="701997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040e3cb562b702e233c15acf49b834d2"/>
          <p:cNvSpPr/>
          <p:nvPr/>
        </p:nvSpPr>
        <p:spPr>
          <a:xfrm>
            <a:off x="91949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56f0bd0707b9f3749324da80eb93e4a7"/>
          <p:cNvSpPr/>
          <p:nvPr/>
        </p:nvSpPr>
        <p:spPr>
          <a:xfrm>
            <a:off x="6922445" y="4375404"/>
            <a:ext cx="2615119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e444dbba7a9d798e7fdeb3349b72ddb9"/>
          <p:cNvSpPr/>
          <p:nvPr/>
        </p:nvSpPr>
        <p:spPr>
          <a:xfrm>
            <a:off x="5045753" y="3339160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element_e444dbba7a9d798e7fdeb3349b72ddb9:text"/>
          <p:cNvSpPr txBox="1"/>
          <p:nvPr/>
        </p:nvSpPr>
        <p:spPr>
          <a:xfrm>
            <a:off x="5045753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Group Stage Momentum</a:t>
            </a:r>
            <a:endParaRPr lang="en-US" sz="1600" dirty="0"/>
          </a:p>
        </p:txBody>
      </p:sp>
      <p:sp>
        <p:nvSpPr>
          <p:cNvPr id="14" name="element_ba544cf33e7cbde476a433dcc28e744d"/>
          <p:cNvSpPr/>
          <p:nvPr/>
        </p:nvSpPr>
        <p:spPr>
          <a:xfrm>
            <a:off x="7219532" y="3339160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5" name="element_ba544cf33e7cbde476a433dcc28e744d:text"/>
          <p:cNvSpPr txBox="1"/>
          <p:nvPr/>
        </p:nvSpPr>
        <p:spPr>
          <a:xfrm>
            <a:off x="7219532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Tactical Confidence</a:t>
            </a:r>
            <a:endParaRPr lang="en-US" sz="1600" dirty="0"/>
          </a:p>
        </p:txBody>
      </p:sp>
      <p:sp>
        <p:nvSpPr>
          <p:cNvPr id="16" name="element_842a76264cb40e7cbfaa37ea4b129697"/>
          <p:cNvSpPr/>
          <p:nvPr/>
        </p:nvSpPr>
        <p:spPr>
          <a:xfrm>
            <a:off x="9394530" y="3339160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element_842a76264cb40e7cbfaa37ea4b129697:text"/>
          <p:cNvSpPr txBox="1"/>
          <p:nvPr/>
        </p:nvSpPr>
        <p:spPr>
          <a:xfrm>
            <a:off x="9394530" y="333916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Squad Rotation</a:t>
            </a:r>
            <a:endParaRPr lang="en-US" sz="1600" dirty="0"/>
          </a:p>
        </p:txBody>
      </p:sp>
      <p:sp>
        <p:nvSpPr>
          <p:cNvPr id="18" name="element_8f8140713d1d8db8e7079a27a3cc5fab"/>
          <p:cNvSpPr/>
          <p:nvPr/>
        </p:nvSpPr>
        <p:spPr>
          <a:xfrm>
            <a:off x="5045753" y="4539310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9" name="element_8f8140713d1d8db8e7079a27a3cc5fab:text"/>
          <p:cNvSpPr txBox="1"/>
          <p:nvPr/>
        </p:nvSpPr>
        <p:spPr>
          <a:xfrm>
            <a:off x="5045753" y="4539310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Knockout Resilience</a:t>
            </a:r>
            <a:endParaRPr lang="en-US" sz="1600" dirty="0"/>
          </a:p>
        </p:txBody>
      </p:sp>
      <p:sp>
        <p:nvSpPr>
          <p:cNvPr id="20" name="element_0c096f719070c2b241891a2823eae0f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a5ff2481bb2b476a6ff830cce69f60b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989ff11daae7be7d689f806ac88501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bd440279b80243648fbd3585e3d77d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f694e7d6ff299f2d8b5b1de10442175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Imagery Slot</a:t>
            </a:r>
            <a:endParaRPr lang="en-US" sz="3800" dirty="0"/>
          </a:p>
        </p:txBody>
      </p:sp>
      <p:sp>
        <p:nvSpPr>
          <p:cNvPr id="5" name="element_6ac0f1bf7772b75ed945efa2d2b3359f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slide reserves space for licensed tournament photography or match imagery. No image assets were supplied with the brief; this placeholder ensures the deck structure accommodates visual evidence when properly sourced material becomes available.</a:t>
            </a:r>
            <a:endParaRPr lang="en-US" sz="1900" dirty="0"/>
          </a:p>
        </p:txBody>
      </p:sp>
      <p:sp>
        <p:nvSpPr>
          <p:cNvPr id="6" name="element_6c00a6dd54b798d75990da2d25c20047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Image slot reserved for licensed content</a:t>
            </a:r>
            <a:endParaRPr lang="en-US" sz="1700" dirty="0"/>
          </a:p>
        </p:txBody>
      </p:sp>
      <p:sp>
        <p:nvSpPr>
          <p:cNvPr id="7" name="element_49900f0b48b75073b517afb41633c5a6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No captured images supplied in brief</a:t>
            </a:r>
            <a:endParaRPr lang="en-US" sz="1700" dirty="0"/>
          </a:p>
        </p:txBody>
      </p:sp>
      <p:sp>
        <p:nvSpPr>
          <p:cNvPr id="8" name="element_4b0ac114e900dc31430743e9f5a74c6e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Replacement required before publication</a:t>
            </a:r>
            <a:endParaRPr lang="en-US" sz="1700" dirty="0"/>
          </a:p>
        </p:txBody>
      </p:sp>
      <p:sp>
        <p:nvSpPr>
          <p:cNvPr id="9" name="element_495a6184c53c9d3a47b72ab468e8da28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495a6184c53c9d3a47b72ab468e8da28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2022 FIFA World Cup tournament imagery showing match action or trophy celebration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[Source needed - no image supplied]</a:t>
            </a:r>
            <a:endParaRPr lang="en-US" sz="1400" dirty="0"/>
          </a:p>
        </p:txBody>
      </p:sp>
      <p:sp>
        <p:nvSpPr>
          <p:cNvPr id="11" name="element_22e07f4d9e018d34a787c6ea4dc60ac0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 before external use · [Source needed - no image supplied]</a:t>
            </a:r>
            <a:endParaRPr lang="en-US" sz="1400" dirty="0"/>
          </a:p>
        </p:txBody>
      </p:sp>
      <p:sp>
        <p:nvSpPr>
          <p:cNvPr id="12" name="element_17a393e57c41bc46835114265a81c6e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6841f6f2ed31b5f581081394454f49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8a472b4d1e158c0cdf390aa67ee681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a443b885882ec49c0ce4501149fc71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825e8b815b75907baebd04cb4c0320c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Strategic Actions</a:t>
            </a:r>
            <a:endParaRPr lang="en-US" sz="3800" dirty="0"/>
          </a:p>
        </p:txBody>
      </p:sp>
      <p:sp>
        <p:nvSpPr>
          <p:cNvPr id="5" name="element_3570a43ee0b2453ff3d86db01e8e881f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tournament's scoring patterns and narrative arcs suggest three priorities for sports-media leadership: leverage high-scoring team content, amplify individual star narratives, and program sustained engagement across tournament phases.</a:t>
            </a:r>
            <a:endParaRPr lang="en-US" sz="1900" dirty="0"/>
          </a:p>
        </p:txBody>
      </p:sp>
      <p:sp>
        <p:nvSpPr>
          <p:cNvPr id="6" name="element_dc59535ee89b53fd738db5c9098994fc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Prioritize content featuring high-scoring teams (France, Argentina, England, Portugal)</a:t>
            </a:r>
            <a:endParaRPr lang="en-US" sz="1600" dirty="0"/>
          </a:p>
        </p:txBody>
      </p:sp>
      <p:sp>
        <p:nvSpPr>
          <p:cNvPr id="7" name="element_88903deab92466a04ba9888cbd2a688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Build campaigns around individual excellence (Mbappe, Messi narratives)</a:t>
            </a:r>
            <a:endParaRPr lang="en-US" sz="1600" dirty="0"/>
          </a:p>
        </p:txBody>
      </p:sp>
      <p:sp>
        <p:nvSpPr>
          <p:cNvPr id="8" name="element_71312f3118c18fc4274a81bd7765b0d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Design programming that mirrors momentum-to-resilience arc across tournament phases</a:t>
            </a:r>
            <a:endParaRPr lang="en-US" sz="1600" dirty="0"/>
          </a:p>
        </p:txBody>
      </p:sp>
      <p:sp>
        <p:nvSpPr>
          <p:cNvPr id="9" name="element_86a4cb5de42f48c1bb43de435c18678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1259775e48337c1834bb787772a4fe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an evidence-led seven-slide executive briefing on the 2022 FIF…</dc:title>
  <dc:subject>Create an editable, reviewable presentation from this idea</dc:subject>
  <dc:creator>NodeSlide</dc:creator>
  <cp:lastModifiedBy>NodeSlide</cp:lastModifiedBy>
  <cp:revision>1</cp:revision>
  <dcterms:created xsi:type="dcterms:W3CDTF">2026-07-21T23:17:19Z</dcterms:created>
  <dcterms:modified xsi:type="dcterms:W3CDTF">2026-07-21T23:17:19Z</dcterms:modified>
</cp:coreProperties>
</file>