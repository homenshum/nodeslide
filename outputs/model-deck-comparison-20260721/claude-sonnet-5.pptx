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France</c:v>
                  </c:pt>
                  <c:pt idx="1">
                    <c:v>Argentina</c:v>
                  </c:pt>
                  <c:pt idx="2">
                    <c:v>England</c:v>
                  </c:pt>
                  <c:pt idx="3">
                    <c:v>Portugal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15</c:v>
                </c:pt>
                <c:pt idx="2">
                  <c:v>13</c:v>
                </c:pt>
                <c:pt idx="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Mbappe</c:v>
                  </c:pt>
                  <c:pt idx="1">
                    <c:v>Messi</c:v>
                  </c:pt>
                  <c:pt idx="2">
                    <c:v>Alvarez</c:v>
                  </c:pt>
                  <c:pt idx="3">
                    <c:v>Giroud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7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orient. Keep the spoken transition focused on “172 Goals, 64 Matches, One Data-Backed Narrative”
Evidence note: Content is based on the supplied creation brief. Illustrative examples are not independently verified; replace them with measured evidence before external publication.
NodeSlide sources
[source_e398d9b0af326f9145f9a595fc6f09e5]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[source_fde08f7cc77cf7dc6f43c62a513f6ee0]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“France and Argentina Set the Scoring Pace”
Evidence note: Content is based on the supplied creation brief. Illustrative examples are not independently verified; replace them with measured evidence before external publication.
NodeSlide sources
[source_e398d9b0af326f9145f9a595fc6f09e5]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[source_fde08f7cc77cf7dc6f43c62a513f6ee0]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“Mbappe and Messi Drove the Individual Race”
Evidence note: Content is based on the supplied creation brief. Illustrative examples are not independently verified; replace them with measured evidence before external publication.
NodeSlide sources
[source_e398d9b0af326f9145f9a595fc6f09e5]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[source_fde08f7cc77cf7dc6f43c62a513f6ee0]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“How Early Form Compounded Into Late-Tournament Strength”
Evidence note: Content is based on the supplied creation brief. Illustrative examples are not independently verified; replace them with measured evidence before external publication.
NodeSlide sources
[source_e398d9b0af326f9145f9a595fc6f09e5]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[source_fde08f7cc77cf7dc6f43c62a513f6ee0]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“2.69 Goals per Match Defines the Tournament's Scoring Rate”
Evidence note: Content is based on the supplied creation brief. Illustrative examples are not independently verified; replace them with measured evidence before external publication.
NodeSlide sources
[source_e398d9b0af326f9145f9a595fc6f09e5]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[source_fde08f7cc77cf7dc6f43c62a513f6ee0]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“Reserved Slot for Tournament Imagery”
Evidence note: Content is based on the supplied creation brief. Illustrative examples are not independently verified; replace them with measured evidence before external publication.
NodeSlide sources
[source_e398d9b0af326f9145f9a595fc6f09e5]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[source_fde08f7cc77cf7dc6f43c62a513f6ee0]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Keep the spoken transition focused on “Three Data-Backed Angles for Engagement Strategy”
Evidence note: Content is based on the supplied creation brief. Illustrative examples are not independently verified; replace them with measured evidence before external publication.
NodeSlide sources
[source_e398d9b0af326f9145f9a595fc6f09e5]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[source_fde08f7cc77cf7dc6f43c62a513f6ee0]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0a110f8a92b2fb5576216376917714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50a91e59e875860818243a25f63ee6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ORIENT</a:t>
            </a:r>
            <a:endParaRPr lang="en-US" sz="1500" dirty="0"/>
          </a:p>
        </p:txBody>
      </p:sp>
      <p:sp>
        <p:nvSpPr>
          <p:cNvPr id="4" name="element_d322ff8971a97ffedbec08988ebde6a3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 Goals, 64 Matches, One Data-Backed Narrative</a:t>
            </a:r>
            <a:endParaRPr lang="en-US" sz="4800" dirty="0"/>
          </a:p>
        </p:txBody>
      </p:sp>
      <p:sp>
        <p:nvSpPr>
          <p:cNvPr id="5" name="element_a90a1c780cc89e62504a048284d57a89"/>
          <p:cNvSpPr txBox="1"/>
          <p:nvPr/>
        </p:nvSpPr>
        <p:spPr>
          <a:xfrm>
            <a:off x="853419" y="3291840"/>
            <a:ext cx="475476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2022 FIFA World Cup delivered a dense scoring record across four top-performing teams and a small group of standout forwards. This briefing grounds every claim in the supplied figures, with all charts, diagrams, and formulas built as editable, reviewable artifacts.</a:t>
            </a:r>
            <a:endParaRPr lang="en-US" sz="1900" dirty="0"/>
          </a:p>
        </p:txBody>
      </p:sp>
      <p:sp>
        <p:nvSpPr>
          <p:cNvPr id="6" name="element_8fc7067c53fe0cb4051561da1fc0ce1b"/>
          <p:cNvSpPr txBox="1"/>
          <p:nvPr/>
        </p:nvSpPr>
        <p:spPr>
          <a:xfrm>
            <a:off x="853419" y="4594860"/>
            <a:ext cx="4754761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France led national scoring with 16 goals; Argentina followed with 15.</a:t>
            </a:r>
            <a:endParaRPr lang="en-US" sz="1700" dirty="0"/>
          </a:p>
        </p:txBody>
      </p:sp>
      <p:sp>
        <p:nvSpPr>
          <p:cNvPr id="7" name="element_9ae356551f41912afd02ba307c1e5f3f"/>
          <p:cNvSpPr txBox="1"/>
          <p:nvPr/>
        </p:nvSpPr>
        <p:spPr>
          <a:xfrm>
            <a:off x="853419" y="5258029"/>
            <a:ext cx="4754761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Kylian Mbappe topped individual scorers with 8 goals.</a:t>
            </a:r>
            <a:endParaRPr lang="en-US" sz="1700" dirty="0"/>
          </a:p>
        </p:txBody>
      </p:sp>
      <p:sp>
        <p:nvSpPr>
          <p:cNvPr id="8" name="element_ce24222f3c525b888f6899174ad9d2a6"/>
          <p:cNvSpPr txBox="1"/>
          <p:nvPr/>
        </p:nvSpPr>
        <p:spPr>
          <a:xfrm>
            <a:off x="853419" y="5920511"/>
            <a:ext cx="4754761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The tournament averaged 2.69 goals per match across 64 matches.</a:t>
            </a:r>
            <a:endParaRPr lang="en-US" sz="1700" dirty="0"/>
          </a:p>
        </p:txBody>
      </p:sp>
      <p:sp>
        <p:nvSpPr>
          <p:cNvPr id="9" name="element_2c952ca615b3cc80a1b3ccc5816595b2"/>
          <p:cNvSpPr txBox="1"/>
          <p:nvPr/>
        </p:nvSpPr>
        <p:spPr>
          <a:xfrm>
            <a:off x="6827349" y="2811780"/>
            <a:ext cx="4145176" cy="13716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2.69</a:t>
            </a:r>
            <a:endParaRPr lang="en-US" sz="5600" dirty="0"/>
          </a:p>
        </p:txBody>
      </p:sp>
      <p:sp>
        <p:nvSpPr>
          <p:cNvPr id="10" name="element_1d77f0bc9fb5223f88122ed3b2bb5cba"/>
          <p:cNvSpPr txBox="1"/>
          <p:nvPr/>
        </p:nvSpPr>
        <p:spPr>
          <a:xfrm>
            <a:off x="7193100" y="43205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Goals per Match</a:t>
            </a:r>
            <a:endParaRPr lang="en-US" sz="1500" dirty="0"/>
          </a:p>
        </p:txBody>
      </p:sp>
      <p:sp>
        <p:nvSpPr>
          <p:cNvPr id="11" name="element_5e4a5b037f8e886073bd94c4cfd95bf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1c4e188b5f104c7dc8d8e59d0aaa7a0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ea1566afe2a2a4697190efbb99bdee1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2f582a96dc4282137625e5bd41cb4a2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01ce809400de553f887f896495b2e588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 and Argentina Set the Scoring Pace</a:t>
            </a:r>
            <a:endParaRPr lang="en-US" sz="3800" dirty="0"/>
          </a:p>
        </p:txBody>
      </p:sp>
      <p:sp>
        <p:nvSpPr>
          <p:cNvPr id="5" name="element_a887c2fa8c6a4106ce8a44f87e7b7168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Comparing the top four scoring nations shows a tight competitive band, with the eventual finalists — Argentina and France — both clearing 15 goals across the tournament.</a:t>
            </a:r>
            <a:endParaRPr lang="en-US" sz="1900" dirty="0"/>
          </a:p>
        </p:txBody>
      </p:sp>
      <p:sp>
        <p:nvSpPr>
          <p:cNvPr id="6" name="element_f298bf98daa3ca2e9599870947c5598e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France: 16 goals — tournament-leading total.</a:t>
            </a:r>
            <a:endParaRPr lang="en-US" sz="1700" dirty="0"/>
          </a:p>
        </p:txBody>
      </p:sp>
      <p:sp>
        <p:nvSpPr>
          <p:cNvPr id="7" name="element_1de1d14f65af5c0f966e53c97195e1f2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Argentina: 15 goals, one behind France.</a:t>
            </a:r>
            <a:endParaRPr lang="en-US" sz="1700" dirty="0"/>
          </a:p>
        </p:txBody>
      </p:sp>
      <p:sp>
        <p:nvSpPr>
          <p:cNvPr id="8" name="element_87c48be58336a3a1c458dfad69bb7b12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England (13) and Portugal (12) rounded out the top four.</a:t>
            </a:r>
            <a:endParaRPr lang="en-US" sz="1700" dirty="0"/>
          </a:p>
        </p:txBody>
      </p:sp>
      <p:graphicFrame>
        <p:nvGraphicFramePr>
          <p:cNvPr id="9" name="element_9b17ed12285708dbab1fcacc74fb6243" descr=""/>
          <p:cNvGraphicFramePr/>
          <p:nvPr/>
        </p:nvGraphicFramePr>
        <p:xfrm>
          <a:off x="4876678" y="2754173"/>
          <a:ext cx="6583515" cy="34070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73b339124d7cded61cf70dda1dea993a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35361198dabd8ad5f396080d89bbb6d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b530cdb53e981b1dde1b26a52803986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f9afb3431abea4fa25cae1fca08ce03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96a1bd861bc6d04da07e67ca18d416ab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Mbappe and Messi Drove the Individual Race</a:t>
            </a:r>
            <a:endParaRPr lang="en-US" sz="3800" dirty="0"/>
          </a:p>
        </p:txBody>
      </p:sp>
      <p:sp>
        <p:nvSpPr>
          <p:cNvPr id="5" name="element_4659008a42ace37e8b254fbec18ff4c5"/>
          <p:cNvSpPr txBox="1"/>
          <p:nvPr/>
        </p:nvSpPr>
        <p:spPr>
          <a:xfrm>
            <a:off x="7680768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Individual scoring concentrated among a small set of forwards, with Mbappe's 8 goals and Messi's 7 anchoring their teams' tournament-long campaigns.</a:t>
            </a:r>
            <a:endParaRPr lang="en-US" sz="1900" dirty="0"/>
          </a:p>
        </p:txBody>
      </p:sp>
      <p:sp>
        <p:nvSpPr>
          <p:cNvPr id="6" name="element_06c7223ecab06af32657cdf76b3c937e"/>
          <p:cNvSpPr txBox="1"/>
          <p:nvPr/>
        </p:nvSpPr>
        <p:spPr>
          <a:xfrm>
            <a:off x="7680768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Kylian Mbappe: 8 goals, the tournament's top scorer.</a:t>
            </a:r>
            <a:endParaRPr lang="en-US" sz="1700" dirty="0"/>
          </a:p>
        </p:txBody>
      </p:sp>
      <p:sp>
        <p:nvSpPr>
          <p:cNvPr id="7" name="element_20e4379f555c8a6da790771b393a83c4"/>
          <p:cNvSpPr txBox="1"/>
          <p:nvPr/>
        </p:nvSpPr>
        <p:spPr>
          <a:xfrm>
            <a:off x="7680768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Lionel Messi: 7 goals, second overall.</a:t>
            </a:r>
            <a:endParaRPr lang="en-US" sz="1700" dirty="0"/>
          </a:p>
        </p:txBody>
      </p:sp>
      <p:sp>
        <p:nvSpPr>
          <p:cNvPr id="8" name="element_e16236d4f084352cf54247ec429a625b"/>
          <p:cNvSpPr txBox="1"/>
          <p:nvPr/>
        </p:nvSpPr>
        <p:spPr>
          <a:xfrm>
            <a:off x="7680768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Julian Alvarez and Olivier Giroud tied at 4 goals each.</a:t>
            </a:r>
            <a:endParaRPr lang="en-US" sz="1700" dirty="0"/>
          </a:p>
        </p:txBody>
      </p:sp>
      <p:graphicFrame>
        <p:nvGraphicFramePr>
          <p:cNvPr id="9" name="element_32207a3c9be9e27398480634c7dcc120" descr=""/>
          <p:cNvGraphicFramePr/>
          <p:nvPr/>
        </p:nvGraphicFramePr>
        <p:xfrm>
          <a:off x="975336" y="2880360"/>
          <a:ext cx="6095848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6dc1f3aff312ec0175f0fcd95e4e165b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c77629a4034afb182f33f94e72bc961d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a13b67cd979dff8d2f7d1868db4861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7f41f0773f114fc4b9c3af3fe7f229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79e8d65ff06910a3bced0987b941f0dd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Early Form Compounded Into Late-Tournament Strength</a:t>
            </a:r>
            <a:endParaRPr lang="en-US" sz="3800" dirty="0"/>
          </a:p>
        </p:txBody>
      </p:sp>
      <p:sp>
        <p:nvSpPr>
          <p:cNvPr id="5" name="element_cdbbacadf0b2aab7aa12185ff961db94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This process diagram is an illustrative structural model — derived from the sequencing of tournament phases described in the brief — showing how group-stage scoring form is commonly understood to carry into knockout performance. It is not itself a sourced statistical claim.</a:t>
            </a:r>
            <a:endParaRPr lang="en-US" sz="1700" dirty="0"/>
          </a:p>
        </p:txBody>
      </p:sp>
      <p:sp>
        <p:nvSpPr>
          <p:cNvPr id="6" name="element_23302caadfc07ca1a8e462d922b24271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Group-stage output builds squad confidence and rotation options.</a:t>
            </a:r>
            <a:endParaRPr lang="en-US" sz="1700" dirty="0"/>
          </a:p>
        </p:txBody>
      </p:sp>
      <p:sp>
        <p:nvSpPr>
          <p:cNvPr id="7" name="element_82138f529e969b41ac1f526f07250509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Sustained scoring depth supports composure in knockout matches.</a:t>
            </a:r>
            <a:endParaRPr lang="en-US" sz="1700" dirty="0"/>
          </a:p>
        </p:txBody>
      </p:sp>
      <p:sp>
        <p:nvSpPr>
          <p:cNvPr id="8" name="element_92b43523132af741ac7e998346993bd1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Individual scoring leaders anchored performance through the final rounds.</a:t>
            </a:r>
            <a:endParaRPr lang="en-US" sz="1700" dirty="0"/>
          </a:p>
        </p:txBody>
      </p:sp>
      <p:sp>
        <p:nvSpPr>
          <p:cNvPr id="9" name="element_dbe7965a6f7b90b84e72b012a4706eda"/>
          <p:cNvSpPr/>
          <p:nvPr/>
        </p:nvSpPr>
        <p:spPr>
          <a:xfrm>
            <a:off x="7019978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410abf0fa0f2e2de23303be24b256df1"/>
          <p:cNvSpPr/>
          <p:nvPr/>
        </p:nvSpPr>
        <p:spPr>
          <a:xfrm>
            <a:off x="9194977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6df204e419f9188e0799f6fc33c28e88"/>
          <p:cNvSpPr/>
          <p:nvPr/>
        </p:nvSpPr>
        <p:spPr>
          <a:xfrm>
            <a:off x="6922445" y="4375404"/>
            <a:ext cx="2615119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2" name="element_107c9fa7dbcff330cc85a2fc23b00eca"/>
          <p:cNvSpPr/>
          <p:nvPr/>
        </p:nvSpPr>
        <p:spPr>
          <a:xfrm>
            <a:off x="5120512" y="3377565"/>
            <a:ext cx="1868987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3" name="element_107c9fa7dbcff330cc85a2fc23b00eca:text"/>
          <p:cNvSpPr txBox="1"/>
          <p:nvPr/>
        </p:nvSpPr>
        <p:spPr>
          <a:xfrm>
            <a:off x="5120512" y="337756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Group-Stage Scoring Form</a:t>
            </a:r>
            <a:endParaRPr lang="en-US" sz="1600" dirty="0"/>
          </a:p>
        </p:txBody>
      </p:sp>
      <p:sp>
        <p:nvSpPr>
          <p:cNvPr id="14" name="element_a488dc2864ec0c718d5526bd8c21a119"/>
          <p:cNvSpPr/>
          <p:nvPr/>
        </p:nvSpPr>
        <p:spPr>
          <a:xfrm>
            <a:off x="7294291" y="3377565"/>
            <a:ext cx="1868987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5" name="element_a488dc2864ec0c718d5526bd8c21a119:text"/>
          <p:cNvSpPr txBox="1"/>
          <p:nvPr/>
        </p:nvSpPr>
        <p:spPr>
          <a:xfrm>
            <a:off x="7294291" y="337756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Squad Rotation &amp; Depth</a:t>
            </a:r>
            <a:endParaRPr lang="en-US" sz="1600" dirty="0"/>
          </a:p>
        </p:txBody>
      </p:sp>
      <p:sp>
        <p:nvSpPr>
          <p:cNvPr id="16" name="element_59a896410a5747ceb3b211005bc2751e"/>
          <p:cNvSpPr/>
          <p:nvPr/>
        </p:nvSpPr>
        <p:spPr>
          <a:xfrm>
            <a:off x="9469290" y="3377565"/>
            <a:ext cx="1868987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7" name="element_59a896410a5747ceb3b211005bc2751e:text"/>
          <p:cNvSpPr txBox="1"/>
          <p:nvPr/>
        </p:nvSpPr>
        <p:spPr>
          <a:xfrm>
            <a:off x="9469290" y="337756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Knockout Composure</a:t>
            </a:r>
            <a:endParaRPr lang="en-US" sz="1600" dirty="0"/>
          </a:p>
        </p:txBody>
      </p:sp>
      <p:sp>
        <p:nvSpPr>
          <p:cNvPr id="18" name="element_1686dc749a5239c22be13b9de6a15a1d"/>
          <p:cNvSpPr/>
          <p:nvPr/>
        </p:nvSpPr>
        <p:spPr>
          <a:xfrm>
            <a:off x="5120512" y="4577715"/>
            <a:ext cx="1868987" cy="96012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9" name="element_1686dc749a5239c22be13b9de6a15a1d:text"/>
          <p:cNvSpPr txBox="1"/>
          <p:nvPr/>
        </p:nvSpPr>
        <p:spPr>
          <a:xfrm>
            <a:off x="5120512" y="457771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Final-Stage Resilience</a:t>
            </a:r>
            <a:endParaRPr lang="en-US" sz="1600" dirty="0"/>
          </a:p>
        </p:txBody>
      </p:sp>
      <p:sp>
        <p:nvSpPr>
          <p:cNvPr id="20" name="element_23b437cc64b73dbfc0f0913b0339fb5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3340635932c63bd49437bca586588f8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a35b577eb5df971d76ecccfac1c3e46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f23e17889bd46ba5416eafbd047dd84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62413f254a863e2b60ee1d12c5ac96c5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2.69 Goals per Match Defines the Tournament's Scoring Rate</a:t>
            </a:r>
            <a:endParaRPr lang="en-US" sz="3800" dirty="0"/>
          </a:p>
        </p:txBody>
      </p:sp>
      <p:sp>
        <p:nvSpPr>
          <p:cNvPr id="5" name="element_ef5e81bfb00ee64085154eea26e944b3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tournament's scoring rate is a direct, inspectable calculation from the two supplied totals: total goals and total matches played.</a:t>
            </a:r>
            <a:endParaRPr lang="en-US" sz="1900" dirty="0"/>
          </a:p>
        </p:txBody>
      </p:sp>
      <p:sp>
        <p:nvSpPr>
          <p:cNvPr id="6" name="element_0bcfad7c6b8c73524f151c718f60ba7e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172 total goals scored across the tournament.</a:t>
            </a:r>
            <a:endParaRPr lang="en-US" sz="1700" dirty="0"/>
          </a:p>
        </p:txBody>
      </p:sp>
      <p:sp>
        <p:nvSpPr>
          <p:cNvPr id="7" name="element_13ecc41d7b22cdcb4e8584a6a6d179c1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64 total matches played.</a:t>
            </a:r>
            <a:endParaRPr lang="en-US" sz="1700" dirty="0"/>
          </a:p>
        </p:txBody>
      </p:sp>
      <p:sp>
        <p:nvSpPr>
          <p:cNvPr id="8" name="element_82a6db211a071739a53412f2db601acc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Result: 2.69 goals per match, rounded to two decimal places.</a:t>
            </a:r>
            <a:endParaRPr lang="en-US" sz="1700" dirty="0"/>
          </a:p>
        </p:txBody>
      </p:sp>
      <p:sp>
        <p:nvSpPr>
          <p:cNvPr id="9" name="element_2684a98f2118712802d1918e55dfb628"/>
          <p:cNvSpPr txBox="1"/>
          <p:nvPr/>
        </p:nvSpPr>
        <p:spPr>
          <a:xfrm>
            <a:off x="6271408" y="2814523"/>
            <a:ext cx="5135142" cy="1777594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Goals per Match = Total Goals ÷ Matches Played</a:t>
            </a:r>
            <a:endParaRPr lang="en-US" sz="3000" dirty="0"/>
          </a:p>
        </p:txBody>
      </p:sp>
      <p:sp>
        <p:nvSpPr>
          <p:cNvPr id="10" name="element_4021ffecffe5be3a2405f15785cfae45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991e84035d8e47f4233f3e70639df9a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7d37b8580325dac7b0d0d9cb7babe9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e672642b561100d981a8f1b2e85223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cb725efef11fe18c770fc62ff915497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Reserved Slot for Tournament Imagery</a:t>
            </a:r>
            <a:endParaRPr lang="en-US" sz="3800" dirty="0"/>
          </a:p>
        </p:txBody>
      </p:sp>
      <p:sp>
        <p:nvSpPr>
          <p:cNvPr id="5" name="element_a282aad2dda1c0f33e718b03e38f12e2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 licensed image was supplied with this brief. This slide reserves an explicitly labeled placeholder rather than presenting any unverified or invented visual as evidence.</a:t>
            </a:r>
            <a:endParaRPr lang="en-US" sz="1900" dirty="0"/>
          </a:p>
        </p:txBody>
      </p:sp>
      <p:sp>
        <p:nvSpPr>
          <p:cNvPr id="6" name="element_965584b87648ce20702dfac89a3d4d2f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No image asset was provided in the source material.</a:t>
            </a:r>
            <a:endParaRPr lang="en-US" sz="1700" dirty="0"/>
          </a:p>
        </p:txBody>
      </p:sp>
      <p:sp>
        <p:nvSpPr>
          <p:cNvPr id="7" name="element_2d2bba482c23981466ec965c068f1fd9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This placeholder must be replaced with a properly licensed image before external use.</a:t>
            </a:r>
            <a:endParaRPr lang="en-US" sz="1700" dirty="0"/>
          </a:p>
        </p:txBody>
      </p:sp>
      <p:sp>
        <p:nvSpPr>
          <p:cNvPr id="8" name="element_b3272cb7ff1633773fff3f5deaac551c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No stock or generated imagery has been substituted.</a:t>
            </a:r>
            <a:endParaRPr lang="en-US" sz="1700" dirty="0"/>
          </a:p>
        </p:txBody>
      </p:sp>
      <p:sp>
        <p:nvSpPr>
          <p:cNvPr id="9" name="element_38cadf2560f0b14813e63bd14739c91c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38cadf2560f0b14813e63bd14739c91c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Placeholder for 2022 FIFA World Cup imagery — no licensed image supplied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Placeholder — no image asset provided; replace before publication</a:t>
            </a:r>
            <a:endParaRPr lang="en-US" sz="1400" dirty="0"/>
          </a:p>
        </p:txBody>
      </p:sp>
      <p:sp>
        <p:nvSpPr>
          <p:cNvPr id="11" name="element_d84fa414d9c5fec7abecb9d695641f1b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 before external use · Placeholder — no image asset provided; replace before publication</a:t>
            </a:r>
            <a:endParaRPr lang="en-US" sz="1400" dirty="0"/>
          </a:p>
        </p:txBody>
      </p:sp>
      <p:sp>
        <p:nvSpPr>
          <p:cNvPr id="12" name="element_1ecd3ce910edc3796edca4b99cdc8f6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2bf17b704966cf64d6e2d9b46d1ba48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75848940f4e67412ad8edae6e6b90f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70b60f041566ab773f856fabb22b1a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8a799faf43b971ab4069f440f0bfe71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Data-Backed Angles for Engagement Strategy</a:t>
            </a:r>
            <a:endParaRPr lang="en-US" sz="3800" dirty="0"/>
          </a:p>
        </p:txBody>
      </p:sp>
      <p:sp>
        <p:nvSpPr>
          <p:cNvPr id="5" name="element_7bf0fdb086edb4bdd9e167cb06e1484a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These implications extend directly from the scoring patterns above and should guide editorial and engagement planning for future tournament coverage.</a:t>
            </a:r>
            <a:endParaRPr lang="en-US" sz="1900" dirty="0"/>
          </a:p>
        </p:txBody>
      </p:sp>
      <p:sp>
        <p:nvSpPr>
          <p:cNvPr id="6" name="element_3fce4fc6992e5777873966f9cd541227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Feature high-density scoring races (France vs. Argentina) to sustain narrative tension.</a:t>
            </a:r>
            <a:endParaRPr lang="en-US" sz="1700" dirty="0"/>
          </a:p>
        </p:txBody>
      </p:sp>
      <p:sp>
        <p:nvSpPr>
          <p:cNvPr id="7" name="element_cb3e4acf3b83cde5d4fce086e64aad86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Center individual scoring leaders like Mbappe and Messi in personality-driven content.</a:t>
            </a:r>
            <a:endParaRPr lang="en-US" sz="1700" dirty="0"/>
          </a:p>
        </p:txBody>
      </p:sp>
      <p:sp>
        <p:nvSpPr>
          <p:cNvPr id="8" name="element_8665a72fd7811d9888ca7c0adf116839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Use the 2.69 goals-per-match rate to benchmark and promote match-pace expectations.</a:t>
            </a:r>
            <a:endParaRPr lang="en-US" sz="1700" dirty="0"/>
          </a:p>
        </p:txBody>
      </p:sp>
      <p:sp>
        <p:nvSpPr>
          <p:cNvPr id="9" name="element_973a1a4b61efcfb57858e4eda8b5c04c"/>
          <p:cNvSpPr txBox="1"/>
          <p:nvPr/>
        </p:nvSpPr>
        <p:spPr>
          <a:xfrm>
            <a:off x="6827349" y="2811780"/>
            <a:ext cx="4145176" cy="13716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</a:t>
            </a:r>
            <a:endParaRPr lang="en-US" sz="5600" dirty="0"/>
          </a:p>
        </p:txBody>
      </p:sp>
      <p:sp>
        <p:nvSpPr>
          <p:cNvPr id="10" name="element_59305e0a80b5f60a7388e002e0ee1281"/>
          <p:cNvSpPr txBox="1"/>
          <p:nvPr/>
        </p:nvSpPr>
        <p:spPr>
          <a:xfrm>
            <a:off x="7193100" y="43205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Engagement Implications</a:t>
            </a:r>
            <a:endParaRPr lang="en-US" sz="1500" dirty="0"/>
          </a:p>
        </p:txBody>
      </p:sp>
      <p:sp>
        <p:nvSpPr>
          <p:cNvPr id="11" name="element_ced72979b993e4d4b1186cb895bcac6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0de62eef5dddb1038904d613c60b05e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an evidence-led seven-slide executive briefing on the 2022 FIF…</dc:title>
  <dc:subject>Create an editable, reviewable presentation from this idea</dc:subject>
  <dc:creator>NodeSlide</dc:creator>
  <cp:lastModifiedBy>NodeSlide</cp:lastModifiedBy>
  <cp:revision>1</cp:revision>
  <dcterms:created xsi:type="dcterms:W3CDTF">2026-07-21T23:17:58Z</dcterms:created>
  <dcterms:modified xsi:type="dcterms:W3CDTF">2026-07-21T23:17:58Z</dcterms:modified>
</cp:coreProperties>
</file>