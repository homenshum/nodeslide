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Composition grammar: full-bleed-thesis. Keep the spoken transition focused on "Decide whether the AI release gate may open"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Composition grammar: process-canvas.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
[source_b8f449739f99d11a2b90824fc411ebb2] Brief success criteria
Citation: Preserve all twelve narrative jobs; Separate supplied evidence from open assumptions; Name the decision owner and next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Composition grammar: comparison-field.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Composition grammar: asymmetric-editorial.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Composition grammar: comparison-field.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Composition grammar: asymmetric-editorial.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Composition grammar: process-canvas. Keep the spoken transition focused on "Separate what is supplied from what still needs verification."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
[source_b8f449739f99d11a2b90824fc411ebb2] Brief success criteria
Citation: Preserve all twelve narrative jobs; Separate supplied evidence from open assumptions; Name the decision owner and next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Composition grammar: scene-stage. Keep the spoken transition focused on "Unverified assumptions remain questions, not conclusions."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
[source_b8f449739f99d11a2b90824fc411ebb2] Brief success criteria
Citation: Preserve all twelve narrative jobs; Separate supplied evidence from open assumptions; Name the decision owner and next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Operating model. Composition grammar: process-canvas. Keep the spoken transition focused on "A decision becomes executable when each handoff has an owner."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
[source_b8f449739f99d11a2b90824fc411ebb2] Brief success criteria
Citation: Preserve all twelve narrative jobs; Separate supplied evidence from open assumptions; Name the decision owner and next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Risk. Composition grammar: scene-stage. Keep the spoken transition focused on "Controls should answer the risks the brief actually establishes."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
[source_b8f449739f99d11a2b90824fc411ebb2] Brief success criteria
Citation: Preserve all twelve narrative jobs; Separate supplied evidence from open assumptions; Name the decision owner and next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Proof. Composition grammar: scene-stage. Keep the spoken transition focused on "Agree how success will be judged before the next decision."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
[source_b8f449739f99d11a2b90824fc411ebb2] Brief success criteria
Citation: Preserve all twelve narrative jobs; Separate supplied evidence from open assumptions; Name the decision owner and next checkpoint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Composition grammar: evidence-dossier. Keep the spoken transition focused on "Decide whether the AI release gate may open"
Evidence note: Content is based on the supplied creation brief. Illustrative examples are not independently verified; replace them with measured evidence before external publication.
NodeSlide sources
[source_26bf56ae628059912a6bb17d7978e1df] Build exactly 12 slides for a risk committee deciding whether an AI release may… — creation brief
Citation: Build exactly 12 slides for a risk committee deciding whether an AI release may proceed. Use only supplied qualitative evidence. Move the guarded threshold from exposed uncertainty through inspection to an explicit release state. Do not invent figures, weights, thresholds, formulas, dates, or operating rules.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5892f3ee5ff904a300c6fe19584fb454"/>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ad6afe80e3828a686bdb3c5c559f1169"/>
          <p:cNvSpPr txBox="1"/>
          <p:nvPr/>
        </p:nvSpPr>
        <p:spPr>
          <a:xfrm>
            <a:off x="853419" y="2599868"/>
            <a:ext cx="10484858" cy="1658264"/>
          </a:xfrm>
          <a:prstGeom prst="rect">
            <a:avLst/>
          </a:prstGeom>
          <a:noFill/>
          <a:ln/>
        </p:spPr>
        <p:txBody>
          <a:bodyPr wrap="square" lIns="0" tIns="0" rIns="0" bIns="0" rtlCol="0" anchor="t">
            <a:normAutofit/>
          </a:bodyPr>
          <a:lstStyle/>
          <a:p>
            <a:pPr algn="l" indent="0" marL="0">
              <a:lnSpc>
                <a:spcPct val="102000"/>
              </a:lnSpc>
              <a:buNone/>
            </a:pPr>
            <a:r>
              <a:rPr lang="en-US" sz="6400" b="1" spc="-120" kern="0" dirty="0">
                <a:solidFill>
                  <a:srgbClr val="26221D"/>
                </a:solidFill>
                <a:latin typeface="Georgia" pitchFamily="34" charset="0"/>
                <a:ea typeface="Georgia" pitchFamily="34" charset="-122"/>
                <a:cs typeface="Georgia" pitchFamily="34" charset="-120"/>
              </a:rPr>
              <a:t>Decide whether the AI release gate may open</a:t>
            </a:r>
            <a:endParaRPr lang="en-US" sz="6400" dirty="0"/>
          </a:p>
        </p:txBody>
      </p:sp>
      <p:sp>
        <p:nvSpPr>
          <p:cNvPr id="4" name="element_2e31d13a661542ed2a0d9d04876d294e"/>
          <p:cNvSpPr/>
          <p:nvPr/>
        </p:nvSpPr>
        <p:spPr>
          <a:xfrm>
            <a:off x="853419" y="4395292"/>
            <a:ext cx="1463003" cy="68580"/>
          </a:xfrm>
          <a:prstGeom prst="roundRect">
            <a:avLst/>
          </a:prstGeom>
          <a:solidFill>
            <a:srgbClr val="B44A2D"/>
          </a:solidFill>
          <a:ln w="12700">
            <a:solidFill>
              <a:srgbClr val="FFFFFF">
                <a:alpha val="0"/>
              </a:srgbClr>
            </a:solidFill>
            <a:prstDash val="solid"/>
          </a:ln>
        </p:spPr>
      </p:sp>
      <p:sp>
        <p:nvSpPr>
          <p:cNvPr id="5" name="element_1e2d336e749f36c18f10f0f33ac631f7"/>
          <p:cNvSpPr txBox="1"/>
          <p:nvPr/>
        </p:nvSpPr>
        <p:spPr>
          <a:xfrm>
            <a:off x="853419" y="41148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6" name="element_f82f0e23d3668de3b20e63cc39f099c9"/>
          <p:cNvSpPr/>
          <p:nvPr/>
        </p:nvSpPr>
        <p:spPr>
          <a:xfrm>
            <a:off x="9401016" y="356616"/>
            <a:ext cx="146300" cy="685800"/>
          </a:xfrm>
          <a:prstGeom prst="roundRect">
            <a:avLst/>
          </a:prstGeom>
          <a:solidFill>
            <a:srgbClr val="34452C">
              <a:alpha val="34000"/>
            </a:srgbClr>
          </a:solidFill>
          <a:ln w="12700">
            <a:solidFill>
              <a:srgbClr val="FFFFFF">
                <a:alpha val="0"/>
              </a:srgbClr>
            </a:solidFill>
            <a:prstDash val="solid"/>
          </a:ln>
        </p:spPr>
      </p:sp>
      <p:sp>
        <p:nvSpPr>
          <p:cNvPr id="7" name="element_613746390f37246a1d91c4770ef7d296"/>
          <p:cNvSpPr/>
          <p:nvPr/>
        </p:nvSpPr>
        <p:spPr>
          <a:xfrm>
            <a:off x="10081313" y="356616"/>
            <a:ext cx="146300" cy="685800"/>
          </a:xfrm>
          <a:prstGeom prst="roundRect">
            <a:avLst/>
          </a:prstGeom>
          <a:solidFill>
            <a:srgbClr val="34452C">
              <a:alpha val="34000"/>
            </a:srgbClr>
          </a:solidFill>
          <a:ln w="12700">
            <a:solidFill>
              <a:srgbClr val="FFFFFF">
                <a:alpha val="0"/>
              </a:srgbClr>
            </a:solidFill>
            <a:prstDash val="solid"/>
          </a:ln>
        </p:spPr>
      </p:sp>
      <p:sp>
        <p:nvSpPr>
          <p:cNvPr id="8" name="element_69cf4aa376f110b516820b109c9ac9b4"/>
          <p:cNvSpPr/>
          <p:nvPr/>
        </p:nvSpPr>
        <p:spPr>
          <a:xfrm>
            <a:off x="9547317" y="850392"/>
            <a:ext cx="532777" cy="68580"/>
          </a:xfrm>
          <a:prstGeom prst="roundRect">
            <a:avLst/>
          </a:prstGeom>
          <a:solidFill>
            <a:srgbClr val="F2DED3">
              <a:alpha val="45000"/>
            </a:srgbClr>
          </a:solidFill>
          <a:ln w="12700">
            <a:solidFill>
              <a:srgbClr val="FFFFFF">
                <a:alpha val="0"/>
              </a:srgbClr>
            </a:solidFill>
            <a:prstDash val="solid"/>
          </a:ln>
        </p:spPr>
      </p:sp>
      <p:sp>
        <p:nvSpPr>
          <p:cNvPr id="9" name="element_ccc79c979a126d543117356f07bf4827"/>
          <p:cNvSpPr/>
          <p:nvPr/>
        </p:nvSpPr>
        <p:spPr>
          <a:xfrm>
            <a:off x="8531748" y="768096"/>
            <a:ext cx="268217" cy="150876"/>
          </a:xfrm>
          <a:prstGeom prst="roundRect">
            <a:avLst/>
          </a:prstGeom>
          <a:solidFill>
            <a:srgbClr val="B44A2D">
              <a:alpha val="34000"/>
            </a:srgbClr>
          </a:solidFill>
          <a:ln w="12700">
            <a:solidFill>
              <a:srgbClr val="FFFFFF">
                <a:alpha val="0"/>
              </a:srgbClr>
            </a:solidFill>
            <a:prstDash val="solid"/>
          </a:ln>
        </p:spPr>
      </p:sp>
      <p:sp>
        <p:nvSpPr>
          <p:cNvPr id="10" name="element_3b3d281af2f069a156298919327550d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7819947fc672ca0a6da7e4c754795f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f9aa8f013373e119adebfd72497e138e"/>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6d6d943f253908f3be3322b0c64fd1fa"/>
          <p:cNvSpPr txBox="1"/>
          <p:nvPr/>
        </p:nvSpPr>
        <p:spPr>
          <a:xfrm>
            <a:off x="853419" y="41148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3af70721bc7eb0c2e866e3c21d00a740"/>
          <p:cNvSpPr txBox="1"/>
          <p:nvPr/>
        </p:nvSpPr>
        <p:spPr>
          <a:xfrm>
            <a:off x="853419" y="960120"/>
            <a:ext cx="9997190" cy="894283"/>
          </a:xfrm>
          <a:prstGeom prst="rect">
            <a:avLst/>
          </a:prstGeom>
          <a:noFill/>
          <a:ln/>
        </p:spPr>
        <p:txBody>
          <a:bodyPr wrap="square" lIns="0" tIns="0" rIns="0" bIns="0" rtlCol="0" anchor="t">
            <a:normAutofit/>
          </a:bodyPr>
          <a:lstStyle/>
          <a:p>
            <a:pPr algn="l" indent="0" marL="0">
              <a:lnSpc>
                <a:spcPct val="110000"/>
              </a:lnSpc>
              <a:buNone/>
            </a:pPr>
            <a:r>
              <a:rPr lang="en-US" sz="3200" b="1" dirty="0">
                <a:solidFill>
                  <a:srgbClr val="26221D"/>
                </a:solidFill>
                <a:latin typeface="Georgia" pitchFamily="34" charset="0"/>
                <a:ea typeface="Georgia" pitchFamily="34" charset="-122"/>
                <a:cs typeface="Georgia" pitchFamily="34" charset="-120"/>
              </a:rPr>
              <a:t>The cost of waiting is usually hidden in repeated work.</a:t>
            </a:r>
            <a:endParaRPr lang="en-US" sz="3200" dirty="0"/>
          </a:p>
        </p:txBody>
      </p:sp>
      <p:sp>
        <p:nvSpPr>
          <p:cNvPr id="5" name="element_c508ea941aac57cf6d4385e2a4a834a4"/>
          <p:cNvSpPr/>
          <p:nvPr/>
        </p:nvSpPr>
        <p:spPr>
          <a:xfrm>
            <a:off x="2499298" y="3931006"/>
            <a:ext cx="3596550" cy="164592"/>
          </a:xfrm>
          <a:prstGeom prst="line">
            <a:avLst/>
          </a:prstGeom>
          <a:noFill/>
          <a:ln w="25400">
            <a:solidFill>
              <a:srgbClr val="7566A8"/>
            </a:solidFill>
            <a:prstDash val="solid"/>
            <a:tailEnd type="triangle"/>
          </a:ln>
        </p:spPr>
      </p:sp>
      <p:sp>
        <p:nvSpPr>
          <p:cNvPr id="6" name="element_b8a44fe3477952e1854e8bca386707ac"/>
          <p:cNvSpPr/>
          <p:nvPr/>
        </p:nvSpPr>
        <p:spPr>
          <a:xfrm>
            <a:off x="6095848" y="3931006"/>
            <a:ext cx="3596550" cy="164592"/>
          </a:xfrm>
          <a:prstGeom prst="line">
            <a:avLst/>
          </a:prstGeom>
          <a:noFill/>
          <a:ln w="25400">
            <a:solidFill>
              <a:srgbClr val="7566A8"/>
            </a:solidFill>
            <a:prstDash val="solid"/>
            <a:tailEnd type="triangle"/>
          </a:ln>
        </p:spPr>
      </p:sp>
      <p:sp>
        <p:nvSpPr>
          <p:cNvPr id="7" name="element_8f5eacf5a39e695f0007f69b07b9c2c7"/>
          <p:cNvSpPr/>
          <p:nvPr/>
        </p:nvSpPr>
        <p:spPr>
          <a:xfrm>
            <a:off x="853419" y="3533242"/>
            <a:ext cx="3291758" cy="960120"/>
          </a:xfrm>
          <a:prstGeom prst="roundRect">
            <a:avLst/>
          </a:prstGeom>
          <a:solidFill>
            <a:srgbClr val="F2DED3"/>
          </a:solidFill>
          <a:ln w="12700">
            <a:solidFill>
              <a:srgbClr val="DED7CC"/>
            </a:solidFill>
            <a:prstDash val="solid"/>
          </a:ln>
        </p:spPr>
      </p:sp>
      <p:sp>
        <p:nvSpPr>
          <p:cNvPr id="8" name="element_8f5eacf5a39e695f0007f69b07b9c2c7:text"/>
          <p:cNvSpPr txBox="1"/>
          <p:nvPr/>
        </p:nvSpPr>
        <p:spPr>
          <a:xfrm>
            <a:off x="8534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Friction</a:t>
            </a:r>
            <a:endParaRPr lang="en-US" sz="1400" dirty="0"/>
          </a:p>
        </p:txBody>
      </p:sp>
      <p:sp>
        <p:nvSpPr>
          <p:cNvPr id="9" name="element_1fa010341e65ac8143726037a6429b37"/>
          <p:cNvSpPr/>
          <p:nvPr/>
        </p:nvSpPr>
        <p:spPr>
          <a:xfrm>
            <a:off x="4449969" y="3533242"/>
            <a:ext cx="3291758" cy="960120"/>
          </a:xfrm>
          <a:prstGeom prst="roundRect">
            <a:avLst/>
          </a:prstGeom>
          <a:solidFill>
            <a:srgbClr val="F2DED3"/>
          </a:solidFill>
          <a:ln w="12700">
            <a:solidFill>
              <a:srgbClr val="DED7CC"/>
            </a:solidFill>
            <a:prstDash val="solid"/>
          </a:ln>
        </p:spPr>
      </p:sp>
      <p:sp>
        <p:nvSpPr>
          <p:cNvPr id="10" name="element_1fa010341e65ac8143726037a6429b37:text"/>
          <p:cNvSpPr txBox="1"/>
          <p:nvPr/>
        </p:nvSpPr>
        <p:spPr>
          <a:xfrm>
            <a:off x="444996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Consequence</a:t>
            </a:r>
            <a:endParaRPr lang="en-US" sz="1300" dirty="0"/>
          </a:p>
        </p:txBody>
      </p:sp>
      <p:sp>
        <p:nvSpPr>
          <p:cNvPr id="11" name="element_52b747ca450af31b6c422df5c6c04235"/>
          <p:cNvSpPr/>
          <p:nvPr/>
        </p:nvSpPr>
        <p:spPr>
          <a:xfrm>
            <a:off x="8046519" y="3533242"/>
            <a:ext cx="3291758" cy="960120"/>
          </a:xfrm>
          <a:prstGeom prst="roundRect">
            <a:avLst/>
          </a:prstGeom>
          <a:solidFill>
            <a:srgbClr val="E5E9D6"/>
          </a:solidFill>
          <a:ln w="12700">
            <a:solidFill>
              <a:srgbClr val="DED7CC"/>
            </a:solidFill>
            <a:prstDash val="solid"/>
          </a:ln>
        </p:spPr>
      </p:sp>
      <p:sp>
        <p:nvSpPr>
          <p:cNvPr id="12" name="element_52b747ca450af31b6c422df5c6c04235:text"/>
          <p:cNvSpPr txBox="1"/>
          <p:nvPr/>
        </p:nvSpPr>
        <p:spPr>
          <a:xfrm>
            <a:off x="80465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Decision window</a:t>
            </a:r>
            <a:endParaRPr lang="en-US" sz="1300" dirty="0"/>
          </a:p>
        </p:txBody>
      </p:sp>
      <p:sp>
        <p:nvSpPr>
          <p:cNvPr id="13" name="element_b8067e2476d461e044d724cacba57cd4"/>
          <p:cNvSpPr txBox="1"/>
          <p:nvPr/>
        </p:nvSpPr>
        <p:spPr>
          <a:xfrm>
            <a:off x="853419" y="4543425"/>
            <a:ext cx="9631439" cy="75438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Frame the current reality for Risk committee: what is fragmented today, why it matters now, and where momentum is being lost.</a:t>
            </a:r>
            <a:endParaRPr lang="en-US" sz="1600" dirty="0"/>
          </a:p>
        </p:txBody>
      </p:sp>
      <p:sp>
        <p:nvSpPr>
          <p:cNvPr id="14" name="element_e213ba2091ec9c81c89935f0aa5ad72c"/>
          <p:cNvSpPr/>
          <p:nvPr/>
        </p:nvSpPr>
        <p:spPr>
          <a:xfrm>
            <a:off x="9347373" y="356616"/>
            <a:ext cx="146300" cy="685800"/>
          </a:xfrm>
          <a:prstGeom prst="roundRect">
            <a:avLst/>
          </a:prstGeom>
          <a:solidFill>
            <a:srgbClr val="34452C">
              <a:alpha val="34000"/>
            </a:srgbClr>
          </a:solidFill>
          <a:ln w="12700">
            <a:solidFill>
              <a:srgbClr val="FFFFFF">
                <a:alpha val="0"/>
              </a:srgbClr>
            </a:solidFill>
            <a:prstDash val="solid"/>
          </a:ln>
        </p:spPr>
      </p:sp>
      <p:sp>
        <p:nvSpPr>
          <p:cNvPr id="15" name="element_cb2b03835a66f81525df05ceec1b0e94"/>
          <p:cNvSpPr/>
          <p:nvPr/>
        </p:nvSpPr>
        <p:spPr>
          <a:xfrm>
            <a:off x="10134956" y="356616"/>
            <a:ext cx="146300" cy="685800"/>
          </a:xfrm>
          <a:prstGeom prst="roundRect">
            <a:avLst/>
          </a:prstGeom>
          <a:solidFill>
            <a:srgbClr val="34452C">
              <a:alpha val="34000"/>
            </a:srgbClr>
          </a:solidFill>
          <a:ln w="12700">
            <a:solidFill>
              <a:srgbClr val="FFFFFF">
                <a:alpha val="0"/>
              </a:srgbClr>
            </a:solidFill>
            <a:prstDash val="solid"/>
          </a:ln>
        </p:spPr>
      </p:sp>
      <p:sp>
        <p:nvSpPr>
          <p:cNvPr id="16" name="element_b8cdc7a4b63ce0d2f56bab3c570dafd8"/>
          <p:cNvSpPr/>
          <p:nvPr/>
        </p:nvSpPr>
        <p:spPr>
          <a:xfrm>
            <a:off x="9493673" y="850392"/>
            <a:ext cx="640064" cy="68580"/>
          </a:xfrm>
          <a:prstGeom prst="roundRect">
            <a:avLst/>
          </a:prstGeom>
          <a:solidFill>
            <a:srgbClr val="F2DED3">
              <a:alpha val="48000"/>
            </a:srgbClr>
          </a:solidFill>
          <a:ln w="12700">
            <a:solidFill>
              <a:srgbClr val="FFFFFF">
                <a:alpha val="0"/>
              </a:srgbClr>
            </a:solidFill>
            <a:prstDash val="solid"/>
          </a:ln>
        </p:spPr>
      </p:sp>
      <p:sp>
        <p:nvSpPr>
          <p:cNvPr id="17" name="element_c32d19da8b4765af020fed6af1dd0eb0"/>
          <p:cNvSpPr/>
          <p:nvPr/>
        </p:nvSpPr>
        <p:spPr>
          <a:xfrm>
            <a:off x="8725596" y="768096"/>
            <a:ext cx="268217" cy="150876"/>
          </a:xfrm>
          <a:prstGeom prst="roundRect">
            <a:avLst/>
          </a:prstGeom>
          <a:solidFill>
            <a:srgbClr val="B44A2D">
              <a:alpha val="34000"/>
            </a:srgbClr>
          </a:solidFill>
          <a:ln w="12700">
            <a:solidFill>
              <a:srgbClr val="FFFFFF">
                <a:alpha val="0"/>
              </a:srgbClr>
            </a:solidFill>
            <a:prstDash val="solid"/>
          </a:ln>
        </p:spPr>
      </p:sp>
      <p:sp>
        <p:nvSpPr>
          <p:cNvPr id="18" name="element_a5ef0b44224d7dc1def3a5e5c7eb7f0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dcb2aaa3f0480aa12ad640c7fae663c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a75ee21aeeec540b81eb6f3717b0d749"/>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f8fb428ac44e67b49f6b29356afdaa18"/>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23274ef2b000519870b297e84fc92834"/>
          <p:cNvSpPr txBox="1"/>
          <p:nvPr/>
        </p:nvSpPr>
        <p:spPr>
          <a:xfrm>
            <a:off x="853419" y="1028700"/>
            <a:ext cx="9631439" cy="96012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600" dirty="0"/>
          </a:p>
        </p:txBody>
      </p:sp>
      <p:sp>
        <p:nvSpPr>
          <p:cNvPr id="5" name="element_e3071ec9fd509eab59ff95e744602047"/>
          <p:cNvSpPr txBox="1"/>
          <p:nvPr/>
        </p:nvSpPr>
        <p:spPr>
          <a:xfrm>
            <a:off x="853419"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01</a:t>
            </a:r>
            <a:endParaRPr lang="en-US" sz="2200" dirty="0"/>
          </a:p>
        </p:txBody>
      </p:sp>
      <p:sp>
        <p:nvSpPr>
          <p:cNvPr id="6" name="element_c12d807f4fed06a391b97e2d1332b87b"/>
          <p:cNvSpPr txBox="1"/>
          <p:nvPr/>
        </p:nvSpPr>
        <p:spPr>
          <a:xfrm>
            <a:off x="853419"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Preserve all twelve narrative jobs</a:t>
            </a:r>
            <a:endParaRPr lang="en-US" sz="1700" dirty="0"/>
          </a:p>
        </p:txBody>
      </p:sp>
      <p:sp>
        <p:nvSpPr>
          <p:cNvPr id="7" name="element_e5ad84a9e8179def16f4be6bcbd31b1d"/>
          <p:cNvSpPr/>
          <p:nvPr/>
        </p:nvSpPr>
        <p:spPr>
          <a:xfrm>
            <a:off x="4287819" y="2400300"/>
            <a:ext cx="121917" cy="2880360"/>
          </a:xfrm>
          <a:prstGeom prst="rect">
            <a:avLst/>
          </a:prstGeom>
          <a:solidFill>
            <a:srgbClr val="DED7CC"/>
          </a:solidFill>
          <a:ln w="12700">
            <a:solidFill>
              <a:srgbClr val="FFFFFF">
                <a:alpha val="0"/>
              </a:srgbClr>
            </a:solidFill>
            <a:prstDash val="solid"/>
          </a:ln>
        </p:spPr>
      </p:sp>
      <p:sp>
        <p:nvSpPr>
          <p:cNvPr id="8" name="element_6831617a8e25588792efafc4ff44d839"/>
          <p:cNvSpPr txBox="1"/>
          <p:nvPr/>
        </p:nvSpPr>
        <p:spPr>
          <a:xfrm>
            <a:off x="4470695"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02</a:t>
            </a:r>
            <a:endParaRPr lang="en-US" sz="2200" dirty="0"/>
          </a:p>
        </p:txBody>
      </p:sp>
      <p:sp>
        <p:nvSpPr>
          <p:cNvPr id="9" name="element_b2ac004fcffc107c5faa6178e37a75bb"/>
          <p:cNvSpPr txBox="1"/>
          <p:nvPr/>
        </p:nvSpPr>
        <p:spPr>
          <a:xfrm>
            <a:off x="4470695"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Separate supplied evidence from open assumptions</a:t>
            </a:r>
            <a:endParaRPr lang="en-US" sz="1700" dirty="0"/>
          </a:p>
        </p:txBody>
      </p:sp>
      <p:sp>
        <p:nvSpPr>
          <p:cNvPr id="10" name="element_8647a530565c8cec65fb6d757f2af2a0"/>
          <p:cNvSpPr/>
          <p:nvPr/>
        </p:nvSpPr>
        <p:spPr>
          <a:xfrm>
            <a:off x="7903876" y="2400300"/>
            <a:ext cx="121917" cy="2880360"/>
          </a:xfrm>
          <a:prstGeom prst="rect">
            <a:avLst/>
          </a:prstGeom>
          <a:solidFill>
            <a:srgbClr val="DED7CC"/>
          </a:solidFill>
          <a:ln w="12700">
            <a:solidFill>
              <a:srgbClr val="FFFFFF">
                <a:alpha val="0"/>
              </a:srgbClr>
            </a:solidFill>
            <a:prstDash val="solid"/>
          </a:ln>
        </p:spPr>
      </p:sp>
      <p:sp>
        <p:nvSpPr>
          <p:cNvPr id="11" name="element_45c38b18fbd3d677b55f4143836c2cb6"/>
          <p:cNvSpPr txBox="1"/>
          <p:nvPr/>
        </p:nvSpPr>
        <p:spPr>
          <a:xfrm>
            <a:off x="8086751"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03</a:t>
            </a:r>
            <a:endParaRPr lang="en-US" sz="2200" dirty="0"/>
          </a:p>
        </p:txBody>
      </p:sp>
      <p:sp>
        <p:nvSpPr>
          <p:cNvPr id="12" name="element_5bee390fb9fa593481fedc8d9a349f23"/>
          <p:cNvSpPr txBox="1"/>
          <p:nvPr/>
        </p:nvSpPr>
        <p:spPr>
          <a:xfrm>
            <a:off x="8086751"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Name the decision owner and next checkpoint</a:t>
            </a:r>
            <a:endParaRPr lang="en-US" sz="1700" dirty="0"/>
          </a:p>
        </p:txBody>
      </p:sp>
      <p:sp>
        <p:nvSpPr>
          <p:cNvPr id="13" name="element_035980f5f7ce48855cf53b2c5a408ad0"/>
          <p:cNvSpPr/>
          <p:nvPr/>
        </p:nvSpPr>
        <p:spPr>
          <a:xfrm>
            <a:off x="9294948" y="356616"/>
            <a:ext cx="146300" cy="685800"/>
          </a:xfrm>
          <a:prstGeom prst="roundRect">
            <a:avLst/>
          </a:prstGeom>
          <a:solidFill>
            <a:srgbClr val="34452C">
              <a:alpha val="39000"/>
            </a:srgbClr>
          </a:solidFill>
          <a:ln w="12700">
            <a:solidFill>
              <a:srgbClr val="FFFFFF">
                <a:alpha val="0"/>
              </a:srgbClr>
            </a:solidFill>
            <a:prstDash val="solid"/>
          </a:ln>
        </p:spPr>
      </p:sp>
      <p:sp>
        <p:nvSpPr>
          <p:cNvPr id="14" name="element_adf26f984ab3d824a93e7bd79633dd9d"/>
          <p:cNvSpPr/>
          <p:nvPr/>
        </p:nvSpPr>
        <p:spPr>
          <a:xfrm>
            <a:off x="10187381" y="356616"/>
            <a:ext cx="146300" cy="685800"/>
          </a:xfrm>
          <a:prstGeom prst="roundRect">
            <a:avLst/>
          </a:prstGeom>
          <a:solidFill>
            <a:srgbClr val="34452C">
              <a:alpha val="39000"/>
            </a:srgbClr>
          </a:solidFill>
          <a:ln w="12700">
            <a:solidFill>
              <a:srgbClr val="FFFFFF">
                <a:alpha val="0"/>
              </a:srgbClr>
            </a:solidFill>
            <a:prstDash val="solid"/>
          </a:ln>
        </p:spPr>
      </p:sp>
      <p:sp>
        <p:nvSpPr>
          <p:cNvPr id="15" name="element_da0c5f7bacf0f20813b13578c779b8eb"/>
          <p:cNvSpPr/>
          <p:nvPr/>
        </p:nvSpPr>
        <p:spPr>
          <a:xfrm>
            <a:off x="9441249" y="850392"/>
            <a:ext cx="747351" cy="68580"/>
          </a:xfrm>
          <a:prstGeom prst="roundRect">
            <a:avLst/>
          </a:prstGeom>
          <a:solidFill>
            <a:srgbClr val="F2DED3">
              <a:alpha val="51000"/>
            </a:srgbClr>
          </a:solidFill>
          <a:ln w="12700">
            <a:solidFill>
              <a:srgbClr val="FFFFFF">
                <a:alpha val="0"/>
              </a:srgbClr>
            </a:solidFill>
            <a:prstDash val="solid"/>
          </a:ln>
        </p:spPr>
      </p:sp>
      <p:sp>
        <p:nvSpPr>
          <p:cNvPr id="16" name="element_239887b7a06853b95bd6801be4a0cd8d"/>
          <p:cNvSpPr/>
          <p:nvPr/>
        </p:nvSpPr>
        <p:spPr>
          <a:xfrm>
            <a:off x="8918225" y="768096"/>
            <a:ext cx="268217" cy="150876"/>
          </a:xfrm>
          <a:prstGeom prst="roundRect">
            <a:avLst/>
          </a:prstGeom>
          <a:solidFill>
            <a:srgbClr val="B44A2D">
              <a:alpha val="39000"/>
            </a:srgbClr>
          </a:solidFill>
          <a:ln w="12700">
            <a:solidFill>
              <a:srgbClr val="FFFFFF">
                <a:alpha val="0"/>
              </a:srgbClr>
            </a:solidFill>
            <a:prstDash val="solid"/>
          </a:ln>
        </p:spPr>
      </p:sp>
      <p:sp>
        <p:nvSpPr>
          <p:cNvPr id="17" name="element_3cde2ee181b6780caf0741847c22698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d9533a0ad796455a55c84bbd6d6f321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55d861673db43599850a4fbd33f3a196"/>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5a5244458aa4ba0fcf91ca865f5e99e"/>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df75accafe0edc77bc80e7db1d237463"/>
          <p:cNvSpPr txBox="1"/>
          <p:nvPr/>
        </p:nvSpPr>
        <p:spPr>
          <a:xfrm>
            <a:off x="853419" y="1097280"/>
            <a:ext cx="10484858" cy="1234440"/>
          </a:xfrm>
          <a:prstGeom prst="rect">
            <a:avLst/>
          </a:prstGeom>
          <a:noFill/>
          <a:ln/>
        </p:spPr>
        <p:txBody>
          <a:bodyPr wrap="square" lIns="0" tIns="0" rIns="0" bIns="0" rtlCol="0" anchor="t">
            <a:normAutofit/>
          </a:bodyPr>
          <a:lstStyle/>
          <a:p>
            <a:pPr algn="l" indent="0" marL="0">
              <a:lnSpc>
                <a:spcPct val="105000"/>
              </a:lnSpc>
              <a:buNone/>
            </a:pPr>
            <a:r>
              <a:rPr lang="en-US" sz="4200" b="1" spc="-6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4200" dirty="0"/>
          </a:p>
        </p:txBody>
      </p:sp>
      <p:sp>
        <p:nvSpPr>
          <p:cNvPr id="5" name="element_54a26cd92f02b368eeb987a2f0460f00"/>
          <p:cNvSpPr txBox="1"/>
          <p:nvPr/>
        </p:nvSpPr>
        <p:spPr>
          <a:xfrm>
            <a:off x="853419" y="2743200"/>
            <a:ext cx="9631439" cy="1028700"/>
          </a:xfrm>
          <a:prstGeom prst="rect">
            <a:avLst/>
          </a:prstGeom>
          <a:noFill/>
          <a:ln/>
        </p:spPr>
        <p:txBody>
          <a:bodyPr wrap="square" lIns="0" tIns="0" rIns="0" bIns="0" rtlCol="0" anchor="t">
            <a:normAutofit/>
          </a:bodyPr>
          <a:lstStyle/>
          <a:p>
            <a:pPr algn="l" indent="0" marL="0">
              <a:lnSpc>
                <a:spcPct val="135000"/>
              </a:lnSpc>
              <a:buNone/>
            </a:pPr>
            <a:r>
              <a:rPr lang="en-US" sz="18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800" dirty="0"/>
          </a:p>
        </p:txBody>
      </p:sp>
      <p:sp>
        <p:nvSpPr>
          <p:cNvPr id="6" name="element_7fd7c5f263392097b671aecc2d02dea4"/>
          <p:cNvSpPr txBox="1"/>
          <p:nvPr/>
        </p:nvSpPr>
        <p:spPr>
          <a:xfrm>
            <a:off x="7193100" y="3909060"/>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6da3e81dfeacf67153429d8ce124f555"/>
          <p:cNvSpPr txBox="1"/>
          <p:nvPr/>
        </p:nvSpPr>
        <p:spPr>
          <a:xfrm>
            <a:off x="7193100" y="4374032"/>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8227c3b13132d3b4f3fa911bd197e110"/>
          <p:cNvSpPr txBox="1"/>
          <p:nvPr/>
        </p:nvSpPr>
        <p:spPr>
          <a:xfrm>
            <a:off x="7193100" y="4839005"/>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4ef0a69c8f6d057d6a579884fee3ae26"/>
          <p:cNvSpPr/>
          <p:nvPr/>
        </p:nvSpPr>
        <p:spPr>
          <a:xfrm>
            <a:off x="9241305" y="356616"/>
            <a:ext cx="146300" cy="685800"/>
          </a:xfrm>
          <a:prstGeom prst="roundRect">
            <a:avLst/>
          </a:prstGeom>
          <a:solidFill>
            <a:srgbClr val="34452C">
              <a:alpha val="47000"/>
            </a:srgbClr>
          </a:solidFill>
          <a:ln w="12700">
            <a:solidFill>
              <a:srgbClr val="FFFFFF">
                <a:alpha val="0"/>
              </a:srgbClr>
            </a:solidFill>
            <a:prstDash val="solid"/>
          </a:ln>
        </p:spPr>
      </p:sp>
      <p:sp>
        <p:nvSpPr>
          <p:cNvPr id="10" name="element_05322a1165088ced628259335c2c5826"/>
          <p:cNvSpPr/>
          <p:nvPr/>
        </p:nvSpPr>
        <p:spPr>
          <a:xfrm>
            <a:off x="10241024" y="356616"/>
            <a:ext cx="146300" cy="685800"/>
          </a:xfrm>
          <a:prstGeom prst="roundRect">
            <a:avLst/>
          </a:prstGeom>
          <a:solidFill>
            <a:srgbClr val="34452C">
              <a:alpha val="47000"/>
            </a:srgbClr>
          </a:solidFill>
          <a:ln w="12700">
            <a:solidFill>
              <a:srgbClr val="FFFFFF">
                <a:alpha val="0"/>
              </a:srgbClr>
            </a:solidFill>
            <a:prstDash val="solid"/>
          </a:ln>
        </p:spPr>
      </p:sp>
      <p:sp>
        <p:nvSpPr>
          <p:cNvPr id="11" name="element_6022ccf3f0da69ea0561fa6dc1a0fe88"/>
          <p:cNvSpPr/>
          <p:nvPr/>
        </p:nvSpPr>
        <p:spPr>
          <a:xfrm>
            <a:off x="9387605" y="850392"/>
            <a:ext cx="853419" cy="68580"/>
          </a:xfrm>
          <a:prstGeom prst="roundRect">
            <a:avLst/>
          </a:prstGeom>
          <a:solidFill>
            <a:srgbClr val="F2DED3">
              <a:alpha val="54000"/>
            </a:srgbClr>
          </a:solidFill>
          <a:ln w="12700">
            <a:solidFill>
              <a:srgbClr val="FFFFFF">
                <a:alpha val="0"/>
              </a:srgbClr>
            </a:solidFill>
            <a:prstDash val="solid"/>
          </a:ln>
        </p:spPr>
      </p:sp>
      <p:sp>
        <p:nvSpPr>
          <p:cNvPr id="12" name="element_6da8fd0876e89bf35daef2401fae852d"/>
          <p:cNvSpPr/>
          <p:nvPr/>
        </p:nvSpPr>
        <p:spPr>
          <a:xfrm>
            <a:off x="9110854" y="768096"/>
            <a:ext cx="268217" cy="150876"/>
          </a:xfrm>
          <a:prstGeom prst="roundRect">
            <a:avLst/>
          </a:prstGeom>
          <a:solidFill>
            <a:srgbClr val="B44A2D">
              <a:alpha val="47000"/>
            </a:srgbClr>
          </a:solidFill>
          <a:ln w="12700">
            <a:solidFill>
              <a:srgbClr val="FFFFFF">
                <a:alpha val="0"/>
              </a:srgbClr>
            </a:solidFill>
            <a:prstDash val="solid"/>
          </a:ln>
        </p:spPr>
      </p:sp>
      <p:sp>
        <p:nvSpPr>
          <p:cNvPr id="13" name="element_783badcae21ae5cb1364636701576ca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63a7c8ef87471eb6b327fc398494eef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b20386900a77b0f5c2d2c54acd7eec64"/>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53b2a433e8ef3a6bd8d138ad80445754"/>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01792f9e8d1815f7b370f8a6f9d84ffc"/>
          <p:cNvSpPr txBox="1"/>
          <p:nvPr/>
        </p:nvSpPr>
        <p:spPr>
          <a:xfrm>
            <a:off x="853419" y="1028700"/>
            <a:ext cx="9631439" cy="96012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Define proof before asking for commitment.</a:t>
            </a:r>
            <a:endParaRPr lang="en-US" sz="3600" dirty="0"/>
          </a:p>
        </p:txBody>
      </p:sp>
      <p:sp>
        <p:nvSpPr>
          <p:cNvPr id="5" name="element_44704871b8544e94d876edeb52c0099e"/>
          <p:cNvSpPr txBox="1"/>
          <p:nvPr/>
        </p:nvSpPr>
        <p:spPr>
          <a:xfrm>
            <a:off x="853419"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01</a:t>
            </a:r>
            <a:endParaRPr lang="en-US" sz="2200" dirty="0"/>
          </a:p>
        </p:txBody>
      </p:sp>
      <p:sp>
        <p:nvSpPr>
          <p:cNvPr id="6" name="element_2157ef83b010916f9b5dbcef830294ea"/>
          <p:cNvSpPr txBox="1"/>
          <p:nvPr/>
        </p:nvSpPr>
        <p:spPr>
          <a:xfrm>
            <a:off x="853419"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Preserve all twelve narrative jobs</a:t>
            </a:r>
            <a:endParaRPr lang="en-US" sz="1700" dirty="0"/>
          </a:p>
        </p:txBody>
      </p:sp>
      <p:sp>
        <p:nvSpPr>
          <p:cNvPr id="7" name="element_8d5ff8f0f31852747fc6800e4b15997e"/>
          <p:cNvSpPr/>
          <p:nvPr/>
        </p:nvSpPr>
        <p:spPr>
          <a:xfrm>
            <a:off x="4287819" y="2400300"/>
            <a:ext cx="121917" cy="2880360"/>
          </a:xfrm>
          <a:prstGeom prst="rect">
            <a:avLst/>
          </a:prstGeom>
          <a:solidFill>
            <a:srgbClr val="DED7CC"/>
          </a:solidFill>
          <a:ln w="12700">
            <a:solidFill>
              <a:srgbClr val="FFFFFF">
                <a:alpha val="0"/>
              </a:srgbClr>
            </a:solidFill>
            <a:prstDash val="solid"/>
          </a:ln>
        </p:spPr>
      </p:sp>
      <p:sp>
        <p:nvSpPr>
          <p:cNvPr id="8" name="element_9928458764e9ba4338e7aedbaa47f52b"/>
          <p:cNvSpPr txBox="1"/>
          <p:nvPr/>
        </p:nvSpPr>
        <p:spPr>
          <a:xfrm>
            <a:off x="4470695"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02</a:t>
            </a:r>
            <a:endParaRPr lang="en-US" sz="2200" dirty="0"/>
          </a:p>
        </p:txBody>
      </p:sp>
      <p:sp>
        <p:nvSpPr>
          <p:cNvPr id="9" name="element_25ab8a0b9a34b1d2eda8d1deb1cb4ff5"/>
          <p:cNvSpPr txBox="1"/>
          <p:nvPr/>
        </p:nvSpPr>
        <p:spPr>
          <a:xfrm>
            <a:off x="4470695"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Separate supplied evidence from open assumptions</a:t>
            </a:r>
            <a:endParaRPr lang="en-US" sz="1700" dirty="0"/>
          </a:p>
        </p:txBody>
      </p:sp>
      <p:sp>
        <p:nvSpPr>
          <p:cNvPr id="10" name="element_7cd7907b726a03416569533f84e11da8"/>
          <p:cNvSpPr/>
          <p:nvPr/>
        </p:nvSpPr>
        <p:spPr>
          <a:xfrm>
            <a:off x="7903876" y="2400300"/>
            <a:ext cx="121917" cy="2880360"/>
          </a:xfrm>
          <a:prstGeom prst="rect">
            <a:avLst/>
          </a:prstGeom>
          <a:solidFill>
            <a:srgbClr val="DED7CC"/>
          </a:solidFill>
          <a:ln w="12700">
            <a:solidFill>
              <a:srgbClr val="FFFFFF">
                <a:alpha val="0"/>
              </a:srgbClr>
            </a:solidFill>
            <a:prstDash val="solid"/>
          </a:ln>
        </p:spPr>
      </p:sp>
      <p:sp>
        <p:nvSpPr>
          <p:cNvPr id="11" name="element_e4ca20bb102ca03a4fd883346de8f290"/>
          <p:cNvSpPr txBox="1"/>
          <p:nvPr/>
        </p:nvSpPr>
        <p:spPr>
          <a:xfrm>
            <a:off x="8086751" y="2400300"/>
            <a:ext cx="3251525" cy="548640"/>
          </a:xfrm>
          <a:prstGeom prst="rect">
            <a:avLst/>
          </a:prstGeom>
          <a:noFill/>
          <a:ln/>
        </p:spPr>
        <p:txBody>
          <a:bodyPr wrap="square" lIns="0" tIns="0" rIns="0" bIns="0" rtlCol="0" anchor="t">
            <a:normAutofit/>
          </a:bodyPr>
          <a:lstStyle/>
          <a:p>
            <a:pPr algn="l" indent="0" marL="0">
              <a:lnSpc>
                <a:spcPct val="120000"/>
              </a:lnSpc>
              <a:buNone/>
            </a:pPr>
            <a:r>
              <a:rPr lang="en-US" sz="2200" b="1" dirty="0">
                <a:solidFill>
                  <a:srgbClr val="B44A2D"/>
                </a:solidFill>
                <a:latin typeface="JetBrains Mono Variable" pitchFamily="34" charset="0"/>
                <a:ea typeface="JetBrains Mono Variable" pitchFamily="34" charset="-122"/>
                <a:cs typeface="JetBrains Mono Variable" pitchFamily="34" charset="-120"/>
              </a:rPr>
              <a:t>03</a:t>
            </a:r>
            <a:endParaRPr lang="en-US" sz="2200" dirty="0"/>
          </a:p>
        </p:txBody>
      </p:sp>
      <p:sp>
        <p:nvSpPr>
          <p:cNvPr id="12" name="element_9813dc6398ddba5956c8f55d433b1bf1"/>
          <p:cNvSpPr txBox="1"/>
          <p:nvPr/>
        </p:nvSpPr>
        <p:spPr>
          <a:xfrm>
            <a:off x="8086751" y="2948940"/>
            <a:ext cx="3251525" cy="2331720"/>
          </a:xfrm>
          <a:prstGeom prst="rect">
            <a:avLst/>
          </a:prstGeom>
          <a:noFill/>
          <a:ln/>
        </p:spPr>
        <p:txBody>
          <a:bodyPr wrap="square" lIns="0" tIns="0" rIns="0" bIns="0" rtlCol="0" anchor="t">
            <a:normAutofit/>
          </a:bodyPr>
          <a:lstStyle/>
          <a:p>
            <a:pPr algn="l" indent="0" marL="0">
              <a:lnSpc>
                <a:spcPct val="130000"/>
              </a:lnSpc>
              <a:buNone/>
            </a:pPr>
            <a:r>
              <a:rPr lang="en-US" sz="1700" dirty="0">
                <a:solidFill>
                  <a:srgbClr val="26221D"/>
                </a:solidFill>
                <a:latin typeface="Geist Variable" pitchFamily="34" charset="0"/>
                <a:ea typeface="Geist Variable" pitchFamily="34" charset="-122"/>
                <a:cs typeface="Geist Variable" pitchFamily="34" charset="-120"/>
              </a:rPr>
              <a:t>Name the decision owner and next checkpoint</a:t>
            </a:r>
            <a:endParaRPr lang="en-US" sz="1700" dirty="0"/>
          </a:p>
        </p:txBody>
      </p:sp>
      <p:sp>
        <p:nvSpPr>
          <p:cNvPr id="13" name="element_80139f17b05b16ea962bd6c5827bc565"/>
          <p:cNvSpPr/>
          <p:nvPr/>
        </p:nvSpPr>
        <p:spPr>
          <a:xfrm>
            <a:off x="9187662" y="356616"/>
            <a:ext cx="146300" cy="685800"/>
          </a:xfrm>
          <a:prstGeom prst="roundRect">
            <a:avLst/>
          </a:prstGeom>
          <a:solidFill>
            <a:srgbClr val="34452C">
              <a:alpha val="54000"/>
            </a:srgbClr>
          </a:solidFill>
          <a:ln w="12700">
            <a:solidFill>
              <a:srgbClr val="FFFFFF">
                <a:alpha val="0"/>
              </a:srgbClr>
            </a:solidFill>
            <a:prstDash val="solid"/>
          </a:ln>
        </p:spPr>
      </p:sp>
      <p:sp>
        <p:nvSpPr>
          <p:cNvPr id="14" name="element_09429fc6a045697dc92d8b9c551a829f"/>
          <p:cNvSpPr/>
          <p:nvPr/>
        </p:nvSpPr>
        <p:spPr>
          <a:xfrm>
            <a:off x="10294667" y="356616"/>
            <a:ext cx="146300" cy="685800"/>
          </a:xfrm>
          <a:prstGeom prst="roundRect">
            <a:avLst/>
          </a:prstGeom>
          <a:solidFill>
            <a:srgbClr val="34452C">
              <a:alpha val="54000"/>
            </a:srgbClr>
          </a:solidFill>
          <a:ln w="12700">
            <a:solidFill>
              <a:srgbClr val="FFFFFF">
                <a:alpha val="0"/>
              </a:srgbClr>
            </a:solidFill>
            <a:prstDash val="solid"/>
          </a:ln>
        </p:spPr>
      </p:sp>
      <p:sp>
        <p:nvSpPr>
          <p:cNvPr id="15" name="element_7cafa24ba8e6bd67c7d9638ffc439efa"/>
          <p:cNvSpPr/>
          <p:nvPr/>
        </p:nvSpPr>
        <p:spPr>
          <a:xfrm>
            <a:off x="9333962" y="850392"/>
            <a:ext cx="960706" cy="68580"/>
          </a:xfrm>
          <a:prstGeom prst="roundRect">
            <a:avLst/>
          </a:prstGeom>
          <a:solidFill>
            <a:srgbClr val="F2DED3">
              <a:alpha val="57000"/>
            </a:srgbClr>
          </a:solidFill>
          <a:ln w="12700">
            <a:solidFill>
              <a:srgbClr val="FFFFFF">
                <a:alpha val="0"/>
              </a:srgbClr>
            </a:solidFill>
            <a:prstDash val="solid"/>
          </a:ln>
        </p:spPr>
      </p:sp>
      <p:sp>
        <p:nvSpPr>
          <p:cNvPr id="16" name="element_12fee635c3eb15f87ee7f7b760203956"/>
          <p:cNvSpPr/>
          <p:nvPr/>
        </p:nvSpPr>
        <p:spPr>
          <a:xfrm>
            <a:off x="9304702" y="768096"/>
            <a:ext cx="268217" cy="150876"/>
          </a:xfrm>
          <a:prstGeom prst="roundRect">
            <a:avLst/>
          </a:prstGeom>
          <a:solidFill>
            <a:srgbClr val="B44A2D">
              <a:alpha val="54000"/>
            </a:srgbClr>
          </a:solidFill>
          <a:ln w="12700">
            <a:solidFill>
              <a:srgbClr val="FFFFFF">
                <a:alpha val="0"/>
              </a:srgbClr>
            </a:solidFill>
            <a:prstDash val="solid"/>
          </a:ln>
        </p:spPr>
      </p:sp>
      <p:sp>
        <p:nvSpPr>
          <p:cNvPr id="17" name="element_9172bfd2dfe4f2b6ae93e28ac873fb1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8bdb2720aa1fb4821ec84908bcdb4525"/>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b02390a82e8646819317614777af3e0d"/>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70b5d3f8eb26779c32227b9d7aded23e"/>
          <p:cNvSpPr txBox="1"/>
          <p:nvPr/>
        </p:nvSpPr>
        <p:spPr>
          <a:xfrm>
            <a:off x="6461598"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8b5e2469f99a96aa74968ebefc93e596"/>
          <p:cNvSpPr txBox="1"/>
          <p:nvPr/>
        </p:nvSpPr>
        <p:spPr>
          <a:xfrm>
            <a:off x="853419" y="1097280"/>
            <a:ext cx="10484858" cy="1234440"/>
          </a:xfrm>
          <a:prstGeom prst="rect">
            <a:avLst/>
          </a:prstGeom>
          <a:noFill/>
          <a:ln/>
        </p:spPr>
        <p:txBody>
          <a:bodyPr wrap="square" lIns="0" tIns="0" rIns="0" bIns="0" rtlCol="0" anchor="t">
            <a:normAutofit/>
          </a:bodyPr>
          <a:lstStyle/>
          <a:p>
            <a:pPr algn="l" indent="0" marL="0">
              <a:lnSpc>
                <a:spcPct val="105000"/>
              </a:lnSpc>
              <a:buNone/>
            </a:pPr>
            <a:r>
              <a:rPr lang="en-US" sz="4200" b="1" spc="-6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4200" dirty="0"/>
          </a:p>
        </p:txBody>
      </p:sp>
      <p:sp>
        <p:nvSpPr>
          <p:cNvPr id="5" name="element_90b730a1b2c98c39b548c807eb9b5909"/>
          <p:cNvSpPr txBox="1"/>
          <p:nvPr/>
        </p:nvSpPr>
        <p:spPr>
          <a:xfrm>
            <a:off x="1706837" y="2743200"/>
            <a:ext cx="9631439" cy="1028700"/>
          </a:xfrm>
          <a:prstGeom prst="rect">
            <a:avLst/>
          </a:prstGeom>
          <a:noFill/>
          <a:ln/>
        </p:spPr>
        <p:txBody>
          <a:bodyPr wrap="square" lIns="0" tIns="0" rIns="0" bIns="0" rtlCol="0" anchor="t">
            <a:normAutofit/>
          </a:bodyPr>
          <a:lstStyle/>
          <a:p>
            <a:pPr algn="l" indent="0" marL="0">
              <a:lnSpc>
                <a:spcPct val="135000"/>
              </a:lnSpc>
              <a:buNone/>
            </a:pPr>
            <a:r>
              <a:rPr lang="en-US" sz="18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800" dirty="0"/>
          </a:p>
        </p:txBody>
      </p:sp>
      <p:sp>
        <p:nvSpPr>
          <p:cNvPr id="6" name="element_8ee0aa206c1a25b5c9fe0405fe23f998"/>
          <p:cNvSpPr txBox="1"/>
          <p:nvPr/>
        </p:nvSpPr>
        <p:spPr>
          <a:xfrm>
            <a:off x="975336" y="3909060"/>
            <a:ext cx="4023259" cy="51846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a0b2bd1223cc79d63c445933bf2cc541"/>
          <p:cNvSpPr txBox="1"/>
          <p:nvPr/>
        </p:nvSpPr>
        <p:spPr>
          <a:xfrm>
            <a:off x="975336" y="4633265"/>
            <a:ext cx="4023259" cy="518465"/>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8ed4c22901dde4e39bc7df1eb3e25f7a"/>
          <p:cNvSpPr txBox="1"/>
          <p:nvPr/>
        </p:nvSpPr>
        <p:spPr>
          <a:xfrm>
            <a:off x="975336" y="5356784"/>
            <a:ext cx="4023259" cy="259232"/>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b846cd9bc4eb2f58ac9758e24f46d1d2"/>
          <p:cNvSpPr/>
          <p:nvPr/>
        </p:nvSpPr>
        <p:spPr>
          <a:xfrm>
            <a:off x="2910158" y="356616"/>
            <a:ext cx="146300" cy="685800"/>
          </a:xfrm>
          <a:prstGeom prst="roundRect">
            <a:avLst/>
          </a:prstGeom>
          <a:solidFill>
            <a:srgbClr val="34452C">
              <a:alpha val="62000"/>
            </a:srgbClr>
          </a:solidFill>
          <a:ln w="12700">
            <a:solidFill>
              <a:srgbClr val="FFFFFF">
                <a:alpha val="0"/>
              </a:srgbClr>
            </a:solidFill>
            <a:prstDash val="solid"/>
          </a:ln>
        </p:spPr>
      </p:sp>
      <p:sp>
        <p:nvSpPr>
          <p:cNvPr id="10" name="element_746ebbf3c45d87c1c2255623c24d229b"/>
          <p:cNvSpPr/>
          <p:nvPr/>
        </p:nvSpPr>
        <p:spPr>
          <a:xfrm>
            <a:off x="1697084" y="356616"/>
            <a:ext cx="146300" cy="685800"/>
          </a:xfrm>
          <a:prstGeom prst="roundRect">
            <a:avLst/>
          </a:prstGeom>
          <a:solidFill>
            <a:srgbClr val="34452C">
              <a:alpha val="62000"/>
            </a:srgbClr>
          </a:solidFill>
          <a:ln w="12700">
            <a:solidFill>
              <a:srgbClr val="FFFFFF">
                <a:alpha val="0"/>
              </a:srgbClr>
            </a:solidFill>
            <a:prstDash val="solid"/>
          </a:ln>
        </p:spPr>
      </p:sp>
      <p:sp>
        <p:nvSpPr>
          <p:cNvPr id="11" name="element_d9a09c6cc4c7c4d4ca167af50ec5cf32"/>
          <p:cNvSpPr/>
          <p:nvPr/>
        </p:nvSpPr>
        <p:spPr>
          <a:xfrm>
            <a:off x="1843384" y="850392"/>
            <a:ext cx="1066773" cy="68580"/>
          </a:xfrm>
          <a:prstGeom prst="roundRect">
            <a:avLst/>
          </a:prstGeom>
          <a:solidFill>
            <a:srgbClr val="F2DED3">
              <a:alpha val="59000"/>
            </a:srgbClr>
          </a:solidFill>
          <a:ln w="12700">
            <a:solidFill>
              <a:srgbClr val="FFFFFF">
                <a:alpha val="0"/>
              </a:srgbClr>
            </a:solidFill>
            <a:prstDash val="solid"/>
          </a:ln>
        </p:spPr>
      </p:sp>
      <p:sp>
        <p:nvSpPr>
          <p:cNvPr id="12" name="element_506bc6b4f43e39e2e0527aa9d15bb098"/>
          <p:cNvSpPr/>
          <p:nvPr/>
        </p:nvSpPr>
        <p:spPr>
          <a:xfrm>
            <a:off x="2426147" y="768096"/>
            <a:ext cx="268217" cy="150876"/>
          </a:xfrm>
          <a:prstGeom prst="roundRect">
            <a:avLst/>
          </a:prstGeom>
          <a:solidFill>
            <a:srgbClr val="B44A2D">
              <a:alpha val="62000"/>
            </a:srgbClr>
          </a:solidFill>
          <a:ln w="12700">
            <a:solidFill>
              <a:srgbClr val="FFFFFF">
                <a:alpha val="0"/>
              </a:srgbClr>
            </a:solidFill>
            <a:prstDash val="solid"/>
          </a:ln>
        </p:spPr>
      </p:sp>
      <p:sp>
        <p:nvSpPr>
          <p:cNvPr id="13" name="element_d35232b0ffd5e37581214e15fb92c5ac"/>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a67a90970183e6f2ab7a1b083f879bf6"/>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30da5c77bd4c3c15eda3bbbae385f067"/>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309417c1b842c1856f8b16ef1927f23f"/>
          <p:cNvSpPr txBox="1"/>
          <p:nvPr/>
        </p:nvSpPr>
        <p:spPr>
          <a:xfrm>
            <a:off x="853419" y="41148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4" name="element_61150c821e9f816772cc83dff0a6f39c"/>
          <p:cNvSpPr txBox="1"/>
          <p:nvPr/>
        </p:nvSpPr>
        <p:spPr>
          <a:xfrm>
            <a:off x="853419" y="960120"/>
            <a:ext cx="9997190" cy="894283"/>
          </a:xfrm>
          <a:prstGeom prst="rect">
            <a:avLst/>
          </a:prstGeom>
          <a:noFill/>
          <a:ln/>
        </p:spPr>
        <p:txBody>
          <a:bodyPr wrap="square" lIns="0" tIns="0" rIns="0" bIns="0" rtlCol="0" anchor="t">
            <a:normAutofit/>
          </a:bodyPr>
          <a:lstStyle/>
          <a:p>
            <a:pPr algn="l" indent="0" marL="0">
              <a:lnSpc>
                <a:spcPct val="110000"/>
              </a:lnSpc>
              <a:buNone/>
            </a:pPr>
            <a:r>
              <a:rPr lang="en-US" sz="3200" b="1" dirty="0">
                <a:solidFill>
                  <a:srgbClr val="26221D"/>
                </a:solidFill>
                <a:latin typeface="Georgia" pitchFamily="34" charset="0"/>
                <a:ea typeface="Georgia" pitchFamily="34" charset="-122"/>
                <a:cs typeface="Georgia" pitchFamily="34" charset="-120"/>
              </a:rPr>
              <a:t>Separate what is supplied from what still needs verification.</a:t>
            </a:r>
            <a:endParaRPr lang="en-US" sz="3200" dirty="0"/>
          </a:p>
        </p:txBody>
      </p:sp>
      <p:sp>
        <p:nvSpPr>
          <p:cNvPr id="5" name="element_7ede054f1f5b769f7bea876f52961c9e"/>
          <p:cNvSpPr/>
          <p:nvPr/>
        </p:nvSpPr>
        <p:spPr>
          <a:xfrm>
            <a:off x="2499298" y="3931006"/>
            <a:ext cx="3596550" cy="164592"/>
          </a:xfrm>
          <a:prstGeom prst="line">
            <a:avLst/>
          </a:prstGeom>
          <a:noFill/>
          <a:ln w="25400">
            <a:solidFill>
              <a:srgbClr val="7566A8"/>
            </a:solidFill>
            <a:prstDash val="solid"/>
            <a:tailEnd type="triangle"/>
          </a:ln>
        </p:spPr>
      </p:sp>
      <p:sp>
        <p:nvSpPr>
          <p:cNvPr id="6" name="element_c2c50e5f4e186ab1c3978f113a5f3cfd"/>
          <p:cNvSpPr/>
          <p:nvPr/>
        </p:nvSpPr>
        <p:spPr>
          <a:xfrm>
            <a:off x="6095848" y="3931006"/>
            <a:ext cx="3596550" cy="164592"/>
          </a:xfrm>
          <a:prstGeom prst="line">
            <a:avLst/>
          </a:prstGeom>
          <a:noFill/>
          <a:ln w="25400">
            <a:solidFill>
              <a:srgbClr val="7566A8"/>
            </a:solidFill>
            <a:prstDash val="solid"/>
            <a:tailEnd type="triangle"/>
          </a:ln>
        </p:spPr>
      </p:sp>
      <p:sp>
        <p:nvSpPr>
          <p:cNvPr id="7" name="element_cc51e20cff7c3b890c05228ec6565654"/>
          <p:cNvSpPr/>
          <p:nvPr/>
        </p:nvSpPr>
        <p:spPr>
          <a:xfrm>
            <a:off x="853419" y="3533242"/>
            <a:ext cx="3291758" cy="960120"/>
          </a:xfrm>
          <a:prstGeom prst="roundRect">
            <a:avLst/>
          </a:prstGeom>
          <a:solidFill>
            <a:srgbClr val="F2DED3"/>
          </a:solidFill>
          <a:ln w="12700">
            <a:solidFill>
              <a:srgbClr val="DED7CC"/>
            </a:solidFill>
            <a:prstDash val="solid"/>
          </a:ln>
        </p:spPr>
      </p:sp>
      <p:sp>
        <p:nvSpPr>
          <p:cNvPr id="8" name="element_cc51e20cff7c3b890c05228ec6565654:text"/>
          <p:cNvSpPr txBox="1"/>
          <p:nvPr/>
        </p:nvSpPr>
        <p:spPr>
          <a:xfrm>
            <a:off x="8534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200" b="1" dirty="0">
                <a:solidFill>
                  <a:srgbClr val="26221D"/>
                </a:solidFill>
                <a:latin typeface="Geist Variable" pitchFamily="34" charset="0"/>
                <a:ea typeface="Geist Variable" pitchFamily="34" charset="-122"/>
                <a:cs typeface="Geist Variable" pitchFamily="34" charset="-120"/>
              </a:rPr>
              <a:t>Supplied evidence</a:t>
            </a:r>
            <a:endParaRPr lang="en-US" sz="1200" dirty="0"/>
          </a:p>
        </p:txBody>
      </p:sp>
      <p:sp>
        <p:nvSpPr>
          <p:cNvPr id="9" name="element_319e211ead07eeef8e104a78c9ee9842"/>
          <p:cNvSpPr/>
          <p:nvPr/>
        </p:nvSpPr>
        <p:spPr>
          <a:xfrm>
            <a:off x="4449969" y="3533242"/>
            <a:ext cx="3291758" cy="960120"/>
          </a:xfrm>
          <a:prstGeom prst="roundRect">
            <a:avLst/>
          </a:prstGeom>
          <a:solidFill>
            <a:srgbClr val="E5E9D6"/>
          </a:solidFill>
          <a:ln w="25400">
            <a:solidFill>
              <a:srgbClr val="B44A2D"/>
            </a:solidFill>
            <a:prstDash val="solid"/>
          </a:ln>
        </p:spPr>
      </p:sp>
      <p:sp>
        <p:nvSpPr>
          <p:cNvPr id="10" name="element_319e211ead07eeef8e104a78c9ee9842:text"/>
          <p:cNvSpPr txBox="1"/>
          <p:nvPr/>
        </p:nvSpPr>
        <p:spPr>
          <a:xfrm>
            <a:off x="444996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200" b="1" dirty="0">
                <a:solidFill>
                  <a:srgbClr val="26221D"/>
                </a:solidFill>
                <a:latin typeface="Geist Variable" pitchFamily="34" charset="0"/>
                <a:ea typeface="Geist Variable" pitchFamily="34" charset="-122"/>
                <a:cs typeface="Geist Variable" pitchFamily="34" charset="-120"/>
              </a:rPr>
              <a:t>Verification gate</a:t>
            </a:r>
            <a:endParaRPr lang="en-US" sz="1200" dirty="0"/>
          </a:p>
        </p:txBody>
      </p:sp>
      <p:sp>
        <p:nvSpPr>
          <p:cNvPr id="11" name="element_e73a9d4ba4073ed3235b92f26da26fee"/>
          <p:cNvSpPr/>
          <p:nvPr/>
        </p:nvSpPr>
        <p:spPr>
          <a:xfrm>
            <a:off x="8046519" y="3533242"/>
            <a:ext cx="3291758" cy="960120"/>
          </a:xfrm>
          <a:prstGeom prst="roundRect">
            <a:avLst/>
          </a:prstGeom>
          <a:solidFill>
            <a:srgbClr val="E5E9D6"/>
          </a:solidFill>
          <a:ln w="12700">
            <a:solidFill>
              <a:srgbClr val="DED7CC"/>
            </a:solidFill>
            <a:prstDash val="solid"/>
          </a:ln>
        </p:spPr>
      </p:sp>
      <p:sp>
        <p:nvSpPr>
          <p:cNvPr id="12" name="element_e73a9d4ba4073ed3235b92f26da26fee:text"/>
          <p:cNvSpPr txBox="1"/>
          <p:nvPr/>
        </p:nvSpPr>
        <p:spPr>
          <a:xfrm>
            <a:off x="8046519" y="3533242"/>
            <a:ext cx="3291758" cy="960120"/>
          </a:xfrm>
          <a:prstGeom prst="rect">
            <a:avLst/>
          </a:prstGeom>
          <a:noFill/>
          <a:ln/>
        </p:spPr>
        <p:txBody>
          <a:bodyPr wrap="square" lIns="101600" tIns="101600" rIns="101600" bIns="101600" rtlCol="0" anchor="ctr">
            <a:normAutofit/>
          </a:bodyPr>
          <a:lstStyle/>
          <a:p>
            <a:pPr algn="ctr" indent="0" marL="0">
              <a:lnSpc>
                <a:spcPct val="115000"/>
              </a:lnSpc>
              <a:buNone/>
            </a:pPr>
            <a:r>
              <a:rPr lang="en-US" sz="1300" b="1" dirty="0">
                <a:solidFill>
                  <a:srgbClr val="26221D"/>
                </a:solidFill>
                <a:latin typeface="Geist Variable" pitchFamily="34" charset="0"/>
                <a:ea typeface="Geist Variable" pitchFamily="34" charset="-122"/>
                <a:cs typeface="Geist Variable" pitchFamily="34" charset="-120"/>
              </a:rPr>
              <a:t>Decision-ready</a:t>
            </a:r>
            <a:endParaRPr lang="en-US" sz="1300" dirty="0"/>
          </a:p>
        </p:txBody>
      </p:sp>
      <p:sp>
        <p:nvSpPr>
          <p:cNvPr id="13" name="element_e6c6544a15168cfcc596a8aba3435f22"/>
          <p:cNvSpPr txBox="1"/>
          <p:nvPr/>
        </p:nvSpPr>
        <p:spPr>
          <a:xfrm>
            <a:off x="853419" y="4543425"/>
            <a:ext cx="9631439" cy="75438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Keep the decision grounded by making supported evidence, open questions, and publication blockers visible as different states.</a:t>
            </a:r>
            <a:endParaRPr lang="en-US" sz="1600" dirty="0"/>
          </a:p>
        </p:txBody>
      </p:sp>
      <p:sp>
        <p:nvSpPr>
          <p:cNvPr id="14" name="element_0dd9e6871c0678aee4b14a2d40d32c8b"/>
          <p:cNvSpPr/>
          <p:nvPr/>
        </p:nvSpPr>
        <p:spPr>
          <a:xfrm>
            <a:off x="9081594" y="356616"/>
            <a:ext cx="146300" cy="685800"/>
          </a:xfrm>
          <a:prstGeom prst="roundRect">
            <a:avLst/>
          </a:prstGeom>
          <a:solidFill>
            <a:srgbClr val="34452C">
              <a:alpha val="70000"/>
            </a:srgbClr>
          </a:solidFill>
          <a:ln w="12700">
            <a:solidFill>
              <a:srgbClr val="FFFFFF">
                <a:alpha val="0"/>
              </a:srgbClr>
            </a:solidFill>
            <a:prstDash val="solid"/>
          </a:ln>
        </p:spPr>
      </p:sp>
      <p:sp>
        <p:nvSpPr>
          <p:cNvPr id="15" name="element_005a2394c5b2ec386aeff936927f6533"/>
          <p:cNvSpPr/>
          <p:nvPr/>
        </p:nvSpPr>
        <p:spPr>
          <a:xfrm>
            <a:off x="10400735" y="356616"/>
            <a:ext cx="146300" cy="685800"/>
          </a:xfrm>
          <a:prstGeom prst="roundRect">
            <a:avLst/>
          </a:prstGeom>
          <a:solidFill>
            <a:srgbClr val="34452C">
              <a:alpha val="70000"/>
            </a:srgbClr>
          </a:solidFill>
          <a:ln w="12700">
            <a:solidFill>
              <a:srgbClr val="FFFFFF">
                <a:alpha val="0"/>
              </a:srgbClr>
            </a:solidFill>
            <a:prstDash val="solid"/>
          </a:ln>
        </p:spPr>
      </p:sp>
      <p:sp>
        <p:nvSpPr>
          <p:cNvPr id="16" name="element_dac0d70a7fde09269f41058f2de098ca"/>
          <p:cNvSpPr/>
          <p:nvPr/>
        </p:nvSpPr>
        <p:spPr>
          <a:xfrm>
            <a:off x="9227894" y="850392"/>
            <a:ext cx="1172841" cy="68580"/>
          </a:xfrm>
          <a:prstGeom prst="roundRect">
            <a:avLst/>
          </a:prstGeom>
          <a:solidFill>
            <a:srgbClr val="F2DED3">
              <a:alpha val="62000"/>
            </a:srgbClr>
          </a:solidFill>
          <a:ln w="12700">
            <a:solidFill>
              <a:srgbClr val="FFFFFF">
                <a:alpha val="0"/>
              </a:srgbClr>
            </a:solidFill>
            <a:prstDash val="solid"/>
          </a:ln>
        </p:spPr>
      </p:sp>
      <p:sp>
        <p:nvSpPr>
          <p:cNvPr id="17" name="element_c9fcbbd45623be8b1f3a317e10f4c44b"/>
          <p:cNvSpPr/>
          <p:nvPr/>
        </p:nvSpPr>
        <p:spPr>
          <a:xfrm>
            <a:off x="9689959" y="768096"/>
            <a:ext cx="268217" cy="150876"/>
          </a:xfrm>
          <a:prstGeom prst="roundRect">
            <a:avLst/>
          </a:prstGeom>
          <a:solidFill>
            <a:srgbClr val="B44A2D">
              <a:alpha val="70000"/>
            </a:srgbClr>
          </a:solidFill>
          <a:ln w="12700">
            <a:solidFill>
              <a:srgbClr val="FFFFFF">
                <a:alpha val="0"/>
              </a:srgbClr>
            </a:solidFill>
            <a:prstDash val="solid"/>
          </a:ln>
        </p:spPr>
      </p:sp>
      <p:sp>
        <p:nvSpPr>
          <p:cNvPr id="18" name="element_d6e612c47ea035df335f0be6849896f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f84d0259ec4ee30887682046c8f567c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nodeslide-slide-id:slide_e2dcd394dbdf3499b30417a833c7e046"/>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22682a10d4f1562c692483682d43ce20"/>
          <p:cNvSpPr/>
          <p:nvPr/>
        </p:nvSpPr>
        <p:spPr>
          <a:xfrm>
            <a:off x="731502" y="1371600"/>
            <a:ext cx="5852014" cy="3840480"/>
          </a:xfrm>
          <a:prstGeom prst="roundRect">
            <a:avLst/>
          </a:prstGeom>
          <a:solidFill>
            <a:srgbClr val="F2DED3">
              <a:alpha val="22000"/>
            </a:srgbClr>
          </a:solidFill>
          <a:ln w="12700">
            <a:solidFill>
              <a:srgbClr val="FFFFFF">
                <a:alpha val="0"/>
              </a:srgbClr>
            </a:solidFill>
            <a:prstDash val="solid"/>
          </a:ln>
        </p:spPr>
      </p:sp>
      <p:sp>
        <p:nvSpPr>
          <p:cNvPr id="4" name="element_52693e899a3aaee7683d5ad1691172df"/>
          <p:cNvSpPr/>
          <p:nvPr/>
        </p:nvSpPr>
        <p:spPr>
          <a:xfrm>
            <a:off x="2253025" y="1762506"/>
            <a:ext cx="241396" cy="2400300"/>
          </a:xfrm>
          <a:prstGeom prst="roundRect">
            <a:avLst/>
          </a:prstGeom>
          <a:solidFill>
            <a:srgbClr val="34452C">
              <a:alpha val="77000"/>
            </a:srgbClr>
          </a:solidFill>
          <a:ln w="12700">
            <a:solidFill>
              <a:srgbClr val="FFFFFF">
                <a:alpha val="0"/>
              </a:srgbClr>
            </a:solidFill>
            <a:prstDash val="solid"/>
          </a:ln>
        </p:spPr>
      </p:sp>
      <p:sp>
        <p:nvSpPr>
          <p:cNvPr id="5" name="element_f14e083e0b3f45818f770462aa4c4c24"/>
          <p:cNvSpPr/>
          <p:nvPr/>
        </p:nvSpPr>
        <p:spPr>
          <a:xfrm>
            <a:off x="4607242" y="1762506"/>
            <a:ext cx="241396" cy="2400300"/>
          </a:xfrm>
          <a:prstGeom prst="roundRect">
            <a:avLst/>
          </a:prstGeom>
          <a:solidFill>
            <a:srgbClr val="34452C">
              <a:alpha val="77000"/>
            </a:srgbClr>
          </a:solidFill>
          <a:ln w="12700">
            <a:solidFill>
              <a:srgbClr val="FFFFFF">
                <a:alpha val="0"/>
              </a:srgbClr>
            </a:solidFill>
            <a:prstDash val="solid"/>
          </a:ln>
        </p:spPr>
      </p:sp>
      <p:sp>
        <p:nvSpPr>
          <p:cNvPr id="6" name="element_106a17bf5b8c39614f17973afd964631"/>
          <p:cNvSpPr/>
          <p:nvPr/>
        </p:nvSpPr>
        <p:spPr>
          <a:xfrm>
            <a:off x="2494421" y="3490722"/>
            <a:ext cx="2111602" cy="216027"/>
          </a:xfrm>
          <a:prstGeom prst="roundRect">
            <a:avLst/>
          </a:prstGeom>
          <a:solidFill>
            <a:srgbClr val="F2DED3">
              <a:alpha val="65000"/>
            </a:srgbClr>
          </a:solidFill>
          <a:ln w="12700">
            <a:solidFill>
              <a:srgbClr val="FFFFFF">
                <a:alpha val="0"/>
              </a:srgbClr>
            </a:solidFill>
            <a:prstDash val="solid"/>
          </a:ln>
        </p:spPr>
      </p:sp>
      <p:sp>
        <p:nvSpPr>
          <p:cNvPr id="7" name="element_b1fdc6167c97624e5ba9c551d4764f54"/>
          <p:cNvSpPr/>
          <p:nvPr/>
        </p:nvSpPr>
        <p:spPr>
          <a:xfrm>
            <a:off x="3666043" y="3202686"/>
            <a:ext cx="442559" cy="528066"/>
          </a:xfrm>
          <a:prstGeom prst="roundRect">
            <a:avLst/>
          </a:prstGeom>
          <a:solidFill>
            <a:srgbClr val="B44A2D">
              <a:alpha val="77000"/>
            </a:srgbClr>
          </a:solidFill>
          <a:ln w="12700">
            <a:solidFill>
              <a:srgbClr val="FFFFFF">
                <a:alpha val="0"/>
              </a:srgbClr>
            </a:solidFill>
            <a:prstDash val="solid"/>
          </a:ln>
        </p:spPr>
      </p:sp>
      <p:sp>
        <p:nvSpPr>
          <p:cNvPr id="8" name="element_1145d00badde68ba5cce65b081b362e3"/>
          <p:cNvSpPr txBox="1"/>
          <p:nvPr/>
        </p:nvSpPr>
        <p:spPr>
          <a:xfrm>
            <a:off x="7315017" y="445770"/>
            <a:ext cx="3657509"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9" name="element_2dc671f1886446de34191917a9d5a69f"/>
          <p:cNvSpPr txBox="1"/>
          <p:nvPr/>
        </p:nvSpPr>
        <p:spPr>
          <a:xfrm>
            <a:off x="7315017" y="1234440"/>
            <a:ext cx="4145176" cy="2311146"/>
          </a:xfrm>
          <a:prstGeom prst="rect">
            <a:avLst/>
          </a:prstGeom>
          <a:noFill/>
          <a:ln/>
        </p:spPr>
        <p:txBody>
          <a:bodyPr wrap="square" lIns="0" tIns="0" rIns="0" bIns="0" rtlCol="0" anchor="t">
            <a:normAutofit/>
          </a:bodyPr>
          <a:lstStyle/>
          <a:p>
            <a:pPr algn="l" indent="0" marL="0">
              <a:lnSpc>
                <a:spcPct val="104000"/>
              </a:lnSpc>
              <a:buNone/>
            </a:pPr>
            <a:r>
              <a:rPr lang="en-US" sz="3500" b="1" spc="-50" kern="0" dirty="0">
                <a:solidFill>
                  <a:srgbClr val="26221D"/>
                </a:solidFill>
                <a:latin typeface="Georgia" pitchFamily="34" charset="0"/>
                <a:ea typeface="Georgia" pitchFamily="34" charset="-122"/>
                <a:cs typeface="Georgia" pitchFamily="34" charset="-120"/>
              </a:rPr>
              <a:t>Unverified assumptions remain questions, not conclusions.</a:t>
            </a:r>
            <a:endParaRPr lang="en-US" sz="3500" dirty="0"/>
          </a:p>
        </p:txBody>
      </p:sp>
      <p:sp>
        <p:nvSpPr>
          <p:cNvPr id="10" name="element_09bd7b07bec130eba3998b28ee162435"/>
          <p:cNvSpPr txBox="1"/>
          <p:nvPr/>
        </p:nvSpPr>
        <p:spPr>
          <a:xfrm>
            <a:off x="7315017" y="3785616"/>
            <a:ext cx="4145176" cy="1357884"/>
          </a:xfrm>
          <a:prstGeom prst="rect">
            <a:avLst/>
          </a:prstGeom>
          <a:noFill/>
          <a:ln/>
        </p:spPr>
        <p:txBody>
          <a:bodyPr wrap="square" lIns="0" tIns="0" rIns="0" bIns="0" rtlCol="0" anchor="t">
            <a:normAutofit/>
          </a:bodyPr>
          <a:lstStyle/>
          <a:p>
            <a:pPr algn="l" indent="0" marL="0">
              <a:lnSpc>
                <a:spcPct val="138000"/>
              </a:lnSpc>
              <a:buNone/>
            </a:pPr>
            <a:r>
              <a:rPr lang="en-US" sz="1600" dirty="0">
                <a:solidFill>
                  <a:srgbClr val="756B61"/>
                </a:solidFill>
                <a:latin typeface="Geist Variable" pitchFamily="34" charset="0"/>
                <a:ea typeface="Geist Variable" pitchFamily="34" charset="-122"/>
                <a:cs typeface="Geist Variable" pitchFamily="34" charset="-120"/>
              </a:rPr>
              <a:t>Record the unresolved evidence explicitly so the audience can distinguish a missing input from a negative finding.</a:t>
            </a:r>
            <a:endParaRPr lang="en-US" sz="1600" dirty="0"/>
          </a:p>
        </p:txBody>
      </p:sp>
      <p:sp>
        <p:nvSpPr>
          <p:cNvPr id="11" name="element_90b944a417e2edcb83702d1fd97bcf78"/>
          <p:cNvSpPr txBox="1"/>
          <p:nvPr/>
        </p:nvSpPr>
        <p:spPr>
          <a:xfrm>
            <a:off x="7315017" y="5417820"/>
            <a:ext cx="4145176" cy="548640"/>
          </a:xfrm>
          <a:prstGeom prst="rect">
            <a:avLst/>
          </a:prstGeom>
          <a:noFill/>
          <a:ln/>
        </p:spPr>
        <p:txBody>
          <a:bodyPr wrap="square" lIns="152400" tIns="152400" rIns="152400" bIns="152400" rtlCol="0" anchor="t">
            <a:normAutofit/>
          </a:bodyPr>
          <a:lstStyle/>
          <a:p>
            <a:pPr algn="l" indent="0" marL="0">
              <a:lnSpc>
                <a:spcPct val="125000"/>
              </a:lnSpc>
              <a:buNone/>
            </a:pPr>
            <a:r>
              <a:rPr lang="en-US" sz="1600" b="1" dirty="0">
                <a:solidFill>
                  <a:srgbClr val="34452C"/>
                </a:solidFill>
                <a:latin typeface="Geist Variable" pitchFamily="34" charset="0"/>
                <a:ea typeface="Geist Variable" pitchFamily="34" charset="-122"/>
                <a:cs typeface="Geist Variable" pitchFamily="34" charset="-120"/>
              </a:rPr>
              <a:t>Name the open question</a:t>
            </a:r>
            <a:endParaRPr lang="en-US" sz="1600" dirty="0"/>
          </a:p>
        </p:txBody>
      </p:sp>
      <p:sp>
        <p:nvSpPr>
          <p:cNvPr id="12" name="element_516f69855de5d35c89ad7386621d744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df146ec65ccfc7b81528ca77a22d708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nodeslide-slide-id:slide_52e9cf372952e4a7088fdda192a1359d"/>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96351ad368ad3383f2d3947aae5003d9"/>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OPERATING MODEL</a:t>
            </a:r>
            <a:endParaRPr lang="en-US" sz="1500" dirty="0"/>
          </a:p>
        </p:txBody>
      </p:sp>
      <p:sp>
        <p:nvSpPr>
          <p:cNvPr id="4" name="element_f4e0582fe99a38a2fd459a86ab71d720"/>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10000"/>
              </a:lnSpc>
              <a:buNone/>
            </a:pPr>
            <a:r>
              <a:rPr lang="en-US" sz="3200" b="1" dirty="0">
                <a:solidFill>
                  <a:srgbClr val="26221D"/>
                </a:solidFill>
                <a:latin typeface="Georgia" pitchFamily="34" charset="0"/>
                <a:ea typeface="Georgia" pitchFamily="34" charset="-122"/>
                <a:cs typeface="Georgia" pitchFamily="34" charset="-120"/>
              </a:rPr>
              <a:t>A decision becomes executable when each handoff has an owner.</a:t>
            </a:r>
            <a:endParaRPr lang="en-US" sz="3200" dirty="0"/>
          </a:p>
        </p:txBody>
      </p:sp>
      <p:sp>
        <p:nvSpPr>
          <p:cNvPr id="5" name="element_76f9a25849632bb3bc1a5a23a4cf307a"/>
          <p:cNvSpPr/>
          <p:nvPr/>
        </p:nvSpPr>
        <p:spPr>
          <a:xfrm>
            <a:off x="8778021" y="3291840"/>
            <a:ext cx="243834" cy="342900"/>
          </a:xfrm>
          <a:prstGeom prst="line">
            <a:avLst/>
          </a:prstGeom>
          <a:noFill/>
          <a:ln w="25400">
            <a:solidFill>
              <a:srgbClr val="7566A8"/>
            </a:solidFill>
            <a:prstDash val="solid"/>
            <a:tailEnd type="triangle"/>
          </a:ln>
        </p:spPr>
      </p:sp>
      <p:sp>
        <p:nvSpPr>
          <p:cNvPr id="6" name="element_338403384cb53316b4a1804456bdefbf"/>
          <p:cNvSpPr/>
          <p:nvPr/>
        </p:nvSpPr>
        <p:spPr>
          <a:xfrm>
            <a:off x="8778021" y="4320540"/>
            <a:ext cx="243834" cy="342900"/>
          </a:xfrm>
          <a:prstGeom prst="line">
            <a:avLst/>
          </a:prstGeom>
          <a:noFill/>
          <a:ln w="25400">
            <a:solidFill>
              <a:srgbClr val="7566A8"/>
            </a:solidFill>
            <a:prstDash val="solid"/>
            <a:tailEnd type="triangle"/>
          </a:ln>
        </p:spPr>
      </p:sp>
      <p:sp>
        <p:nvSpPr>
          <p:cNvPr id="7" name="element_a0ea3d5946b9523440a28c4339d05645"/>
          <p:cNvSpPr/>
          <p:nvPr/>
        </p:nvSpPr>
        <p:spPr>
          <a:xfrm>
            <a:off x="6827349" y="2606040"/>
            <a:ext cx="4145176" cy="685800"/>
          </a:xfrm>
          <a:prstGeom prst="roundRect">
            <a:avLst/>
          </a:prstGeom>
          <a:solidFill>
            <a:srgbClr val="F2DED3"/>
          </a:solidFill>
          <a:ln w="12700">
            <a:solidFill>
              <a:srgbClr val="DED7CC"/>
            </a:solidFill>
            <a:prstDash val="solid"/>
          </a:ln>
        </p:spPr>
      </p:sp>
      <p:sp>
        <p:nvSpPr>
          <p:cNvPr id="8" name="element_a0ea3d5946b9523440a28c4339d05645:text"/>
          <p:cNvSpPr txBox="1"/>
          <p:nvPr/>
        </p:nvSpPr>
        <p:spPr>
          <a:xfrm>
            <a:off x="6827349" y="2606040"/>
            <a:ext cx="4145176" cy="68580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Prepare</a:t>
            </a:r>
            <a:endParaRPr lang="en-US" sz="1400" dirty="0"/>
          </a:p>
        </p:txBody>
      </p:sp>
      <p:sp>
        <p:nvSpPr>
          <p:cNvPr id="9" name="element_0a260d31f15b14b77686bfa40ed0b855"/>
          <p:cNvSpPr/>
          <p:nvPr/>
        </p:nvSpPr>
        <p:spPr>
          <a:xfrm>
            <a:off x="6827349" y="3634740"/>
            <a:ext cx="4145176" cy="685800"/>
          </a:xfrm>
          <a:prstGeom prst="roundRect">
            <a:avLst/>
          </a:prstGeom>
          <a:solidFill>
            <a:srgbClr val="E5E9D6"/>
          </a:solidFill>
          <a:ln w="25400">
            <a:solidFill>
              <a:srgbClr val="B44A2D"/>
            </a:solidFill>
            <a:prstDash val="solid"/>
          </a:ln>
        </p:spPr>
      </p:sp>
      <p:sp>
        <p:nvSpPr>
          <p:cNvPr id="10" name="element_0a260d31f15b14b77686bfa40ed0b855:text"/>
          <p:cNvSpPr txBox="1"/>
          <p:nvPr/>
        </p:nvSpPr>
        <p:spPr>
          <a:xfrm>
            <a:off x="6827349" y="3634740"/>
            <a:ext cx="4145176" cy="68580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Review</a:t>
            </a:r>
            <a:endParaRPr lang="en-US" sz="1400" dirty="0"/>
          </a:p>
        </p:txBody>
      </p:sp>
      <p:sp>
        <p:nvSpPr>
          <p:cNvPr id="11" name="element_4a33c198b3ea230c6f208f431014bd5c"/>
          <p:cNvSpPr/>
          <p:nvPr/>
        </p:nvSpPr>
        <p:spPr>
          <a:xfrm>
            <a:off x="6827349" y="4663440"/>
            <a:ext cx="4145176" cy="685800"/>
          </a:xfrm>
          <a:prstGeom prst="roundRect">
            <a:avLst/>
          </a:prstGeom>
          <a:solidFill>
            <a:srgbClr val="E5E9D6"/>
          </a:solidFill>
          <a:ln w="12700">
            <a:solidFill>
              <a:srgbClr val="DED7CC"/>
            </a:solidFill>
            <a:prstDash val="solid"/>
          </a:ln>
        </p:spPr>
      </p:sp>
      <p:sp>
        <p:nvSpPr>
          <p:cNvPr id="12" name="element_4a33c198b3ea230c6f208f431014bd5c:text"/>
          <p:cNvSpPr txBox="1"/>
          <p:nvPr/>
        </p:nvSpPr>
        <p:spPr>
          <a:xfrm>
            <a:off x="6827349" y="4663440"/>
            <a:ext cx="4145176" cy="685800"/>
          </a:xfrm>
          <a:prstGeom prst="rect">
            <a:avLst/>
          </a:prstGeom>
          <a:noFill/>
          <a:ln/>
        </p:spPr>
        <p:txBody>
          <a:bodyPr wrap="square" lIns="101600" tIns="101600" rIns="101600" bIns="101600" rtlCol="0" anchor="ctr">
            <a:normAutofit/>
          </a:bodyPr>
          <a:lstStyle/>
          <a:p>
            <a:pPr algn="ctr" indent="0" marL="0">
              <a:lnSpc>
                <a:spcPct val="115000"/>
              </a:lnSpc>
              <a:buNone/>
            </a:pPr>
            <a:r>
              <a:rPr lang="en-US" sz="1400" b="1" dirty="0">
                <a:solidFill>
                  <a:srgbClr val="26221D"/>
                </a:solidFill>
                <a:latin typeface="Geist Variable" pitchFamily="34" charset="0"/>
                <a:ea typeface="Geist Variable" pitchFamily="34" charset="-122"/>
                <a:cs typeface="Geist Variable" pitchFamily="34" charset="-120"/>
              </a:rPr>
              <a:t>Record</a:t>
            </a:r>
            <a:endParaRPr lang="en-US" sz="1400" dirty="0"/>
          </a:p>
        </p:txBody>
      </p:sp>
      <p:sp>
        <p:nvSpPr>
          <p:cNvPr id="13" name="element_6a7f98177364350fd0bee0cec57e6660"/>
          <p:cNvSpPr txBox="1"/>
          <p:nvPr/>
        </p:nvSpPr>
        <p:spPr>
          <a:xfrm>
            <a:off x="975336" y="2743200"/>
            <a:ext cx="4632844" cy="1371600"/>
          </a:xfrm>
          <a:prstGeom prst="rect">
            <a:avLst/>
          </a:prstGeom>
          <a:noFill/>
          <a:ln/>
        </p:spPr>
        <p:txBody>
          <a:bodyPr wrap="square" lIns="0" tIns="0" rIns="0" bIns="0" rtlCol="0" anchor="t">
            <a:normAutofit/>
          </a:bodyPr>
          <a:lstStyle/>
          <a:p>
            <a:pPr algn="l" indent="0" marL="0">
              <a:lnSpc>
                <a:spcPct val="135000"/>
              </a:lnSpc>
              <a:buNone/>
            </a:pPr>
            <a:r>
              <a:rPr lang="en-US" sz="1600" dirty="0">
                <a:solidFill>
                  <a:srgbClr val="756B61"/>
                </a:solidFill>
                <a:latin typeface="Geist Variable" pitchFamily="34" charset="0"/>
                <a:ea typeface="Geist Variable" pitchFamily="34" charset="-122"/>
                <a:cs typeface="Geist Variable" pitchFamily="34" charset="-120"/>
              </a:rPr>
              <a:t>Connect evidence preparation, review, and the final decision without implying an organization structure that was not supplied.</a:t>
            </a:r>
            <a:endParaRPr lang="en-US" sz="1600" dirty="0"/>
          </a:p>
        </p:txBody>
      </p:sp>
      <p:sp>
        <p:nvSpPr>
          <p:cNvPr id="14" name="element_15e47625e3c977e8c07c88dc61d4a610"/>
          <p:cNvSpPr/>
          <p:nvPr/>
        </p:nvSpPr>
        <p:spPr>
          <a:xfrm>
            <a:off x="8974307" y="356616"/>
            <a:ext cx="146300" cy="685800"/>
          </a:xfrm>
          <a:prstGeom prst="roundRect">
            <a:avLst/>
          </a:prstGeom>
          <a:solidFill>
            <a:srgbClr val="34452C">
              <a:alpha val="85000"/>
            </a:srgbClr>
          </a:solidFill>
          <a:ln w="12700">
            <a:solidFill>
              <a:srgbClr val="FFFFFF">
                <a:alpha val="0"/>
              </a:srgbClr>
            </a:solidFill>
            <a:prstDash val="solid"/>
          </a:ln>
        </p:spPr>
      </p:sp>
      <p:sp>
        <p:nvSpPr>
          <p:cNvPr id="15" name="element_f89d1b8171d164f2ff5d32199e4c0710"/>
          <p:cNvSpPr/>
          <p:nvPr/>
        </p:nvSpPr>
        <p:spPr>
          <a:xfrm>
            <a:off x="10508022" y="356616"/>
            <a:ext cx="146300" cy="685800"/>
          </a:xfrm>
          <a:prstGeom prst="roundRect">
            <a:avLst/>
          </a:prstGeom>
          <a:solidFill>
            <a:srgbClr val="34452C">
              <a:alpha val="85000"/>
            </a:srgbClr>
          </a:solidFill>
          <a:ln w="12700">
            <a:solidFill>
              <a:srgbClr val="FFFFFF">
                <a:alpha val="0"/>
              </a:srgbClr>
            </a:solidFill>
            <a:prstDash val="solid"/>
          </a:ln>
        </p:spPr>
      </p:sp>
      <p:sp>
        <p:nvSpPr>
          <p:cNvPr id="16" name="element_10f72a5f8ce887c023e4cccee87f6d10"/>
          <p:cNvSpPr/>
          <p:nvPr/>
        </p:nvSpPr>
        <p:spPr>
          <a:xfrm>
            <a:off x="9120607" y="850392"/>
            <a:ext cx="1387415" cy="68580"/>
          </a:xfrm>
          <a:prstGeom prst="roundRect">
            <a:avLst/>
          </a:prstGeom>
          <a:solidFill>
            <a:srgbClr val="F2DED3">
              <a:alpha val="68000"/>
            </a:srgbClr>
          </a:solidFill>
          <a:ln w="12700">
            <a:solidFill>
              <a:srgbClr val="FFFFFF">
                <a:alpha val="0"/>
              </a:srgbClr>
            </a:solidFill>
            <a:prstDash val="solid"/>
          </a:ln>
        </p:spPr>
      </p:sp>
      <p:sp>
        <p:nvSpPr>
          <p:cNvPr id="17" name="element_71398ecbd69278594f67ef4c99c37165"/>
          <p:cNvSpPr/>
          <p:nvPr/>
        </p:nvSpPr>
        <p:spPr>
          <a:xfrm>
            <a:off x="10076436" y="768096"/>
            <a:ext cx="268217" cy="150876"/>
          </a:xfrm>
          <a:prstGeom prst="roundRect">
            <a:avLst/>
          </a:prstGeom>
          <a:solidFill>
            <a:srgbClr val="B44A2D">
              <a:alpha val="85000"/>
            </a:srgbClr>
          </a:solidFill>
          <a:ln w="12700">
            <a:solidFill>
              <a:srgbClr val="FFFFFF">
                <a:alpha val="0"/>
              </a:srgbClr>
            </a:solidFill>
            <a:prstDash val="solid"/>
          </a:ln>
        </p:spPr>
      </p:sp>
      <p:sp>
        <p:nvSpPr>
          <p:cNvPr id="18" name="element_035014e1077794ae76758df1817cf8c6"/>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316b88de502b4f92f34c35bef1254a8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nodeslide-slide-id:slide_799a54d735ce301411d7f7830ce52ffd"/>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340481656c1a6d94a184e4d3436705ff"/>
          <p:cNvSpPr/>
          <p:nvPr/>
        </p:nvSpPr>
        <p:spPr>
          <a:xfrm>
            <a:off x="731502" y="1371600"/>
            <a:ext cx="5852014" cy="3840480"/>
          </a:xfrm>
          <a:prstGeom prst="roundRect">
            <a:avLst/>
          </a:prstGeom>
          <a:solidFill>
            <a:srgbClr val="F2DED3">
              <a:alpha val="22000"/>
            </a:srgbClr>
          </a:solidFill>
          <a:ln w="12700">
            <a:solidFill>
              <a:srgbClr val="FFFFFF">
                <a:alpha val="0"/>
              </a:srgbClr>
            </a:solidFill>
            <a:prstDash val="solid"/>
          </a:ln>
        </p:spPr>
      </p:sp>
      <p:sp>
        <p:nvSpPr>
          <p:cNvPr id="4" name="element_8421c3b8f86a5a6a082c86ffce31e215"/>
          <p:cNvSpPr/>
          <p:nvPr/>
        </p:nvSpPr>
        <p:spPr>
          <a:xfrm>
            <a:off x="2078684" y="1762506"/>
            <a:ext cx="241396" cy="2400300"/>
          </a:xfrm>
          <a:prstGeom prst="roundRect">
            <a:avLst/>
          </a:prstGeom>
          <a:solidFill>
            <a:srgbClr val="34452C">
              <a:alpha val="92000"/>
            </a:srgbClr>
          </a:solidFill>
          <a:ln w="12700">
            <a:solidFill>
              <a:srgbClr val="FFFFFF">
                <a:alpha val="0"/>
              </a:srgbClr>
            </a:solidFill>
            <a:prstDash val="solid"/>
          </a:ln>
        </p:spPr>
      </p:sp>
      <p:sp>
        <p:nvSpPr>
          <p:cNvPr id="5" name="element_058035731dbd278be6c65236eb566eb6"/>
          <p:cNvSpPr/>
          <p:nvPr/>
        </p:nvSpPr>
        <p:spPr>
          <a:xfrm>
            <a:off x="4781583" y="1762506"/>
            <a:ext cx="241396" cy="2400300"/>
          </a:xfrm>
          <a:prstGeom prst="roundRect">
            <a:avLst/>
          </a:prstGeom>
          <a:solidFill>
            <a:srgbClr val="34452C">
              <a:alpha val="92000"/>
            </a:srgbClr>
          </a:solidFill>
          <a:ln w="12700">
            <a:solidFill>
              <a:srgbClr val="FFFFFF">
                <a:alpha val="0"/>
              </a:srgbClr>
            </a:solidFill>
            <a:prstDash val="solid"/>
          </a:ln>
        </p:spPr>
      </p:sp>
      <p:sp>
        <p:nvSpPr>
          <p:cNvPr id="6" name="element_23ee43f11740a861e42aee4eeb044a0e"/>
          <p:cNvSpPr/>
          <p:nvPr/>
        </p:nvSpPr>
        <p:spPr>
          <a:xfrm>
            <a:off x="2320080" y="3490722"/>
            <a:ext cx="2463942" cy="216027"/>
          </a:xfrm>
          <a:prstGeom prst="roundRect">
            <a:avLst/>
          </a:prstGeom>
          <a:solidFill>
            <a:srgbClr val="F2DED3">
              <a:alpha val="71000"/>
            </a:srgbClr>
          </a:solidFill>
          <a:ln w="12700">
            <a:solidFill>
              <a:srgbClr val="FFFFFF">
                <a:alpha val="0"/>
              </a:srgbClr>
            </a:solidFill>
            <a:prstDash val="solid"/>
          </a:ln>
        </p:spPr>
      </p:sp>
      <p:sp>
        <p:nvSpPr>
          <p:cNvPr id="7" name="element_535d96a0e0e514fb6dd3f70768dc79ce"/>
          <p:cNvSpPr/>
          <p:nvPr/>
        </p:nvSpPr>
        <p:spPr>
          <a:xfrm>
            <a:off x="4301230" y="3202686"/>
            <a:ext cx="442559" cy="528066"/>
          </a:xfrm>
          <a:prstGeom prst="roundRect">
            <a:avLst/>
          </a:prstGeom>
          <a:solidFill>
            <a:srgbClr val="B44A2D">
              <a:alpha val="92000"/>
            </a:srgbClr>
          </a:solidFill>
          <a:ln w="12700">
            <a:solidFill>
              <a:srgbClr val="FFFFFF">
                <a:alpha val="0"/>
              </a:srgbClr>
            </a:solidFill>
            <a:prstDash val="solid"/>
          </a:ln>
        </p:spPr>
      </p:sp>
      <p:sp>
        <p:nvSpPr>
          <p:cNvPr id="8" name="element_8513a95297c510779b9799de90b274d6"/>
          <p:cNvSpPr txBox="1"/>
          <p:nvPr/>
        </p:nvSpPr>
        <p:spPr>
          <a:xfrm>
            <a:off x="7315017" y="445770"/>
            <a:ext cx="3657509"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RISK</a:t>
            </a:r>
            <a:endParaRPr lang="en-US" sz="1500" dirty="0"/>
          </a:p>
        </p:txBody>
      </p:sp>
      <p:sp>
        <p:nvSpPr>
          <p:cNvPr id="9" name="element_a30a88210bb8ae47b47691e88c5ad7e3"/>
          <p:cNvSpPr txBox="1"/>
          <p:nvPr/>
        </p:nvSpPr>
        <p:spPr>
          <a:xfrm>
            <a:off x="7315017" y="1234440"/>
            <a:ext cx="4145176" cy="2245309"/>
          </a:xfrm>
          <a:prstGeom prst="rect">
            <a:avLst/>
          </a:prstGeom>
          <a:noFill/>
          <a:ln/>
        </p:spPr>
        <p:txBody>
          <a:bodyPr wrap="square" lIns="0" tIns="0" rIns="0" bIns="0" rtlCol="0" anchor="t">
            <a:normAutofit/>
          </a:bodyPr>
          <a:lstStyle/>
          <a:p>
            <a:pPr algn="l" indent="0" marL="0">
              <a:lnSpc>
                <a:spcPct val="104000"/>
              </a:lnSpc>
              <a:buNone/>
            </a:pPr>
            <a:r>
              <a:rPr lang="en-US" sz="3400" b="1" spc="-50" kern="0" dirty="0">
                <a:solidFill>
                  <a:srgbClr val="26221D"/>
                </a:solidFill>
                <a:latin typeface="Georgia" pitchFamily="34" charset="0"/>
                <a:ea typeface="Georgia" pitchFamily="34" charset="-122"/>
                <a:cs typeface="Georgia" pitchFamily="34" charset="-120"/>
              </a:rPr>
              <a:t>Controls should answer the risks the brief actually establishes.</a:t>
            </a:r>
            <a:endParaRPr lang="en-US" sz="3400" dirty="0"/>
          </a:p>
        </p:txBody>
      </p:sp>
      <p:sp>
        <p:nvSpPr>
          <p:cNvPr id="10" name="element_e3edf6937555dc818fd224058cf36235"/>
          <p:cNvSpPr txBox="1"/>
          <p:nvPr/>
        </p:nvSpPr>
        <p:spPr>
          <a:xfrm>
            <a:off x="7315017" y="3719779"/>
            <a:ext cx="4145176" cy="1423721"/>
          </a:xfrm>
          <a:prstGeom prst="rect">
            <a:avLst/>
          </a:prstGeom>
          <a:noFill/>
          <a:ln/>
        </p:spPr>
        <p:txBody>
          <a:bodyPr wrap="square" lIns="0" tIns="0" rIns="0" bIns="0" rtlCol="0" anchor="t">
            <a:normAutofit/>
          </a:bodyPr>
          <a:lstStyle/>
          <a:p>
            <a:pPr algn="l" indent="0" marL="0">
              <a:lnSpc>
                <a:spcPct val="138000"/>
              </a:lnSpc>
              <a:buNone/>
            </a:pPr>
            <a:r>
              <a:rPr lang="en-US" sz="1600" dirty="0">
                <a:solidFill>
                  <a:srgbClr val="756B61"/>
                </a:solidFill>
                <a:latin typeface="Geist Variable" pitchFamily="34" charset="0"/>
                <a:ea typeface="Geist Variable" pitchFamily="34" charset="-122"/>
                <a:cs typeface="Geist Variable" pitchFamily="34" charset="-120"/>
              </a:rPr>
              <a:t>Keep the comparison qualitative until likelihood, impact, and tolerance values are supplied and sourced.</a:t>
            </a:r>
            <a:endParaRPr lang="en-US" sz="1600" dirty="0"/>
          </a:p>
        </p:txBody>
      </p:sp>
      <p:sp>
        <p:nvSpPr>
          <p:cNvPr id="11" name="element_7d90736c39dbfa17e9aa306aab976d76"/>
          <p:cNvSpPr txBox="1"/>
          <p:nvPr/>
        </p:nvSpPr>
        <p:spPr>
          <a:xfrm>
            <a:off x="7315017" y="5417820"/>
            <a:ext cx="4145176" cy="548640"/>
          </a:xfrm>
          <a:prstGeom prst="rect">
            <a:avLst/>
          </a:prstGeom>
          <a:noFill/>
          <a:ln/>
        </p:spPr>
        <p:txBody>
          <a:bodyPr wrap="square" lIns="152400" tIns="152400" rIns="152400" bIns="152400" rtlCol="0" anchor="t">
            <a:normAutofit/>
          </a:bodyPr>
          <a:lstStyle/>
          <a:p>
            <a:pPr algn="l" indent="0" marL="0">
              <a:lnSpc>
                <a:spcPct val="125000"/>
              </a:lnSpc>
              <a:buNone/>
            </a:pPr>
            <a:r>
              <a:rPr lang="en-US" sz="1600" b="1" dirty="0">
                <a:solidFill>
                  <a:srgbClr val="34452C"/>
                </a:solidFill>
                <a:latin typeface="Geist Variable" pitchFamily="34" charset="0"/>
                <a:ea typeface="Geist Variable" pitchFamily="34" charset="-122"/>
                <a:cs typeface="Geist Variable" pitchFamily="34" charset="-120"/>
              </a:rPr>
              <a:t>Established risk</a:t>
            </a:r>
            <a:endParaRPr lang="en-US" sz="1600" dirty="0"/>
          </a:p>
        </p:txBody>
      </p:sp>
      <p:sp>
        <p:nvSpPr>
          <p:cNvPr id="12" name="element_480f5cf2fc4242e0de201d99ea63018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200d446f8feda52f2055ac4da61becd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nodeslide-slide-id:slide_5e461ec036829156dcd14f84dc4578b8"/>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bf20ee37be6dd144c4a017ab3b8fd0c"/>
          <p:cNvSpPr/>
          <p:nvPr/>
        </p:nvSpPr>
        <p:spPr>
          <a:xfrm>
            <a:off x="5608180" y="1371600"/>
            <a:ext cx="5852014" cy="3840480"/>
          </a:xfrm>
          <a:prstGeom prst="roundRect">
            <a:avLst/>
          </a:prstGeom>
          <a:solidFill>
            <a:srgbClr val="F2DED3">
              <a:alpha val="22000"/>
            </a:srgbClr>
          </a:solidFill>
          <a:ln w="12700">
            <a:solidFill>
              <a:srgbClr val="FFFFFF">
                <a:alpha val="0"/>
              </a:srgbClr>
            </a:solidFill>
            <a:prstDash val="solid"/>
          </a:ln>
        </p:spPr>
      </p:sp>
      <p:sp>
        <p:nvSpPr>
          <p:cNvPr id="4" name="element_b2854094ce033f66e0f2567d3da73b0e"/>
          <p:cNvSpPr/>
          <p:nvPr/>
        </p:nvSpPr>
        <p:spPr>
          <a:xfrm>
            <a:off x="6866363" y="1762506"/>
            <a:ext cx="241396" cy="2400300"/>
          </a:xfrm>
          <a:prstGeom prst="roundRect">
            <a:avLst/>
          </a:prstGeom>
          <a:solidFill>
            <a:srgbClr val="34452C"/>
          </a:solidFill>
          <a:ln w="12700">
            <a:solidFill>
              <a:srgbClr val="FFFFFF">
                <a:alpha val="0"/>
              </a:srgbClr>
            </a:solidFill>
            <a:prstDash val="solid"/>
          </a:ln>
        </p:spPr>
      </p:sp>
      <p:sp>
        <p:nvSpPr>
          <p:cNvPr id="5" name="element_48402ebbe3a8ec3b2a5f26360b92c1dc"/>
          <p:cNvSpPr/>
          <p:nvPr/>
        </p:nvSpPr>
        <p:spPr>
          <a:xfrm>
            <a:off x="9747260" y="1762506"/>
            <a:ext cx="241396" cy="2400300"/>
          </a:xfrm>
          <a:prstGeom prst="roundRect">
            <a:avLst/>
          </a:prstGeom>
          <a:solidFill>
            <a:srgbClr val="34452C"/>
          </a:solidFill>
          <a:ln w="12700">
            <a:solidFill>
              <a:srgbClr val="FFFFFF">
                <a:alpha val="0"/>
              </a:srgbClr>
            </a:solidFill>
            <a:prstDash val="solid"/>
          </a:ln>
        </p:spPr>
      </p:sp>
      <p:sp>
        <p:nvSpPr>
          <p:cNvPr id="6" name="element_25e116853f5c838cfc7009e9ec971251"/>
          <p:cNvSpPr/>
          <p:nvPr/>
        </p:nvSpPr>
        <p:spPr>
          <a:xfrm>
            <a:off x="7107758" y="3490722"/>
            <a:ext cx="2640721" cy="216027"/>
          </a:xfrm>
          <a:prstGeom prst="roundRect">
            <a:avLst/>
          </a:prstGeom>
          <a:solidFill>
            <a:srgbClr val="F2DED3">
              <a:alpha val="74000"/>
            </a:srgbClr>
          </a:solidFill>
          <a:ln w="12700">
            <a:solidFill>
              <a:srgbClr val="FFFFFF">
                <a:alpha val="0"/>
              </a:srgbClr>
            </a:solidFill>
            <a:prstDash val="solid"/>
          </a:ln>
        </p:spPr>
      </p:sp>
      <p:sp>
        <p:nvSpPr>
          <p:cNvPr id="7" name="element_211bb930c058f5f9c6b025ea955129de"/>
          <p:cNvSpPr/>
          <p:nvPr/>
        </p:nvSpPr>
        <p:spPr>
          <a:xfrm>
            <a:off x="9497331" y="3202686"/>
            <a:ext cx="442559" cy="528066"/>
          </a:xfrm>
          <a:prstGeom prst="roundRect">
            <a:avLst/>
          </a:prstGeom>
          <a:solidFill>
            <a:srgbClr val="B44A2D"/>
          </a:solidFill>
          <a:ln w="12700">
            <a:solidFill>
              <a:srgbClr val="FFFFFF">
                <a:alpha val="0"/>
              </a:srgbClr>
            </a:solidFill>
            <a:prstDash val="solid"/>
          </a:ln>
        </p:spPr>
      </p:sp>
      <p:sp>
        <p:nvSpPr>
          <p:cNvPr id="8" name="element_7992db25ff6c1ed0fdaffccc48b775c3"/>
          <p:cNvSpPr txBox="1"/>
          <p:nvPr/>
        </p:nvSpPr>
        <p:spPr>
          <a:xfrm>
            <a:off x="731502" y="445770"/>
            <a:ext cx="3657509"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PROOF</a:t>
            </a:r>
            <a:endParaRPr lang="en-US" sz="1500" dirty="0"/>
          </a:p>
        </p:txBody>
      </p:sp>
      <p:sp>
        <p:nvSpPr>
          <p:cNvPr id="9" name="element_47b50223155bcfc9b1a97c2b9c8f2e28"/>
          <p:cNvSpPr txBox="1"/>
          <p:nvPr/>
        </p:nvSpPr>
        <p:spPr>
          <a:xfrm>
            <a:off x="731502" y="1234440"/>
            <a:ext cx="4145176" cy="2311146"/>
          </a:xfrm>
          <a:prstGeom prst="rect">
            <a:avLst/>
          </a:prstGeom>
          <a:noFill/>
          <a:ln/>
        </p:spPr>
        <p:txBody>
          <a:bodyPr wrap="square" lIns="0" tIns="0" rIns="0" bIns="0" rtlCol="0" anchor="t">
            <a:normAutofit/>
          </a:bodyPr>
          <a:lstStyle/>
          <a:p>
            <a:pPr algn="l" indent="0" marL="0">
              <a:lnSpc>
                <a:spcPct val="104000"/>
              </a:lnSpc>
              <a:buNone/>
            </a:pPr>
            <a:r>
              <a:rPr lang="en-US" sz="3500" b="1" spc="-50" kern="0" dirty="0">
                <a:solidFill>
                  <a:srgbClr val="26221D"/>
                </a:solidFill>
                <a:latin typeface="Georgia" pitchFamily="34" charset="0"/>
                <a:ea typeface="Georgia" pitchFamily="34" charset="-122"/>
                <a:cs typeface="Georgia" pitchFamily="34" charset="-120"/>
              </a:rPr>
              <a:t>Agree how success will be judged before the next decision.</a:t>
            </a:r>
            <a:endParaRPr lang="en-US" sz="3500" dirty="0"/>
          </a:p>
        </p:txBody>
      </p:sp>
      <p:sp>
        <p:nvSpPr>
          <p:cNvPr id="10" name="element_18d6c8ab2ea21a54310780349c453eb5"/>
          <p:cNvSpPr txBox="1"/>
          <p:nvPr/>
        </p:nvSpPr>
        <p:spPr>
          <a:xfrm>
            <a:off x="731502" y="3785616"/>
            <a:ext cx="4145176" cy="1357884"/>
          </a:xfrm>
          <a:prstGeom prst="rect">
            <a:avLst/>
          </a:prstGeom>
          <a:noFill/>
          <a:ln/>
        </p:spPr>
        <p:txBody>
          <a:bodyPr wrap="square" lIns="0" tIns="0" rIns="0" bIns="0" rtlCol="0" anchor="t">
            <a:normAutofit/>
          </a:bodyPr>
          <a:lstStyle/>
          <a:p>
            <a:pPr algn="l" indent="0" marL="0">
              <a:lnSpc>
                <a:spcPct val="138000"/>
              </a:lnSpc>
              <a:buNone/>
            </a:pPr>
            <a:r>
              <a:rPr lang="en-US" sz="1600" dirty="0">
                <a:solidFill>
                  <a:srgbClr val="756B61"/>
                </a:solidFill>
                <a:latin typeface="Geist Variable" pitchFamily="34" charset="0"/>
                <a:ea typeface="Geist Variable" pitchFamily="34" charset="-122"/>
                <a:cs typeface="Geist Variable" pitchFamily="34" charset="-120"/>
              </a:rPr>
              <a:t>Use the supplied success criteria as review questions; do not turn them into invented scores or weights.</a:t>
            </a:r>
            <a:endParaRPr lang="en-US" sz="1600" dirty="0"/>
          </a:p>
        </p:txBody>
      </p:sp>
      <p:sp>
        <p:nvSpPr>
          <p:cNvPr id="11" name="element_bda5bc580a5647bac7ed278aa99ba3fb"/>
          <p:cNvSpPr txBox="1"/>
          <p:nvPr/>
        </p:nvSpPr>
        <p:spPr>
          <a:xfrm>
            <a:off x="731502" y="5417820"/>
            <a:ext cx="4145176" cy="548640"/>
          </a:xfrm>
          <a:prstGeom prst="rect">
            <a:avLst/>
          </a:prstGeom>
          <a:noFill/>
          <a:ln/>
        </p:spPr>
        <p:txBody>
          <a:bodyPr wrap="square" lIns="152400" tIns="152400" rIns="152400" bIns="152400" rtlCol="0" anchor="t">
            <a:normAutofit/>
          </a:bodyPr>
          <a:lstStyle/>
          <a:p>
            <a:pPr algn="l" indent="0" marL="0">
              <a:lnSpc>
                <a:spcPct val="125000"/>
              </a:lnSpc>
              <a:buNone/>
            </a:pPr>
            <a:r>
              <a:rPr lang="en-US" sz="1600" b="1" dirty="0">
                <a:solidFill>
                  <a:srgbClr val="34452C"/>
                </a:solidFill>
                <a:latin typeface="Geist Variable" pitchFamily="34" charset="0"/>
                <a:ea typeface="Geist Variable" pitchFamily="34" charset="-122"/>
                <a:cs typeface="Geist Variable" pitchFamily="34" charset="-120"/>
              </a:rPr>
              <a:t>Preserve all twelve narrative jobs</a:t>
            </a:r>
            <a:endParaRPr lang="en-US" sz="1600" dirty="0"/>
          </a:p>
        </p:txBody>
      </p:sp>
      <p:sp>
        <p:nvSpPr>
          <p:cNvPr id="12" name="element_d7b507fb8a349bc29e7f736b6a31630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93c05a6fef75185268d70ddaaf947c8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nodeslide-slide-id:slide_272e9eacc3b7010013de081e2773d41b"/>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d61cabd1aaa5f47c3d86f3204ec7731"/>
          <p:cNvSpPr txBox="1"/>
          <p:nvPr/>
        </p:nvSpPr>
        <p:spPr>
          <a:xfrm>
            <a:off x="853419" y="445770"/>
            <a:ext cx="4876678"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0ab825f5cfb13f0298253a3eb0a3ef0c"/>
          <p:cNvSpPr txBox="1"/>
          <p:nvPr/>
        </p:nvSpPr>
        <p:spPr>
          <a:xfrm>
            <a:off x="853419" y="1028700"/>
            <a:ext cx="9631439" cy="960120"/>
          </a:xfrm>
          <a:prstGeom prst="rect">
            <a:avLst/>
          </a:prstGeom>
          <a:noFill/>
          <a:ln/>
        </p:spPr>
        <p:txBody>
          <a:bodyPr wrap="square" lIns="0" tIns="0" rIns="0" bIns="0" rtlCol="0" anchor="t">
            <a:normAutofit/>
          </a:bodyPr>
          <a:lstStyle/>
          <a:p>
            <a:pPr algn="l" indent="0" marL="0">
              <a:lnSpc>
                <a:spcPct val="105000"/>
              </a:lnSpc>
              <a:buNone/>
            </a:pPr>
            <a:r>
              <a:rPr lang="en-US" sz="3600" b="1" spc="-40" kern="0" dirty="0">
                <a:solidFill>
                  <a:srgbClr val="26221D"/>
                </a:solidFill>
                <a:latin typeface="Georgia" pitchFamily="34" charset="0"/>
                <a:ea typeface="Georgia" pitchFamily="34" charset="-122"/>
                <a:cs typeface="Georgia" pitchFamily="34" charset="-120"/>
              </a:rPr>
              <a:t>Decide whether the AI release gate may open</a:t>
            </a:r>
            <a:endParaRPr lang="en-US" sz="3600" dirty="0"/>
          </a:p>
        </p:txBody>
      </p:sp>
      <p:sp>
        <p:nvSpPr>
          <p:cNvPr id="5" name="element_b56d5c087eb6fa9e05d3a22d8eb03136"/>
          <p:cNvSpPr/>
          <p:nvPr/>
        </p:nvSpPr>
        <p:spPr>
          <a:xfrm>
            <a:off x="853419" y="2400300"/>
            <a:ext cx="3291758" cy="2194560"/>
          </a:xfrm>
          <a:prstGeom prst="roundRect">
            <a:avLst/>
          </a:prstGeom>
          <a:solidFill>
            <a:srgbClr val="E5E9D6"/>
          </a:solidFill>
          <a:ln w="12700">
            <a:solidFill>
              <a:srgbClr val="DED7CC"/>
            </a:solidFill>
            <a:prstDash val="solid"/>
          </a:ln>
        </p:spPr>
      </p:sp>
      <p:sp>
        <p:nvSpPr>
          <p:cNvPr id="6" name="element_2e14c61a3d1b347a60f176a120113592"/>
          <p:cNvSpPr txBox="1"/>
          <p:nvPr/>
        </p:nvSpPr>
        <p:spPr>
          <a:xfrm>
            <a:off x="1097253" y="2537460"/>
            <a:ext cx="2804090" cy="192024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01  Agree the outcome</a:t>
            </a:r>
            <a:endParaRPr lang="en-US" sz="1600" dirty="0"/>
          </a:p>
        </p:txBody>
      </p:sp>
      <p:sp>
        <p:nvSpPr>
          <p:cNvPr id="7" name="element_03b0fc0e4bd373ac5e521e55a8b1bf06"/>
          <p:cNvSpPr/>
          <p:nvPr/>
        </p:nvSpPr>
        <p:spPr>
          <a:xfrm>
            <a:off x="4449969" y="2400300"/>
            <a:ext cx="3291758" cy="2194560"/>
          </a:xfrm>
          <a:prstGeom prst="roundRect">
            <a:avLst/>
          </a:prstGeom>
          <a:solidFill>
            <a:srgbClr val="E5E9D6"/>
          </a:solidFill>
          <a:ln w="12700">
            <a:solidFill>
              <a:srgbClr val="DED7CC"/>
            </a:solidFill>
            <a:prstDash val="solid"/>
          </a:ln>
        </p:spPr>
      </p:sp>
      <p:sp>
        <p:nvSpPr>
          <p:cNvPr id="8" name="element_d1cc48c6bd8aeff5b9f94ef405e4327f"/>
          <p:cNvSpPr txBox="1"/>
          <p:nvPr/>
        </p:nvSpPr>
        <p:spPr>
          <a:xfrm>
            <a:off x="4693803" y="2537460"/>
            <a:ext cx="2804090" cy="192024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02  Name the owner</a:t>
            </a:r>
            <a:endParaRPr lang="en-US" sz="1600" dirty="0"/>
          </a:p>
        </p:txBody>
      </p:sp>
      <p:sp>
        <p:nvSpPr>
          <p:cNvPr id="9" name="element_19aad8c91da7807aeef8df1f5dbeb93d"/>
          <p:cNvSpPr/>
          <p:nvPr/>
        </p:nvSpPr>
        <p:spPr>
          <a:xfrm>
            <a:off x="8046519" y="2400300"/>
            <a:ext cx="3291758" cy="2194560"/>
          </a:xfrm>
          <a:prstGeom prst="roundRect">
            <a:avLst/>
          </a:prstGeom>
          <a:solidFill>
            <a:srgbClr val="E5E9D6"/>
          </a:solidFill>
          <a:ln w="12700">
            <a:solidFill>
              <a:srgbClr val="DED7CC"/>
            </a:solidFill>
            <a:prstDash val="solid"/>
          </a:ln>
        </p:spPr>
      </p:sp>
      <p:sp>
        <p:nvSpPr>
          <p:cNvPr id="10" name="element_ced7560791dd44adb16f140dab2d292a"/>
          <p:cNvSpPr txBox="1"/>
          <p:nvPr/>
        </p:nvSpPr>
        <p:spPr>
          <a:xfrm>
            <a:off x="8290353" y="2537460"/>
            <a:ext cx="2804090" cy="192024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34452C"/>
                </a:solidFill>
                <a:latin typeface="Geist Variable" pitchFamily="34" charset="0"/>
                <a:ea typeface="Geist Variable" pitchFamily="34" charset="-122"/>
                <a:cs typeface="Geist Variable" pitchFamily="34" charset="-120"/>
              </a:rPr>
              <a:t>03  Set the next checkpoint</a:t>
            </a:r>
            <a:endParaRPr lang="en-US" sz="1600" dirty="0"/>
          </a:p>
        </p:txBody>
      </p:sp>
      <p:sp>
        <p:nvSpPr>
          <p:cNvPr id="11" name="element_303ba2af81bd28e2faf6862d2fd0d4a3"/>
          <p:cNvSpPr/>
          <p:nvPr/>
        </p:nvSpPr>
        <p:spPr>
          <a:xfrm>
            <a:off x="8814596" y="356616"/>
            <a:ext cx="146300" cy="685800"/>
          </a:xfrm>
          <a:prstGeom prst="roundRect">
            <a:avLst/>
          </a:prstGeom>
          <a:solidFill>
            <a:srgbClr val="34452C">
              <a:alpha val="76000"/>
            </a:srgbClr>
          </a:solidFill>
          <a:ln w="12700">
            <a:solidFill>
              <a:srgbClr val="FFFFFF">
                <a:alpha val="0"/>
              </a:srgbClr>
            </a:solidFill>
            <a:prstDash val="solid"/>
          </a:ln>
        </p:spPr>
      </p:sp>
      <p:sp>
        <p:nvSpPr>
          <p:cNvPr id="12" name="element_b92296a4feeb38b371c8f1f175543c89"/>
          <p:cNvSpPr/>
          <p:nvPr/>
        </p:nvSpPr>
        <p:spPr>
          <a:xfrm>
            <a:off x="10667733" y="356616"/>
            <a:ext cx="146300" cy="685800"/>
          </a:xfrm>
          <a:prstGeom prst="roundRect">
            <a:avLst/>
          </a:prstGeom>
          <a:solidFill>
            <a:srgbClr val="34452C">
              <a:alpha val="76000"/>
            </a:srgbClr>
          </a:solidFill>
          <a:ln w="12700">
            <a:solidFill>
              <a:srgbClr val="FFFFFF">
                <a:alpha val="0"/>
              </a:srgbClr>
            </a:solidFill>
            <a:prstDash val="solid"/>
          </a:ln>
        </p:spPr>
      </p:sp>
      <p:sp>
        <p:nvSpPr>
          <p:cNvPr id="13" name="element_d4ce5ce8f589553e0b8250178e737fbe"/>
          <p:cNvSpPr/>
          <p:nvPr/>
        </p:nvSpPr>
        <p:spPr>
          <a:xfrm>
            <a:off x="8960896" y="850392"/>
            <a:ext cx="1706837" cy="68580"/>
          </a:xfrm>
          <a:prstGeom prst="roundRect">
            <a:avLst/>
          </a:prstGeom>
          <a:solidFill>
            <a:srgbClr val="F2DED3">
              <a:alpha val="77000"/>
            </a:srgbClr>
          </a:solidFill>
          <a:ln w="12700">
            <a:solidFill>
              <a:srgbClr val="FFFFFF">
                <a:alpha val="0"/>
              </a:srgbClr>
            </a:solidFill>
            <a:prstDash val="solid"/>
          </a:ln>
        </p:spPr>
      </p:sp>
      <p:sp>
        <p:nvSpPr>
          <p:cNvPr id="14" name="element_c6de01c08d374c4d13f2fd349423d00f"/>
          <p:cNvSpPr/>
          <p:nvPr/>
        </p:nvSpPr>
        <p:spPr>
          <a:xfrm>
            <a:off x="10655542" y="768096"/>
            <a:ext cx="268217" cy="150876"/>
          </a:xfrm>
          <a:prstGeom prst="roundRect">
            <a:avLst/>
          </a:prstGeom>
          <a:solidFill>
            <a:srgbClr val="B44A2D">
              <a:alpha val="76000"/>
            </a:srgbClr>
          </a:solidFill>
          <a:ln w="12700">
            <a:solidFill>
              <a:srgbClr val="FFFFFF">
                <a:alpha val="0"/>
              </a:srgbClr>
            </a:solidFill>
            <a:prstDash val="solid"/>
          </a:ln>
        </p:spPr>
      </p:sp>
      <p:sp>
        <p:nvSpPr>
          <p:cNvPr id="15" name="element_fdaa45fe6c739c990e99ed81729b98e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6" name="element_3262befbb267e7dd22d9c0a5ebcc2a1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12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exactly 12 slides for a risk committee deciding whether an AI release may…</dc:title>
  <dc:subject>Decide whether the AI release gate may open</dc:subject>
  <dc:creator>NodeSlide</dc:creator>
  <cp:lastModifiedBy>NodeSlide</cp:lastModifiedBy>
  <cp:revision>1</cp:revision>
  <dcterms:created xsi:type="dcterms:W3CDTF">2026-08-02T00:55:43Z</dcterms:created>
  <dcterms:modified xsi:type="dcterms:W3CDTF">2026-08-02T00:55:43Z</dcterms:modified>
</cp:coreProperties>
</file>