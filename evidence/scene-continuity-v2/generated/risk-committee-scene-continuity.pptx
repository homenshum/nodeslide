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Opening / 01. Composition grammar: full-bleed-thesis. Keep the spoken transition focused on "Decide whether the AI release gate may open"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Context / 02. Composition grammar: process-canvas. Keep the spoken transition focused on "The cost of waiting is usually hidden in repeated work."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Insight / 03. Composition grammar: comparison-field. Keep the spoken transition focused on "A better outcome starts with a sharper point of view."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Approach / 04. Composition grammar: asymmetric-editorial. Keep the spoken transition focused on "Turn the idea into a sequence people can understand and own."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Evidence / 05. Composition grammar: scene-stage. Keep the spoken transition focused on "Define proof before asking for commitment."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Delivery / 06. Composition grammar: scene-stage. Keep the spoken transition focused on "Start narrow, learn quickly, and preserve room to adapt."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Evidence. Composition grammar: process-canvas. Keep the spoken transition focused on "Separate what is supplied from what still needs verification."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Evidence. Composition grammar: scene-stage. Keep the spoken transition focused on "Unverified assumptions remain questions, not conclusions."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Operating model. Composition grammar: process-canvas. Keep the spoken transition focused on "A decision becomes executable when each handoff has an owner."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Risk. Composition grammar: scene-stage. Keep the spoken transition focused on "Controls should answer the risks the brief actually establishes."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Proof. Composition grammar: asymmetric-editorial. Keep the spoken transition focused on "Agree how success will be judged before the next decision."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Close / 07. Composition grammar: evidence-dossier. Keep the spoken transition focused on "Decide whether the AI release gate may open"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D"/>
        </a:solidFill>
      </p:bgPr>
    </p:bg>
    <p:spTree>
      <p:nvGrpSpPr>
        <p:cNvPr id="1" name=""/>
        <p:cNvGrpSpPr/>
        <p:nvPr/>
      </p:nvGrpSpPr>
      <p:grpSpPr>
        <a:xfrm>
          <a:off x="0" y="0"/>
          <a:ext cx="0" cy="0"/>
          <a:chOff x="0" y="0"/>
          <a:chExt cx="0" cy="0"/>
        </a:xfrm>
      </p:grpSpPr>
      <p:sp>
        <p:nvSpPr>
          <p:cNvPr id="2" name="nodeslide-slide-id:slide_5892f3ee5ff904a300c6fe19584fb454"/>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ad6afe80e3828a686bdb3c5c559f1169"/>
          <p:cNvSpPr txBox="1"/>
          <p:nvPr/>
        </p:nvSpPr>
        <p:spPr>
          <a:xfrm>
            <a:off x="853419" y="2599868"/>
            <a:ext cx="10484858" cy="1658264"/>
          </a:xfrm>
          <a:prstGeom prst="rect">
            <a:avLst/>
          </a:prstGeom>
          <a:noFill/>
          <a:ln/>
        </p:spPr>
        <p:txBody>
          <a:bodyPr wrap="square" lIns="0" tIns="0" rIns="0" bIns="0" rtlCol="0" anchor="t">
            <a:normAutofit/>
          </a:bodyPr>
          <a:lstStyle/>
          <a:p>
            <a:pPr algn="l" indent="0" marL="0">
              <a:lnSpc>
                <a:spcPct val="102000"/>
              </a:lnSpc>
              <a:buNone/>
            </a:pPr>
            <a:r>
              <a:rPr lang="en-US" sz="6400" b="1" spc="-120" kern="0" dirty="0">
                <a:solidFill>
                  <a:srgbClr val="26221D"/>
                </a:solidFill>
                <a:latin typeface="Georgia" pitchFamily="34" charset="0"/>
                <a:ea typeface="Georgia" pitchFamily="34" charset="-122"/>
                <a:cs typeface="Georgia" pitchFamily="34" charset="-120"/>
              </a:rPr>
              <a:t>Decide whether the AI release gate may open</a:t>
            </a:r>
            <a:endParaRPr lang="en-US" sz="6400" dirty="0"/>
          </a:p>
        </p:txBody>
      </p:sp>
      <p:sp>
        <p:nvSpPr>
          <p:cNvPr id="4" name="element_2e31d13a661542ed2a0d9d04876d294e"/>
          <p:cNvSpPr/>
          <p:nvPr/>
        </p:nvSpPr>
        <p:spPr>
          <a:xfrm>
            <a:off x="853419" y="4395292"/>
            <a:ext cx="1463003" cy="68580"/>
          </a:xfrm>
          <a:prstGeom prst="roundRect">
            <a:avLst/>
          </a:prstGeom>
          <a:solidFill>
            <a:srgbClr val="B44A2D"/>
          </a:solidFill>
          <a:ln w="12700">
            <a:solidFill>
              <a:srgbClr val="FFFFFF">
                <a:alpha val="0"/>
              </a:srgbClr>
            </a:solidFill>
            <a:prstDash val="solid"/>
          </a:ln>
        </p:spPr>
      </p:sp>
      <p:sp>
        <p:nvSpPr>
          <p:cNvPr id="5" name="element_1e2d336e749f36c18f10f0f33ac631f7"/>
          <p:cNvSpPr txBox="1"/>
          <p:nvPr/>
        </p:nvSpPr>
        <p:spPr>
          <a:xfrm>
            <a:off x="853419" y="41148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OPENING / 01</a:t>
            </a:r>
            <a:endParaRPr lang="en-US" sz="1500" dirty="0"/>
          </a:p>
        </p:txBody>
      </p:sp>
      <p:sp>
        <p:nvSpPr>
          <p:cNvPr id="6" name="element_f82f0e23d3668de3b20e63cc39f099c9"/>
          <p:cNvSpPr/>
          <p:nvPr/>
        </p:nvSpPr>
        <p:spPr>
          <a:xfrm>
            <a:off x="9401016" y="356616"/>
            <a:ext cx="146300" cy="685800"/>
          </a:xfrm>
          <a:prstGeom prst="roundRect">
            <a:avLst/>
          </a:prstGeom>
          <a:solidFill>
            <a:srgbClr val="34452C">
              <a:alpha val="34000"/>
            </a:srgbClr>
          </a:solidFill>
          <a:ln w="12700">
            <a:solidFill>
              <a:srgbClr val="FFFFFF">
                <a:alpha val="0"/>
              </a:srgbClr>
            </a:solidFill>
            <a:prstDash val="solid"/>
          </a:ln>
        </p:spPr>
      </p:sp>
      <p:sp>
        <p:nvSpPr>
          <p:cNvPr id="7" name="element_613746390f37246a1d91c4770ef7d296"/>
          <p:cNvSpPr/>
          <p:nvPr/>
        </p:nvSpPr>
        <p:spPr>
          <a:xfrm>
            <a:off x="10081313" y="356616"/>
            <a:ext cx="146300" cy="685800"/>
          </a:xfrm>
          <a:prstGeom prst="roundRect">
            <a:avLst/>
          </a:prstGeom>
          <a:solidFill>
            <a:srgbClr val="34452C">
              <a:alpha val="34000"/>
            </a:srgbClr>
          </a:solidFill>
          <a:ln w="12700">
            <a:solidFill>
              <a:srgbClr val="FFFFFF">
                <a:alpha val="0"/>
              </a:srgbClr>
            </a:solidFill>
            <a:prstDash val="solid"/>
          </a:ln>
        </p:spPr>
      </p:sp>
      <p:sp>
        <p:nvSpPr>
          <p:cNvPr id="8" name="element_69cf4aa376f110b516820b109c9ac9b4"/>
          <p:cNvSpPr/>
          <p:nvPr/>
        </p:nvSpPr>
        <p:spPr>
          <a:xfrm>
            <a:off x="9547317" y="850392"/>
            <a:ext cx="532777" cy="68580"/>
          </a:xfrm>
          <a:prstGeom prst="roundRect">
            <a:avLst/>
          </a:prstGeom>
          <a:solidFill>
            <a:srgbClr val="F2DED3">
              <a:alpha val="45000"/>
            </a:srgbClr>
          </a:solidFill>
          <a:ln w="12700">
            <a:solidFill>
              <a:srgbClr val="FFFFFF">
                <a:alpha val="0"/>
              </a:srgbClr>
            </a:solidFill>
            <a:prstDash val="solid"/>
          </a:ln>
        </p:spPr>
      </p:sp>
      <p:sp>
        <p:nvSpPr>
          <p:cNvPr id="9" name="element_ccc79c979a126d543117356f07bf4827"/>
          <p:cNvSpPr/>
          <p:nvPr/>
        </p:nvSpPr>
        <p:spPr>
          <a:xfrm>
            <a:off x="8531748" y="768096"/>
            <a:ext cx="268217" cy="150876"/>
          </a:xfrm>
          <a:prstGeom prst="roundRect">
            <a:avLst/>
          </a:prstGeom>
          <a:solidFill>
            <a:srgbClr val="B44A2D">
              <a:alpha val="34000"/>
            </a:srgbClr>
          </a:solidFill>
          <a:ln w="12700">
            <a:solidFill>
              <a:srgbClr val="FFFFFF">
                <a:alpha val="0"/>
              </a:srgbClr>
            </a:solidFill>
            <a:prstDash val="solid"/>
          </a:ln>
        </p:spPr>
      </p:sp>
      <p:sp>
        <p:nvSpPr>
          <p:cNvPr id="10" name="element_3b3d281af2f069a156298919327550d9"/>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1" name="element_97819947fc672ca0a6da7e4c754795fa"/>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nodeslide-slide-id:slide_f9aa8f013373e119adebfd72497e138e"/>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6d6d943f253908f3be3322b0c64fd1fa"/>
          <p:cNvSpPr txBox="1"/>
          <p:nvPr/>
        </p:nvSpPr>
        <p:spPr>
          <a:xfrm>
            <a:off x="853419" y="41148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CONTEXT / 02</a:t>
            </a:r>
            <a:endParaRPr lang="en-US" sz="1500" dirty="0"/>
          </a:p>
        </p:txBody>
      </p:sp>
      <p:sp>
        <p:nvSpPr>
          <p:cNvPr id="4" name="element_3af70721bc7eb0c2e866e3c21d00a740"/>
          <p:cNvSpPr txBox="1"/>
          <p:nvPr/>
        </p:nvSpPr>
        <p:spPr>
          <a:xfrm>
            <a:off x="853419" y="960120"/>
            <a:ext cx="9997190" cy="894283"/>
          </a:xfrm>
          <a:prstGeom prst="rect">
            <a:avLst/>
          </a:prstGeom>
          <a:noFill/>
          <a:ln/>
        </p:spPr>
        <p:txBody>
          <a:bodyPr wrap="square" lIns="0" tIns="0" rIns="0" bIns="0" rtlCol="0" anchor="t">
            <a:normAutofit/>
          </a:bodyPr>
          <a:lstStyle/>
          <a:p>
            <a:pPr algn="l" indent="0" marL="0">
              <a:lnSpc>
                <a:spcPct val="110000"/>
              </a:lnSpc>
              <a:buNone/>
            </a:pPr>
            <a:r>
              <a:rPr lang="en-US" sz="3200" b="1" dirty="0">
                <a:solidFill>
                  <a:srgbClr val="26221D"/>
                </a:solidFill>
                <a:latin typeface="Georgia" pitchFamily="34" charset="0"/>
                <a:ea typeface="Georgia" pitchFamily="34" charset="-122"/>
                <a:cs typeface="Georgia" pitchFamily="34" charset="-120"/>
              </a:rPr>
              <a:t>The cost of waiting is usually hidden in repeated work.</a:t>
            </a:r>
            <a:endParaRPr lang="en-US" sz="3200" dirty="0"/>
          </a:p>
        </p:txBody>
      </p:sp>
      <p:sp>
        <p:nvSpPr>
          <p:cNvPr id="5" name="element_c508ea941aac57cf6d4385e2a4a834a4"/>
          <p:cNvSpPr/>
          <p:nvPr/>
        </p:nvSpPr>
        <p:spPr>
          <a:xfrm>
            <a:off x="2499298" y="3931006"/>
            <a:ext cx="3596550" cy="164592"/>
          </a:xfrm>
          <a:prstGeom prst="line">
            <a:avLst/>
          </a:prstGeom>
          <a:noFill/>
          <a:ln w="25400">
            <a:solidFill>
              <a:srgbClr val="7566A8"/>
            </a:solidFill>
            <a:prstDash val="solid"/>
            <a:tailEnd type="triangle"/>
          </a:ln>
        </p:spPr>
      </p:sp>
      <p:sp>
        <p:nvSpPr>
          <p:cNvPr id="6" name="element_b8a44fe3477952e1854e8bca386707ac"/>
          <p:cNvSpPr/>
          <p:nvPr/>
        </p:nvSpPr>
        <p:spPr>
          <a:xfrm>
            <a:off x="6095848" y="3931006"/>
            <a:ext cx="3596550" cy="164592"/>
          </a:xfrm>
          <a:prstGeom prst="line">
            <a:avLst/>
          </a:prstGeom>
          <a:noFill/>
          <a:ln w="25400">
            <a:solidFill>
              <a:srgbClr val="7566A8"/>
            </a:solidFill>
            <a:prstDash val="solid"/>
            <a:tailEnd type="triangle"/>
          </a:ln>
        </p:spPr>
      </p:sp>
      <p:sp>
        <p:nvSpPr>
          <p:cNvPr id="7" name="element_8f5eacf5a39e695f0007f69b07b9c2c7"/>
          <p:cNvSpPr/>
          <p:nvPr/>
        </p:nvSpPr>
        <p:spPr>
          <a:xfrm>
            <a:off x="853419" y="3533242"/>
            <a:ext cx="3291758" cy="960120"/>
          </a:xfrm>
          <a:prstGeom prst="roundRect">
            <a:avLst/>
          </a:prstGeom>
          <a:solidFill>
            <a:srgbClr val="F2DED3"/>
          </a:solidFill>
          <a:ln w="12700">
            <a:solidFill>
              <a:srgbClr val="DED7CC"/>
            </a:solidFill>
            <a:prstDash val="solid"/>
          </a:ln>
        </p:spPr>
      </p:sp>
      <p:sp>
        <p:nvSpPr>
          <p:cNvPr id="8" name="element_8f5eacf5a39e695f0007f69b07b9c2c7:text"/>
          <p:cNvSpPr txBox="1"/>
          <p:nvPr/>
        </p:nvSpPr>
        <p:spPr>
          <a:xfrm>
            <a:off x="85341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400" b="1" dirty="0">
                <a:solidFill>
                  <a:srgbClr val="26221D"/>
                </a:solidFill>
                <a:latin typeface="Geist Variable" pitchFamily="34" charset="0"/>
                <a:ea typeface="Geist Variable" pitchFamily="34" charset="-122"/>
                <a:cs typeface="Geist Variable" pitchFamily="34" charset="-120"/>
              </a:rPr>
              <a:t>Friction</a:t>
            </a:r>
            <a:endParaRPr lang="en-US" sz="1400" dirty="0"/>
          </a:p>
        </p:txBody>
      </p:sp>
      <p:sp>
        <p:nvSpPr>
          <p:cNvPr id="9" name="element_1fa010341e65ac8143726037a6429b37"/>
          <p:cNvSpPr/>
          <p:nvPr/>
        </p:nvSpPr>
        <p:spPr>
          <a:xfrm>
            <a:off x="4449969" y="3533242"/>
            <a:ext cx="3291758" cy="960120"/>
          </a:xfrm>
          <a:prstGeom prst="roundRect">
            <a:avLst/>
          </a:prstGeom>
          <a:solidFill>
            <a:srgbClr val="F2DED3"/>
          </a:solidFill>
          <a:ln w="12700">
            <a:solidFill>
              <a:srgbClr val="DED7CC"/>
            </a:solidFill>
            <a:prstDash val="solid"/>
          </a:ln>
        </p:spPr>
      </p:sp>
      <p:sp>
        <p:nvSpPr>
          <p:cNvPr id="10" name="element_1fa010341e65ac8143726037a6429b37:text"/>
          <p:cNvSpPr txBox="1"/>
          <p:nvPr/>
        </p:nvSpPr>
        <p:spPr>
          <a:xfrm>
            <a:off x="444996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300" b="1" dirty="0">
                <a:solidFill>
                  <a:srgbClr val="26221D"/>
                </a:solidFill>
                <a:latin typeface="Geist Variable" pitchFamily="34" charset="0"/>
                <a:ea typeface="Geist Variable" pitchFamily="34" charset="-122"/>
                <a:cs typeface="Geist Variable" pitchFamily="34" charset="-120"/>
              </a:rPr>
              <a:t>Consequence</a:t>
            </a:r>
            <a:endParaRPr lang="en-US" sz="1300" dirty="0"/>
          </a:p>
        </p:txBody>
      </p:sp>
      <p:sp>
        <p:nvSpPr>
          <p:cNvPr id="11" name="element_52b747ca450af31b6c422df5c6c04235"/>
          <p:cNvSpPr/>
          <p:nvPr/>
        </p:nvSpPr>
        <p:spPr>
          <a:xfrm>
            <a:off x="8046519" y="3533242"/>
            <a:ext cx="3291758" cy="960120"/>
          </a:xfrm>
          <a:prstGeom prst="roundRect">
            <a:avLst/>
          </a:prstGeom>
          <a:solidFill>
            <a:srgbClr val="E5E9D6"/>
          </a:solidFill>
          <a:ln w="12700">
            <a:solidFill>
              <a:srgbClr val="DED7CC"/>
            </a:solidFill>
            <a:prstDash val="solid"/>
          </a:ln>
        </p:spPr>
      </p:sp>
      <p:sp>
        <p:nvSpPr>
          <p:cNvPr id="12" name="element_52b747ca450af31b6c422df5c6c04235:text"/>
          <p:cNvSpPr txBox="1"/>
          <p:nvPr/>
        </p:nvSpPr>
        <p:spPr>
          <a:xfrm>
            <a:off x="804651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300" b="1" dirty="0">
                <a:solidFill>
                  <a:srgbClr val="26221D"/>
                </a:solidFill>
                <a:latin typeface="Geist Variable" pitchFamily="34" charset="0"/>
                <a:ea typeface="Geist Variable" pitchFamily="34" charset="-122"/>
                <a:cs typeface="Geist Variable" pitchFamily="34" charset="-120"/>
              </a:rPr>
              <a:t>Decision window</a:t>
            </a:r>
            <a:endParaRPr lang="en-US" sz="1300" dirty="0"/>
          </a:p>
        </p:txBody>
      </p:sp>
      <p:sp>
        <p:nvSpPr>
          <p:cNvPr id="13" name="element_b8067e2476d461e044d724cacba57cd4"/>
          <p:cNvSpPr txBox="1"/>
          <p:nvPr/>
        </p:nvSpPr>
        <p:spPr>
          <a:xfrm>
            <a:off x="853419" y="4543425"/>
            <a:ext cx="9631439" cy="754380"/>
          </a:xfrm>
          <a:prstGeom prst="rect">
            <a:avLst/>
          </a:prstGeom>
          <a:noFill/>
          <a:ln/>
        </p:spPr>
        <p:txBody>
          <a:bodyPr wrap="square" lIns="0" tIns="0" rIns="0" bIns="0" rtlCol="0" anchor="t">
            <a:normAutofit/>
          </a:bodyPr>
          <a:lstStyle/>
          <a:p>
            <a:pPr algn="l" indent="0" marL="0">
              <a:lnSpc>
                <a:spcPct val="135000"/>
              </a:lnSpc>
              <a:buNone/>
            </a:pPr>
            <a:r>
              <a:rPr lang="en-US" sz="1600" dirty="0">
                <a:solidFill>
                  <a:srgbClr val="756B61"/>
                </a:solidFill>
                <a:latin typeface="Geist Variable" pitchFamily="34" charset="0"/>
                <a:ea typeface="Geist Variable" pitchFamily="34" charset="-122"/>
                <a:cs typeface="Geist Variable" pitchFamily="34" charset="-120"/>
              </a:rPr>
              <a:t>Frame the current reality for Risk committee: what is fragmented today, why it matters now, and where momentum is being lost.</a:t>
            </a:r>
            <a:endParaRPr lang="en-US" sz="1600" dirty="0"/>
          </a:p>
        </p:txBody>
      </p:sp>
      <p:sp>
        <p:nvSpPr>
          <p:cNvPr id="14" name="element_e213ba2091ec9c81c89935f0aa5ad72c"/>
          <p:cNvSpPr/>
          <p:nvPr/>
        </p:nvSpPr>
        <p:spPr>
          <a:xfrm>
            <a:off x="9347373" y="356616"/>
            <a:ext cx="146300" cy="685800"/>
          </a:xfrm>
          <a:prstGeom prst="roundRect">
            <a:avLst/>
          </a:prstGeom>
          <a:solidFill>
            <a:srgbClr val="34452C">
              <a:alpha val="34000"/>
            </a:srgbClr>
          </a:solidFill>
          <a:ln w="12700">
            <a:solidFill>
              <a:srgbClr val="FFFFFF">
                <a:alpha val="0"/>
              </a:srgbClr>
            </a:solidFill>
            <a:prstDash val="solid"/>
          </a:ln>
        </p:spPr>
      </p:sp>
      <p:sp>
        <p:nvSpPr>
          <p:cNvPr id="15" name="element_cb2b03835a66f81525df05ceec1b0e94"/>
          <p:cNvSpPr/>
          <p:nvPr/>
        </p:nvSpPr>
        <p:spPr>
          <a:xfrm>
            <a:off x="10134956" y="356616"/>
            <a:ext cx="146300" cy="685800"/>
          </a:xfrm>
          <a:prstGeom prst="roundRect">
            <a:avLst/>
          </a:prstGeom>
          <a:solidFill>
            <a:srgbClr val="34452C">
              <a:alpha val="34000"/>
            </a:srgbClr>
          </a:solidFill>
          <a:ln w="12700">
            <a:solidFill>
              <a:srgbClr val="FFFFFF">
                <a:alpha val="0"/>
              </a:srgbClr>
            </a:solidFill>
            <a:prstDash val="solid"/>
          </a:ln>
        </p:spPr>
      </p:sp>
      <p:sp>
        <p:nvSpPr>
          <p:cNvPr id="16" name="element_b8cdc7a4b63ce0d2f56bab3c570dafd8"/>
          <p:cNvSpPr/>
          <p:nvPr/>
        </p:nvSpPr>
        <p:spPr>
          <a:xfrm>
            <a:off x="9493673" y="850392"/>
            <a:ext cx="640064" cy="68580"/>
          </a:xfrm>
          <a:prstGeom prst="roundRect">
            <a:avLst/>
          </a:prstGeom>
          <a:solidFill>
            <a:srgbClr val="F2DED3">
              <a:alpha val="48000"/>
            </a:srgbClr>
          </a:solidFill>
          <a:ln w="12700">
            <a:solidFill>
              <a:srgbClr val="FFFFFF">
                <a:alpha val="0"/>
              </a:srgbClr>
            </a:solidFill>
            <a:prstDash val="solid"/>
          </a:ln>
        </p:spPr>
      </p:sp>
      <p:sp>
        <p:nvSpPr>
          <p:cNvPr id="17" name="element_c32d19da8b4765af020fed6af1dd0eb0"/>
          <p:cNvSpPr/>
          <p:nvPr/>
        </p:nvSpPr>
        <p:spPr>
          <a:xfrm>
            <a:off x="8725596" y="768096"/>
            <a:ext cx="268217" cy="150876"/>
          </a:xfrm>
          <a:prstGeom prst="roundRect">
            <a:avLst/>
          </a:prstGeom>
          <a:solidFill>
            <a:srgbClr val="B44A2D">
              <a:alpha val="34000"/>
            </a:srgbClr>
          </a:solidFill>
          <a:ln w="12700">
            <a:solidFill>
              <a:srgbClr val="FFFFFF">
                <a:alpha val="0"/>
              </a:srgbClr>
            </a:solidFill>
            <a:prstDash val="solid"/>
          </a:ln>
        </p:spPr>
      </p:sp>
      <p:sp>
        <p:nvSpPr>
          <p:cNvPr id="18" name="element_a5ef0b44224d7dc1def3a5e5c7eb7f07"/>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9" name="element_dcb2aaa3f0480aa12ad640c7fae663c6"/>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nodeslide-slide-id:slide_a75ee21aeeec540b81eb6f3717b0d749"/>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f8fb428ac44e67b49f6b29356afdaa18"/>
          <p:cNvSpPr txBox="1"/>
          <p:nvPr/>
        </p:nvSpPr>
        <p:spPr>
          <a:xfrm>
            <a:off x="853419" y="44577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INSIGHT / 03</a:t>
            </a:r>
            <a:endParaRPr lang="en-US" sz="1500" dirty="0"/>
          </a:p>
        </p:txBody>
      </p:sp>
      <p:sp>
        <p:nvSpPr>
          <p:cNvPr id="4" name="element_23274ef2b000519870b297e84fc92834"/>
          <p:cNvSpPr txBox="1"/>
          <p:nvPr/>
        </p:nvSpPr>
        <p:spPr>
          <a:xfrm>
            <a:off x="853419" y="1028700"/>
            <a:ext cx="9631439" cy="960120"/>
          </a:xfrm>
          <a:prstGeom prst="rect">
            <a:avLst/>
          </a:prstGeom>
          <a:noFill/>
          <a:ln/>
        </p:spPr>
        <p:txBody>
          <a:bodyPr wrap="square" lIns="0" tIns="0" rIns="0" bIns="0" rtlCol="0" anchor="t">
            <a:normAutofit/>
          </a:bodyPr>
          <a:lstStyle/>
          <a:p>
            <a:pPr algn="l" indent="0" marL="0">
              <a:lnSpc>
                <a:spcPct val="105000"/>
              </a:lnSpc>
              <a:buNone/>
            </a:pPr>
            <a:r>
              <a:rPr lang="en-US" sz="3600" b="1" spc="-40" kern="0" dirty="0">
                <a:solidFill>
                  <a:srgbClr val="26221D"/>
                </a:solidFill>
                <a:latin typeface="Georgia" pitchFamily="34" charset="0"/>
                <a:ea typeface="Georgia" pitchFamily="34" charset="-122"/>
                <a:cs typeface="Georgia" pitchFamily="34" charset="-120"/>
              </a:rPr>
              <a:t>A better outcome starts with a sharper point of view.</a:t>
            </a:r>
            <a:endParaRPr lang="en-US" sz="3600" dirty="0"/>
          </a:p>
        </p:txBody>
      </p:sp>
      <p:sp>
        <p:nvSpPr>
          <p:cNvPr id="5" name="element_e3071ec9fd509eab59ff95e744602047"/>
          <p:cNvSpPr txBox="1"/>
          <p:nvPr/>
        </p:nvSpPr>
        <p:spPr>
          <a:xfrm>
            <a:off x="853419" y="2400300"/>
            <a:ext cx="3251525" cy="548640"/>
          </a:xfrm>
          <a:prstGeom prst="rect">
            <a:avLst/>
          </a:prstGeom>
          <a:noFill/>
          <a:ln/>
        </p:spPr>
        <p:txBody>
          <a:bodyPr wrap="square" lIns="0" tIns="0" rIns="0" bIns="0" rtlCol="0" anchor="t">
            <a:normAutofit/>
          </a:bodyPr>
          <a:lstStyle/>
          <a:p>
            <a:pPr algn="l" indent="0" marL="0">
              <a:lnSpc>
                <a:spcPct val="120000"/>
              </a:lnSpc>
              <a:buNone/>
            </a:pPr>
            <a:r>
              <a:rPr lang="en-US" sz="2200" b="1" dirty="0">
                <a:solidFill>
                  <a:srgbClr val="B44A2D"/>
                </a:solidFill>
                <a:latin typeface="JetBrains Mono Variable" pitchFamily="34" charset="0"/>
                <a:ea typeface="JetBrains Mono Variable" pitchFamily="34" charset="-122"/>
                <a:cs typeface="JetBrains Mono Variable" pitchFamily="34" charset="-120"/>
              </a:rPr>
              <a:t>01</a:t>
            </a:r>
            <a:endParaRPr lang="en-US" sz="2200" dirty="0"/>
          </a:p>
        </p:txBody>
      </p:sp>
      <p:sp>
        <p:nvSpPr>
          <p:cNvPr id="6" name="element_c12d807f4fed06a391b97e2d1332b87b"/>
          <p:cNvSpPr txBox="1"/>
          <p:nvPr/>
        </p:nvSpPr>
        <p:spPr>
          <a:xfrm>
            <a:off x="853419" y="2948940"/>
            <a:ext cx="3251525" cy="2331720"/>
          </a:xfrm>
          <a:prstGeom prst="rect">
            <a:avLst/>
          </a:prstGeom>
          <a:noFill/>
          <a:ln/>
        </p:spPr>
        <p:txBody>
          <a:bodyPr wrap="square" lIns="0" tIns="0" rIns="0" bIns="0" rtlCol="0" anchor="t">
            <a:normAutofit/>
          </a:bodyPr>
          <a:lstStyle/>
          <a:p>
            <a:pPr algn="l" indent="0" marL="0">
              <a:lnSpc>
                <a:spcPct val="130000"/>
              </a:lnSpc>
              <a:buNone/>
            </a:pPr>
            <a:r>
              <a:rPr lang="en-US" sz="1700" dirty="0">
                <a:solidFill>
                  <a:srgbClr val="26221D"/>
                </a:solidFill>
                <a:latin typeface="Geist Variable" pitchFamily="34" charset="0"/>
                <a:ea typeface="Geist Variable" pitchFamily="34" charset="-122"/>
                <a:cs typeface="Geist Variable" pitchFamily="34" charset="-120"/>
              </a:rPr>
              <a:t>Preserve all twelve narrative jobs</a:t>
            </a:r>
            <a:endParaRPr lang="en-US" sz="1700" dirty="0"/>
          </a:p>
        </p:txBody>
      </p:sp>
      <p:sp>
        <p:nvSpPr>
          <p:cNvPr id="7" name="element_e5ad84a9e8179def16f4be6bcbd31b1d"/>
          <p:cNvSpPr/>
          <p:nvPr/>
        </p:nvSpPr>
        <p:spPr>
          <a:xfrm>
            <a:off x="4287819" y="2400300"/>
            <a:ext cx="121917" cy="2880360"/>
          </a:xfrm>
          <a:prstGeom prst="rect">
            <a:avLst/>
          </a:prstGeom>
          <a:solidFill>
            <a:srgbClr val="DED7CC"/>
          </a:solidFill>
          <a:ln w="12700">
            <a:solidFill>
              <a:srgbClr val="FFFFFF">
                <a:alpha val="0"/>
              </a:srgbClr>
            </a:solidFill>
            <a:prstDash val="solid"/>
          </a:ln>
        </p:spPr>
      </p:sp>
      <p:sp>
        <p:nvSpPr>
          <p:cNvPr id="8" name="element_6831617a8e25588792efafc4ff44d839"/>
          <p:cNvSpPr txBox="1"/>
          <p:nvPr/>
        </p:nvSpPr>
        <p:spPr>
          <a:xfrm>
            <a:off x="4470695" y="2400300"/>
            <a:ext cx="3251525" cy="548640"/>
          </a:xfrm>
          <a:prstGeom prst="rect">
            <a:avLst/>
          </a:prstGeom>
          <a:noFill/>
          <a:ln/>
        </p:spPr>
        <p:txBody>
          <a:bodyPr wrap="square" lIns="0" tIns="0" rIns="0" bIns="0" rtlCol="0" anchor="t">
            <a:normAutofit/>
          </a:bodyPr>
          <a:lstStyle/>
          <a:p>
            <a:pPr algn="l" indent="0" marL="0">
              <a:lnSpc>
                <a:spcPct val="120000"/>
              </a:lnSpc>
              <a:buNone/>
            </a:pPr>
            <a:r>
              <a:rPr lang="en-US" sz="2200" b="1" dirty="0">
                <a:solidFill>
                  <a:srgbClr val="B44A2D"/>
                </a:solidFill>
                <a:latin typeface="JetBrains Mono Variable" pitchFamily="34" charset="0"/>
                <a:ea typeface="JetBrains Mono Variable" pitchFamily="34" charset="-122"/>
                <a:cs typeface="JetBrains Mono Variable" pitchFamily="34" charset="-120"/>
              </a:rPr>
              <a:t>02</a:t>
            </a:r>
            <a:endParaRPr lang="en-US" sz="2200" dirty="0"/>
          </a:p>
        </p:txBody>
      </p:sp>
      <p:sp>
        <p:nvSpPr>
          <p:cNvPr id="9" name="element_b2ac004fcffc107c5faa6178e37a75bb"/>
          <p:cNvSpPr txBox="1"/>
          <p:nvPr/>
        </p:nvSpPr>
        <p:spPr>
          <a:xfrm>
            <a:off x="4470695" y="2948940"/>
            <a:ext cx="3251525" cy="2331720"/>
          </a:xfrm>
          <a:prstGeom prst="rect">
            <a:avLst/>
          </a:prstGeom>
          <a:noFill/>
          <a:ln/>
        </p:spPr>
        <p:txBody>
          <a:bodyPr wrap="square" lIns="0" tIns="0" rIns="0" bIns="0" rtlCol="0" anchor="t">
            <a:normAutofit/>
          </a:bodyPr>
          <a:lstStyle/>
          <a:p>
            <a:pPr algn="l" indent="0" marL="0">
              <a:lnSpc>
                <a:spcPct val="130000"/>
              </a:lnSpc>
              <a:buNone/>
            </a:pPr>
            <a:r>
              <a:rPr lang="en-US" sz="1700" dirty="0">
                <a:solidFill>
                  <a:srgbClr val="26221D"/>
                </a:solidFill>
                <a:latin typeface="Geist Variable" pitchFamily="34" charset="0"/>
                <a:ea typeface="Geist Variable" pitchFamily="34" charset="-122"/>
                <a:cs typeface="Geist Variable" pitchFamily="34" charset="-120"/>
              </a:rPr>
              <a:t>Separate supplied evidence from open assumptions</a:t>
            </a:r>
            <a:endParaRPr lang="en-US" sz="1700" dirty="0"/>
          </a:p>
        </p:txBody>
      </p:sp>
      <p:sp>
        <p:nvSpPr>
          <p:cNvPr id="10" name="element_8647a530565c8cec65fb6d757f2af2a0"/>
          <p:cNvSpPr/>
          <p:nvPr/>
        </p:nvSpPr>
        <p:spPr>
          <a:xfrm>
            <a:off x="7903876" y="2400300"/>
            <a:ext cx="121917" cy="2880360"/>
          </a:xfrm>
          <a:prstGeom prst="rect">
            <a:avLst/>
          </a:prstGeom>
          <a:solidFill>
            <a:srgbClr val="DED7CC"/>
          </a:solidFill>
          <a:ln w="12700">
            <a:solidFill>
              <a:srgbClr val="FFFFFF">
                <a:alpha val="0"/>
              </a:srgbClr>
            </a:solidFill>
            <a:prstDash val="solid"/>
          </a:ln>
        </p:spPr>
      </p:sp>
      <p:sp>
        <p:nvSpPr>
          <p:cNvPr id="11" name="element_45c38b18fbd3d677b55f4143836c2cb6"/>
          <p:cNvSpPr txBox="1"/>
          <p:nvPr/>
        </p:nvSpPr>
        <p:spPr>
          <a:xfrm>
            <a:off x="8086751" y="2400300"/>
            <a:ext cx="3251525" cy="548640"/>
          </a:xfrm>
          <a:prstGeom prst="rect">
            <a:avLst/>
          </a:prstGeom>
          <a:noFill/>
          <a:ln/>
        </p:spPr>
        <p:txBody>
          <a:bodyPr wrap="square" lIns="0" tIns="0" rIns="0" bIns="0" rtlCol="0" anchor="t">
            <a:normAutofit/>
          </a:bodyPr>
          <a:lstStyle/>
          <a:p>
            <a:pPr algn="l" indent="0" marL="0">
              <a:lnSpc>
                <a:spcPct val="120000"/>
              </a:lnSpc>
              <a:buNone/>
            </a:pPr>
            <a:r>
              <a:rPr lang="en-US" sz="2200" b="1" dirty="0">
                <a:solidFill>
                  <a:srgbClr val="B44A2D"/>
                </a:solidFill>
                <a:latin typeface="JetBrains Mono Variable" pitchFamily="34" charset="0"/>
                <a:ea typeface="JetBrains Mono Variable" pitchFamily="34" charset="-122"/>
                <a:cs typeface="JetBrains Mono Variable" pitchFamily="34" charset="-120"/>
              </a:rPr>
              <a:t>03</a:t>
            </a:r>
            <a:endParaRPr lang="en-US" sz="2200" dirty="0"/>
          </a:p>
        </p:txBody>
      </p:sp>
      <p:sp>
        <p:nvSpPr>
          <p:cNvPr id="12" name="element_5bee390fb9fa593481fedc8d9a349f23"/>
          <p:cNvSpPr txBox="1"/>
          <p:nvPr/>
        </p:nvSpPr>
        <p:spPr>
          <a:xfrm>
            <a:off x="8086751" y="2948940"/>
            <a:ext cx="3251525" cy="2331720"/>
          </a:xfrm>
          <a:prstGeom prst="rect">
            <a:avLst/>
          </a:prstGeom>
          <a:noFill/>
          <a:ln/>
        </p:spPr>
        <p:txBody>
          <a:bodyPr wrap="square" lIns="0" tIns="0" rIns="0" bIns="0" rtlCol="0" anchor="t">
            <a:normAutofit/>
          </a:bodyPr>
          <a:lstStyle/>
          <a:p>
            <a:pPr algn="l" indent="0" marL="0">
              <a:lnSpc>
                <a:spcPct val="130000"/>
              </a:lnSpc>
              <a:buNone/>
            </a:pPr>
            <a:r>
              <a:rPr lang="en-US" sz="1700" dirty="0">
                <a:solidFill>
                  <a:srgbClr val="26221D"/>
                </a:solidFill>
                <a:latin typeface="Geist Variable" pitchFamily="34" charset="0"/>
                <a:ea typeface="Geist Variable" pitchFamily="34" charset="-122"/>
                <a:cs typeface="Geist Variable" pitchFamily="34" charset="-120"/>
              </a:rPr>
              <a:t>Name the decision owner and next checkpoint</a:t>
            </a:r>
            <a:endParaRPr lang="en-US" sz="1700" dirty="0"/>
          </a:p>
        </p:txBody>
      </p:sp>
      <p:sp>
        <p:nvSpPr>
          <p:cNvPr id="13" name="element_035980f5f7ce48855cf53b2c5a408ad0"/>
          <p:cNvSpPr/>
          <p:nvPr/>
        </p:nvSpPr>
        <p:spPr>
          <a:xfrm>
            <a:off x="9294948" y="356616"/>
            <a:ext cx="146300" cy="685800"/>
          </a:xfrm>
          <a:prstGeom prst="roundRect">
            <a:avLst/>
          </a:prstGeom>
          <a:solidFill>
            <a:srgbClr val="34452C">
              <a:alpha val="39000"/>
            </a:srgbClr>
          </a:solidFill>
          <a:ln w="12700">
            <a:solidFill>
              <a:srgbClr val="FFFFFF">
                <a:alpha val="0"/>
              </a:srgbClr>
            </a:solidFill>
            <a:prstDash val="solid"/>
          </a:ln>
        </p:spPr>
      </p:sp>
      <p:sp>
        <p:nvSpPr>
          <p:cNvPr id="14" name="element_adf26f984ab3d824a93e7bd79633dd9d"/>
          <p:cNvSpPr/>
          <p:nvPr/>
        </p:nvSpPr>
        <p:spPr>
          <a:xfrm>
            <a:off x="10187381" y="356616"/>
            <a:ext cx="146300" cy="685800"/>
          </a:xfrm>
          <a:prstGeom prst="roundRect">
            <a:avLst/>
          </a:prstGeom>
          <a:solidFill>
            <a:srgbClr val="34452C">
              <a:alpha val="39000"/>
            </a:srgbClr>
          </a:solidFill>
          <a:ln w="12700">
            <a:solidFill>
              <a:srgbClr val="FFFFFF">
                <a:alpha val="0"/>
              </a:srgbClr>
            </a:solidFill>
            <a:prstDash val="solid"/>
          </a:ln>
        </p:spPr>
      </p:sp>
      <p:sp>
        <p:nvSpPr>
          <p:cNvPr id="15" name="element_da0c5f7bacf0f20813b13578c779b8eb"/>
          <p:cNvSpPr/>
          <p:nvPr/>
        </p:nvSpPr>
        <p:spPr>
          <a:xfrm>
            <a:off x="9441249" y="850392"/>
            <a:ext cx="747351" cy="68580"/>
          </a:xfrm>
          <a:prstGeom prst="roundRect">
            <a:avLst/>
          </a:prstGeom>
          <a:solidFill>
            <a:srgbClr val="F2DED3">
              <a:alpha val="51000"/>
            </a:srgbClr>
          </a:solidFill>
          <a:ln w="12700">
            <a:solidFill>
              <a:srgbClr val="FFFFFF">
                <a:alpha val="0"/>
              </a:srgbClr>
            </a:solidFill>
            <a:prstDash val="solid"/>
          </a:ln>
        </p:spPr>
      </p:sp>
      <p:sp>
        <p:nvSpPr>
          <p:cNvPr id="16" name="element_239887b7a06853b95bd6801be4a0cd8d"/>
          <p:cNvSpPr/>
          <p:nvPr/>
        </p:nvSpPr>
        <p:spPr>
          <a:xfrm>
            <a:off x="8918225" y="768096"/>
            <a:ext cx="268217" cy="150876"/>
          </a:xfrm>
          <a:prstGeom prst="roundRect">
            <a:avLst/>
          </a:prstGeom>
          <a:solidFill>
            <a:srgbClr val="B44A2D">
              <a:alpha val="39000"/>
            </a:srgbClr>
          </a:solidFill>
          <a:ln w="12700">
            <a:solidFill>
              <a:srgbClr val="FFFFFF">
                <a:alpha val="0"/>
              </a:srgbClr>
            </a:solidFill>
            <a:prstDash val="solid"/>
          </a:ln>
        </p:spPr>
      </p:sp>
      <p:sp>
        <p:nvSpPr>
          <p:cNvPr id="17" name="element_3cde2ee181b6780caf0741847c226980"/>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8" name="element_d9533a0ad796455a55c84bbd6d6f3216"/>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nodeslide-slide-id:slide_55d861673db43599850a4fbd33f3a196"/>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c5a5244458aa4ba0fcf91ca865f5e99e"/>
          <p:cNvSpPr txBox="1"/>
          <p:nvPr/>
        </p:nvSpPr>
        <p:spPr>
          <a:xfrm>
            <a:off x="853419" y="44577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APPROACH / 04</a:t>
            </a:r>
            <a:endParaRPr lang="en-US" sz="1500" dirty="0"/>
          </a:p>
        </p:txBody>
      </p:sp>
      <p:sp>
        <p:nvSpPr>
          <p:cNvPr id="4" name="element_df75accafe0edc77bc80e7db1d237463"/>
          <p:cNvSpPr txBox="1"/>
          <p:nvPr/>
        </p:nvSpPr>
        <p:spPr>
          <a:xfrm>
            <a:off x="853419" y="1097280"/>
            <a:ext cx="10484858" cy="1234440"/>
          </a:xfrm>
          <a:prstGeom prst="rect">
            <a:avLst/>
          </a:prstGeom>
          <a:noFill/>
          <a:ln/>
        </p:spPr>
        <p:txBody>
          <a:bodyPr wrap="square" lIns="0" tIns="0" rIns="0" bIns="0" rtlCol="0" anchor="t">
            <a:normAutofit/>
          </a:bodyPr>
          <a:lstStyle/>
          <a:p>
            <a:pPr algn="l" indent="0" marL="0">
              <a:lnSpc>
                <a:spcPct val="105000"/>
              </a:lnSpc>
              <a:buNone/>
            </a:pPr>
            <a:r>
              <a:rPr lang="en-US" sz="4200" b="1" spc="-60" kern="0" dirty="0">
                <a:solidFill>
                  <a:srgbClr val="26221D"/>
                </a:solidFill>
                <a:latin typeface="Georgia" pitchFamily="34" charset="0"/>
                <a:ea typeface="Georgia" pitchFamily="34" charset="-122"/>
                <a:cs typeface="Georgia" pitchFamily="34" charset="-120"/>
              </a:rPr>
              <a:t>Turn the idea into a sequence people can understand and own.</a:t>
            </a:r>
            <a:endParaRPr lang="en-US" sz="4200" dirty="0"/>
          </a:p>
        </p:txBody>
      </p:sp>
      <p:sp>
        <p:nvSpPr>
          <p:cNvPr id="5" name="element_54a26cd92f02b368eeb987a2f0460f00"/>
          <p:cNvSpPr txBox="1"/>
          <p:nvPr/>
        </p:nvSpPr>
        <p:spPr>
          <a:xfrm>
            <a:off x="853419" y="2743200"/>
            <a:ext cx="9631439" cy="1028700"/>
          </a:xfrm>
          <a:prstGeom prst="rect">
            <a:avLst/>
          </a:prstGeom>
          <a:noFill/>
          <a:ln/>
        </p:spPr>
        <p:txBody>
          <a:bodyPr wrap="square" lIns="0" tIns="0" rIns="0" bIns="0" rtlCol="0" anchor="t">
            <a:normAutofit/>
          </a:bodyPr>
          <a:lstStyle/>
          <a:p>
            <a:pPr algn="l" indent="0" marL="0">
              <a:lnSpc>
                <a:spcPct val="135000"/>
              </a:lnSpc>
              <a:buNone/>
            </a:pPr>
            <a:r>
              <a:rPr lang="en-US" sz="1800" dirty="0">
                <a:solidFill>
                  <a:srgbClr val="756B61"/>
                </a:solidFill>
                <a:latin typeface="Geist Variable" pitchFamily="34" charset="0"/>
                <a:ea typeface="Geist Variable" pitchFamily="34" charset="-122"/>
                <a:cs typeface="Geist Variable" pitchFamily="34" charset="-120"/>
              </a:rPr>
              <a:t>Connect intent, action, and feedback in one visible operating path so the audience can see both the destination and the mechanics.</a:t>
            </a:r>
            <a:endParaRPr lang="en-US" sz="1800" dirty="0"/>
          </a:p>
        </p:txBody>
      </p:sp>
      <p:sp>
        <p:nvSpPr>
          <p:cNvPr id="6" name="element_7fd7c5f263392097b671aecc2d02dea4"/>
          <p:cNvSpPr txBox="1"/>
          <p:nvPr/>
        </p:nvSpPr>
        <p:spPr>
          <a:xfrm>
            <a:off x="7193100" y="3909060"/>
            <a:ext cx="4023259" cy="259232"/>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01  Align on intent</a:t>
            </a:r>
            <a:endParaRPr lang="en-US" sz="1700" dirty="0"/>
          </a:p>
        </p:txBody>
      </p:sp>
      <p:sp>
        <p:nvSpPr>
          <p:cNvPr id="7" name="element_6da3e81dfeacf67153429d8ce124f555"/>
          <p:cNvSpPr txBox="1"/>
          <p:nvPr/>
        </p:nvSpPr>
        <p:spPr>
          <a:xfrm>
            <a:off x="7193100" y="4374032"/>
            <a:ext cx="4023259" cy="259232"/>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02  Execute the critical moves</a:t>
            </a:r>
            <a:endParaRPr lang="en-US" sz="1700" dirty="0"/>
          </a:p>
        </p:txBody>
      </p:sp>
      <p:sp>
        <p:nvSpPr>
          <p:cNvPr id="8" name="element_8227c3b13132d3b4f3fa911bd197e110"/>
          <p:cNvSpPr txBox="1"/>
          <p:nvPr/>
        </p:nvSpPr>
        <p:spPr>
          <a:xfrm>
            <a:off x="7193100" y="4839005"/>
            <a:ext cx="4023259" cy="259232"/>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03  Review measurable outcomes</a:t>
            </a:r>
            <a:endParaRPr lang="en-US" sz="1700" dirty="0"/>
          </a:p>
        </p:txBody>
      </p:sp>
      <p:sp>
        <p:nvSpPr>
          <p:cNvPr id="9" name="element_4ef0a69c8f6d057d6a579884fee3ae26"/>
          <p:cNvSpPr/>
          <p:nvPr/>
        </p:nvSpPr>
        <p:spPr>
          <a:xfrm>
            <a:off x="9241305" y="356616"/>
            <a:ext cx="146300" cy="685800"/>
          </a:xfrm>
          <a:prstGeom prst="roundRect">
            <a:avLst/>
          </a:prstGeom>
          <a:solidFill>
            <a:srgbClr val="34452C">
              <a:alpha val="47000"/>
            </a:srgbClr>
          </a:solidFill>
          <a:ln w="12700">
            <a:solidFill>
              <a:srgbClr val="FFFFFF">
                <a:alpha val="0"/>
              </a:srgbClr>
            </a:solidFill>
            <a:prstDash val="solid"/>
          </a:ln>
        </p:spPr>
      </p:sp>
      <p:sp>
        <p:nvSpPr>
          <p:cNvPr id="10" name="element_05322a1165088ced628259335c2c5826"/>
          <p:cNvSpPr/>
          <p:nvPr/>
        </p:nvSpPr>
        <p:spPr>
          <a:xfrm>
            <a:off x="10241024" y="356616"/>
            <a:ext cx="146300" cy="685800"/>
          </a:xfrm>
          <a:prstGeom prst="roundRect">
            <a:avLst/>
          </a:prstGeom>
          <a:solidFill>
            <a:srgbClr val="34452C">
              <a:alpha val="47000"/>
            </a:srgbClr>
          </a:solidFill>
          <a:ln w="12700">
            <a:solidFill>
              <a:srgbClr val="FFFFFF">
                <a:alpha val="0"/>
              </a:srgbClr>
            </a:solidFill>
            <a:prstDash val="solid"/>
          </a:ln>
        </p:spPr>
      </p:sp>
      <p:sp>
        <p:nvSpPr>
          <p:cNvPr id="11" name="element_6022ccf3f0da69ea0561fa6dc1a0fe88"/>
          <p:cNvSpPr/>
          <p:nvPr/>
        </p:nvSpPr>
        <p:spPr>
          <a:xfrm>
            <a:off x="9387605" y="850392"/>
            <a:ext cx="853419" cy="68580"/>
          </a:xfrm>
          <a:prstGeom prst="roundRect">
            <a:avLst/>
          </a:prstGeom>
          <a:solidFill>
            <a:srgbClr val="F2DED3">
              <a:alpha val="54000"/>
            </a:srgbClr>
          </a:solidFill>
          <a:ln w="12700">
            <a:solidFill>
              <a:srgbClr val="FFFFFF">
                <a:alpha val="0"/>
              </a:srgbClr>
            </a:solidFill>
            <a:prstDash val="solid"/>
          </a:ln>
        </p:spPr>
      </p:sp>
      <p:sp>
        <p:nvSpPr>
          <p:cNvPr id="12" name="element_6da8fd0876e89bf35daef2401fae852d"/>
          <p:cNvSpPr/>
          <p:nvPr/>
        </p:nvSpPr>
        <p:spPr>
          <a:xfrm>
            <a:off x="9110854" y="768096"/>
            <a:ext cx="268217" cy="150876"/>
          </a:xfrm>
          <a:prstGeom prst="roundRect">
            <a:avLst/>
          </a:prstGeom>
          <a:solidFill>
            <a:srgbClr val="B44A2D">
              <a:alpha val="47000"/>
            </a:srgbClr>
          </a:solidFill>
          <a:ln w="12700">
            <a:solidFill>
              <a:srgbClr val="FFFFFF">
                <a:alpha val="0"/>
              </a:srgbClr>
            </a:solidFill>
            <a:prstDash val="solid"/>
          </a:ln>
        </p:spPr>
      </p:sp>
      <p:sp>
        <p:nvSpPr>
          <p:cNvPr id="13" name="element_783badcae21ae5cb1364636701576cad"/>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4" name="element_63a7c8ef87471eb6b327fc398494eef2"/>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nodeslide-slide-id:slide_b20386900a77b0f5c2d2c54acd7eec64"/>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f3f59aab8c5e2645319ab05b4fa0af13"/>
          <p:cNvSpPr/>
          <p:nvPr/>
        </p:nvSpPr>
        <p:spPr>
          <a:xfrm>
            <a:off x="6339682" y="1920240"/>
            <a:ext cx="5120512" cy="3017520"/>
          </a:xfrm>
          <a:prstGeom prst="roundRect">
            <a:avLst/>
          </a:prstGeom>
          <a:solidFill>
            <a:srgbClr val="F2DED3">
              <a:alpha val="22000"/>
            </a:srgbClr>
          </a:solidFill>
          <a:ln w="12700">
            <a:solidFill>
              <a:srgbClr val="FFFFFF">
                <a:alpha val="0"/>
              </a:srgbClr>
            </a:solidFill>
            <a:prstDash val="solid"/>
          </a:ln>
        </p:spPr>
      </p:sp>
      <p:sp>
        <p:nvSpPr>
          <p:cNvPr id="4" name="element_80139f17b05b16ea962bd6c5827bc565"/>
          <p:cNvSpPr/>
          <p:nvPr/>
        </p:nvSpPr>
        <p:spPr>
          <a:xfrm>
            <a:off x="8028231" y="2309774"/>
            <a:ext cx="225546" cy="2331720"/>
          </a:xfrm>
          <a:prstGeom prst="roundRect">
            <a:avLst/>
          </a:prstGeom>
          <a:solidFill>
            <a:srgbClr val="34452C">
              <a:alpha val="54000"/>
            </a:srgbClr>
          </a:solidFill>
          <a:ln w="12700">
            <a:solidFill>
              <a:srgbClr val="FFFFFF">
                <a:alpha val="0"/>
              </a:srgbClr>
            </a:solidFill>
            <a:prstDash val="solid"/>
          </a:ln>
        </p:spPr>
      </p:sp>
      <p:sp>
        <p:nvSpPr>
          <p:cNvPr id="5" name="element_09429fc6a045697dc92d8b9c551a829f"/>
          <p:cNvSpPr/>
          <p:nvPr/>
        </p:nvSpPr>
        <p:spPr>
          <a:xfrm>
            <a:off x="9735069" y="2309774"/>
            <a:ext cx="225546" cy="2331720"/>
          </a:xfrm>
          <a:prstGeom prst="roundRect">
            <a:avLst/>
          </a:prstGeom>
          <a:solidFill>
            <a:srgbClr val="34452C">
              <a:alpha val="54000"/>
            </a:srgbClr>
          </a:solidFill>
          <a:ln w="12700">
            <a:solidFill>
              <a:srgbClr val="FFFFFF">
                <a:alpha val="0"/>
              </a:srgbClr>
            </a:solidFill>
            <a:prstDash val="solid"/>
          </a:ln>
        </p:spPr>
      </p:sp>
      <p:sp>
        <p:nvSpPr>
          <p:cNvPr id="6" name="element_7cafa24ba8e6bd67c7d9638ffc439efa"/>
          <p:cNvSpPr/>
          <p:nvPr/>
        </p:nvSpPr>
        <p:spPr>
          <a:xfrm>
            <a:off x="8253778" y="3988613"/>
            <a:ext cx="1481291" cy="209855"/>
          </a:xfrm>
          <a:prstGeom prst="roundRect">
            <a:avLst/>
          </a:prstGeom>
          <a:solidFill>
            <a:srgbClr val="F2DED3">
              <a:alpha val="57000"/>
            </a:srgbClr>
          </a:solidFill>
          <a:ln w="12700">
            <a:solidFill>
              <a:srgbClr val="FFFFFF">
                <a:alpha val="0"/>
              </a:srgbClr>
            </a:solidFill>
            <a:prstDash val="solid"/>
          </a:ln>
        </p:spPr>
      </p:sp>
      <p:sp>
        <p:nvSpPr>
          <p:cNvPr id="7" name="element_12fee635c3eb15f87ee7f7b760203956"/>
          <p:cNvSpPr/>
          <p:nvPr/>
        </p:nvSpPr>
        <p:spPr>
          <a:xfrm>
            <a:off x="8208668" y="3708806"/>
            <a:ext cx="413298" cy="512978"/>
          </a:xfrm>
          <a:prstGeom prst="roundRect">
            <a:avLst/>
          </a:prstGeom>
          <a:solidFill>
            <a:srgbClr val="B44A2D">
              <a:alpha val="54000"/>
            </a:srgbClr>
          </a:solidFill>
          <a:ln w="12700">
            <a:solidFill>
              <a:srgbClr val="FFFFFF">
                <a:alpha val="0"/>
              </a:srgbClr>
            </a:solidFill>
            <a:prstDash val="solid"/>
          </a:ln>
        </p:spPr>
      </p:sp>
      <p:sp>
        <p:nvSpPr>
          <p:cNvPr id="8" name="element_53b2a433e8ef3a6bd8d138ad80445754"/>
          <p:cNvSpPr txBox="1"/>
          <p:nvPr/>
        </p:nvSpPr>
        <p:spPr>
          <a:xfrm>
            <a:off x="731502" y="445770"/>
            <a:ext cx="3657509"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EVIDENCE / 05</a:t>
            </a:r>
            <a:endParaRPr lang="en-US" sz="1500" dirty="0"/>
          </a:p>
        </p:txBody>
      </p:sp>
      <p:sp>
        <p:nvSpPr>
          <p:cNvPr id="9" name="element_01792f9e8d1815f7b370f8a6f9d84ffc"/>
          <p:cNvSpPr txBox="1"/>
          <p:nvPr/>
        </p:nvSpPr>
        <p:spPr>
          <a:xfrm>
            <a:off x="731502" y="1234440"/>
            <a:ext cx="4876678" cy="2258339"/>
          </a:xfrm>
          <a:prstGeom prst="rect">
            <a:avLst/>
          </a:prstGeom>
          <a:noFill/>
          <a:ln/>
        </p:spPr>
        <p:txBody>
          <a:bodyPr wrap="square" lIns="0" tIns="0" rIns="0" bIns="0" rtlCol="0" anchor="t">
            <a:normAutofit/>
          </a:bodyPr>
          <a:lstStyle/>
          <a:p>
            <a:pPr algn="l" indent="0" marL="0">
              <a:lnSpc>
                <a:spcPct val="104000"/>
              </a:lnSpc>
              <a:buNone/>
            </a:pPr>
            <a:r>
              <a:rPr lang="en-US" sz="3800" b="1" spc="-50" kern="0" dirty="0">
                <a:solidFill>
                  <a:srgbClr val="26221D"/>
                </a:solidFill>
                <a:latin typeface="Georgia" pitchFamily="34" charset="0"/>
                <a:ea typeface="Georgia" pitchFamily="34" charset="-122"/>
                <a:cs typeface="Georgia" pitchFamily="34" charset="-120"/>
              </a:rPr>
              <a:t>Define proof before asking for commitment.</a:t>
            </a:r>
            <a:endParaRPr lang="en-US" sz="3800" dirty="0"/>
          </a:p>
        </p:txBody>
      </p:sp>
      <p:sp>
        <p:nvSpPr>
          <p:cNvPr id="10" name="element_aa94a395efe36a9ee0b532c5acb6bfae"/>
          <p:cNvSpPr txBox="1"/>
          <p:nvPr/>
        </p:nvSpPr>
        <p:spPr>
          <a:xfrm>
            <a:off x="731502" y="3732809"/>
            <a:ext cx="4876678" cy="1410691"/>
          </a:xfrm>
          <a:prstGeom prst="rect">
            <a:avLst/>
          </a:prstGeom>
          <a:noFill/>
          <a:ln/>
        </p:spPr>
        <p:txBody>
          <a:bodyPr wrap="square" lIns="0" tIns="0" rIns="0" bIns="0" rtlCol="0" anchor="t">
            <a:normAutofit/>
          </a:bodyPr>
          <a:lstStyle/>
          <a:p>
            <a:pPr algn="l" indent="0" marL="0">
              <a:lnSpc>
                <a:spcPct val="138000"/>
              </a:lnSpc>
              <a:buNone/>
            </a:pPr>
            <a:r>
              <a:rPr lang="en-US" sz="1600" dirty="0">
                <a:solidFill>
                  <a:srgbClr val="756B61"/>
                </a:solidFill>
                <a:latin typeface="Geist Variable" pitchFamily="34" charset="0"/>
                <a:ea typeface="Geist Variable" pitchFamily="34" charset="-122"/>
                <a:cs typeface="Geist Variable" pitchFamily="34" charset="-120"/>
              </a:rPr>
              <a:t>Use the brief’s success criteria as qualitative review questions until measured evidence is supplied.</a:t>
            </a:r>
            <a:endParaRPr lang="en-US" sz="1600" dirty="0"/>
          </a:p>
        </p:txBody>
      </p:sp>
      <p:sp>
        <p:nvSpPr>
          <p:cNvPr id="11" name="element_a78d40d8d28a9e2aaad0662cd5c02e6e"/>
          <p:cNvSpPr txBox="1"/>
          <p:nvPr/>
        </p:nvSpPr>
        <p:spPr>
          <a:xfrm>
            <a:off x="731502" y="5280660"/>
            <a:ext cx="4876678" cy="754380"/>
          </a:xfrm>
          <a:prstGeom prst="rect">
            <a:avLst/>
          </a:prstGeom>
          <a:noFill/>
          <a:ln/>
        </p:spPr>
        <p:txBody>
          <a:bodyPr wrap="square" lIns="152400" tIns="152400" rIns="152400" bIns="152400" rtlCol="0" anchor="t">
            <a:normAutofit/>
          </a:bodyPr>
          <a:lstStyle/>
          <a:p>
            <a:pPr algn="l" indent="0" marL="0">
              <a:lnSpc>
                <a:spcPct val="125000"/>
              </a:lnSpc>
              <a:buNone/>
            </a:pPr>
            <a:r>
              <a:rPr lang="en-US" sz="1600" b="1" dirty="0">
                <a:solidFill>
                  <a:srgbClr val="34452C"/>
                </a:solidFill>
                <a:latin typeface="Geist Variable" pitchFamily="34" charset="0"/>
                <a:ea typeface="Geist Variable" pitchFamily="34" charset="-122"/>
                <a:cs typeface="Geist Variable" pitchFamily="34" charset="-120"/>
              </a:rPr>
              <a:t>Preserve all twelve narrative jobs</a:t>
            </a:r>
            <a:endParaRPr lang="en-US" sz="1600" dirty="0"/>
          </a:p>
        </p:txBody>
      </p:sp>
      <p:sp>
        <p:nvSpPr>
          <p:cNvPr id="12" name="element_9172bfd2dfe4f2b6ae93e28ac873fb18"/>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3" name="element_8bdb2720aa1fb4821ec84908bcdb4525"/>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nodeslide-slide-id:slide_b02390a82e8646819317614777af3e0d"/>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b83557236440b86c319a667f95d4d550"/>
          <p:cNvSpPr/>
          <p:nvPr/>
        </p:nvSpPr>
        <p:spPr>
          <a:xfrm>
            <a:off x="3291758" y="960120"/>
            <a:ext cx="5608180" cy="2331720"/>
          </a:xfrm>
          <a:prstGeom prst="roundRect">
            <a:avLst/>
          </a:prstGeom>
          <a:solidFill>
            <a:srgbClr val="F2DED3">
              <a:alpha val="22000"/>
            </a:srgbClr>
          </a:solidFill>
          <a:ln w="12700">
            <a:solidFill>
              <a:srgbClr val="FFFFFF">
                <a:alpha val="0"/>
              </a:srgbClr>
            </a:solidFill>
            <a:prstDash val="solid"/>
          </a:ln>
        </p:spPr>
      </p:sp>
      <p:sp>
        <p:nvSpPr>
          <p:cNvPr id="4" name="element_b846cd9bc4eb2f58ac9758e24f46d1d2"/>
          <p:cNvSpPr/>
          <p:nvPr/>
        </p:nvSpPr>
        <p:spPr>
          <a:xfrm>
            <a:off x="6901719" y="1335938"/>
            <a:ext cx="249930" cy="1645920"/>
          </a:xfrm>
          <a:prstGeom prst="roundRect">
            <a:avLst/>
          </a:prstGeom>
          <a:solidFill>
            <a:srgbClr val="34452C">
              <a:alpha val="62000"/>
            </a:srgbClr>
          </a:solidFill>
          <a:ln w="12700">
            <a:solidFill>
              <a:srgbClr val="FFFFFF">
                <a:alpha val="0"/>
              </a:srgbClr>
            </a:solidFill>
            <a:prstDash val="solid"/>
          </a:ln>
        </p:spPr>
      </p:sp>
      <p:sp>
        <p:nvSpPr>
          <p:cNvPr id="5" name="element_746ebbf3c45d87c1c2255623c24d229b"/>
          <p:cNvSpPr/>
          <p:nvPr/>
        </p:nvSpPr>
        <p:spPr>
          <a:xfrm>
            <a:off x="4829130" y="1335938"/>
            <a:ext cx="249930" cy="1645920"/>
          </a:xfrm>
          <a:prstGeom prst="roundRect">
            <a:avLst/>
          </a:prstGeom>
          <a:solidFill>
            <a:srgbClr val="34452C">
              <a:alpha val="62000"/>
            </a:srgbClr>
          </a:solidFill>
          <a:ln w="12700">
            <a:solidFill>
              <a:srgbClr val="FFFFFF">
                <a:alpha val="0"/>
              </a:srgbClr>
            </a:solidFill>
            <a:prstDash val="solid"/>
          </a:ln>
        </p:spPr>
      </p:sp>
      <p:sp>
        <p:nvSpPr>
          <p:cNvPr id="6" name="element_d9a09c6cc4c7c4d4ca167af50ec5cf32"/>
          <p:cNvSpPr/>
          <p:nvPr/>
        </p:nvSpPr>
        <p:spPr>
          <a:xfrm>
            <a:off x="5079060" y="2521001"/>
            <a:ext cx="1822658" cy="148133"/>
          </a:xfrm>
          <a:prstGeom prst="roundRect">
            <a:avLst/>
          </a:prstGeom>
          <a:solidFill>
            <a:srgbClr val="F2DED3">
              <a:alpha val="59000"/>
            </a:srgbClr>
          </a:solidFill>
          <a:ln w="12700">
            <a:solidFill>
              <a:srgbClr val="FFFFFF">
                <a:alpha val="0"/>
              </a:srgbClr>
            </a:solidFill>
            <a:prstDash val="solid"/>
          </a:ln>
        </p:spPr>
      </p:sp>
      <p:sp>
        <p:nvSpPr>
          <p:cNvPr id="7" name="element_506bc6b4f43e39e2e0527aa9d15bb098"/>
          <p:cNvSpPr/>
          <p:nvPr/>
        </p:nvSpPr>
        <p:spPr>
          <a:xfrm>
            <a:off x="6075122" y="2323490"/>
            <a:ext cx="458408" cy="362102"/>
          </a:xfrm>
          <a:prstGeom prst="roundRect">
            <a:avLst/>
          </a:prstGeom>
          <a:solidFill>
            <a:srgbClr val="B44A2D">
              <a:alpha val="62000"/>
            </a:srgbClr>
          </a:solidFill>
          <a:ln w="12700">
            <a:solidFill>
              <a:srgbClr val="FFFFFF">
                <a:alpha val="0"/>
              </a:srgbClr>
            </a:solidFill>
            <a:prstDash val="solid"/>
          </a:ln>
        </p:spPr>
      </p:sp>
      <p:sp>
        <p:nvSpPr>
          <p:cNvPr id="8" name="element_70b5d3f8eb26779c32227b9d7aded23e"/>
          <p:cNvSpPr txBox="1"/>
          <p:nvPr/>
        </p:nvSpPr>
        <p:spPr>
          <a:xfrm>
            <a:off x="7680768" y="445770"/>
            <a:ext cx="3657509"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DELIVERY / 06</a:t>
            </a:r>
            <a:endParaRPr lang="en-US" sz="1500" dirty="0"/>
          </a:p>
        </p:txBody>
      </p:sp>
      <p:sp>
        <p:nvSpPr>
          <p:cNvPr id="9" name="element_8b5e2469f99a96aa74968ebefc93e596"/>
          <p:cNvSpPr txBox="1"/>
          <p:nvPr/>
        </p:nvSpPr>
        <p:spPr>
          <a:xfrm>
            <a:off x="5242429" y="3909060"/>
            <a:ext cx="6095848" cy="1577340"/>
          </a:xfrm>
          <a:prstGeom prst="rect">
            <a:avLst/>
          </a:prstGeom>
          <a:noFill/>
          <a:ln/>
        </p:spPr>
        <p:txBody>
          <a:bodyPr wrap="square" lIns="0" tIns="0" rIns="0" bIns="0" rtlCol="0" anchor="t">
            <a:normAutofit/>
          </a:bodyPr>
          <a:lstStyle/>
          <a:p>
            <a:pPr algn="l" indent="0" marL="0">
              <a:lnSpc>
                <a:spcPct val="104000"/>
              </a:lnSpc>
              <a:buNone/>
            </a:pPr>
            <a:r>
              <a:rPr lang="en-US" sz="3400" b="1" spc="-50" kern="0" dirty="0">
                <a:solidFill>
                  <a:srgbClr val="26221D"/>
                </a:solidFill>
                <a:latin typeface="Georgia" pitchFamily="34" charset="0"/>
                <a:ea typeface="Georgia" pitchFamily="34" charset="-122"/>
                <a:cs typeface="Georgia" pitchFamily="34" charset="-120"/>
              </a:rPr>
              <a:t>Start narrow, learn quickly, and preserve room to adapt.</a:t>
            </a:r>
            <a:endParaRPr lang="en-US" sz="3400" dirty="0"/>
          </a:p>
        </p:txBody>
      </p:sp>
      <p:sp>
        <p:nvSpPr>
          <p:cNvPr id="10" name="element_90b730a1b2c98c39b548c807eb9b5909"/>
          <p:cNvSpPr txBox="1"/>
          <p:nvPr/>
        </p:nvSpPr>
        <p:spPr>
          <a:xfrm>
            <a:off x="853419" y="4046220"/>
            <a:ext cx="3779426" cy="1097280"/>
          </a:xfrm>
          <a:prstGeom prst="rect">
            <a:avLst/>
          </a:prstGeom>
          <a:noFill/>
          <a:ln/>
        </p:spPr>
        <p:txBody>
          <a:bodyPr wrap="square" lIns="0" tIns="0" rIns="0" bIns="0" rtlCol="0" anchor="t">
            <a:normAutofit/>
          </a:bodyPr>
          <a:lstStyle/>
          <a:p>
            <a:pPr algn="l" indent="0" marL="0">
              <a:lnSpc>
                <a:spcPct val="138000"/>
              </a:lnSpc>
              <a:buNone/>
            </a:pPr>
            <a:r>
              <a:rPr lang="en-US" sz="1500" dirty="0">
                <a:solidFill>
                  <a:srgbClr val="756B61"/>
                </a:solidFill>
                <a:latin typeface="Geist Variable" pitchFamily="34" charset="0"/>
                <a:ea typeface="Geist Variable" pitchFamily="34" charset="-122"/>
                <a:cs typeface="Geist Variable" pitchFamily="34" charset="-120"/>
              </a:rPr>
              <a:t>Sequence the work into a focused launch, an evidence review, and a deliberate scale decision with named ownership at every step.</a:t>
            </a:r>
            <a:endParaRPr lang="en-US" sz="1500" dirty="0"/>
          </a:p>
        </p:txBody>
      </p:sp>
      <p:sp>
        <p:nvSpPr>
          <p:cNvPr id="11" name="element_9349235da7a1a3642195eb55f26192c5"/>
          <p:cNvSpPr txBox="1"/>
          <p:nvPr/>
        </p:nvSpPr>
        <p:spPr>
          <a:xfrm>
            <a:off x="853419" y="5280660"/>
            <a:ext cx="3779426" cy="754380"/>
          </a:xfrm>
          <a:prstGeom prst="rect">
            <a:avLst/>
          </a:prstGeom>
          <a:noFill/>
          <a:ln/>
        </p:spPr>
        <p:txBody>
          <a:bodyPr wrap="square" lIns="152400" tIns="152400" rIns="152400" bIns="152400" rtlCol="0" anchor="t">
            <a:normAutofit/>
          </a:bodyPr>
          <a:lstStyle/>
          <a:p>
            <a:pPr algn="l" indent="0" marL="0">
              <a:lnSpc>
                <a:spcPct val="125000"/>
              </a:lnSpc>
              <a:buNone/>
            </a:pPr>
            <a:r>
              <a:rPr lang="en-US" sz="1400" b="1" dirty="0">
                <a:solidFill>
                  <a:srgbClr val="34452C"/>
                </a:solidFill>
                <a:latin typeface="Geist Variable" pitchFamily="34" charset="0"/>
                <a:ea typeface="Geist Variable" pitchFamily="34" charset="-122"/>
                <a:cs typeface="Geist Variable" pitchFamily="34" charset="-120"/>
              </a:rPr>
              <a:t>Launch the smallest credible move</a:t>
            </a:r>
            <a:endParaRPr lang="en-US" sz="1400" dirty="0"/>
          </a:p>
        </p:txBody>
      </p:sp>
      <p:sp>
        <p:nvSpPr>
          <p:cNvPr id="12" name="element_d35232b0ffd5e37581214e15fb92c5ac"/>
          <p:cNvSpPr txBox="1"/>
          <p:nvPr/>
        </p:nvSpPr>
        <p:spPr>
          <a:xfrm>
            <a:off x="2560256"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3" name="element_a67a90970183e6f2ab7a1b083f879bf6"/>
          <p:cNvSpPr txBox="1"/>
          <p:nvPr/>
        </p:nvSpPr>
        <p:spPr>
          <a:xfrm>
            <a:off x="73150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nodeslide-slide-id:slide_30da5c77bd4c3c15eda3bbbae385f067"/>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309417c1b842c1856f8b16ef1927f23f"/>
          <p:cNvSpPr txBox="1"/>
          <p:nvPr/>
        </p:nvSpPr>
        <p:spPr>
          <a:xfrm>
            <a:off x="853419" y="41148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EVIDENCE</a:t>
            </a:r>
            <a:endParaRPr lang="en-US" sz="1500" dirty="0"/>
          </a:p>
        </p:txBody>
      </p:sp>
      <p:sp>
        <p:nvSpPr>
          <p:cNvPr id="4" name="element_61150c821e9f816772cc83dff0a6f39c"/>
          <p:cNvSpPr txBox="1"/>
          <p:nvPr/>
        </p:nvSpPr>
        <p:spPr>
          <a:xfrm>
            <a:off x="853419" y="960120"/>
            <a:ext cx="9997190" cy="894283"/>
          </a:xfrm>
          <a:prstGeom prst="rect">
            <a:avLst/>
          </a:prstGeom>
          <a:noFill/>
          <a:ln/>
        </p:spPr>
        <p:txBody>
          <a:bodyPr wrap="square" lIns="0" tIns="0" rIns="0" bIns="0" rtlCol="0" anchor="t">
            <a:normAutofit/>
          </a:bodyPr>
          <a:lstStyle/>
          <a:p>
            <a:pPr algn="l" indent="0" marL="0">
              <a:lnSpc>
                <a:spcPct val="110000"/>
              </a:lnSpc>
              <a:buNone/>
            </a:pPr>
            <a:r>
              <a:rPr lang="en-US" sz="3200" b="1" dirty="0">
                <a:solidFill>
                  <a:srgbClr val="26221D"/>
                </a:solidFill>
                <a:latin typeface="Georgia" pitchFamily="34" charset="0"/>
                <a:ea typeface="Georgia" pitchFamily="34" charset="-122"/>
                <a:cs typeface="Georgia" pitchFamily="34" charset="-120"/>
              </a:rPr>
              <a:t>Separate what is supplied from what still needs verification.</a:t>
            </a:r>
            <a:endParaRPr lang="en-US" sz="3200" dirty="0"/>
          </a:p>
        </p:txBody>
      </p:sp>
      <p:sp>
        <p:nvSpPr>
          <p:cNvPr id="5" name="element_7ede054f1f5b769f7bea876f52961c9e"/>
          <p:cNvSpPr/>
          <p:nvPr/>
        </p:nvSpPr>
        <p:spPr>
          <a:xfrm>
            <a:off x="2499298" y="3931006"/>
            <a:ext cx="3596550" cy="164592"/>
          </a:xfrm>
          <a:prstGeom prst="line">
            <a:avLst/>
          </a:prstGeom>
          <a:noFill/>
          <a:ln w="25400">
            <a:solidFill>
              <a:srgbClr val="7566A8"/>
            </a:solidFill>
            <a:prstDash val="solid"/>
            <a:tailEnd type="triangle"/>
          </a:ln>
        </p:spPr>
      </p:sp>
      <p:sp>
        <p:nvSpPr>
          <p:cNvPr id="6" name="element_c2c50e5f4e186ab1c3978f113a5f3cfd"/>
          <p:cNvSpPr/>
          <p:nvPr/>
        </p:nvSpPr>
        <p:spPr>
          <a:xfrm>
            <a:off x="6095848" y="3931006"/>
            <a:ext cx="3596550" cy="164592"/>
          </a:xfrm>
          <a:prstGeom prst="line">
            <a:avLst/>
          </a:prstGeom>
          <a:noFill/>
          <a:ln w="25400">
            <a:solidFill>
              <a:srgbClr val="7566A8"/>
            </a:solidFill>
            <a:prstDash val="solid"/>
            <a:tailEnd type="triangle"/>
          </a:ln>
        </p:spPr>
      </p:sp>
      <p:sp>
        <p:nvSpPr>
          <p:cNvPr id="7" name="element_cc51e20cff7c3b890c05228ec6565654"/>
          <p:cNvSpPr/>
          <p:nvPr/>
        </p:nvSpPr>
        <p:spPr>
          <a:xfrm>
            <a:off x="853419" y="3533242"/>
            <a:ext cx="3291758" cy="960120"/>
          </a:xfrm>
          <a:prstGeom prst="roundRect">
            <a:avLst/>
          </a:prstGeom>
          <a:solidFill>
            <a:srgbClr val="F2DED3"/>
          </a:solidFill>
          <a:ln w="12700">
            <a:solidFill>
              <a:srgbClr val="DED7CC"/>
            </a:solidFill>
            <a:prstDash val="solid"/>
          </a:ln>
        </p:spPr>
      </p:sp>
      <p:sp>
        <p:nvSpPr>
          <p:cNvPr id="8" name="element_cc51e20cff7c3b890c05228ec6565654:text"/>
          <p:cNvSpPr txBox="1"/>
          <p:nvPr/>
        </p:nvSpPr>
        <p:spPr>
          <a:xfrm>
            <a:off x="85341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200" b="1" dirty="0">
                <a:solidFill>
                  <a:srgbClr val="26221D"/>
                </a:solidFill>
                <a:latin typeface="Geist Variable" pitchFamily="34" charset="0"/>
                <a:ea typeface="Geist Variable" pitchFamily="34" charset="-122"/>
                <a:cs typeface="Geist Variable" pitchFamily="34" charset="-120"/>
              </a:rPr>
              <a:t>Supplied evidence</a:t>
            </a:r>
            <a:endParaRPr lang="en-US" sz="1200" dirty="0"/>
          </a:p>
        </p:txBody>
      </p:sp>
      <p:sp>
        <p:nvSpPr>
          <p:cNvPr id="9" name="element_319e211ead07eeef8e104a78c9ee9842"/>
          <p:cNvSpPr/>
          <p:nvPr/>
        </p:nvSpPr>
        <p:spPr>
          <a:xfrm>
            <a:off x="4449969" y="3533242"/>
            <a:ext cx="3291758" cy="960120"/>
          </a:xfrm>
          <a:prstGeom prst="roundRect">
            <a:avLst/>
          </a:prstGeom>
          <a:solidFill>
            <a:srgbClr val="E5E9D6"/>
          </a:solidFill>
          <a:ln w="25400">
            <a:solidFill>
              <a:srgbClr val="B44A2D"/>
            </a:solidFill>
            <a:prstDash val="solid"/>
          </a:ln>
        </p:spPr>
      </p:sp>
      <p:sp>
        <p:nvSpPr>
          <p:cNvPr id="10" name="element_319e211ead07eeef8e104a78c9ee9842:text"/>
          <p:cNvSpPr txBox="1"/>
          <p:nvPr/>
        </p:nvSpPr>
        <p:spPr>
          <a:xfrm>
            <a:off x="444996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200" b="1" dirty="0">
                <a:solidFill>
                  <a:srgbClr val="26221D"/>
                </a:solidFill>
                <a:latin typeface="Geist Variable" pitchFamily="34" charset="0"/>
                <a:ea typeface="Geist Variable" pitchFamily="34" charset="-122"/>
                <a:cs typeface="Geist Variable" pitchFamily="34" charset="-120"/>
              </a:rPr>
              <a:t>Verification gate</a:t>
            </a:r>
            <a:endParaRPr lang="en-US" sz="1200" dirty="0"/>
          </a:p>
        </p:txBody>
      </p:sp>
      <p:sp>
        <p:nvSpPr>
          <p:cNvPr id="11" name="element_e73a9d4ba4073ed3235b92f26da26fee"/>
          <p:cNvSpPr/>
          <p:nvPr/>
        </p:nvSpPr>
        <p:spPr>
          <a:xfrm>
            <a:off x="8046519" y="3533242"/>
            <a:ext cx="3291758" cy="960120"/>
          </a:xfrm>
          <a:prstGeom prst="roundRect">
            <a:avLst/>
          </a:prstGeom>
          <a:solidFill>
            <a:srgbClr val="E5E9D6"/>
          </a:solidFill>
          <a:ln w="12700">
            <a:solidFill>
              <a:srgbClr val="DED7CC"/>
            </a:solidFill>
            <a:prstDash val="solid"/>
          </a:ln>
        </p:spPr>
      </p:sp>
      <p:sp>
        <p:nvSpPr>
          <p:cNvPr id="12" name="element_e73a9d4ba4073ed3235b92f26da26fee:text"/>
          <p:cNvSpPr txBox="1"/>
          <p:nvPr/>
        </p:nvSpPr>
        <p:spPr>
          <a:xfrm>
            <a:off x="804651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300" b="1" dirty="0">
                <a:solidFill>
                  <a:srgbClr val="26221D"/>
                </a:solidFill>
                <a:latin typeface="Geist Variable" pitchFamily="34" charset="0"/>
                <a:ea typeface="Geist Variable" pitchFamily="34" charset="-122"/>
                <a:cs typeface="Geist Variable" pitchFamily="34" charset="-120"/>
              </a:rPr>
              <a:t>Decision-ready</a:t>
            </a:r>
            <a:endParaRPr lang="en-US" sz="1300" dirty="0"/>
          </a:p>
        </p:txBody>
      </p:sp>
      <p:sp>
        <p:nvSpPr>
          <p:cNvPr id="13" name="element_e6c6544a15168cfcc596a8aba3435f22"/>
          <p:cNvSpPr txBox="1"/>
          <p:nvPr/>
        </p:nvSpPr>
        <p:spPr>
          <a:xfrm>
            <a:off x="853419" y="4543425"/>
            <a:ext cx="9631439" cy="754380"/>
          </a:xfrm>
          <a:prstGeom prst="rect">
            <a:avLst/>
          </a:prstGeom>
          <a:noFill/>
          <a:ln/>
        </p:spPr>
        <p:txBody>
          <a:bodyPr wrap="square" lIns="0" tIns="0" rIns="0" bIns="0" rtlCol="0" anchor="t">
            <a:normAutofit/>
          </a:bodyPr>
          <a:lstStyle/>
          <a:p>
            <a:pPr algn="l" indent="0" marL="0">
              <a:lnSpc>
                <a:spcPct val="135000"/>
              </a:lnSpc>
              <a:buNone/>
            </a:pPr>
            <a:r>
              <a:rPr lang="en-US" sz="1600" dirty="0">
                <a:solidFill>
                  <a:srgbClr val="756B61"/>
                </a:solidFill>
                <a:latin typeface="Geist Variable" pitchFamily="34" charset="0"/>
                <a:ea typeface="Geist Variable" pitchFamily="34" charset="-122"/>
                <a:cs typeface="Geist Variable" pitchFamily="34" charset="-120"/>
              </a:rPr>
              <a:t>Keep the decision grounded by making supported evidence, open questions, and publication blockers visible as different states.</a:t>
            </a:r>
            <a:endParaRPr lang="en-US" sz="1600" dirty="0"/>
          </a:p>
        </p:txBody>
      </p:sp>
      <p:sp>
        <p:nvSpPr>
          <p:cNvPr id="14" name="element_0dd9e6871c0678aee4b14a2d40d32c8b"/>
          <p:cNvSpPr/>
          <p:nvPr/>
        </p:nvSpPr>
        <p:spPr>
          <a:xfrm>
            <a:off x="9081594" y="356616"/>
            <a:ext cx="146300" cy="685800"/>
          </a:xfrm>
          <a:prstGeom prst="roundRect">
            <a:avLst/>
          </a:prstGeom>
          <a:solidFill>
            <a:srgbClr val="34452C">
              <a:alpha val="70000"/>
            </a:srgbClr>
          </a:solidFill>
          <a:ln w="12700">
            <a:solidFill>
              <a:srgbClr val="FFFFFF">
                <a:alpha val="0"/>
              </a:srgbClr>
            </a:solidFill>
            <a:prstDash val="solid"/>
          </a:ln>
        </p:spPr>
      </p:sp>
      <p:sp>
        <p:nvSpPr>
          <p:cNvPr id="15" name="element_005a2394c5b2ec386aeff936927f6533"/>
          <p:cNvSpPr/>
          <p:nvPr/>
        </p:nvSpPr>
        <p:spPr>
          <a:xfrm>
            <a:off x="10400735" y="356616"/>
            <a:ext cx="146300" cy="685800"/>
          </a:xfrm>
          <a:prstGeom prst="roundRect">
            <a:avLst/>
          </a:prstGeom>
          <a:solidFill>
            <a:srgbClr val="34452C">
              <a:alpha val="70000"/>
            </a:srgbClr>
          </a:solidFill>
          <a:ln w="12700">
            <a:solidFill>
              <a:srgbClr val="FFFFFF">
                <a:alpha val="0"/>
              </a:srgbClr>
            </a:solidFill>
            <a:prstDash val="solid"/>
          </a:ln>
        </p:spPr>
      </p:sp>
      <p:sp>
        <p:nvSpPr>
          <p:cNvPr id="16" name="element_dac0d70a7fde09269f41058f2de098ca"/>
          <p:cNvSpPr/>
          <p:nvPr/>
        </p:nvSpPr>
        <p:spPr>
          <a:xfrm>
            <a:off x="9227894" y="850392"/>
            <a:ext cx="1172841" cy="68580"/>
          </a:xfrm>
          <a:prstGeom prst="roundRect">
            <a:avLst/>
          </a:prstGeom>
          <a:solidFill>
            <a:srgbClr val="F2DED3">
              <a:alpha val="62000"/>
            </a:srgbClr>
          </a:solidFill>
          <a:ln w="12700">
            <a:solidFill>
              <a:srgbClr val="FFFFFF">
                <a:alpha val="0"/>
              </a:srgbClr>
            </a:solidFill>
            <a:prstDash val="solid"/>
          </a:ln>
        </p:spPr>
      </p:sp>
      <p:sp>
        <p:nvSpPr>
          <p:cNvPr id="17" name="element_c9fcbbd45623be8b1f3a317e10f4c44b"/>
          <p:cNvSpPr/>
          <p:nvPr/>
        </p:nvSpPr>
        <p:spPr>
          <a:xfrm>
            <a:off x="9689959" y="768096"/>
            <a:ext cx="268217" cy="150876"/>
          </a:xfrm>
          <a:prstGeom prst="roundRect">
            <a:avLst/>
          </a:prstGeom>
          <a:solidFill>
            <a:srgbClr val="B44A2D">
              <a:alpha val="70000"/>
            </a:srgbClr>
          </a:solidFill>
          <a:ln w="12700">
            <a:solidFill>
              <a:srgbClr val="FFFFFF">
                <a:alpha val="0"/>
              </a:srgbClr>
            </a:solidFill>
            <a:prstDash val="solid"/>
          </a:ln>
        </p:spPr>
      </p:sp>
      <p:sp>
        <p:nvSpPr>
          <p:cNvPr id="18" name="element_d6e612c47ea035df335f0be6849896fe"/>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9" name="element_f84d0259ec4ee30887682046c8f567c1"/>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07</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nodeslide-slide-id:slide_e2dcd394dbdf3499b30417a833c7e046"/>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22682a10d4f1562c692483682d43ce20"/>
          <p:cNvSpPr/>
          <p:nvPr/>
        </p:nvSpPr>
        <p:spPr>
          <a:xfrm>
            <a:off x="731502" y="1577340"/>
            <a:ext cx="5608180" cy="3566160"/>
          </a:xfrm>
          <a:prstGeom prst="roundRect">
            <a:avLst/>
          </a:prstGeom>
          <a:solidFill>
            <a:srgbClr val="F2DED3">
              <a:alpha val="22000"/>
            </a:srgbClr>
          </a:solidFill>
          <a:ln w="12700">
            <a:solidFill>
              <a:srgbClr val="FFFFFF">
                <a:alpha val="0"/>
              </a:srgbClr>
            </a:solidFill>
            <a:prstDash val="solid"/>
          </a:ln>
        </p:spPr>
      </p:sp>
      <p:sp>
        <p:nvSpPr>
          <p:cNvPr id="4" name="element_52693e899a3aaee7683d5ad1691172df"/>
          <p:cNvSpPr/>
          <p:nvPr/>
        </p:nvSpPr>
        <p:spPr>
          <a:xfrm>
            <a:off x="2296915" y="1977847"/>
            <a:ext cx="249930" cy="2880360"/>
          </a:xfrm>
          <a:prstGeom prst="roundRect">
            <a:avLst/>
          </a:prstGeom>
          <a:solidFill>
            <a:srgbClr val="34452C">
              <a:alpha val="77000"/>
            </a:srgbClr>
          </a:solidFill>
          <a:ln w="12700">
            <a:solidFill>
              <a:srgbClr val="FFFFFF">
                <a:alpha val="0"/>
              </a:srgbClr>
            </a:solidFill>
            <a:prstDash val="solid"/>
          </a:ln>
        </p:spPr>
      </p:sp>
      <p:sp>
        <p:nvSpPr>
          <p:cNvPr id="5" name="element_f14e083e0b3f45818f770462aa4c4c24"/>
          <p:cNvSpPr/>
          <p:nvPr/>
        </p:nvSpPr>
        <p:spPr>
          <a:xfrm>
            <a:off x="4732816" y="1977847"/>
            <a:ext cx="249930" cy="2880360"/>
          </a:xfrm>
          <a:prstGeom prst="roundRect">
            <a:avLst/>
          </a:prstGeom>
          <a:solidFill>
            <a:srgbClr val="34452C">
              <a:alpha val="77000"/>
            </a:srgbClr>
          </a:solidFill>
          <a:ln w="12700">
            <a:solidFill>
              <a:srgbClr val="FFFFFF">
                <a:alpha val="0"/>
              </a:srgbClr>
            </a:solidFill>
            <a:prstDash val="solid"/>
          </a:ln>
        </p:spPr>
      </p:sp>
      <p:sp>
        <p:nvSpPr>
          <p:cNvPr id="6" name="element_106a17bf5b8c39614f17973afd964631"/>
          <p:cNvSpPr/>
          <p:nvPr/>
        </p:nvSpPr>
        <p:spPr>
          <a:xfrm>
            <a:off x="2546845" y="4051706"/>
            <a:ext cx="2187190" cy="259232"/>
          </a:xfrm>
          <a:prstGeom prst="roundRect">
            <a:avLst/>
          </a:prstGeom>
          <a:solidFill>
            <a:srgbClr val="F2DED3">
              <a:alpha val="65000"/>
            </a:srgbClr>
          </a:solidFill>
          <a:ln w="12700">
            <a:solidFill>
              <a:srgbClr val="FFFFFF">
                <a:alpha val="0"/>
              </a:srgbClr>
            </a:solidFill>
            <a:prstDash val="solid"/>
          </a:ln>
        </p:spPr>
      </p:sp>
      <p:sp>
        <p:nvSpPr>
          <p:cNvPr id="7" name="element_b1fdc6167c97624e5ba9c551d4764f54"/>
          <p:cNvSpPr/>
          <p:nvPr/>
        </p:nvSpPr>
        <p:spPr>
          <a:xfrm>
            <a:off x="3758700" y="3706063"/>
            <a:ext cx="458408" cy="633679"/>
          </a:xfrm>
          <a:prstGeom prst="roundRect">
            <a:avLst/>
          </a:prstGeom>
          <a:solidFill>
            <a:srgbClr val="B44A2D">
              <a:alpha val="77000"/>
            </a:srgbClr>
          </a:solidFill>
          <a:ln w="12700">
            <a:solidFill>
              <a:srgbClr val="FFFFFF">
                <a:alpha val="0"/>
              </a:srgbClr>
            </a:solidFill>
            <a:prstDash val="solid"/>
          </a:ln>
        </p:spPr>
      </p:sp>
      <p:sp>
        <p:nvSpPr>
          <p:cNvPr id="8" name="element_1145d00badde68ba5cce65b081b362e3"/>
          <p:cNvSpPr txBox="1"/>
          <p:nvPr/>
        </p:nvSpPr>
        <p:spPr>
          <a:xfrm>
            <a:off x="7315017" y="445770"/>
            <a:ext cx="3657509"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EVIDENCE</a:t>
            </a:r>
            <a:endParaRPr lang="en-US" sz="1500" dirty="0"/>
          </a:p>
        </p:txBody>
      </p:sp>
      <p:sp>
        <p:nvSpPr>
          <p:cNvPr id="9" name="element_2dc671f1886446de34191917a9d5a69f"/>
          <p:cNvSpPr txBox="1"/>
          <p:nvPr/>
        </p:nvSpPr>
        <p:spPr>
          <a:xfrm>
            <a:off x="7315017" y="1234440"/>
            <a:ext cx="4145176" cy="2311146"/>
          </a:xfrm>
          <a:prstGeom prst="rect">
            <a:avLst/>
          </a:prstGeom>
          <a:noFill/>
          <a:ln/>
        </p:spPr>
        <p:txBody>
          <a:bodyPr wrap="square" lIns="0" tIns="0" rIns="0" bIns="0" rtlCol="0" anchor="t">
            <a:normAutofit/>
          </a:bodyPr>
          <a:lstStyle/>
          <a:p>
            <a:pPr algn="l" indent="0" marL="0">
              <a:lnSpc>
                <a:spcPct val="104000"/>
              </a:lnSpc>
              <a:buNone/>
            </a:pPr>
            <a:r>
              <a:rPr lang="en-US" sz="3500" b="1" spc="-50" kern="0" dirty="0">
                <a:solidFill>
                  <a:srgbClr val="26221D"/>
                </a:solidFill>
                <a:latin typeface="Georgia" pitchFamily="34" charset="0"/>
                <a:ea typeface="Georgia" pitchFamily="34" charset="-122"/>
                <a:cs typeface="Georgia" pitchFamily="34" charset="-120"/>
              </a:rPr>
              <a:t>Unverified assumptions remain questions, not conclusions.</a:t>
            </a:r>
            <a:endParaRPr lang="en-US" sz="3500" dirty="0"/>
          </a:p>
        </p:txBody>
      </p:sp>
      <p:sp>
        <p:nvSpPr>
          <p:cNvPr id="10" name="element_09bd7b07bec130eba3998b28ee162435"/>
          <p:cNvSpPr txBox="1"/>
          <p:nvPr/>
        </p:nvSpPr>
        <p:spPr>
          <a:xfrm>
            <a:off x="7315017" y="3785616"/>
            <a:ext cx="4145176" cy="1357884"/>
          </a:xfrm>
          <a:prstGeom prst="rect">
            <a:avLst/>
          </a:prstGeom>
          <a:noFill/>
          <a:ln/>
        </p:spPr>
        <p:txBody>
          <a:bodyPr wrap="square" lIns="0" tIns="0" rIns="0" bIns="0" rtlCol="0" anchor="t">
            <a:normAutofit/>
          </a:bodyPr>
          <a:lstStyle/>
          <a:p>
            <a:pPr algn="l" indent="0" marL="0">
              <a:lnSpc>
                <a:spcPct val="138000"/>
              </a:lnSpc>
              <a:buNone/>
            </a:pPr>
            <a:r>
              <a:rPr lang="en-US" sz="1600" dirty="0">
                <a:solidFill>
                  <a:srgbClr val="756B61"/>
                </a:solidFill>
                <a:latin typeface="Geist Variable" pitchFamily="34" charset="0"/>
                <a:ea typeface="Geist Variable" pitchFamily="34" charset="-122"/>
                <a:cs typeface="Geist Variable" pitchFamily="34" charset="-120"/>
              </a:rPr>
              <a:t>Record the unresolved evidence explicitly so the audience can distinguish a missing input from a negative finding.</a:t>
            </a:r>
            <a:endParaRPr lang="en-US" sz="1600" dirty="0"/>
          </a:p>
        </p:txBody>
      </p:sp>
      <p:sp>
        <p:nvSpPr>
          <p:cNvPr id="11" name="element_90b944a417e2edcb83702d1fd97bcf78"/>
          <p:cNvSpPr txBox="1"/>
          <p:nvPr/>
        </p:nvSpPr>
        <p:spPr>
          <a:xfrm>
            <a:off x="7315017" y="5280660"/>
            <a:ext cx="4145176" cy="754380"/>
          </a:xfrm>
          <a:prstGeom prst="rect">
            <a:avLst/>
          </a:prstGeom>
          <a:noFill/>
          <a:ln/>
        </p:spPr>
        <p:txBody>
          <a:bodyPr wrap="square" lIns="152400" tIns="152400" rIns="152400" bIns="152400" rtlCol="0" anchor="t">
            <a:normAutofit/>
          </a:bodyPr>
          <a:lstStyle/>
          <a:p>
            <a:pPr algn="l" indent="0" marL="0">
              <a:lnSpc>
                <a:spcPct val="125000"/>
              </a:lnSpc>
              <a:buNone/>
            </a:pPr>
            <a:r>
              <a:rPr lang="en-US" sz="1600" b="1" dirty="0">
                <a:solidFill>
                  <a:srgbClr val="34452C"/>
                </a:solidFill>
                <a:latin typeface="Geist Variable" pitchFamily="34" charset="0"/>
                <a:ea typeface="Geist Variable" pitchFamily="34" charset="-122"/>
                <a:cs typeface="Geist Variable" pitchFamily="34" charset="-120"/>
              </a:rPr>
              <a:t>Name the open question</a:t>
            </a:r>
            <a:endParaRPr lang="en-US" sz="1600" dirty="0"/>
          </a:p>
        </p:txBody>
      </p:sp>
      <p:sp>
        <p:nvSpPr>
          <p:cNvPr id="12" name="element_516f69855de5d35c89ad7386621d744b"/>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3" name="element_df146ec65ccfc7b81528ca77a22d7087"/>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nodeslide-slide-id:slide_52e9cf372952e4a7088fdda192a1359d"/>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96351ad368ad3383f2d3947aae5003d9"/>
          <p:cNvSpPr txBox="1"/>
          <p:nvPr/>
        </p:nvSpPr>
        <p:spPr>
          <a:xfrm>
            <a:off x="1706837" y="514350"/>
            <a:ext cx="8778021" cy="342900"/>
          </a:xfrm>
          <a:prstGeom prst="rect">
            <a:avLst/>
          </a:prstGeom>
          <a:noFill/>
          <a:ln/>
        </p:spPr>
        <p:txBody>
          <a:bodyPr wrap="square" lIns="0" tIns="0" rIns="0" bIns="0" rtlCol="0" anchor="t">
            <a:normAutofit/>
          </a:bodyPr>
          <a:lstStyle/>
          <a:p>
            <a:pPr algn="ctr"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OPERATING MODEL</a:t>
            </a:r>
            <a:endParaRPr lang="en-US" sz="1500" dirty="0"/>
          </a:p>
        </p:txBody>
      </p:sp>
      <p:sp>
        <p:nvSpPr>
          <p:cNvPr id="4" name="element_f4e0582fe99a38a2fd459a86ab71d720"/>
          <p:cNvSpPr txBox="1"/>
          <p:nvPr/>
        </p:nvSpPr>
        <p:spPr>
          <a:xfrm>
            <a:off x="1706837" y="1028700"/>
            <a:ext cx="8778021" cy="1165860"/>
          </a:xfrm>
          <a:prstGeom prst="rect">
            <a:avLst/>
          </a:prstGeom>
          <a:noFill/>
          <a:ln/>
        </p:spPr>
        <p:txBody>
          <a:bodyPr wrap="square" lIns="0" tIns="0" rIns="0" bIns="0" rtlCol="0" anchor="t">
            <a:normAutofit/>
          </a:bodyPr>
          <a:lstStyle/>
          <a:p>
            <a:pPr algn="ctr" indent="0" marL="0">
              <a:lnSpc>
                <a:spcPct val="110000"/>
              </a:lnSpc>
              <a:buNone/>
            </a:pPr>
            <a:r>
              <a:rPr lang="en-US" sz="3200" b="1" dirty="0">
                <a:solidFill>
                  <a:srgbClr val="26221D"/>
                </a:solidFill>
                <a:latin typeface="Georgia" pitchFamily="34" charset="0"/>
                <a:ea typeface="Georgia" pitchFamily="34" charset="-122"/>
                <a:cs typeface="Georgia" pitchFamily="34" charset="-120"/>
              </a:rPr>
              <a:t>A decision becomes executable when each handoff has an owner.</a:t>
            </a:r>
            <a:endParaRPr lang="en-US" sz="3200" dirty="0"/>
          </a:p>
        </p:txBody>
      </p:sp>
      <p:sp>
        <p:nvSpPr>
          <p:cNvPr id="5" name="element_76f9a25849632bb3bc1a5a23a4cf307a"/>
          <p:cNvSpPr/>
          <p:nvPr/>
        </p:nvSpPr>
        <p:spPr>
          <a:xfrm>
            <a:off x="8778021" y="3291840"/>
            <a:ext cx="243834" cy="342900"/>
          </a:xfrm>
          <a:prstGeom prst="line">
            <a:avLst/>
          </a:prstGeom>
          <a:noFill/>
          <a:ln w="25400">
            <a:solidFill>
              <a:srgbClr val="7566A8"/>
            </a:solidFill>
            <a:prstDash val="solid"/>
            <a:tailEnd type="triangle"/>
          </a:ln>
        </p:spPr>
      </p:sp>
      <p:sp>
        <p:nvSpPr>
          <p:cNvPr id="6" name="element_338403384cb53316b4a1804456bdefbf"/>
          <p:cNvSpPr/>
          <p:nvPr/>
        </p:nvSpPr>
        <p:spPr>
          <a:xfrm>
            <a:off x="8778021" y="4320540"/>
            <a:ext cx="243834" cy="342900"/>
          </a:xfrm>
          <a:prstGeom prst="line">
            <a:avLst/>
          </a:prstGeom>
          <a:noFill/>
          <a:ln w="25400">
            <a:solidFill>
              <a:srgbClr val="7566A8"/>
            </a:solidFill>
            <a:prstDash val="solid"/>
            <a:tailEnd type="triangle"/>
          </a:ln>
        </p:spPr>
      </p:sp>
      <p:sp>
        <p:nvSpPr>
          <p:cNvPr id="7" name="element_a0ea3d5946b9523440a28c4339d05645"/>
          <p:cNvSpPr/>
          <p:nvPr/>
        </p:nvSpPr>
        <p:spPr>
          <a:xfrm>
            <a:off x="6827349" y="2606040"/>
            <a:ext cx="4145176" cy="685800"/>
          </a:xfrm>
          <a:prstGeom prst="roundRect">
            <a:avLst/>
          </a:prstGeom>
          <a:solidFill>
            <a:srgbClr val="F2DED3"/>
          </a:solidFill>
          <a:ln w="12700">
            <a:solidFill>
              <a:srgbClr val="DED7CC"/>
            </a:solidFill>
            <a:prstDash val="solid"/>
          </a:ln>
        </p:spPr>
      </p:sp>
      <p:sp>
        <p:nvSpPr>
          <p:cNvPr id="8" name="element_a0ea3d5946b9523440a28c4339d05645:text"/>
          <p:cNvSpPr txBox="1"/>
          <p:nvPr/>
        </p:nvSpPr>
        <p:spPr>
          <a:xfrm>
            <a:off x="6827349" y="2606040"/>
            <a:ext cx="4145176" cy="685800"/>
          </a:xfrm>
          <a:prstGeom prst="rect">
            <a:avLst/>
          </a:prstGeom>
          <a:noFill/>
          <a:ln/>
        </p:spPr>
        <p:txBody>
          <a:bodyPr wrap="square" lIns="101600" tIns="101600" rIns="101600" bIns="101600" rtlCol="0" anchor="ctr">
            <a:normAutofit/>
          </a:bodyPr>
          <a:lstStyle/>
          <a:p>
            <a:pPr algn="ctr" indent="0" marL="0">
              <a:lnSpc>
                <a:spcPct val="115000"/>
              </a:lnSpc>
              <a:buNone/>
            </a:pPr>
            <a:r>
              <a:rPr lang="en-US" sz="1400" b="1" dirty="0">
                <a:solidFill>
                  <a:srgbClr val="26221D"/>
                </a:solidFill>
                <a:latin typeface="Geist Variable" pitchFamily="34" charset="0"/>
                <a:ea typeface="Geist Variable" pitchFamily="34" charset="-122"/>
                <a:cs typeface="Geist Variable" pitchFamily="34" charset="-120"/>
              </a:rPr>
              <a:t>Prepare</a:t>
            </a:r>
            <a:endParaRPr lang="en-US" sz="1400" dirty="0"/>
          </a:p>
        </p:txBody>
      </p:sp>
      <p:sp>
        <p:nvSpPr>
          <p:cNvPr id="9" name="element_0a260d31f15b14b77686bfa40ed0b855"/>
          <p:cNvSpPr/>
          <p:nvPr/>
        </p:nvSpPr>
        <p:spPr>
          <a:xfrm>
            <a:off x="6827349" y="3634740"/>
            <a:ext cx="4145176" cy="685800"/>
          </a:xfrm>
          <a:prstGeom prst="roundRect">
            <a:avLst/>
          </a:prstGeom>
          <a:solidFill>
            <a:srgbClr val="E5E9D6"/>
          </a:solidFill>
          <a:ln w="25400">
            <a:solidFill>
              <a:srgbClr val="B44A2D"/>
            </a:solidFill>
            <a:prstDash val="solid"/>
          </a:ln>
        </p:spPr>
      </p:sp>
      <p:sp>
        <p:nvSpPr>
          <p:cNvPr id="10" name="element_0a260d31f15b14b77686bfa40ed0b855:text"/>
          <p:cNvSpPr txBox="1"/>
          <p:nvPr/>
        </p:nvSpPr>
        <p:spPr>
          <a:xfrm>
            <a:off x="6827349" y="3634740"/>
            <a:ext cx="4145176" cy="685800"/>
          </a:xfrm>
          <a:prstGeom prst="rect">
            <a:avLst/>
          </a:prstGeom>
          <a:noFill/>
          <a:ln/>
        </p:spPr>
        <p:txBody>
          <a:bodyPr wrap="square" lIns="101600" tIns="101600" rIns="101600" bIns="101600" rtlCol="0" anchor="ctr">
            <a:normAutofit/>
          </a:bodyPr>
          <a:lstStyle/>
          <a:p>
            <a:pPr algn="ctr" indent="0" marL="0">
              <a:lnSpc>
                <a:spcPct val="115000"/>
              </a:lnSpc>
              <a:buNone/>
            </a:pPr>
            <a:r>
              <a:rPr lang="en-US" sz="1400" b="1" dirty="0">
                <a:solidFill>
                  <a:srgbClr val="26221D"/>
                </a:solidFill>
                <a:latin typeface="Geist Variable" pitchFamily="34" charset="0"/>
                <a:ea typeface="Geist Variable" pitchFamily="34" charset="-122"/>
                <a:cs typeface="Geist Variable" pitchFamily="34" charset="-120"/>
              </a:rPr>
              <a:t>Review</a:t>
            </a:r>
            <a:endParaRPr lang="en-US" sz="1400" dirty="0"/>
          </a:p>
        </p:txBody>
      </p:sp>
      <p:sp>
        <p:nvSpPr>
          <p:cNvPr id="11" name="element_4a33c198b3ea230c6f208f431014bd5c"/>
          <p:cNvSpPr/>
          <p:nvPr/>
        </p:nvSpPr>
        <p:spPr>
          <a:xfrm>
            <a:off x="6827349" y="4663440"/>
            <a:ext cx="4145176" cy="685800"/>
          </a:xfrm>
          <a:prstGeom prst="roundRect">
            <a:avLst/>
          </a:prstGeom>
          <a:solidFill>
            <a:srgbClr val="E5E9D6"/>
          </a:solidFill>
          <a:ln w="12700">
            <a:solidFill>
              <a:srgbClr val="DED7CC"/>
            </a:solidFill>
            <a:prstDash val="solid"/>
          </a:ln>
        </p:spPr>
      </p:sp>
      <p:sp>
        <p:nvSpPr>
          <p:cNvPr id="12" name="element_4a33c198b3ea230c6f208f431014bd5c:text"/>
          <p:cNvSpPr txBox="1"/>
          <p:nvPr/>
        </p:nvSpPr>
        <p:spPr>
          <a:xfrm>
            <a:off x="6827349" y="4663440"/>
            <a:ext cx="4145176" cy="685800"/>
          </a:xfrm>
          <a:prstGeom prst="rect">
            <a:avLst/>
          </a:prstGeom>
          <a:noFill/>
          <a:ln/>
        </p:spPr>
        <p:txBody>
          <a:bodyPr wrap="square" lIns="101600" tIns="101600" rIns="101600" bIns="101600" rtlCol="0" anchor="ctr">
            <a:normAutofit/>
          </a:bodyPr>
          <a:lstStyle/>
          <a:p>
            <a:pPr algn="ctr" indent="0" marL="0">
              <a:lnSpc>
                <a:spcPct val="115000"/>
              </a:lnSpc>
              <a:buNone/>
            </a:pPr>
            <a:r>
              <a:rPr lang="en-US" sz="1400" b="1" dirty="0">
                <a:solidFill>
                  <a:srgbClr val="26221D"/>
                </a:solidFill>
                <a:latin typeface="Geist Variable" pitchFamily="34" charset="0"/>
                <a:ea typeface="Geist Variable" pitchFamily="34" charset="-122"/>
                <a:cs typeface="Geist Variable" pitchFamily="34" charset="-120"/>
              </a:rPr>
              <a:t>Record</a:t>
            </a:r>
            <a:endParaRPr lang="en-US" sz="1400" dirty="0"/>
          </a:p>
        </p:txBody>
      </p:sp>
      <p:sp>
        <p:nvSpPr>
          <p:cNvPr id="13" name="element_6a7f98177364350fd0bee0cec57e6660"/>
          <p:cNvSpPr txBox="1"/>
          <p:nvPr/>
        </p:nvSpPr>
        <p:spPr>
          <a:xfrm>
            <a:off x="975336" y="2743200"/>
            <a:ext cx="4632844" cy="1371600"/>
          </a:xfrm>
          <a:prstGeom prst="rect">
            <a:avLst/>
          </a:prstGeom>
          <a:noFill/>
          <a:ln/>
        </p:spPr>
        <p:txBody>
          <a:bodyPr wrap="square" lIns="0" tIns="0" rIns="0" bIns="0" rtlCol="0" anchor="t">
            <a:normAutofit/>
          </a:bodyPr>
          <a:lstStyle/>
          <a:p>
            <a:pPr algn="l" indent="0" marL="0">
              <a:lnSpc>
                <a:spcPct val="135000"/>
              </a:lnSpc>
              <a:buNone/>
            </a:pPr>
            <a:r>
              <a:rPr lang="en-US" sz="1600" dirty="0">
                <a:solidFill>
                  <a:srgbClr val="756B61"/>
                </a:solidFill>
                <a:latin typeface="Geist Variable" pitchFamily="34" charset="0"/>
                <a:ea typeface="Geist Variable" pitchFamily="34" charset="-122"/>
                <a:cs typeface="Geist Variable" pitchFamily="34" charset="-120"/>
              </a:rPr>
              <a:t>Connect evidence preparation, review, and the final decision without implying an organization structure that was not supplied.</a:t>
            </a:r>
            <a:endParaRPr lang="en-US" sz="1600" dirty="0"/>
          </a:p>
        </p:txBody>
      </p:sp>
      <p:sp>
        <p:nvSpPr>
          <p:cNvPr id="14" name="element_15e47625e3c977e8c07c88dc61d4a610"/>
          <p:cNvSpPr/>
          <p:nvPr/>
        </p:nvSpPr>
        <p:spPr>
          <a:xfrm>
            <a:off x="8974307" y="356616"/>
            <a:ext cx="146300" cy="685800"/>
          </a:xfrm>
          <a:prstGeom prst="roundRect">
            <a:avLst/>
          </a:prstGeom>
          <a:solidFill>
            <a:srgbClr val="34452C">
              <a:alpha val="85000"/>
            </a:srgbClr>
          </a:solidFill>
          <a:ln w="12700">
            <a:solidFill>
              <a:srgbClr val="FFFFFF">
                <a:alpha val="0"/>
              </a:srgbClr>
            </a:solidFill>
            <a:prstDash val="solid"/>
          </a:ln>
        </p:spPr>
      </p:sp>
      <p:sp>
        <p:nvSpPr>
          <p:cNvPr id="15" name="element_f89d1b8171d164f2ff5d32199e4c0710"/>
          <p:cNvSpPr/>
          <p:nvPr/>
        </p:nvSpPr>
        <p:spPr>
          <a:xfrm>
            <a:off x="10508022" y="356616"/>
            <a:ext cx="146300" cy="685800"/>
          </a:xfrm>
          <a:prstGeom prst="roundRect">
            <a:avLst/>
          </a:prstGeom>
          <a:solidFill>
            <a:srgbClr val="34452C">
              <a:alpha val="85000"/>
            </a:srgbClr>
          </a:solidFill>
          <a:ln w="12700">
            <a:solidFill>
              <a:srgbClr val="FFFFFF">
                <a:alpha val="0"/>
              </a:srgbClr>
            </a:solidFill>
            <a:prstDash val="solid"/>
          </a:ln>
        </p:spPr>
      </p:sp>
      <p:sp>
        <p:nvSpPr>
          <p:cNvPr id="16" name="element_10f72a5f8ce887c023e4cccee87f6d10"/>
          <p:cNvSpPr/>
          <p:nvPr/>
        </p:nvSpPr>
        <p:spPr>
          <a:xfrm>
            <a:off x="9120607" y="850392"/>
            <a:ext cx="1387415" cy="68580"/>
          </a:xfrm>
          <a:prstGeom prst="roundRect">
            <a:avLst/>
          </a:prstGeom>
          <a:solidFill>
            <a:srgbClr val="F2DED3">
              <a:alpha val="68000"/>
            </a:srgbClr>
          </a:solidFill>
          <a:ln w="12700">
            <a:solidFill>
              <a:srgbClr val="FFFFFF">
                <a:alpha val="0"/>
              </a:srgbClr>
            </a:solidFill>
            <a:prstDash val="solid"/>
          </a:ln>
        </p:spPr>
      </p:sp>
      <p:sp>
        <p:nvSpPr>
          <p:cNvPr id="17" name="element_71398ecbd69278594f67ef4c99c37165"/>
          <p:cNvSpPr/>
          <p:nvPr/>
        </p:nvSpPr>
        <p:spPr>
          <a:xfrm>
            <a:off x="10076436" y="768096"/>
            <a:ext cx="268217" cy="150876"/>
          </a:xfrm>
          <a:prstGeom prst="roundRect">
            <a:avLst/>
          </a:prstGeom>
          <a:solidFill>
            <a:srgbClr val="B44A2D">
              <a:alpha val="85000"/>
            </a:srgbClr>
          </a:solidFill>
          <a:ln w="12700">
            <a:solidFill>
              <a:srgbClr val="FFFFFF">
                <a:alpha val="0"/>
              </a:srgbClr>
            </a:solidFill>
            <a:prstDash val="solid"/>
          </a:ln>
        </p:spPr>
      </p:sp>
      <p:sp>
        <p:nvSpPr>
          <p:cNvPr id="18" name="element_035014e1077794ae76758df1817cf8c6"/>
          <p:cNvSpPr txBox="1"/>
          <p:nvPr/>
        </p:nvSpPr>
        <p:spPr>
          <a:xfrm>
            <a:off x="2682173" y="6377940"/>
            <a:ext cx="6827349" cy="240030"/>
          </a:xfrm>
          <a:prstGeom prst="rect">
            <a:avLst/>
          </a:prstGeom>
          <a:noFill/>
          <a:ln/>
        </p:spPr>
        <p:txBody>
          <a:bodyPr wrap="square" lIns="0" tIns="0" rIns="0" bIns="0" rtlCol="0" anchor="t">
            <a:normAutofit/>
          </a:bodyPr>
          <a:lstStyle/>
          <a:p>
            <a:pPr algn="ctr"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9" name="element_316b88de502b4f92f34c35bef1254a82"/>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09</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nodeslide-slide-id:slide_799a54d735ce301411d7f7830ce52ffd"/>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340481656c1a6d94a184e4d3436705ff"/>
          <p:cNvSpPr/>
          <p:nvPr/>
        </p:nvSpPr>
        <p:spPr>
          <a:xfrm>
            <a:off x="731502" y="1234440"/>
            <a:ext cx="5852014" cy="4114800"/>
          </a:xfrm>
          <a:prstGeom prst="roundRect">
            <a:avLst/>
          </a:prstGeom>
          <a:solidFill>
            <a:srgbClr val="F2DED3">
              <a:alpha val="22000"/>
            </a:srgbClr>
          </a:solidFill>
          <a:ln w="12700">
            <a:solidFill>
              <a:srgbClr val="FFFFFF">
                <a:alpha val="0"/>
              </a:srgbClr>
            </a:solidFill>
            <a:prstDash val="solid"/>
          </a:ln>
        </p:spPr>
      </p:sp>
      <p:sp>
        <p:nvSpPr>
          <p:cNvPr id="4" name="element_8421c3b8f86a5a6a082c86ffce31e215"/>
          <p:cNvSpPr/>
          <p:nvPr/>
        </p:nvSpPr>
        <p:spPr>
          <a:xfrm>
            <a:off x="2167683" y="1645920"/>
            <a:ext cx="262121" cy="3429000"/>
          </a:xfrm>
          <a:prstGeom prst="roundRect">
            <a:avLst/>
          </a:prstGeom>
          <a:solidFill>
            <a:srgbClr val="34452C">
              <a:alpha val="92000"/>
            </a:srgbClr>
          </a:solidFill>
          <a:ln w="12700">
            <a:solidFill>
              <a:srgbClr val="FFFFFF">
                <a:alpha val="0"/>
              </a:srgbClr>
            </a:solidFill>
            <a:prstDash val="solid"/>
          </a:ln>
        </p:spPr>
      </p:sp>
      <p:sp>
        <p:nvSpPr>
          <p:cNvPr id="5" name="element_058035731dbd278be6c65236eb566eb6"/>
          <p:cNvSpPr/>
          <p:nvPr/>
        </p:nvSpPr>
        <p:spPr>
          <a:xfrm>
            <a:off x="5103444" y="1645920"/>
            <a:ext cx="262121" cy="3429000"/>
          </a:xfrm>
          <a:prstGeom prst="roundRect">
            <a:avLst/>
          </a:prstGeom>
          <a:solidFill>
            <a:srgbClr val="34452C">
              <a:alpha val="92000"/>
            </a:srgbClr>
          </a:solidFill>
          <a:ln w="12700">
            <a:solidFill>
              <a:srgbClr val="FFFFFF">
                <a:alpha val="0"/>
              </a:srgbClr>
            </a:solidFill>
            <a:prstDash val="solid"/>
          </a:ln>
        </p:spPr>
      </p:sp>
      <p:sp>
        <p:nvSpPr>
          <p:cNvPr id="6" name="element_23ee43f11740a861e42aee4eeb044a0e"/>
          <p:cNvSpPr/>
          <p:nvPr/>
        </p:nvSpPr>
        <p:spPr>
          <a:xfrm>
            <a:off x="2429805" y="4114800"/>
            <a:ext cx="2676077" cy="308610"/>
          </a:xfrm>
          <a:prstGeom prst="roundRect">
            <a:avLst/>
          </a:prstGeom>
          <a:solidFill>
            <a:srgbClr val="F2DED3">
              <a:alpha val="71000"/>
            </a:srgbClr>
          </a:solidFill>
          <a:ln w="12700">
            <a:solidFill>
              <a:srgbClr val="FFFFFF">
                <a:alpha val="0"/>
              </a:srgbClr>
            </a:solidFill>
            <a:prstDash val="solid"/>
          </a:ln>
        </p:spPr>
      </p:sp>
      <p:sp>
        <p:nvSpPr>
          <p:cNvPr id="7" name="element_535d96a0e0e514fb6dd3f70768dc79ce"/>
          <p:cNvSpPr/>
          <p:nvPr/>
        </p:nvSpPr>
        <p:spPr>
          <a:xfrm>
            <a:off x="4581639" y="3703320"/>
            <a:ext cx="480353" cy="754380"/>
          </a:xfrm>
          <a:prstGeom prst="roundRect">
            <a:avLst/>
          </a:prstGeom>
          <a:solidFill>
            <a:srgbClr val="B44A2D">
              <a:alpha val="92000"/>
            </a:srgbClr>
          </a:solidFill>
          <a:ln w="12700">
            <a:solidFill>
              <a:srgbClr val="FFFFFF">
                <a:alpha val="0"/>
              </a:srgbClr>
            </a:solidFill>
            <a:prstDash val="solid"/>
          </a:ln>
        </p:spPr>
      </p:sp>
      <p:sp>
        <p:nvSpPr>
          <p:cNvPr id="8" name="element_8513a95297c510779b9799de90b274d6"/>
          <p:cNvSpPr txBox="1"/>
          <p:nvPr/>
        </p:nvSpPr>
        <p:spPr>
          <a:xfrm>
            <a:off x="7315017" y="445770"/>
            <a:ext cx="3657509"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RISK</a:t>
            </a:r>
            <a:endParaRPr lang="en-US" sz="1500" dirty="0"/>
          </a:p>
        </p:txBody>
      </p:sp>
      <p:sp>
        <p:nvSpPr>
          <p:cNvPr id="9" name="element_a30a88210bb8ae47b47691e88c5ad7e3"/>
          <p:cNvSpPr txBox="1"/>
          <p:nvPr/>
        </p:nvSpPr>
        <p:spPr>
          <a:xfrm>
            <a:off x="7315017" y="1234440"/>
            <a:ext cx="4145176" cy="2245309"/>
          </a:xfrm>
          <a:prstGeom prst="rect">
            <a:avLst/>
          </a:prstGeom>
          <a:noFill/>
          <a:ln/>
        </p:spPr>
        <p:txBody>
          <a:bodyPr wrap="square" lIns="0" tIns="0" rIns="0" bIns="0" rtlCol="0" anchor="t">
            <a:normAutofit/>
          </a:bodyPr>
          <a:lstStyle/>
          <a:p>
            <a:pPr algn="l" indent="0" marL="0">
              <a:lnSpc>
                <a:spcPct val="104000"/>
              </a:lnSpc>
              <a:buNone/>
            </a:pPr>
            <a:r>
              <a:rPr lang="en-US" sz="3400" b="1" spc="-50" kern="0" dirty="0">
                <a:solidFill>
                  <a:srgbClr val="26221D"/>
                </a:solidFill>
                <a:latin typeface="Georgia" pitchFamily="34" charset="0"/>
                <a:ea typeface="Georgia" pitchFamily="34" charset="-122"/>
                <a:cs typeface="Georgia" pitchFamily="34" charset="-120"/>
              </a:rPr>
              <a:t>Controls should answer the risks the brief actually establishes.</a:t>
            </a:r>
            <a:endParaRPr lang="en-US" sz="3400" dirty="0"/>
          </a:p>
        </p:txBody>
      </p:sp>
      <p:sp>
        <p:nvSpPr>
          <p:cNvPr id="10" name="element_e3edf6937555dc818fd224058cf36235"/>
          <p:cNvSpPr txBox="1"/>
          <p:nvPr/>
        </p:nvSpPr>
        <p:spPr>
          <a:xfrm>
            <a:off x="7315017" y="3719779"/>
            <a:ext cx="4145176" cy="1423721"/>
          </a:xfrm>
          <a:prstGeom prst="rect">
            <a:avLst/>
          </a:prstGeom>
          <a:noFill/>
          <a:ln/>
        </p:spPr>
        <p:txBody>
          <a:bodyPr wrap="square" lIns="0" tIns="0" rIns="0" bIns="0" rtlCol="0" anchor="t">
            <a:normAutofit/>
          </a:bodyPr>
          <a:lstStyle/>
          <a:p>
            <a:pPr algn="l" indent="0" marL="0">
              <a:lnSpc>
                <a:spcPct val="138000"/>
              </a:lnSpc>
              <a:buNone/>
            </a:pPr>
            <a:r>
              <a:rPr lang="en-US" sz="1600" dirty="0">
                <a:solidFill>
                  <a:srgbClr val="756B61"/>
                </a:solidFill>
                <a:latin typeface="Geist Variable" pitchFamily="34" charset="0"/>
                <a:ea typeface="Geist Variable" pitchFamily="34" charset="-122"/>
                <a:cs typeface="Geist Variable" pitchFamily="34" charset="-120"/>
              </a:rPr>
              <a:t>Keep the comparison qualitative until likelihood, impact, and tolerance values are supplied and sourced.</a:t>
            </a:r>
            <a:endParaRPr lang="en-US" sz="1600" dirty="0"/>
          </a:p>
        </p:txBody>
      </p:sp>
      <p:sp>
        <p:nvSpPr>
          <p:cNvPr id="11" name="element_7d90736c39dbfa17e9aa306aab976d76"/>
          <p:cNvSpPr txBox="1"/>
          <p:nvPr/>
        </p:nvSpPr>
        <p:spPr>
          <a:xfrm>
            <a:off x="7315017" y="5280660"/>
            <a:ext cx="4145176" cy="754380"/>
          </a:xfrm>
          <a:prstGeom prst="rect">
            <a:avLst/>
          </a:prstGeom>
          <a:noFill/>
          <a:ln/>
        </p:spPr>
        <p:txBody>
          <a:bodyPr wrap="square" lIns="152400" tIns="152400" rIns="152400" bIns="152400" rtlCol="0" anchor="t">
            <a:normAutofit/>
          </a:bodyPr>
          <a:lstStyle/>
          <a:p>
            <a:pPr algn="l" indent="0" marL="0">
              <a:lnSpc>
                <a:spcPct val="125000"/>
              </a:lnSpc>
              <a:buNone/>
            </a:pPr>
            <a:r>
              <a:rPr lang="en-US" sz="1600" b="1" dirty="0">
                <a:solidFill>
                  <a:srgbClr val="34452C"/>
                </a:solidFill>
                <a:latin typeface="Geist Variable" pitchFamily="34" charset="0"/>
                <a:ea typeface="Geist Variable" pitchFamily="34" charset="-122"/>
                <a:cs typeface="Geist Variable" pitchFamily="34" charset="-120"/>
              </a:rPr>
              <a:t>Established risk</a:t>
            </a:r>
            <a:endParaRPr lang="en-US" sz="1600" dirty="0"/>
          </a:p>
        </p:txBody>
      </p:sp>
      <p:sp>
        <p:nvSpPr>
          <p:cNvPr id="12" name="element_480f5cf2fc4242e0de201d99ea63018e"/>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3" name="element_200d446f8feda52f2055ac4da61becd6"/>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10</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nodeslide-slide-id:slide_5e461ec036829156dcd14f84dc4578b8"/>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7992db25ff6c1ed0fdaffccc48b775c3"/>
          <p:cNvSpPr txBox="1"/>
          <p:nvPr/>
        </p:nvSpPr>
        <p:spPr>
          <a:xfrm>
            <a:off x="6461598" y="44577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PROOF</a:t>
            </a:r>
            <a:endParaRPr lang="en-US" sz="1500" dirty="0"/>
          </a:p>
        </p:txBody>
      </p:sp>
      <p:sp>
        <p:nvSpPr>
          <p:cNvPr id="4" name="element_47b50223155bcfc9b1a97c2b9c8f2e28"/>
          <p:cNvSpPr txBox="1"/>
          <p:nvPr/>
        </p:nvSpPr>
        <p:spPr>
          <a:xfrm>
            <a:off x="853419" y="1097280"/>
            <a:ext cx="10484858" cy="1234440"/>
          </a:xfrm>
          <a:prstGeom prst="rect">
            <a:avLst/>
          </a:prstGeom>
          <a:noFill/>
          <a:ln/>
        </p:spPr>
        <p:txBody>
          <a:bodyPr wrap="square" lIns="0" tIns="0" rIns="0" bIns="0" rtlCol="0" anchor="t">
            <a:normAutofit/>
          </a:bodyPr>
          <a:lstStyle/>
          <a:p>
            <a:pPr algn="l" indent="0" marL="0">
              <a:lnSpc>
                <a:spcPct val="105000"/>
              </a:lnSpc>
              <a:buNone/>
            </a:pPr>
            <a:r>
              <a:rPr lang="en-US" sz="4200" b="1" spc="-60" kern="0" dirty="0">
                <a:solidFill>
                  <a:srgbClr val="26221D"/>
                </a:solidFill>
                <a:latin typeface="Georgia" pitchFamily="34" charset="0"/>
                <a:ea typeface="Georgia" pitchFamily="34" charset="-122"/>
                <a:cs typeface="Georgia" pitchFamily="34" charset="-120"/>
              </a:rPr>
              <a:t>Agree how success will be judged before the next decision.</a:t>
            </a:r>
            <a:endParaRPr lang="en-US" sz="4200" dirty="0"/>
          </a:p>
        </p:txBody>
      </p:sp>
      <p:sp>
        <p:nvSpPr>
          <p:cNvPr id="5" name="element_18d6c8ab2ea21a54310780349c453eb5"/>
          <p:cNvSpPr txBox="1"/>
          <p:nvPr/>
        </p:nvSpPr>
        <p:spPr>
          <a:xfrm>
            <a:off x="1706837" y="2743200"/>
            <a:ext cx="9631439" cy="1028700"/>
          </a:xfrm>
          <a:prstGeom prst="rect">
            <a:avLst/>
          </a:prstGeom>
          <a:noFill/>
          <a:ln/>
        </p:spPr>
        <p:txBody>
          <a:bodyPr wrap="square" lIns="0" tIns="0" rIns="0" bIns="0" rtlCol="0" anchor="t">
            <a:normAutofit/>
          </a:bodyPr>
          <a:lstStyle/>
          <a:p>
            <a:pPr algn="l" indent="0" marL="0">
              <a:lnSpc>
                <a:spcPct val="135000"/>
              </a:lnSpc>
              <a:buNone/>
            </a:pPr>
            <a:r>
              <a:rPr lang="en-US" sz="1800" dirty="0">
                <a:solidFill>
                  <a:srgbClr val="756B61"/>
                </a:solidFill>
                <a:latin typeface="Geist Variable" pitchFamily="34" charset="0"/>
                <a:ea typeface="Geist Variable" pitchFamily="34" charset="-122"/>
                <a:cs typeface="Geist Variable" pitchFamily="34" charset="-120"/>
              </a:rPr>
              <a:t>Use the supplied success criteria as review questions; do not turn them into invented scores or weights.</a:t>
            </a:r>
            <a:endParaRPr lang="en-US" sz="1800" dirty="0"/>
          </a:p>
        </p:txBody>
      </p:sp>
      <p:sp>
        <p:nvSpPr>
          <p:cNvPr id="6" name="element_41a16164cc258ac30956cbd4640306f6"/>
          <p:cNvSpPr txBox="1"/>
          <p:nvPr/>
        </p:nvSpPr>
        <p:spPr>
          <a:xfrm>
            <a:off x="975336" y="3909060"/>
            <a:ext cx="4023259" cy="518465"/>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01  Preserve all twelve narrative jobs</a:t>
            </a:r>
            <a:endParaRPr lang="en-US" sz="1700" dirty="0"/>
          </a:p>
        </p:txBody>
      </p:sp>
      <p:sp>
        <p:nvSpPr>
          <p:cNvPr id="7" name="element_af08544760b746ffbd9c026b0123c4ba"/>
          <p:cNvSpPr txBox="1"/>
          <p:nvPr/>
        </p:nvSpPr>
        <p:spPr>
          <a:xfrm>
            <a:off x="975336" y="4633265"/>
            <a:ext cx="4023259" cy="518465"/>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02  Separate supplied evidence from open assumptions</a:t>
            </a:r>
            <a:endParaRPr lang="en-US" sz="1700" dirty="0"/>
          </a:p>
        </p:txBody>
      </p:sp>
      <p:sp>
        <p:nvSpPr>
          <p:cNvPr id="8" name="element_24d4817d32ebadb03e5b2868e34409d4"/>
          <p:cNvSpPr txBox="1"/>
          <p:nvPr/>
        </p:nvSpPr>
        <p:spPr>
          <a:xfrm>
            <a:off x="975336" y="5356784"/>
            <a:ext cx="4023259" cy="518465"/>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03  Name the decision owner and next checkpoint</a:t>
            </a:r>
            <a:endParaRPr lang="en-US" sz="1700" dirty="0"/>
          </a:p>
        </p:txBody>
      </p:sp>
      <p:sp>
        <p:nvSpPr>
          <p:cNvPr id="9" name="element_b2854094ce033f66e0f2567d3da73b0e"/>
          <p:cNvSpPr/>
          <p:nvPr/>
        </p:nvSpPr>
        <p:spPr>
          <a:xfrm>
            <a:off x="3177156" y="356616"/>
            <a:ext cx="146300" cy="685800"/>
          </a:xfrm>
          <a:prstGeom prst="roundRect">
            <a:avLst/>
          </a:prstGeom>
          <a:solidFill>
            <a:srgbClr val="34452C"/>
          </a:solidFill>
          <a:ln w="12700">
            <a:solidFill>
              <a:srgbClr val="FFFFFF">
                <a:alpha val="0"/>
              </a:srgbClr>
            </a:solidFill>
            <a:prstDash val="solid"/>
          </a:ln>
        </p:spPr>
      </p:sp>
      <p:sp>
        <p:nvSpPr>
          <p:cNvPr id="10" name="element_48402ebbe3a8ec3b2a5f26360b92c1dc"/>
          <p:cNvSpPr/>
          <p:nvPr/>
        </p:nvSpPr>
        <p:spPr>
          <a:xfrm>
            <a:off x="1431305" y="356616"/>
            <a:ext cx="146300" cy="685800"/>
          </a:xfrm>
          <a:prstGeom prst="roundRect">
            <a:avLst/>
          </a:prstGeom>
          <a:solidFill>
            <a:srgbClr val="34452C"/>
          </a:solidFill>
          <a:ln w="12700">
            <a:solidFill>
              <a:srgbClr val="FFFFFF">
                <a:alpha val="0"/>
              </a:srgbClr>
            </a:solidFill>
            <a:prstDash val="solid"/>
          </a:ln>
        </p:spPr>
      </p:sp>
      <p:sp>
        <p:nvSpPr>
          <p:cNvPr id="11" name="element_25e116853f5c838cfc7009e9ec971251"/>
          <p:cNvSpPr/>
          <p:nvPr/>
        </p:nvSpPr>
        <p:spPr>
          <a:xfrm>
            <a:off x="1576386" y="850392"/>
            <a:ext cx="1600770" cy="68580"/>
          </a:xfrm>
          <a:prstGeom prst="roundRect">
            <a:avLst/>
          </a:prstGeom>
          <a:solidFill>
            <a:srgbClr val="F2DED3">
              <a:alpha val="74000"/>
            </a:srgbClr>
          </a:solidFill>
          <a:ln w="12700">
            <a:solidFill>
              <a:srgbClr val="FFFFFF">
                <a:alpha val="0"/>
              </a:srgbClr>
            </a:solidFill>
            <a:prstDash val="solid"/>
          </a:ln>
        </p:spPr>
      </p:sp>
      <p:sp>
        <p:nvSpPr>
          <p:cNvPr id="12" name="element_211bb930c058f5f9c6b025ea955129de"/>
          <p:cNvSpPr/>
          <p:nvPr/>
        </p:nvSpPr>
        <p:spPr>
          <a:xfrm>
            <a:off x="1460565" y="768096"/>
            <a:ext cx="268217" cy="150876"/>
          </a:xfrm>
          <a:prstGeom prst="roundRect">
            <a:avLst/>
          </a:prstGeom>
          <a:solidFill>
            <a:srgbClr val="B44A2D"/>
          </a:solidFill>
          <a:ln w="12700">
            <a:solidFill>
              <a:srgbClr val="FFFFFF">
                <a:alpha val="0"/>
              </a:srgbClr>
            </a:solidFill>
            <a:prstDash val="solid"/>
          </a:ln>
        </p:spPr>
      </p:sp>
      <p:sp>
        <p:nvSpPr>
          <p:cNvPr id="13" name="element_d7b507fb8a349bc29e7f736b6a316300"/>
          <p:cNvSpPr txBox="1"/>
          <p:nvPr/>
        </p:nvSpPr>
        <p:spPr>
          <a:xfrm>
            <a:off x="2560256"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4" name="element_93c05a6fef75185268d70ddaaf947c84"/>
          <p:cNvSpPr txBox="1"/>
          <p:nvPr/>
        </p:nvSpPr>
        <p:spPr>
          <a:xfrm>
            <a:off x="73150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11</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nodeslide-slide-id:slide_272e9eacc3b7010013de081e2773d41b"/>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1d61cabd1aaa5f47c3d86f3204ec7731"/>
          <p:cNvSpPr txBox="1"/>
          <p:nvPr/>
        </p:nvSpPr>
        <p:spPr>
          <a:xfrm>
            <a:off x="853419" y="44577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CLOSE / 07</a:t>
            </a:r>
            <a:endParaRPr lang="en-US" sz="1500" dirty="0"/>
          </a:p>
        </p:txBody>
      </p:sp>
      <p:sp>
        <p:nvSpPr>
          <p:cNvPr id="4" name="element_0ab825f5cfb13f0298253a3eb0a3ef0c"/>
          <p:cNvSpPr txBox="1"/>
          <p:nvPr/>
        </p:nvSpPr>
        <p:spPr>
          <a:xfrm>
            <a:off x="853419" y="1028700"/>
            <a:ext cx="9631439" cy="960120"/>
          </a:xfrm>
          <a:prstGeom prst="rect">
            <a:avLst/>
          </a:prstGeom>
          <a:noFill/>
          <a:ln/>
        </p:spPr>
        <p:txBody>
          <a:bodyPr wrap="square" lIns="0" tIns="0" rIns="0" bIns="0" rtlCol="0" anchor="t">
            <a:normAutofit/>
          </a:bodyPr>
          <a:lstStyle/>
          <a:p>
            <a:pPr algn="l" indent="0" marL="0">
              <a:lnSpc>
                <a:spcPct val="105000"/>
              </a:lnSpc>
              <a:buNone/>
            </a:pPr>
            <a:r>
              <a:rPr lang="en-US" sz="3600" b="1" spc="-40" kern="0" dirty="0">
                <a:solidFill>
                  <a:srgbClr val="26221D"/>
                </a:solidFill>
                <a:latin typeface="Georgia" pitchFamily="34" charset="0"/>
                <a:ea typeface="Georgia" pitchFamily="34" charset="-122"/>
                <a:cs typeface="Georgia" pitchFamily="34" charset="-120"/>
              </a:rPr>
              <a:t>Decide whether the AI release gate may open</a:t>
            </a:r>
            <a:endParaRPr lang="en-US" sz="3600" dirty="0"/>
          </a:p>
        </p:txBody>
      </p:sp>
      <p:sp>
        <p:nvSpPr>
          <p:cNvPr id="5" name="element_b56d5c087eb6fa9e05d3a22d8eb03136"/>
          <p:cNvSpPr/>
          <p:nvPr/>
        </p:nvSpPr>
        <p:spPr>
          <a:xfrm>
            <a:off x="853419" y="2400300"/>
            <a:ext cx="3291758" cy="2194560"/>
          </a:xfrm>
          <a:prstGeom prst="roundRect">
            <a:avLst/>
          </a:prstGeom>
          <a:solidFill>
            <a:srgbClr val="E5E9D6"/>
          </a:solidFill>
          <a:ln w="12700">
            <a:solidFill>
              <a:srgbClr val="DED7CC"/>
            </a:solidFill>
            <a:prstDash val="solid"/>
          </a:ln>
        </p:spPr>
      </p:sp>
      <p:sp>
        <p:nvSpPr>
          <p:cNvPr id="6" name="element_2e14c61a3d1b347a60f176a120113592"/>
          <p:cNvSpPr txBox="1"/>
          <p:nvPr/>
        </p:nvSpPr>
        <p:spPr>
          <a:xfrm>
            <a:off x="1097253" y="2537460"/>
            <a:ext cx="2804090" cy="1920240"/>
          </a:xfrm>
          <a:prstGeom prst="rect">
            <a:avLst/>
          </a:prstGeom>
          <a:noFill/>
          <a:ln/>
        </p:spPr>
        <p:txBody>
          <a:bodyPr wrap="square" lIns="0" tIns="0" rIns="0" bIns="0" rtlCol="0" anchor="t">
            <a:normAutofit/>
          </a:bodyPr>
          <a:lstStyle/>
          <a:p>
            <a:pPr algn="l" indent="0" marL="0">
              <a:lnSpc>
                <a:spcPct val="125000"/>
              </a:lnSpc>
              <a:buNone/>
            </a:pPr>
            <a:r>
              <a:rPr lang="en-US" sz="1600" dirty="0">
                <a:solidFill>
                  <a:srgbClr val="34452C"/>
                </a:solidFill>
                <a:latin typeface="Geist Variable" pitchFamily="34" charset="0"/>
                <a:ea typeface="Geist Variable" pitchFamily="34" charset="-122"/>
                <a:cs typeface="Geist Variable" pitchFamily="34" charset="-120"/>
              </a:rPr>
              <a:t>01  Agree the outcome</a:t>
            </a:r>
            <a:endParaRPr lang="en-US" sz="1600" dirty="0"/>
          </a:p>
        </p:txBody>
      </p:sp>
      <p:sp>
        <p:nvSpPr>
          <p:cNvPr id="7" name="element_03b0fc0e4bd373ac5e521e55a8b1bf06"/>
          <p:cNvSpPr/>
          <p:nvPr/>
        </p:nvSpPr>
        <p:spPr>
          <a:xfrm>
            <a:off x="4449969" y="2400300"/>
            <a:ext cx="3291758" cy="2194560"/>
          </a:xfrm>
          <a:prstGeom prst="roundRect">
            <a:avLst/>
          </a:prstGeom>
          <a:solidFill>
            <a:srgbClr val="E5E9D6"/>
          </a:solidFill>
          <a:ln w="12700">
            <a:solidFill>
              <a:srgbClr val="DED7CC"/>
            </a:solidFill>
            <a:prstDash val="solid"/>
          </a:ln>
        </p:spPr>
      </p:sp>
      <p:sp>
        <p:nvSpPr>
          <p:cNvPr id="8" name="element_d1cc48c6bd8aeff5b9f94ef405e4327f"/>
          <p:cNvSpPr txBox="1"/>
          <p:nvPr/>
        </p:nvSpPr>
        <p:spPr>
          <a:xfrm>
            <a:off x="4693803" y="2537460"/>
            <a:ext cx="2804090" cy="1920240"/>
          </a:xfrm>
          <a:prstGeom prst="rect">
            <a:avLst/>
          </a:prstGeom>
          <a:noFill/>
          <a:ln/>
        </p:spPr>
        <p:txBody>
          <a:bodyPr wrap="square" lIns="0" tIns="0" rIns="0" bIns="0" rtlCol="0" anchor="t">
            <a:normAutofit/>
          </a:bodyPr>
          <a:lstStyle/>
          <a:p>
            <a:pPr algn="l" indent="0" marL="0">
              <a:lnSpc>
                <a:spcPct val="125000"/>
              </a:lnSpc>
              <a:buNone/>
            </a:pPr>
            <a:r>
              <a:rPr lang="en-US" sz="1600" dirty="0">
                <a:solidFill>
                  <a:srgbClr val="34452C"/>
                </a:solidFill>
                <a:latin typeface="Geist Variable" pitchFamily="34" charset="0"/>
                <a:ea typeface="Geist Variable" pitchFamily="34" charset="-122"/>
                <a:cs typeface="Geist Variable" pitchFamily="34" charset="-120"/>
              </a:rPr>
              <a:t>02  Name the owner</a:t>
            </a:r>
            <a:endParaRPr lang="en-US" sz="1600" dirty="0"/>
          </a:p>
        </p:txBody>
      </p:sp>
      <p:sp>
        <p:nvSpPr>
          <p:cNvPr id="9" name="element_19aad8c91da7807aeef8df1f5dbeb93d"/>
          <p:cNvSpPr/>
          <p:nvPr/>
        </p:nvSpPr>
        <p:spPr>
          <a:xfrm>
            <a:off x="8046519" y="2400300"/>
            <a:ext cx="3291758" cy="2194560"/>
          </a:xfrm>
          <a:prstGeom prst="roundRect">
            <a:avLst/>
          </a:prstGeom>
          <a:solidFill>
            <a:srgbClr val="E5E9D6"/>
          </a:solidFill>
          <a:ln w="12700">
            <a:solidFill>
              <a:srgbClr val="DED7CC"/>
            </a:solidFill>
            <a:prstDash val="solid"/>
          </a:ln>
        </p:spPr>
      </p:sp>
      <p:sp>
        <p:nvSpPr>
          <p:cNvPr id="10" name="element_ced7560791dd44adb16f140dab2d292a"/>
          <p:cNvSpPr txBox="1"/>
          <p:nvPr/>
        </p:nvSpPr>
        <p:spPr>
          <a:xfrm>
            <a:off x="8290353" y="2537460"/>
            <a:ext cx="2804090" cy="1920240"/>
          </a:xfrm>
          <a:prstGeom prst="rect">
            <a:avLst/>
          </a:prstGeom>
          <a:noFill/>
          <a:ln/>
        </p:spPr>
        <p:txBody>
          <a:bodyPr wrap="square" lIns="0" tIns="0" rIns="0" bIns="0" rtlCol="0" anchor="t">
            <a:normAutofit/>
          </a:bodyPr>
          <a:lstStyle/>
          <a:p>
            <a:pPr algn="l" indent="0" marL="0">
              <a:lnSpc>
                <a:spcPct val="125000"/>
              </a:lnSpc>
              <a:buNone/>
            </a:pPr>
            <a:r>
              <a:rPr lang="en-US" sz="1600" dirty="0">
                <a:solidFill>
                  <a:srgbClr val="34452C"/>
                </a:solidFill>
                <a:latin typeface="Geist Variable" pitchFamily="34" charset="0"/>
                <a:ea typeface="Geist Variable" pitchFamily="34" charset="-122"/>
                <a:cs typeface="Geist Variable" pitchFamily="34" charset="-120"/>
              </a:rPr>
              <a:t>03  Set the next checkpoint</a:t>
            </a:r>
            <a:endParaRPr lang="en-US" sz="1600" dirty="0"/>
          </a:p>
        </p:txBody>
      </p:sp>
      <p:sp>
        <p:nvSpPr>
          <p:cNvPr id="11" name="element_303ba2af81bd28e2faf6862d2fd0d4a3"/>
          <p:cNvSpPr/>
          <p:nvPr/>
        </p:nvSpPr>
        <p:spPr>
          <a:xfrm>
            <a:off x="8814596" y="356616"/>
            <a:ext cx="146300" cy="685800"/>
          </a:xfrm>
          <a:prstGeom prst="roundRect">
            <a:avLst/>
          </a:prstGeom>
          <a:solidFill>
            <a:srgbClr val="34452C">
              <a:alpha val="76000"/>
            </a:srgbClr>
          </a:solidFill>
          <a:ln w="12700">
            <a:solidFill>
              <a:srgbClr val="FFFFFF">
                <a:alpha val="0"/>
              </a:srgbClr>
            </a:solidFill>
            <a:prstDash val="solid"/>
          </a:ln>
        </p:spPr>
      </p:sp>
      <p:sp>
        <p:nvSpPr>
          <p:cNvPr id="12" name="element_b92296a4feeb38b371c8f1f175543c89"/>
          <p:cNvSpPr/>
          <p:nvPr/>
        </p:nvSpPr>
        <p:spPr>
          <a:xfrm>
            <a:off x="10667733" y="356616"/>
            <a:ext cx="146300" cy="685800"/>
          </a:xfrm>
          <a:prstGeom prst="roundRect">
            <a:avLst/>
          </a:prstGeom>
          <a:solidFill>
            <a:srgbClr val="34452C">
              <a:alpha val="76000"/>
            </a:srgbClr>
          </a:solidFill>
          <a:ln w="12700">
            <a:solidFill>
              <a:srgbClr val="FFFFFF">
                <a:alpha val="0"/>
              </a:srgbClr>
            </a:solidFill>
            <a:prstDash val="solid"/>
          </a:ln>
        </p:spPr>
      </p:sp>
      <p:sp>
        <p:nvSpPr>
          <p:cNvPr id="13" name="element_d4ce5ce8f589553e0b8250178e737fbe"/>
          <p:cNvSpPr/>
          <p:nvPr/>
        </p:nvSpPr>
        <p:spPr>
          <a:xfrm>
            <a:off x="8960896" y="850392"/>
            <a:ext cx="1706837" cy="68580"/>
          </a:xfrm>
          <a:prstGeom prst="roundRect">
            <a:avLst/>
          </a:prstGeom>
          <a:solidFill>
            <a:srgbClr val="F2DED3">
              <a:alpha val="77000"/>
            </a:srgbClr>
          </a:solidFill>
          <a:ln w="12700">
            <a:solidFill>
              <a:srgbClr val="FFFFFF">
                <a:alpha val="0"/>
              </a:srgbClr>
            </a:solidFill>
            <a:prstDash val="solid"/>
          </a:ln>
        </p:spPr>
      </p:sp>
      <p:sp>
        <p:nvSpPr>
          <p:cNvPr id="14" name="element_c6de01c08d374c4d13f2fd349423d00f"/>
          <p:cNvSpPr/>
          <p:nvPr/>
        </p:nvSpPr>
        <p:spPr>
          <a:xfrm>
            <a:off x="10655542" y="768096"/>
            <a:ext cx="268217" cy="150876"/>
          </a:xfrm>
          <a:prstGeom prst="roundRect">
            <a:avLst/>
          </a:prstGeom>
          <a:solidFill>
            <a:srgbClr val="B44A2D">
              <a:alpha val="76000"/>
            </a:srgbClr>
          </a:solidFill>
          <a:ln w="12700">
            <a:solidFill>
              <a:srgbClr val="FFFFFF">
                <a:alpha val="0"/>
              </a:srgbClr>
            </a:solidFill>
            <a:prstDash val="solid"/>
          </a:ln>
        </p:spPr>
      </p:sp>
      <p:sp>
        <p:nvSpPr>
          <p:cNvPr id="15" name="element_fdaa45fe6c739c990e99ed81729b98e6"/>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6" name="element_3262befbb267e7dd22d9c0a5ebcc2a17"/>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12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ist Variabl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Parity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exactly 12 slides for a risk committee deciding whether an AI release may…</dc:title>
  <dc:subject>Decide whether the AI release gate may open</dc:subject>
  <dc:creator>NodeSlide</dc:creator>
  <cp:lastModifiedBy>NodeSlide</cp:lastModifiedBy>
  <cp:revision>1</cp:revision>
  <dcterms:created xsi:type="dcterms:W3CDTF">2026-08-02T02:44:41Z</dcterms:created>
  <dcterms:modified xsi:type="dcterms:W3CDTF">2026-08-02T02:44:41Z</dcterms:modified>
</cp:coreProperties>
</file>