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Composition grammar: full-bleed-thesis. Keep the spoken transition focused on "Decide whether the release gate can open"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Composition grammar: process-canvas.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
[source_6fdbf7ab52cb19c3ec1ca2f821d92cac] Brief success criteria
Citation: Preserve all twelve narrative jobs; Separate supplied evidence from open assumptions; Name ownership and the next decision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Composition grammar: comparison-field.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Composition grammar: asymmetric-editorial.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
[source_6fdbf7ab52cb19c3ec1ca2f821d92cac] Brief success criteria
Citation: Preserve all twelve narrative jobs; Separate supplied evidence from open assumptions; Name ownership and the next decision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Composition grammar: comparison-field.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Composition grammar: process-canvas. Keep the spoken transition focused on "Separate what is supplied from what still needs verification."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
[source_6fdbf7ab52cb19c3ec1ca2f821d92cac] Brief success criteria
Citation: Preserve all twelve narrative jobs; Separate supplied evidence from open assumptions; Name ownership and the next decision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Composition grammar: evidence-dossier. Keep the spoken transition focused on "Unverified assumptions remain questions, not conclusions."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Operating model. Composition grammar: process-canvas. Keep the spoken transition focused on "A decision becomes executable when each handoff has an owner."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
[source_6fdbf7ab52cb19c3ec1ca2f821d92cac] Brief success criteria
Citation: Preserve all twelve narrative jobs; Separate supplied evidence from open assumptions; Name ownership and the next decision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Risk. Composition grammar: comparison-field. Keep the spoken transition focused on "Controls should answer the risks the brief actually establishes."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Proof. Composition grammar: asymmetric-editorial. Keep the spoken transition focused on "Agree how success will be judged before the next decision."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Composition grammar: evidence-dossier. Keep the spoken transition focused on "Decide whether the release gate can open"
Evidence note: Content is based on the supplied creation brief. Illustrative examples are not independently verified; replace them with measured evidence before external publication.
NodeSlide sources
[source_d4a3615c1e38994a887d4867b3569cff] From evidence boundary to release decision — creation brief
Citation: Build exactly 12 slides for a risk committee deciding whether an AI release gate can open. Use only supplied qualitative evidence, preserve the evidence boundary, and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3667014d92fc85fc999adafa98f8e5d6"/>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fabda3bba143852e2f1db824b25e90f"/>
          <p:cNvSpPr txBox="1"/>
          <p:nvPr/>
        </p:nvSpPr>
        <p:spPr>
          <a:xfrm>
            <a:off x="853419" y="2599868"/>
            <a:ext cx="10484858" cy="1658264"/>
          </a:xfrm>
          <a:prstGeom prst="rect">
            <a:avLst/>
          </a:prstGeom>
          <a:noFill/>
          <a:ln/>
        </p:spPr>
        <p:txBody>
          <a:bodyPr wrap="square" lIns="0" tIns="0" rIns="0" bIns="0" rtlCol="0" anchor="t">
            <a:normAutofit/>
          </a:bodyPr>
          <a:lstStyle/>
          <a:p>
            <a:pPr algn="l" indent="0" marL="0">
              <a:lnSpc>
                <a:spcPct val="102000"/>
              </a:lnSpc>
              <a:buNone/>
            </a:pPr>
            <a:r>
              <a:rPr lang="en-US" sz="6400" b="1" spc="-120" kern="0" dirty="0">
                <a:solidFill>
                  <a:srgbClr val="26221D"/>
                </a:solidFill>
                <a:latin typeface="Georgia" pitchFamily="34" charset="0"/>
                <a:ea typeface="Georgia" pitchFamily="34" charset="-122"/>
                <a:cs typeface="Georgia" pitchFamily="34" charset="-120"/>
              </a:rPr>
              <a:t>Decide whether the release gate can open</a:t>
            </a:r>
            <a:endParaRPr lang="en-US" sz="6400" dirty="0"/>
          </a:p>
        </p:txBody>
      </p:sp>
      <p:sp>
        <p:nvSpPr>
          <p:cNvPr id="4" name="element_810848fe6b2896ee758ecc2cb23c9a68"/>
          <p:cNvSpPr/>
          <p:nvPr/>
        </p:nvSpPr>
        <p:spPr>
          <a:xfrm>
            <a:off x="853419" y="4395292"/>
            <a:ext cx="1463003" cy="68580"/>
          </a:xfrm>
          <a:prstGeom prst="roundRect">
            <a:avLst/>
          </a:prstGeom>
          <a:solidFill>
            <a:srgbClr val="B44A2D"/>
          </a:solidFill>
          <a:ln w="12700">
            <a:solidFill>
              <a:srgbClr val="FFFFFF">
                <a:alpha val="0"/>
              </a:srgbClr>
            </a:solidFill>
            <a:prstDash val="solid"/>
          </a:ln>
        </p:spPr>
      </p:sp>
      <p:sp>
        <p:nvSpPr>
          <p:cNvPr id="5" name="element_9f6fe43176af908aa2e49b7a750f0384"/>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6" name="element_4dfb193872e09e826994ef01708a0d53"/>
          <p:cNvSpPr/>
          <p:nvPr/>
        </p:nvSpPr>
        <p:spPr>
          <a:xfrm>
            <a:off x="853419" y="788670"/>
            <a:ext cx="975336" cy="68580"/>
          </a:xfrm>
          <a:prstGeom prst="roundRect">
            <a:avLst/>
          </a:prstGeom>
          <a:solidFill>
            <a:srgbClr val="B44A2D">
              <a:alpha val="28000"/>
            </a:srgbClr>
          </a:solidFill>
          <a:ln w="12700">
            <a:solidFill>
              <a:srgbClr val="FFFFFF">
                <a:alpha val="0"/>
              </a:srgbClr>
            </a:solidFill>
            <a:prstDash val="solid"/>
          </a:ln>
        </p:spPr>
      </p:sp>
      <p:sp>
        <p:nvSpPr>
          <p:cNvPr id="7" name="element_e490767cfc270c47e07d7770fa815579"/>
          <p:cNvSpPr/>
          <p:nvPr/>
        </p:nvSpPr>
        <p:spPr>
          <a:xfrm>
            <a:off x="10777459" y="665226"/>
            <a:ext cx="121917" cy="301752"/>
          </a:xfrm>
          <a:prstGeom prst="roundRect">
            <a:avLst/>
          </a:prstGeom>
          <a:solidFill>
            <a:srgbClr val="34452C">
              <a:alpha val="38000"/>
            </a:srgbClr>
          </a:solidFill>
          <a:ln w="12700">
            <a:solidFill>
              <a:srgbClr val="FFFFFF">
                <a:alpha val="0"/>
              </a:srgbClr>
            </a:solidFill>
            <a:prstDash val="solid"/>
          </a:ln>
        </p:spPr>
      </p:sp>
      <p:sp>
        <p:nvSpPr>
          <p:cNvPr id="8" name="element_a4fffb5a445f13bbc4b0674ed9b83862"/>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9" name="element_39e0b1490378a8331820819d56c484c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611b598c73200dcb847a6898e091b729"/>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44381cd0088ac6673082f69baa52be30"/>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ef88c7a6b888b314dbe72a807cf63c20"/>
          <p:cNvSpPr txBox="1"/>
          <p:nvPr/>
        </p:nvSpPr>
        <p:spPr>
          <a:xfrm>
            <a:off x="853419" y="960120"/>
            <a:ext cx="9997190" cy="894283"/>
          </a:xfrm>
          <a:prstGeom prst="rect">
            <a:avLst/>
          </a:prstGeom>
          <a:noFill/>
          <a:ln/>
        </p:spPr>
        <p:txBody>
          <a:bodyPr wrap="square" lIns="0" tIns="0" rIns="0" bIns="0" rtlCol="0" anchor="t">
            <a:normAutofit/>
          </a:bodyPr>
          <a:lstStyle/>
          <a:p>
            <a:pPr algn="l" indent="0" marL="0">
              <a:lnSpc>
                <a:spcPct val="110000"/>
              </a:lnSpc>
              <a:buNone/>
            </a:pPr>
            <a:r>
              <a:rPr lang="en-US" sz="3200" b="1" dirty="0">
                <a:solidFill>
                  <a:srgbClr val="26221D"/>
                </a:solidFill>
                <a:latin typeface="Georgia" pitchFamily="34" charset="0"/>
                <a:ea typeface="Georgia" pitchFamily="34" charset="-122"/>
                <a:cs typeface="Georgia" pitchFamily="34" charset="-120"/>
              </a:rPr>
              <a:t>The cost of waiting is usually hidden in repeated work.</a:t>
            </a:r>
            <a:endParaRPr lang="en-US" sz="3200" dirty="0"/>
          </a:p>
        </p:txBody>
      </p:sp>
      <p:sp>
        <p:nvSpPr>
          <p:cNvPr id="5" name="element_b8bfa90c98153d93e51ae3840c4376bf"/>
          <p:cNvSpPr/>
          <p:nvPr/>
        </p:nvSpPr>
        <p:spPr>
          <a:xfrm>
            <a:off x="2499298" y="3931006"/>
            <a:ext cx="3596550" cy="164592"/>
          </a:xfrm>
          <a:prstGeom prst="line">
            <a:avLst/>
          </a:prstGeom>
          <a:noFill/>
          <a:ln w="25400">
            <a:solidFill>
              <a:srgbClr val="7566A8"/>
            </a:solidFill>
            <a:prstDash val="solid"/>
            <a:tailEnd type="triangle"/>
          </a:ln>
        </p:spPr>
      </p:sp>
      <p:sp>
        <p:nvSpPr>
          <p:cNvPr id="6" name="element_c233b908d19e8ad31beecbf8afbb88ed"/>
          <p:cNvSpPr/>
          <p:nvPr/>
        </p:nvSpPr>
        <p:spPr>
          <a:xfrm>
            <a:off x="6095848" y="3931006"/>
            <a:ext cx="3596550" cy="164592"/>
          </a:xfrm>
          <a:prstGeom prst="line">
            <a:avLst/>
          </a:prstGeom>
          <a:noFill/>
          <a:ln w="25400">
            <a:solidFill>
              <a:srgbClr val="7566A8"/>
            </a:solidFill>
            <a:prstDash val="solid"/>
            <a:tailEnd type="triangle"/>
          </a:ln>
        </p:spPr>
      </p:sp>
      <p:sp>
        <p:nvSpPr>
          <p:cNvPr id="7" name="element_90272b2d40e3a9b78c9dba3d927e4915"/>
          <p:cNvSpPr/>
          <p:nvPr/>
        </p:nvSpPr>
        <p:spPr>
          <a:xfrm>
            <a:off x="853419" y="3533242"/>
            <a:ext cx="3291758" cy="960120"/>
          </a:xfrm>
          <a:prstGeom prst="roundRect">
            <a:avLst/>
          </a:prstGeom>
          <a:solidFill>
            <a:srgbClr val="F2DED3"/>
          </a:solidFill>
          <a:ln w="12700">
            <a:solidFill>
              <a:srgbClr val="DED7CC"/>
            </a:solidFill>
            <a:prstDash val="solid"/>
          </a:ln>
        </p:spPr>
      </p:sp>
      <p:sp>
        <p:nvSpPr>
          <p:cNvPr id="8" name="element_90272b2d40e3a9b78c9dba3d927e4915:text"/>
          <p:cNvSpPr txBox="1"/>
          <p:nvPr/>
        </p:nvSpPr>
        <p:spPr>
          <a:xfrm>
            <a:off x="8534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Friction</a:t>
            </a:r>
            <a:endParaRPr lang="en-US" sz="1400" dirty="0"/>
          </a:p>
        </p:txBody>
      </p:sp>
      <p:sp>
        <p:nvSpPr>
          <p:cNvPr id="9" name="element_fb73a802315b6b93508e6b95aa5b5935"/>
          <p:cNvSpPr/>
          <p:nvPr/>
        </p:nvSpPr>
        <p:spPr>
          <a:xfrm>
            <a:off x="4449969" y="3533242"/>
            <a:ext cx="3291758" cy="960120"/>
          </a:xfrm>
          <a:prstGeom prst="roundRect">
            <a:avLst/>
          </a:prstGeom>
          <a:solidFill>
            <a:srgbClr val="F2DED3"/>
          </a:solidFill>
          <a:ln w="12700">
            <a:solidFill>
              <a:srgbClr val="DED7CC"/>
            </a:solidFill>
            <a:prstDash val="solid"/>
          </a:ln>
        </p:spPr>
      </p:sp>
      <p:sp>
        <p:nvSpPr>
          <p:cNvPr id="10" name="element_fb73a802315b6b93508e6b95aa5b5935:text"/>
          <p:cNvSpPr txBox="1"/>
          <p:nvPr/>
        </p:nvSpPr>
        <p:spPr>
          <a:xfrm>
            <a:off x="444996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Consequence</a:t>
            </a:r>
            <a:endParaRPr lang="en-US" sz="1300" dirty="0"/>
          </a:p>
        </p:txBody>
      </p:sp>
      <p:sp>
        <p:nvSpPr>
          <p:cNvPr id="11" name="element_cb8eefd47a4a2b78e34ac86424096791"/>
          <p:cNvSpPr/>
          <p:nvPr/>
        </p:nvSpPr>
        <p:spPr>
          <a:xfrm>
            <a:off x="8046519" y="3533242"/>
            <a:ext cx="3291758" cy="960120"/>
          </a:xfrm>
          <a:prstGeom prst="roundRect">
            <a:avLst/>
          </a:prstGeom>
          <a:solidFill>
            <a:srgbClr val="E5E9D6"/>
          </a:solidFill>
          <a:ln w="12700">
            <a:solidFill>
              <a:srgbClr val="DED7CC"/>
            </a:solidFill>
            <a:prstDash val="solid"/>
          </a:ln>
        </p:spPr>
      </p:sp>
      <p:sp>
        <p:nvSpPr>
          <p:cNvPr id="12" name="element_cb8eefd47a4a2b78e34ac86424096791:text"/>
          <p:cNvSpPr txBox="1"/>
          <p:nvPr/>
        </p:nvSpPr>
        <p:spPr>
          <a:xfrm>
            <a:off x="80465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Decision window</a:t>
            </a:r>
            <a:endParaRPr lang="en-US" sz="1300" dirty="0"/>
          </a:p>
        </p:txBody>
      </p:sp>
      <p:sp>
        <p:nvSpPr>
          <p:cNvPr id="13" name="element_d1a9c03fb7334d545a8d1869c217b6be"/>
          <p:cNvSpPr txBox="1"/>
          <p:nvPr/>
        </p:nvSpPr>
        <p:spPr>
          <a:xfrm>
            <a:off x="853419" y="4543425"/>
            <a:ext cx="9631439" cy="75438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Frame the current reality for Risk committee: what is fragmented today, why it matters now, and where momentum is being lost.</a:t>
            </a:r>
            <a:endParaRPr lang="en-US" sz="1600" dirty="0"/>
          </a:p>
        </p:txBody>
      </p:sp>
      <p:sp>
        <p:nvSpPr>
          <p:cNvPr id="14" name="element_4fc31dae182284dcf338386231dea805"/>
          <p:cNvSpPr/>
          <p:nvPr/>
        </p:nvSpPr>
        <p:spPr>
          <a:xfrm>
            <a:off x="853419" y="788670"/>
            <a:ext cx="1666605" cy="68580"/>
          </a:xfrm>
          <a:prstGeom prst="roundRect">
            <a:avLst/>
          </a:prstGeom>
          <a:solidFill>
            <a:srgbClr val="B44A2D">
              <a:alpha val="32000"/>
            </a:srgbClr>
          </a:solidFill>
          <a:ln w="12700">
            <a:solidFill>
              <a:srgbClr val="FFFFFF">
                <a:alpha val="0"/>
              </a:srgbClr>
            </a:solidFill>
            <a:prstDash val="solid"/>
          </a:ln>
        </p:spPr>
      </p:sp>
      <p:sp>
        <p:nvSpPr>
          <p:cNvPr id="15" name="element_0863bf40e771002e00239ed0b983a1de"/>
          <p:cNvSpPr/>
          <p:nvPr/>
        </p:nvSpPr>
        <p:spPr>
          <a:xfrm>
            <a:off x="10777459" y="665226"/>
            <a:ext cx="121917" cy="301752"/>
          </a:xfrm>
          <a:prstGeom prst="roundRect">
            <a:avLst/>
          </a:prstGeom>
          <a:solidFill>
            <a:srgbClr val="34452C">
              <a:alpha val="38000"/>
            </a:srgbClr>
          </a:solidFill>
          <a:ln w="12700">
            <a:solidFill>
              <a:srgbClr val="FFFFFF">
                <a:alpha val="0"/>
              </a:srgbClr>
            </a:solidFill>
            <a:prstDash val="solid"/>
          </a:ln>
        </p:spPr>
      </p:sp>
      <p:sp>
        <p:nvSpPr>
          <p:cNvPr id="16" name="element_82630ecf1ac5c034c5dacca7ecc7588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7" name="element_90e792ba2102d738d006b3527f6a443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a8388328de9998e3e17f6f0e76015bc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e61c759b5991ddab7519c4ba86050f26"/>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4165ae0e78801868814b872642cb85f0"/>
          <p:cNvSpPr txBox="1"/>
          <p:nvPr/>
        </p:nvSpPr>
        <p:spPr>
          <a:xfrm>
            <a:off x="853419" y="1028700"/>
            <a:ext cx="9631439" cy="9601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600" dirty="0"/>
          </a:p>
        </p:txBody>
      </p:sp>
      <p:sp>
        <p:nvSpPr>
          <p:cNvPr id="5" name="element_0cd22c7825549d238a2c3a2d241ab229"/>
          <p:cNvSpPr txBox="1"/>
          <p:nvPr/>
        </p:nvSpPr>
        <p:spPr>
          <a:xfrm>
            <a:off x="853419"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01</a:t>
            </a:r>
            <a:endParaRPr lang="en-US" sz="2200" dirty="0"/>
          </a:p>
        </p:txBody>
      </p:sp>
      <p:sp>
        <p:nvSpPr>
          <p:cNvPr id="6" name="element_245358f6ab12155c5e45ea977879ae5a"/>
          <p:cNvSpPr txBox="1"/>
          <p:nvPr/>
        </p:nvSpPr>
        <p:spPr>
          <a:xfrm>
            <a:off x="853419"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Preserve all twelve narrative jobs</a:t>
            </a:r>
            <a:endParaRPr lang="en-US" sz="1700" dirty="0"/>
          </a:p>
        </p:txBody>
      </p:sp>
      <p:sp>
        <p:nvSpPr>
          <p:cNvPr id="7" name="element_8c203e423fbd62b08d92ed4759d6d73a"/>
          <p:cNvSpPr/>
          <p:nvPr/>
        </p:nvSpPr>
        <p:spPr>
          <a:xfrm>
            <a:off x="4287819" y="2400300"/>
            <a:ext cx="121917" cy="2880360"/>
          </a:xfrm>
          <a:prstGeom prst="rect">
            <a:avLst/>
          </a:prstGeom>
          <a:solidFill>
            <a:srgbClr val="DED7CC"/>
          </a:solidFill>
          <a:ln w="12700">
            <a:solidFill>
              <a:srgbClr val="FFFFFF">
                <a:alpha val="0"/>
              </a:srgbClr>
            </a:solidFill>
            <a:prstDash val="solid"/>
          </a:ln>
        </p:spPr>
      </p:sp>
      <p:sp>
        <p:nvSpPr>
          <p:cNvPr id="8" name="element_d5de3aabf747e2bf7b724b0545a28b9c"/>
          <p:cNvSpPr txBox="1"/>
          <p:nvPr/>
        </p:nvSpPr>
        <p:spPr>
          <a:xfrm>
            <a:off x="4470695"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02</a:t>
            </a:r>
            <a:endParaRPr lang="en-US" sz="2200" dirty="0"/>
          </a:p>
        </p:txBody>
      </p:sp>
      <p:sp>
        <p:nvSpPr>
          <p:cNvPr id="9" name="element_2086b0ff50bf3ae623db850433b10cc5"/>
          <p:cNvSpPr txBox="1"/>
          <p:nvPr/>
        </p:nvSpPr>
        <p:spPr>
          <a:xfrm>
            <a:off x="4470695"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Separate supplied evidence from open assumptions</a:t>
            </a:r>
            <a:endParaRPr lang="en-US" sz="1700" dirty="0"/>
          </a:p>
        </p:txBody>
      </p:sp>
      <p:sp>
        <p:nvSpPr>
          <p:cNvPr id="10" name="element_97ab7ecae56ec1776656977b8e25e3c0"/>
          <p:cNvSpPr/>
          <p:nvPr/>
        </p:nvSpPr>
        <p:spPr>
          <a:xfrm>
            <a:off x="7903876" y="2400300"/>
            <a:ext cx="121917" cy="2880360"/>
          </a:xfrm>
          <a:prstGeom prst="rect">
            <a:avLst/>
          </a:prstGeom>
          <a:solidFill>
            <a:srgbClr val="DED7CC"/>
          </a:solidFill>
          <a:ln w="12700">
            <a:solidFill>
              <a:srgbClr val="FFFFFF">
                <a:alpha val="0"/>
              </a:srgbClr>
            </a:solidFill>
            <a:prstDash val="solid"/>
          </a:ln>
        </p:spPr>
      </p:sp>
      <p:sp>
        <p:nvSpPr>
          <p:cNvPr id="11" name="element_7010331e2b1e3de07cf36534c0adc4b8"/>
          <p:cNvSpPr txBox="1"/>
          <p:nvPr/>
        </p:nvSpPr>
        <p:spPr>
          <a:xfrm>
            <a:off x="8086751"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03</a:t>
            </a:r>
            <a:endParaRPr lang="en-US" sz="2200" dirty="0"/>
          </a:p>
        </p:txBody>
      </p:sp>
      <p:sp>
        <p:nvSpPr>
          <p:cNvPr id="12" name="element_1b60324c6b7f5783f5a754e56d9948e0"/>
          <p:cNvSpPr txBox="1"/>
          <p:nvPr/>
        </p:nvSpPr>
        <p:spPr>
          <a:xfrm>
            <a:off x="8086751"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Name ownership and the next decision checkpoint</a:t>
            </a:r>
            <a:endParaRPr lang="en-US" sz="1700" dirty="0"/>
          </a:p>
        </p:txBody>
      </p:sp>
      <p:sp>
        <p:nvSpPr>
          <p:cNvPr id="13" name="element_37a4bc82ab0b9246ab9eb7354fc02a5e"/>
          <p:cNvSpPr/>
          <p:nvPr/>
        </p:nvSpPr>
        <p:spPr>
          <a:xfrm>
            <a:off x="853419" y="788670"/>
            <a:ext cx="2499298" cy="68580"/>
          </a:xfrm>
          <a:prstGeom prst="roundRect">
            <a:avLst/>
          </a:prstGeom>
          <a:solidFill>
            <a:srgbClr val="B44A2D">
              <a:alpha val="39000"/>
            </a:srgbClr>
          </a:solidFill>
          <a:ln w="12700">
            <a:solidFill>
              <a:srgbClr val="FFFFFF">
                <a:alpha val="0"/>
              </a:srgbClr>
            </a:solidFill>
            <a:prstDash val="solid"/>
          </a:ln>
        </p:spPr>
      </p:sp>
      <p:sp>
        <p:nvSpPr>
          <p:cNvPr id="14" name="element_e0524b866427b69c5b0845f76b6e666d"/>
          <p:cNvSpPr/>
          <p:nvPr/>
        </p:nvSpPr>
        <p:spPr>
          <a:xfrm>
            <a:off x="10777459" y="665226"/>
            <a:ext cx="121917" cy="301752"/>
          </a:xfrm>
          <a:prstGeom prst="roundRect">
            <a:avLst/>
          </a:prstGeom>
          <a:solidFill>
            <a:srgbClr val="34452C">
              <a:alpha val="39000"/>
            </a:srgbClr>
          </a:solidFill>
          <a:ln w="12700">
            <a:solidFill>
              <a:srgbClr val="FFFFFF">
                <a:alpha val="0"/>
              </a:srgbClr>
            </a:solidFill>
            <a:prstDash val="solid"/>
          </a:ln>
        </p:spPr>
      </p:sp>
      <p:sp>
        <p:nvSpPr>
          <p:cNvPr id="15" name="element_067f3a0d1eba61000005e9bad9cb13f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2671789c9bd8d845617aa2e74e43166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c0855c90bba17f07ee4a62c442a37909"/>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bd3fb5ace4e8834b5d9f65adb70a5fbc"/>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6142bc44aacfb2d9463991e2d7cde753"/>
          <p:cNvSpPr txBox="1"/>
          <p:nvPr/>
        </p:nvSpPr>
        <p:spPr>
          <a:xfrm>
            <a:off x="853419" y="1097280"/>
            <a:ext cx="10484858" cy="1234440"/>
          </a:xfrm>
          <a:prstGeom prst="rect">
            <a:avLst/>
          </a:prstGeom>
          <a:noFill/>
          <a:ln/>
        </p:spPr>
        <p:txBody>
          <a:bodyPr wrap="square" lIns="0" tIns="0" rIns="0" bIns="0" rtlCol="0" anchor="t">
            <a:normAutofit/>
          </a:bodyPr>
          <a:lstStyle/>
          <a:p>
            <a:pPr algn="l" indent="0" marL="0">
              <a:lnSpc>
                <a:spcPct val="105000"/>
              </a:lnSpc>
              <a:buNone/>
            </a:pPr>
            <a:r>
              <a:rPr lang="en-US" sz="4200" b="1" spc="-6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4200" dirty="0"/>
          </a:p>
        </p:txBody>
      </p:sp>
      <p:sp>
        <p:nvSpPr>
          <p:cNvPr id="5" name="element_08826f3969236b3138f1faae626f0b56"/>
          <p:cNvSpPr txBox="1"/>
          <p:nvPr/>
        </p:nvSpPr>
        <p:spPr>
          <a:xfrm>
            <a:off x="853419" y="2743200"/>
            <a:ext cx="9631439" cy="1028700"/>
          </a:xfrm>
          <a:prstGeom prst="rect">
            <a:avLst/>
          </a:prstGeom>
          <a:noFill/>
          <a:ln/>
        </p:spPr>
        <p:txBody>
          <a:bodyPr wrap="square" lIns="0" tIns="0" rIns="0" bIns="0" rtlCol="0" anchor="t">
            <a:normAutofit/>
          </a:bodyPr>
          <a:lstStyle/>
          <a:p>
            <a:pPr algn="l" indent="0" marL="0">
              <a:lnSpc>
                <a:spcPct val="135000"/>
              </a:lnSpc>
              <a:buNone/>
            </a:pPr>
            <a:r>
              <a:rPr lang="en-US" sz="18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800" dirty="0"/>
          </a:p>
        </p:txBody>
      </p:sp>
      <p:sp>
        <p:nvSpPr>
          <p:cNvPr id="6" name="element_088fa05f0bcd208e1d24a2d48c19557c"/>
          <p:cNvSpPr txBox="1"/>
          <p:nvPr/>
        </p:nvSpPr>
        <p:spPr>
          <a:xfrm>
            <a:off x="7193100" y="3909060"/>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8f3061e3d30510ac9fbe8f340598d7d7"/>
          <p:cNvSpPr txBox="1"/>
          <p:nvPr/>
        </p:nvSpPr>
        <p:spPr>
          <a:xfrm>
            <a:off x="7193100" y="4374032"/>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19697b4ee0b391195def7396b0ea2e77"/>
          <p:cNvSpPr txBox="1"/>
          <p:nvPr/>
        </p:nvSpPr>
        <p:spPr>
          <a:xfrm>
            <a:off x="7193100" y="4839005"/>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01501a0af1a328d51c1f7ce3b73b6317"/>
          <p:cNvSpPr/>
          <p:nvPr/>
        </p:nvSpPr>
        <p:spPr>
          <a:xfrm>
            <a:off x="853419" y="788670"/>
            <a:ext cx="3331990" cy="68580"/>
          </a:xfrm>
          <a:prstGeom prst="roundRect">
            <a:avLst/>
          </a:prstGeom>
          <a:solidFill>
            <a:srgbClr val="B44A2D">
              <a:alpha val="47000"/>
            </a:srgbClr>
          </a:solidFill>
          <a:ln w="12700">
            <a:solidFill>
              <a:srgbClr val="FFFFFF">
                <a:alpha val="0"/>
              </a:srgbClr>
            </a:solidFill>
            <a:prstDash val="solid"/>
          </a:ln>
        </p:spPr>
      </p:sp>
      <p:sp>
        <p:nvSpPr>
          <p:cNvPr id="10" name="element_fbc9836ae12738bdd695741b288b5761"/>
          <p:cNvSpPr/>
          <p:nvPr/>
        </p:nvSpPr>
        <p:spPr>
          <a:xfrm>
            <a:off x="10777459" y="665226"/>
            <a:ext cx="121917" cy="301752"/>
          </a:xfrm>
          <a:prstGeom prst="roundRect">
            <a:avLst/>
          </a:prstGeom>
          <a:solidFill>
            <a:srgbClr val="34452C">
              <a:alpha val="47000"/>
            </a:srgbClr>
          </a:solidFill>
          <a:ln w="12700">
            <a:solidFill>
              <a:srgbClr val="FFFFFF">
                <a:alpha val="0"/>
              </a:srgbClr>
            </a:solidFill>
            <a:prstDash val="solid"/>
          </a:ln>
        </p:spPr>
      </p:sp>
      <p:sp>
        <p:nvSpPr>
          <p:cNvPr id="11" name="element_d4d107d2bd512a64c76ea25b9aa58ba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470f1b2f47208c1eb69c7e3e573c7dd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192f2c84f3157c558fdaf9687153f871"/>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f3a984e95e6d83ee5d93888bf1d2c1c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cf4ebb92f16e57411932dbfff4583a5d"/>
          <p:cNvSpPr/>
          <p:nvPr/>
        </p:nvSpPr>
        <p:spPr>
          <a:xfrm>
            <a:off x="853419" y="788670"/>
            <a:ext cx="4165902" cy="68580"/>
          </a:xfrm>
          <a:prstGeom prst="roundRect">
            <a:avLst/>
          </a:prstGeom>
          <a:solidFill>
            <a:srgbClr val="B44A2D">
              <a:alpha val="54000"/>
            </a:srgbClr>
          </a:solidFill>
          <a:ln w="12700">
            <a:solidFill>
              <a:srgbClr val="FFFFFF">
                <a:alpha val="0"/>
              </a:srgbClr>
            </a:solidFill>
            <a:prstDash val="solid"/>
          </a:ln>
        </p:spPr>
      </p:sp>
      <p:sp>
        <p:nvSpPr>
          <p:cNvPr id="5" name="element_a53bf2db7ef69ebe67bcd5635a41f55f"/>
          <p:cNvSpPr/>
          <p:nvPr/>
        </p:nvSpPr>
        <p:spPr>
          <a:xfrm>
            <a:off x="10777459" y="665226"/>
            <a:ext cx="121917" cy="301752"/>
          </a:xfrm>
          <a:prstGeom prst="roundRect">
            <a:avLst/>
          </a:prstGeom>
          <a:solidFill>
            <a:srgbClr val="34452C">
              <a:alpha val="54000"/>
            </a:srgbClr>
          </a:solidFill>
          <a:ln w="12700">
            <a:solidFill>
              <a:srgbClr val="FFFFFF">
                <a:alpha val="0"/>
              </a:srgbClr>
            </a:solidFill>
            <a:prstDash val="solid"/>
          </a:ln>
        </p:spPr>
      </p:sp>
      <p:sp>
        <p:nvSpPr>
          <p:cNvPr id="6" name="element_8f10f9df4dd8b9aae6b16bbad950e85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7" name="element_df5bef6eac17140b14f75e340c14e84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8" name="element_c47aee04e448eed51a5ce79fc86254d5"/>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600" dirty="0"/>
          </a:p>
        </p:txBody>
      </p:sp>
      <p:sp>
        <p:nvSpPr>
          <p:cNvPr id="9" name="element_709737f64c5ad86a002fabddf6e89b56"/>
          <p:cNvSpPr txBox="1"/>
          <p:nvPr/>
        </p:nvSpPr>
        <p:spPr>
          <a:xfrm>
            <a:off x="853419" y="4251960"/>
            <a:ext cx="3657509" cy="594589"/>
          </a:xfrm>
          <a:prstGeom prst="rect">
            <a:avLst/>
          </a:prstGeom>
          <a:noFill/>
          <a:ln/>
        </p:spPr>
        <p:txBody>
          <a:bodyPr wrap="square" lIns="0" tIns="0" rIns="0" bIns="0" rtlCol="0" anchor="t">
            <a:normAutofit/>
          </a:bodyPr>
          <a:lstStyle/>
          <a:p>
            <a:pPr algn="l" indent="0" marL="0">
              <a:lnSpc>
                <a:spcPct val="120000"/>
              </a:lnSpc>
              <a:buNone/>
            </a:pPr>
            <a:r>
              <a:rPr lang="en-US" sz="1400" dirty="0">
                <a:solidFill>
                  <a:srgbClr val="26221D"/>
                </a:solidFill>
                <a:latin typeface="Geist Variable" pitchFamily="34" charset="0"/>
                <a:ea typeface="Geist Variable" pitchFamily="34" charset="-122"/>
                <a:cs typeface="Geist Variable" pitchFamily="34" charset="-120"/>
              </a:rPr>
              <a:t>01  Preserve all twelve narrative jobs</a:t>
            </a:r>
            <a:endParaRPr lang="en-US" sz="1400" dirty="0"/>
          </a:p>
        </p:txBody>
      </p:sp>
      <p:sp>
        <p:nvSpPr>
          <p:cNvPr id="10" name="element_2e4784ee81b34dec2a6fa6cd6fdc7976"/>
          <p:cNvSpPr txBox="1"/>
          <p:nvPr/>
        </p:nvSpPr>
        <p:spPr>
          <a:xfrm>
            <a:off x="853419" y="4915129"/>
            <a:ext cx="3657509" cy="594589"/>
          </a:xfrm>
          <a:prstGeom prst="rect">
            <a:avLst/>
          </a:prstGeom>
          <a:noFill/>
          <a:ln/>
        </p:spPr>
        <p:txBody>
          <a:bodyPr wrap="square" lIns="0" tIns="0" rIns="0" bIns="0" rtlCol="0" anchor="t">
            <a:normAutofit/>
          </a:bodyPr>
          <a:lstStyle/>
          <a:p>
            <a:pPr algn="l" indent="0" marL="0">
              <a:lnSpc>
                <a:spcPct val="120000"/>
              </a:lnSpc>
              <a:buNone/>
            </a:pPr>
            <a:r>
              <a:rPr lang="en-US" sz="1400" dirty="0">
                <a:solidFill>
                  <a:srgbClr val="26221D"/>
                </a:solidFill>
                <a:latin typeface="Geist Variable" pitchFamily="34" charset="0"/>
                <a:ea typeface="Geist Variable" pitchFamily="34" charset="-122"/>
                <a:cs typeface="Geist Variable" pitchFamily="34" charset="-120"/>
              </a:rPr>
              <a:t>02  Separate supplied evidence from open assumptions</a:t>
            </a:r>
            <a:endParaRPr lang="en-US" sz="1400" dirty="0"/>
          </a:p>
        </p:txBody>
      </p:sp>
      <p:sp>
        <p:nvSpPr>
          <p:cNvPr id="11" name="element_a4fc24d245ea222f92facbecf16187c8"/>
          <p:cNvSpPr txBox="1"/>
          <p:nvPr/>
        </p:nvSpPr>
        <p:spPr>
          <a:xfrm>
            <a:off x="853419" y="5577611"/>
            <a:ext cx="3657509" cy="594589"/>
          </a:xfrm>
          <a:prstGeom prst="rect">
            <a:avLst/>
          </a:prstGeom>
          <a:noFill/>
          <a:ln/>
        </p:spPr>
        <p:txBody>
          <a:bodyPr wrap="square" lIns="0" tIns="0" rIns="0" bIns="0" rtlCol="0" anchor="t">
            <a:normAutofit/>
          </a:bodyPr>
          <a:lstStyle/>
          <a:p>
            <a:pPr algn="l" indent="0" marL="0">
              <a:lnSpc>
                <a:spcPct val="120000"/>
              </a:lnSpc>
              <a:buNone/>
            </a:pPr>
            <a:r>
              <a:rPr lang="en-US" sz="1400" dirty="0">
                <a:solidFill>
                  <a:srgbClr val="26221D"/>
                </a:solidFill>
                <a:latin typeface="Geist Variable" pitchFamily="34" charset="0"/>
                <a:ea typeface="Geist Variable" pitchFamily="34" charset="-122"/>
                <a:cs typeface="Geist Variable" pitchFamily="34" charset="-120"/>
              </a:rPr>
              <a:t>03  Name ownership and the next decision checkpoint</a:t>
            </a:r>
            <a:endParaRPr lang="en-US" sz="1400" dirty="0"/>
          </a:p>
        </p:txBody>
      </p:sp>
      <p:sp>
        <p:nvSpPr>
          <p:cNvPr id="12" name="element_d6914a75b80f03bd9501c24eb8c0fac9"/>
          <p:cNvSpPr txBox="1"/>
          <p:nvPr/>
        </p:nvSpPr>
        <p:spPr>
          <a:xfrm>
            <a:off x="6827349" y="2811780"/>
            <a:ext cx="4145176" cy="1028700"/>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3" name="element_4c7d248c3d421c20be6492f7a8e54e74"/>
          <p:cNvSpPr txBox="1"/>
          <p:nvPr/>
        </p:nvSpPr>
        <p:spPr>
          <a:xfrm>
            <a:off x="7193100" y="411480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4" name="element_3abd4d2d650297317ba39fc3e3bac9c9" descr=""/>
          <p:cNvGraphicFramePr/>
          <p:nvPr/>
        </p:nvGraphicFramePr>
        <p:xfrm>
          <a:off x="5120512" y="4937760"/>
          <a:ext cx="6095848" cy="1165860"/>
        </p:xfrm>
        <a:graphic xmlns:a="http://schemas.openxmlformats.org/drawingml/2006/main">
          <a:graphicData uri="http://schemas.openxmlformats.org/drawingml/2006/chart">
            <c:chart xmlns:c="http://schemas.openxmlformats.org/drawingml/2006/chart" r:id="rId1"/>
          </a:graphicData>
        </a:graphic>
      </p:graphicFrame>
      <p:sp>
        <p:nvSpPr>
          <p:cNvPr id="15" name="element_77cd5d1bdd515b473ad4e0a7dacf0bc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a920dda165cdf30e0f113c784ef2f9a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273f91647b91cf0c22bc36d9f371fd53"/>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836b2c8f2e76cb18210d006d219f073"/>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34c729fcaaf1d803c83aaa4ce55ab69f"/>
          <p:cNvSpPr txBox="1"/>
          <p:nvPr/>
        </p:nvSpPr>
        <p:spPr>
          <a:xfrm>
            <a:off x="853419" y="1028700"/>
            <a:ext cx="9631439" cy="9601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600" dirty="0"/>
          </a:p>
        </p:txBody>
      </p:sp>
      <p:sp>
        <p:nvSpPr>
          <p:cNvPr id="5" name="element_5e91076bdaf24536f250d15b7055ee1e"/>
          <p:cNvSpPr txBox="1"/>
          <p:nvPr/>
        </p:nvSpPr>
        <p:spPr>
          <a:xfrm>
            <a:off x="853419"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01</a:t>
            </a:r>
            <a:endParaRPr lang="en-US" sz="2200" dirty="0"/>
          </a:p>
        </p:txBody>
      </p:sp>
      <p:sp>
        <p:nvSpPr>
          <p:cNvPr id="6" name="element_8e7828de1b5aee82f6188a3478d3e140"/>
          <p:cNvSpPr txBox="1"/>
          <p:nvPr/>
        </p:nvSpPr>
        <p:spPr>
          <a:xfrm>
            <a:off x="853419"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Launch the smallest credible move</a:t>
            </a:r>
            <a:endParaRPr lang="en-US" sz="1700" dirty="0"/>
          </a:p>
        </p:txBody>
      </p:sp>
      <p:sp>
        <p:nvSpPr>
          <p:cNvPr id="7" name="element_043df1ba4ac0b4e924121619adc0814c"/>
          <p:cNvSpPr/>
          <p:nvPr/>
        </p:nvSpPr>
        <p:spPr>
          <a:xfrm>
            <a:off x="4287819" y="2400300"/>
            <a:ext cx="121917" cy="2880360"/>
          </a:xfrm>
          <a:prstGeom prst="rect">
            <a:avLst/>
          </a:prstGeom>
          <a:solidFill>
            <a:srgbClr val="DED7CC"/>
          </a:solidFill>
          <a:ln w="12700">
            <a:solidFill>
              <a:srgbClr val="FFFFFF">
                <a:alpha val="0"/>
              </a:srgbClr>
            </a:solidFill>
            <a:prstDash val="solid"/>
          </a:ln>
        </p:spPr>
      </p:sp>
      <p:sp>
        <p:nvSpPr>
          <p:cNvPr id="8" name="element_71921222fae1032555b8510f06715750"/>
          <p:cNvSpPr txBox="1"/>
          <p:nvPr/>
        </p:nvSpPr>
        <p:spPr>
          <a:xfrm>
            <a:off x="4470695"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02</a:t>
            </a:r>
            <a:endParaRPr lang="en-US" sz="2200" dirty="0"/>
          </a:p>
        </p:txBody>
      </p:sp>
      <p:sp>
        <p:nvSpPr>
          <p:cNvPr id="9" name="element_ec9c21e836658c3acc15c141bb052894"/>
          <p:cNvSpPr txBox="1"/>
          <p:nvPr/>
        </p:nvSpPr>
        <p:spPr>
          <a:xfrm>
            <a:off x="4470695"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Review evidence with stakeholders</a:t>
            </a:r>
            <a:endParaRPr lang="en-US" sz="1700" dirty="0"/>
          </a:p>
        </p:txBody>
      </p:sp>
      <p:sp>
        <p:nvSpPr>
          <p:cNvPr id="10" name="element_cd477a51ecc3b83f4498f58122f335cd"/>
          <p:cNvSpPr/>
          <p:nvPr/>
        </p:nvSpPr>
        <p:spPr>
          <a:xfrm>
            <a:off x="7903876" y="2400300"/>
            <a:ext cx="121917" cy="2880360"/>
          </a:xfrm>
          <a:prstGeom prst="rect">
            <a:avLst/>
          </a:prstGeom>
          <a:solidFill>
            <a:srgbClr val="DED7CC"/>
          </a:solidFill>
          <a:ln w="12700">
            <a:solidFill>
              <a:srgbClr val="FFFFFF">
                <a:alpha val="0"/>
              </a:srgbClr>
            </a:solidFill>
            <a:prstDash val="solid"/>
          </a:ln>
        </p:spPr>
      </p:sp>
      <p:sp>
        <p:nvSpPr>
          <p:cNvPr id="11" name="element_bedb3a433e86e05ac7dbf4eac03c52e5"/>
          <p:cNvSpPr txBox="1"/>
          <p:nvPr/>
        </p:nvSpPr>
        <p:spPr>
          <a:xfrm>
            <a:off x="8086751"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03</a:t>
            </a:r>
            <a:endParaRPr lang="en-US" sz="2200" dirty="0"/>
          </a:p>
        </p:txBody>
      </p:sp>
      <p:sp>
        <p:nvSpPr>
          <p:cNvPr id="12" name="element_b15f52ad840da80162f053c55b1ce990"/>
          <p:cNvSpPr txBox="1"/>
          <p:nvPr/>
        </p:nvSpPr>
        <p:spPr>
          <a:xfrm>
            <a:off x="8086751"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Scale what earns confidence</a:t>
            </a:r>
            <a:endParaRPr lang="en-US" sz="1700" dirty="0"/>
          </a:p>
        </p:txBody>
      </p:sp>
      <p:sp>
        <p:nvSpPr>
          <p:cNvPr id="13" name="element_459219c663aa05c03c00544ec36205e1"/>
          <p:cNvSpPr/>
          <p:nvPr/>
        </p:nvSpPr>
        <p:spPr>
          <a:xfrm>
            <a:off x="853419" y="788670"/>
            <a:ext cx="4998595" cy="68580"/>
          </a:xfrm>
          <a:prstGeom prst="roundRect">
            <a:avLst/>
          </a:prstGeom>
          <a:solidFill>
            <a:srgbClr val="B44A2D">
              <a:alpha val="62000"/>
            </a:srgbClr>
          </a:solidFill>
          <a:ln w="12700">
            <a:solidFill>
              <a:srgbClr val="FFFFFF">
                <a:alpha val="0"/>
              </a:srgbClr>
            </a:solidFill>
            <a:prstDash val="solid"/>
          </a:ln>
        </p:spPr>
      </p:sp>
      <p:sp>
        <p:nvSpPr>
          <p:cNvPr id="14" name="element_b48332c619f8b850f15e6d66e2776702"/>
          <p:cNvSpPr/>
          <p:nvPr/>
        </p:nvSpPr>
        <p:spPr>
          <a:xfrm>
            <a:off x="10777459" y="665226"/>
            <a:ext cx="121917" cy="301752"/>
          </a:xfrm>
          <a:prstGeom prst="roundRect">
            <a:avLst/>
          </a:prstGeom>
          <a:solidFill>
            <a:srgbClr val="34452C">
              <a:alpha val="62000"/>
            </a:srgbClr>
          </a:solidFill>
          <a:ln w="12700">
            <a:solidFill>
              <a:srgbClr val="FFFFFF">
                <a:alpha val="0"/>
              </a:srgbClr>
            </a:solidFill>
            <a:prstDash val="solid"/>
          </a:ln>
        </p:spPr>
      </p:sp>
      <p:sp>
        <p:nvSpPr>
          <p:cNvPr id="15" name="element_20720ded327c923f918d22da4332e50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78248f0686f9793262b561c4e1bc54d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838a963b5430d576a66a5c4b1e5758c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c76a7eb547308f071489f1593267ffc"/>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4" name="element_ea1099e902031087f3858fed57cf67cd"/>
          <p:cNvSpPr txBox="1"/>
          <p:nvPr/>
        </p:nvSpPr>
        <p:spPr>
          <a:xfrm>
            <a:off x="853419" y="960120"/>
            <a:ext cx="9997190" cy="894283"/>
          </a:xfrm>
          <a:prstGeom prst="rect">
            <a:avLst/>
          </a:prstGeom>
          <a:noFill/>
          <a:ln/>
        </p:spPr>
        <p:txBody>
          <a:bodyPr wrap="square" lIns="0" tIns="0" rIns="0" bIns="0" rtlCol="0" anchor="t">
            <a:normAutofit/>
          </a:bodyPr>
          <a:lstStyle/>
          <a:p>
            <a:pPr algn="l" indent="0" marL="0">
              <a:lnSpc>
                <a:spcPct val="110000"/>
              </a:lnSpc>
              <a:buNone/>
            </a:pPr>
            <a:r>
              <a:rPr lang="en-US" sz="3200" b="1" dirty="0">
                <a:solidFill>
                  <a:srgbClr val="26221D"/>
                </a:solidFill>
                <a:latin typeface="Georgia" pitchFamily="34" charset="0"/>
                <a:ea typeface="Georgia" pitchFamily="34" charset="-122"/>
                <a:cs typeface="Georgia" pitchFamily="34" charset="-120"/>
              </a:rPr>
              <a:t>Separate what is supplied from what still needs verification.</a:t>
            </a:r>
            <a:endParaRPr lang="en-US" sz="3200" dirty="0"/>
          </a:p>
        </p:txBody>
      </p:sp>
      <p:sp>
        <p:nvSpPr>
          <p:cNvPr id="5" name="element_35d7eb887ad3db316aa07b283f5554dc"/>
          <p:cNvSpPr/>
          <p:nvPr/>
        </p:nvSpPr>
        <p:spPr>
          <a:xfrm>
            <a:off x="2499298" y="3931006"/>
            <a:ext cx="3596550" cy="164592"/>
          </a:xfrm>
          <a:prstGeom prst="line">
            <a:avLst/>
          </a:prstGeom>
          <a:noFill/>
          <a:ln w="25400">
            <a:solidFill>
              <a:srgbClr val="7566A8"/>
            </a:solidFill>
            <a:prstDash val="solid"/>
            <a:tailEnd type="triangle"/>
          </a:ln>
        </p:spPr>
      </p:sp>
      <p:sp>
        <p:nvSpPr>
          <p:cNvPr id="6" name="element_221406c4055d0f51d716f85f1de91d24"/>
          <p:cNvSpPr/>
          <p:nvPr/>
        </p:nvSpPr>
        <p:spPr>
          <a:xfrm>
            <a:off x="6095848" y="3931006"/>
            <a:ext cx="3596550" cy="164592"/>
          </a:xfrm>
          <a:prstGeom prst="line">
            <a:avLst/>
          </a:prstGeom>
          <a:noFill/>
          <a:ln w="25400">
            <a:solidFill>
              <a:srgbClr val="7566A8"/>
            </a:solidFill>
            <a:prstDash val="solid"/>
            <a:tailEnd type="triangle"/>
          </a:ln>
        </p:spPr>
      </p:sp>
      <p:sp>
        <p:nvSpPr>
          <p:cNvPr id="7" name="element_f41328a04e234a8a538973c0768ec8c7"/>
          <p:cNvSpPr/>
          <p:nvPr/>
        </p:nvSpPr>
        <p:spPr>
          <a:xfrm>
            <a:off x="853419" y="3533242"/>
            <a:ext cx="3291758" cy="960120"/>
          </a:xfrm>
          <a:prstGeom prst="roundRect">
            <a:avLst/>
          </a:prstGeom>
          <a:solidFill>
            <a:srgbClr val="F2DED3"/>
          </a:solidFill>
          <a:ln w="12700">
            <a:solidFill>
              <a:srgbClr val="DED7CC"/>
            </a:solidFill>
            <a:prstDash val="solid"/>
          </a:ln>
        </p:spPr>
      </p:sp>
      <p:sp>
        <p:nvSpPr>
          <p:cNvPr id="8" name="element_f41328a04e234a8a538973c0768ec8c7:text"/>
          <p:cNvSpPr txBox="1"/>
          <p:nvPr/>
        </p:nvSpPr>
        <p:spPr>
          <a:xfrm>
            <a:off x="8534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Supplied evidence</a:t>
            </a:r>
            <a:endParaRPr lang="en-US" sz="1200" dirty="0"/>
          </a:p>
        </p:txBody>
      </p:sp>
      <p:sp>
        <p:nvSpPr>
          <p:cNvPr id="9" name="element_a4f25791dc92e262e13db86ee2e8f887"/>
          <p:cNvSpPr/>
          <p:nvPr/>
        </p:nvSpPr>
        <p:spPr>
          <a:xfrm>
            <a:off x="4449969" y="3533242"/>
            <a:ext cx="3291758" cy="960120"/>
          </a:xfrm>
          <a:prstGeom prst="roundRect">
            <a:avLst/>
          </a:prstGeom>
          <a:solidFill>
            <a:srgbClr val="E5E9D6"/>
          </a:solidFill>
          <a:ln w="25400">
            <a:solidFill>
              <a:srgbClr val="B44A2D"/>
            </a:solidFill>
            <a:prstDash val="solid"/>
          </a:ln>
        </p:spPr>
      </p:sp>
      <p:sp>
        <p:nvSpPr>
          <p:cNvPr id="10" name="element_a4f25791dc92e262e13db86ee2e8f887:text"/>
          <p:cNvSpPr txBox="1"/>
          <p:nvPr/>
        </p:nvSpPr>
        <p:spPr>
          <a:xfrm>
            <a:off x="444996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Verification gate</a:t>
            </a:r>
            <a:endParaRPr lang="en-US" sz="1200" dirty="0"/>
          </a:p>
        </p:txBody>
      </p:sp>
      <p:sp>
        <p:nvSpPr>
          <p:cNvPr id="11" name="element_ad53a5c493eaea5b6009d0119d805f1e"/>
          <p:cNvSpPr/>
          <p:nvPr/>
        </p:nvSpPr>
        <p:spPr>
          <a:xfrm>
            <a:off x="8046519" y="3533242"/>
            <a:ext cx="3291758" cy="960120"/>
          </a:xfrm>
          <a:prstGeom prst="roundRect">
            <a:avLst/>
          </a:prstGeom>
          <a:solidFill>
            <a:srgbClr val="E5E9D6"/>
          </a:solidFill>
          <a:ln w="12700">
            <a:solidFill>
              <a:srgbClr val="DED7CC"/>
            </a:solidFill>
            <a:prstDash val="solid"/>
          </a:ln>
        </p:spPr>
      </p:sp>
      <p:sp>
        <p:nvSpPr>
          <p:cNvPr id="12" name="element_ad53a5c493eaea5b6009d0119d805f1e:text"/>
          <p:cNvSpPr txBox="1"/>
          <p:nvPr/>
        </p:nvSpPr>
        <p:spPr>
          <a:xfrm>
            <a:off x="80465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Decision-ready</a:t>
            </a:r>
            <a:endParaRPr lang="en-US" sz="1300" dirty="0"/>
          </a:p>
        </p:txBody>
      </p:sp>
      <p:sp>
        <p:nvSpPr>
          <p:cNvPr id="13" name="element_a4e470adebf567fe574a114cdefd48fb"/>
          <p:cNvSpPr txBox="1"/>
          <p:nvPr/>
        </p:nvSpPr>
        <p:spPr>
          <a:xfrm>
            <a:off x="853419" y="4543425"/>
            <a:ext cx="9631439" cy="75438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Keep the decision grounded by making supported evidence, open questions, and publication blockers visible as different states.</a:t>
            </a:r>
            <a:endParaRPr lang="en-US" sz="1600" dirty="0"/>
          </a:p>
        </p:txBody>
      </p:sp>
      <p:sp>
        <p:nvSpPr>
          <p:cNvPr id="14" name="element_8d6ef5c4e6367e5b730a9d2af1e8dbb4"/>
          <p:cNvSpPr/>
          <p:nvPr/>
        </p:nvSpPr>
        <p:spPr>
          <a:xfrm>
            <a:off x="853419" y="788670"/>
            <a:ext cx="5831288" cy="68580"/>
          </a:xfrm>
          <a:prstGeom prst="roundRect">
            <a:avLst/>
          </a:prstGeom>
          <a:solidFill>
            <a:srgbClr val="B44A2D">
              <a:alpha val="70000"/>
            </a:srgbClr>
          </a:solidFill>
          <a:ln w="12700">
            <a:solidFill>
              <a:srgbClr val="FFFFFF">
                <a:alpha val="0"/>
              </a:srgbClr>
            </a:solidFill>
            <a:prstDash val="solid"/>
          </a:ln>
        </p:spPr>
      </p:sp>
      <p:sp>
        <p:nvSpPr>
          <p:cNvPr id="15" name="element_051f7f132b90a3e0d04578777a490c93"/>
          <p:cNvSpPr/>
          <p:nvPr/>
        </p:nvSpPr>
        <p:spPr>
          <a:xfrm>
            <a:off x="10777459" y="665226"/>
            <a:ext cx="121917" cy="301752"/>
          </a:xfrm>
          <a:prstGeom prst="roundRect">
            <a:avLst/>
          </a:prstGeom>
          <a:solidFill>
            <a:srgbClr val="34452C">
              <a:alpha val="70000"/>
            </a:srgbClr>
          </a:solidFill>
          <a:ln w="12700">
            <a:solidFill>
              <a:srgbClr val="FFFFFF">
                <a:alpha val="0"/>
              </a:srgbClr>
            </a:solidFill>
            <a:prstDash val="solid"/>
          </a:ln>
        </p:spPr>
      </p:sp>
      <p:sp>
        <p:nvSpPr>
          <p:cNvPr id="16" name="element_40451251f2efa6df8c49358591a21d4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7" name="element_c54bbb48681d7aaad2da5e5d7565410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nodeslide-slide-id:slide_25710c90fb2ed4cd947d41e0feb8fb44"/>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0b4691c354d23ef49b40c0974e9506d6"/>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4" name="element_44695b5a6db350aed6a0e91321aa93d5"/>
          <p:cNvSpPr txBox="1"/>
          <p:nvPr/>
        </p:nvSpPr>
        <p:spPr>
          <a:xfrm>
            <a:off x="1706837" y="1234440"/>
            <a:ext cx="8778021" cy="1234440"/>
          </a:xfrm>
          <a:prstGeom prst="rect">
            <a:avLst/>
          </a:prstGeom>
          <a:noFill/>
          <a:ln/>
        </p:spPr>
        <p:txBody>
          <a:bodyPr wrap="square" lIns="0" tIns="0" rIns="0" bIns="0" rtlCol="0" anchor="t">
            <a:normAutofit/>
          </a:bodyPr>
          <a:lstStyle/>
          <a:p>
            <a:pPr algn="ctr"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Unverified assumptions remain questions, not conclusions.</a:t>
            </a:r>
            <a:endParaRPr lang="en-US" sz="3600" dirty="0"/>
          </a:p>
        </p:txBody>
      </p:sp>
      <p:sp>
        <p:nvSpPr>
          <p:cNvPr id="5" name="element_94a4c596f46080888e468569bba7a9b9"/>
          <p:cNvSpPr/>
          <p:nvPr/>
        </p:nvSpPr>
        <p:spPr>
          <a:xfrm>
            <a:off x="2194505" y="2743200"/>
            <a:ext cx="7802685" cy="754380"/>
          </a:xfrm>
          <a:prstGeom prst="roundRect">
            <a:avLst/>
          </a:prstGeom>
          <a:solidFill>
            <a:srgbClr val="E5E9D6"/>
          </a:solidFill>
          <a:ln w="12700">
            <a:solidFill>
              <a:srgbClr val="DED7CC"/>
            </a:solidFill>
            <a:prstDash val="solid"/>
          </a:ln>
        </p:spPr>
      </p:sp>
      <p:sp>
        <p:nvSpPr>
          <p:cNvPr id="6" name="element_8f2c8e500f89ac9c143e7843a302e6ff"/>
          <p:cNvSpPr txBox="1"/>
          <p:nvPr/>
        </p:nvSpPr>
        <p:spPr>
          <a:xfrm>
            <a:off x="2560256" y="288036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01  Name the open question</a:t>
            </a:r>
            <a:endParaRPr lang="en-US" sz="1600" dirty="0"/>
          </a:p>
        </p:txBody>
      </p:sp>
      <p:sp>
        <p:nvSpPr>
          <p:cNvPr id="7" name="element_eb7ffa24a10bf13d2574112ad44b6689"/>
          <p:cNvSpPr/>
          <p:nvPr/>
        </p:nvSpPr>
        <p:spPr>
          <a:xfrm>
            <a:off x="2194505" y="3703320"/>
            <a:ext cx="7802685" cy="754380"/>
          </a:xfrm>
          <a:prstGeom prst="roundRect">
            <a:avLst/>
          </a:prstGeom>
          <a:solidFill>
            <a:srgbClr val="E5E9D6"/>
          </a:solidFill>
          <a:ln w="12700">
            <a:solidFill>
              <a:srgbClr val="DED7CC"/>
            </a:solidFill>
            <a:prstDash val="solid"/>
          </a:ln>
        </p:spPr>
      </p:sp>
      <p:sp>
        <p:nvSpPr>
          <p:cNvPr id="8" name="element_3f60ca24043e3ff64b107e22199f2ee4"/>
          <p:cNvSpPr txBox="1"/>
          <p:nvPr/>
        </p:nvSpPr>
        <p:spPr>
          <a:xfrm>
            <a:off x="2560256" y="384048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02  Assign the evidence owner</a:t>
            </a:r>
            <a:endParaRPr lang="en-US" sz="1600" dirty="0"/>
          </a:p>
        </p:txBody>
      </p:sp>
      <p:sp>
        <p:nvSpPr>
          <p:cNvPr id="9" name="element_f33d44dfea47e21ea711ebbf22abe495"/>
          <p:cNvSpPr/>
          <p:nvPr/>
        </p:nvSpPr>
        <p:spPr>
          <a:xfrm>
            <a:off x="2194505" y="4663440"/>
            <a:ext cx="7802685" cy="754380"/>
          </a:xfrm>
          <a:prstGeom prst="roundRect">
            <a:avLst/>
          </a:prstGeom>
          <a:solidFill>
            <a:srgbClr val="E5E9D6"/>
          </a:solidFill>
          <a:ln w="12700">
            <a:solidFill>
              <a:srgbClr val="DED7CC"/>
            </a:solidFill>
            <a:prstDash val="solid"/>
          </a:ln>
        </p:spPr>
      </p:sp>
      <p:sp>
        <p:nvSpPr>
          <p:cNvPr id="10" name="element_9e3358580384bfb28f0a20ba6797e801"/>
          <p:cNvSpPr txBox="1"/>
          <p:nvPr/>
        </p:nvSpPr>
        <p:spPr>
          <a:xfrm>
            <a:off x="2560256" y="4800600"/>
            <a:ext cx="7071183" cy="48006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03  Keep the gate honest</a:t>
            </a:r>
            <a:endParaRPr lang="en-US" sz="1600" dirty="0"/>
          </a:p>
        </p:txBody>
      </p:sp>
      <p:sp>
        <p:nvSpPr>
          <p:cNvPr id="11" name="element_39566aa15dbe546e4814adb112d25538"/>
          <p:cNvSpPr/>
          <p:nvPr/>
        </p:nvSpPr>
        <p:spPr>
          <a:xfrm>
            <a:off x="853419" y="788670"/>
            <a:ext cx="6665200" cy="68580"/>
          </a:xfrm>
          <a:prstGeom prst="roundRect">
            <a:avLst/>
          </a:prstGeom>
          <a:solidFill>
            <a:srgbClr val="B44A2D">
              <a:alpha val="77000"/>
            </a:srgbClr>
          </a:solidFill>
          <a:ln w="12700">
            <a:solidFill>
              <a:srgbClr val="FFFFFF">
                <a:alpha val="0"/>
              </a:srgbClr>
            </a:solidFill>
            <a:prstDash val="solid"/>
          </a:ln>
        </p:spPr>
      </p:sp>
      <p:sp>
        <p:nvSpPr>
          <p:cNvPr id="12" name="element_a79fab007810f5590cc0f762707da9d7"/>
          <p:cNvSpPr/>
          <p:nvPr/>
        </p:nvSpPr>
        <p:spPr>
          <a:xfrm>
            <a:off x="10777459" y="665226"/>
            <a:ext cx="121917" cy="301752"/>
          </a:xfrm>
          <a:prstGeom prst="roundRect">
            <a:avLst/>
          </a:prstGeom>
          <a:solidFill>
            <a:srgbClr val="34452C">
              <a:alpha val="77000"/>
            </a:srgbClr>
          </a:solidFill>
          <a:ln w="12700">
            <a:solidFill>
              <a:srgbClr val="FFFFFF">
                <a:alpha val="0"/>
              </a:srgbClr>
            </a:solidFill>
            <a:prstDash val="solid"/>
          </a:ln>
        </p:spPr>
      </p:sp>
      <p:sp>
        <p:nvSpPr>
          <p:cNvPr id="13" name="element_6e169471117348e35b032df1271399d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e18df33f3db54be135e09eee7a42c74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nodeslide-slide-id:slide_460b8053502f20768174fa2dab4809d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d71010aa15610407d31d9bc28672ef18"/>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OPERATING MODEL</a:t>
            </a:r>
            <a:endParaRPr lang="en-US" sz="1500" dirty="0"/>
          </a:p>
        </p:txBody>
      </p:sp>
      <p:sp>
        <p:nvSpPr>
          <p:cNvPr id="4" name="element_9402779c2189b220cc99b886dbc1e23c"/>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10000"/>
              </a:lnSpc>
              <a:buNone/>
            </a:pPr>
            <a:r>
              <a:rPr lang="en-US" sz="3200" b="1" dirty="0">
                <a:solidFill>
                  <a:srgbClr val="26221D"/>
                </a:solidFill>
                <a:latin typeface="Georgia" pitchFamily="34" charset="0"/>
                <a:ea typeface="Georgia" pitchFamily="34" charset="-122"/>
                <a:cs typeface="Georgia" pitchFamily="34" charset="-120"/>
              </a:rPr>
              <a:t>A decision becomes executable when each handoff has an owner.</a:t>
            </a:r>
            <a:endParaRPr lang="en-US" sz="3200" dirty="0"/>
          </a:p>
        </p:txBody>
      </p:sp>
      <p:sp>
        <p:nvSpPr>
          <p:cNvPr id="5" name="element_ded16ceadc86607125473a212cee4be3"/>
          <p:cNvSpPr/>
          <p:nvPr/>
        </p:nvSpPr>
        <p:spPr>
          <a:xfrm>
            <a:off x="8778021" y="3291840"/>
            <a:ext cx="243834" cy="342900"/>
          </a:xfrm>
          <a:prstGeom prst="line">
            <a:avLst/>
          </a:prstGeom>
          <a:noFill/>
          <a:ln w="25400">
            <a:solidFill>
              <a:srgbClr val="7566A8"/>
            </a:solidFill>
            <a:prstDash val="solid"/>
            <a:tailEnd type="triangle"/>
          </a:ln>
        </p:spPr>
      </p:sp>
      <p:sp>
        <p:nvSpPr>
          <p:cNvPr id="6" name="element_f2d942f9b0b2125f721d1ab4e3558fac"/>
          <p:cNvSpPr/>
          <p:nvPr/>
        </p:nvSpPr>
        <p:spPr>
          <a:xfrm>
            <a:off x="8778021" y="4320540"/>
            <a:ext cx="243834" cy="342900"/>
          </a:xfrm>
          <a:prstGeom prst="line">
            <a:avLst/>
          </a:prstGeom>
          <a:noFill/>
          <a:ln w="25400">
            <a:solidFill>
              <a:srgbClr val="7566A8"/>
            </a:solidFill>
            <a:prstDash val="solid"/>
            <a:tailEnd type="triangle"/>
          </a:ln>
        </p:spPr>
      </p:sp>
      <p:sp>
        <p:nvSpPr>
          <p:cNvPr id="7" name="element_067fe9b4328ee18b1b86553cb0a288a2"/>
          <p:cNvSpPr/>
          <p:nvPr/>
        </p:nvSpPr>
        <p:spPr>
          <a:xfrm>
            <a:off x="6827349" y="2606040"/>
            <a:ext cx="4145176" cy="685800"/>
          </a:xfrm>
          <a:prstGeom prst="roundRect">
            <a:avLst/>
          </a:prstGeom>
          <a:solidFill>
            <a:srgbClr val="F2DED3"/>
          </a:solidFill>
          <a:ln w="12700">
            <a:solidFill>
              <a:srgbClr val="DED7CC"/>
            </a:solidFill>
            <a:prstDash val="solid"/>
          </a:ln>
        </p:spPr>
      </p:sp>
      <p:sp>
        <p:nvSpPr>
          <p:cNvPr id="8" name="element_067fe9b4328ee18b1b86553cb0a288a2:text"/>
          <p:cNvSpPr txBox="1"/>
          <p:nvPr/>
        </p:nvSpPr>
        <p:spPr>
          <a:xfrm>
            <a:off x="6827349" y="26060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Prepare</a:t>
            </a:r>
            <a:endParaRPr lang="en-US" sz="1400" dirty="0"/>
          </a:p>
        </p:txBody>
      </p:sp>
      <p:sp>
        <p:nvSpPr>
          <p:cNvPr id="9" name="element_9ba81a7551e4c7f68b5bca93c24a429d"/>
          <p:cNvSpPr/>
          <p:nvPr/>
        </p:nvSpPr>
        <p:spPr>
          <a:xfrm>
            <a:off x="6827349" y="3634740"/>
            <a:ext cx="4145176" cy="685800"/>
          </a:xfrm>
          <a:prstGeom prst="roundRect">
            <a:avLst/>
          </a:prstGeom>
          <a:solidFill>
            <a:srgbClr val="E5E9D6"/>
          </a:solidFill>
          <a:ln w="25400">
            <a:solidFill>
              <a:srgbClr val="B44A2D"/>
            </a:solidFill>
            <a:prstDash val="solid"/>
          </a:ln>
        </p:spPr>
      </p:sp>
      <p:sp>
        <p:nvSpPr>
          <p:cNvPr id="10" name="element_9ba81a7551e4c7f68b5bca93c24a429d:text"/>
          <p:cNvSpPr txBox="1"/>
          <p:nvPr/>
        </p:nvSpPr>
        <p:spPr>
          <a:xfrm>
            <a:off x="6827349" y="36347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Review</a:t>
            </a:r>
            <a:endParaRPr lang="en-US" sz="1400" dirty="0"/>
          </a:p>
        </p:txBody>
      </p:sp>
      <p:sp>
        <p:nvSpPr>
          <p:cNvPr id="11" name="element_0d57bc58e479f6c24c1bc89fb069c231"/>
          <p:cNvSpPr/>
          <p:nvPr/>
        </p:nvSpPr>
        <p:spPr>
          <a:xfrm>
            <a:off x="6827349" y="4663440"/>
            <a:ext cx="4145176" cy="685800"/>
          </a:xfrm>
          <a:prstGeom prst="roundRect">
            <a:avLst/>
          </a:prstGeom>
          <a:solidFill>
            <a:srgbClr val="E5E9D6"/>
          </a:solidFill>
          <a:ln w="12700">
            <a:solidFill>
              <a:srgbClr val="DED7CC"/>
            </a:solidFill>
            <a:prstDash val="solid"/>
          </a:ln>
        </p:spPr>
      </p:sp>
      <p:sp>
        <p:nvSpPr>
          <p:cNvPr id="12" name="element_0d57bc58e479f6c24c1bc89fb069c231:text"/>
          <p:cNvSpPr txBox="1"/>
          <p:nvPr/>
        </p:nvSpPr>
        <p:spPr>
          <a:xfrm>
            <a:off x="6827349" y="46634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Record</a:t>
            </a:r>
            <a:endParaRPr lang="en-US" sz="1400" dirty="0"/>
          </a:p>
        </p:txBody>
      </p:sp>
      <p:sp>
        <p:nvSpPr>
          <p:cNvPr id="13" name="element_1c37a23295e5ee15bdd5acac51bbd54d"/>
          <p:cNvSpPr txBox="1"/>
          <p:nvPr/>
        </p:nvSpPr>
        <p:spPr>
          <a:xfrm>
            <a:off x="975336" y="2743200"/>
            <a:ext cx="4632844" cy="137160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Connect evidence preparation, review, and the final decision without implying an organization structure that was not supplied.</a:t>
            </a:r>
            <a:endParaRPr lang="en-US" sz="1600" dirty="0"/>
          </a:p>
        </p:txBody>
      </p:sp>
      <p:sp>
        <p:nvSpPr>
          <p:cNvPr id="14" name="element_40f13d8d056271eadb5df5ff927937e6"/>
          <p:cNvSpPr/>
          <p:nvPr/>
        </p:nvSpPr>
        <p:spPr>
          <a:xfrm>
            <a:off x="853419" y="788670"/>
            <a:ext cx="7497893" cy="68580"/>
          </a:xfrm>
          <a:prstGeom prst="roundRect">
            <a:avLst/>
          </a:prstGeom>
          <a:solidFill>
            <a:srgbClr val="B44A2D">
              <a:alpha val="85000"/>
            </a:srgbClr>
          </a:solidFill>
          <a:ln w="12700">
            <a:solidFill>
              <a:srgbClr val="FFFFFF">
                <a:alpha val="0"/>
              </a:srgbClr>
            </a:solidFill>
            <a:prstDash val="solid"/>
          </a:ln>
        </p:spPr>
      </p:sp>
      <p:sp>
        <p:nvSpPr>
          <p:cNvPr id="15" name="element_68e21c2a6ae94e77cfc2b302baae1cc9"/>
          <p:cNvSpPr/>
          <p:nvPr/>
        </p:nvSpPr>
        <p:spPr>
          <a:xfrm>
            <a:off x="10777459" y="665226"/>
            <a:ext cx="121917" cy="301752"/>
          </a:xfrm>
          <a:prstGeom prst="roundRect">
            <a:avLst/>
          </a:prstGeom>
          <a:solidFill>
            <a:srgbClr val="34452C">
              <a:alpha val="85000"/>
            </a:srgbClr>
          </a:solidFill>
          <a:ln w="12700">
            <a:solidFill>
              <a:srgbClr val="FFFFFF">
                <a:alpha val="0"/>
              </a:srgbClr>
            </a:solidFill>
            <a:prstDash val="solid"/>
          </a:ln>
        </p:spPr>
      </p:sp>
      <p:sp>
        <p:nvSpPr>
          <p:cNvPr id="16" name="element_6f8ad7df7b2ab182a60ee2c92be42850"/>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7" name="element_20fe1a5b3aa73498b302cb9c7a9d9c5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nodeslide-slide-id:slide_f9c1a8407210eaa54edbf54803ad2db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382e1c273674bfb07d2fdbfe51b5046f"/>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RISK</a:t>
            </a:r>
            <a:endParaRPr lang="en-US" sz="1500" dirty="0"/>
          </a:p>
        </p:txBody>
      </p:sp>
      <p:sp>
        <p:nvSpPr>
          <p:cNvPr id="4" name="element_daca1009b1dbcff8e973a7af07fbd033"/>
          <p:cNvSpPr txBox="1"/>
          <p:nvPr/>
        </p:nvSpPr>
        <p:spPr>
          <a:xfrm>
            <a:off x="6339682" y="1371600"/>
            <a:ext cx="4876678" cy="23317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Controls should answer the risks the brief actually establishes.</a:t>
            </a:r>
            <a:endParaRPr lang="en-US" sz="3600" dirty="0"/>
          </a:p>
        </p:txBody>
      </p:sp>
      <p:sp>
        <p:nvSpPr>
          <p:cNvPr id="5" name="element_e436da89762ee9e86491d8c06de501d6"/>
          <p:cNvSpPr txBox="1"/>
          <p:nvPr/>
        </p:nvSpPr>
        <p:spPr>
          <a:xfrm>
            <a:off x="975336" y="2331720"/>
            <a:ext cx="4389010" cy="34290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01</a:t>
            </a:r>
            <a:endParaRPr lang="en-US" sz="2200" dirty="0"/>
          </a:p>
        </p:txBody>
      </p:sp>
      <p:sp>
        <p:nvSpPr>
          <p:cNvPr id="6" name="element_06a6c09edc28d210cd9a359e16184d7b"/>
          <p:cNvSpPr txBox="1"/>
          <p:nvPr/>
        </p:nvSpPr>
        <p:spPr>
          <a:xfrm>
            <a:off x="975336" y="2674620"/>
            <a:ext cx="4389010" cy="6172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Established risk</a:t>
            </a:r>
            <a:endParaRPr lang="en-US" sz="1700" dirty="0"/>
          </a:p>
        </p:txBody>
      </p:sp>
      <p:sp>
        <p:nvSpPr>
          <p:cNvPr id="7" name="element_158fc538c89c2ce095e6b2f8d8279ba7"/>
          <p:cNvSpPr/>
          <p:nvPr/>
        </p:nvSpPr>
        <p:spPr>
          <a:xfrm>
            <a:off x="975336" y="3394710"/>
            <a:ext cx="4389010" cy="68580"/>
          </a:xfrm>
          <a:prstGeom prst="rect">
            <a:avLst/>
          </a:prstGeom>
          <a:solidFill>
            <a:srgbClr val="DED7CC"/>
          </a:solidFill>
          <a:ln w="12700">
            <a:solidFill>
              <a:srgbClr val="FFFFFF">
                <a:alpha val="0"/>
              </a:srgbClr>
            </a:solidFill>
            <a:prstDash val="solid"/>
          </a:ln>
        </p:spPr>
      </p:sp>
      <p:sp>
        <p:nvSpPr>
          <p:cNvPr id="8" name="element_20b20c6521e2131295cdbb9aa2b190cc"/>
          <p:cNvSpPr txBox="1"/>
          <p:nvPr/>
        </p:nvSpPr>
        <p:spPr>
          <a:xfrm>
            <a:off x="975336" y="3497580"/>
            <a:ext cx="4389010" cy="34290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02</a:t>
            </a:r>
            <a:endParaRPr lang="en-US" sz="2200" dirty="0"/>
          </a:p>
        </p:txBody>
      </p:sp>
      <p:sp>
        <p:nvSpPr>
          <p:cNvPr id="9" name="element_d33c00e21a2173aca30426125f744fa7"/>
          <p:cNvSpPr txBox="1"/>
          <p:nvPr/>
        </p:nvSpPr>
        <p:spPr>
          <a:xfrm>
            <a:off x="975336" y="3840480"/>
            <a:ext cx="4389010" cy="6172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Required control</a:t>
            </a:r>
            <a:endParaRPr lang="en-US" sz="1700" dirty="0"/>
          </a:p>
        </p:txBody>
      </p:sp>
      <p:sp>
        <p:nvSpPr>
          <p:cNvPr id="10" name="element_b144b53c960ff38539a5c8c8af5e1e37"/>
          <p:cNvSpPr/>
          <p:nvPr/>
        </p:nvSpPr>
        <p:spPr>
          <a:xfrm>
            <a:off x="975336" y="4560570"/>
            <a:ext cx="4389010" cy="68580"/>
          </a:xfrm>
          <a:prstGeom prst="rect">
            <a:avLst/>
          </a:prstGeom>
          <a:solidFill>
            <a:srgbClr val="DED7CC"/>
          </a:solidFill>
          <a:ln w="12700">
            <a:solidFill>
              <a:srgbClr val="FFFFFF">
                <a:alpha val="0"/>
              </a:srgbClr>
            </a:solidFill>
            <a:prstDash val="solid"/>
          </a:ln>
        </p:spPr>
      </p:sp>
      <p:sp>
        <p:nvSpPr>
          <p:cNvPr id="11" name="element_d24c48f2494a54f12727d17e02c45256"/>
          <p:cNvSpPr txBox="1"/>
          <p:nvPr/>
        </p:nvSpPr>
        <p:spPr>
          <a:xfrm>
            <a:off x="975336" y="4663440"/>
            <a:ext cx="4389010" cy="34290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03</a:t>
            </a:r>
            <a:endParaRPr lang="en-US" sz="2200" dirty="0"/>
          </a:p>
        </p:txBody>
      </p:sp>
      <p:sp>
        <p:nvSpPr>
          <p:cNvPr id="12" name="element_9c4bc18150d9495719bf56545f76d21f"/>
          <p:cNvSpPr txBox="1"/>
          <p:nvPr/>
        </p:nvSpPr>
        <p:spPr>
          <a:xfrm>
            <a:off x="975336" y="5006340"/>
            <a:ext cx="4389010" cy="6172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Evidence still needed</a:t>
            </a:r>
            <a:endParaRPr lang="en-US" sz="1700" dirty="0"/>
          </a:p>
        </p:txBody>
      </p:sp>
      <p:sp>
        <p:nvSpPr>
          <p:cNvPr id="13" name="element_a2e1c1967aa74a2607e0ba620be2347a"/>
          <p:cNvSpPr/>
          <p:nvPr/>
        </p:nvSpPr>
        <p:spPr>
          <a:xfrm>
            <a:off x="853419" y="788670"/>
            <a:ext cx="8330585" cy="68580"/>
          </a:xfrm>
          <a:prstGeom prst="roundRect">
            <a:avLst/>
          </a:prstGeom>
          <a:solidFill>
            <a:srgbClr val="B44A2D">
              <a:alpha val="92000"/>
            </a:srgbClr>
          </a:solidFill>
          <a:ln w="12700">
            <a:solidFill>
              <a:srgbClr val="FFFFFF">
                <a:alpha val="0"/>
              </a:srgbClr>
            </a:solidFill>
            <a:prstDash val="solid"/>
          </a:ln>
        </p:spPr>
      </p:sp>
      <p:sp>
        <p:nvSpPr>
          <p:cNvPr id="14" name="element_7dc27ad876591af098d620d3a3afde3d"/>
          <p:cNvSpPr/>
          <p:nvPr/>
        </p:nvSpPr>
        <p:spPr>
          <a:xfrm>
            <a:off x="10777459" y="665226"/>
            <a:ext cx="121917" cy="301752"/>
          </a:xfrm>
          <a:prstGeom prst="roundRect">
            <a:avLst/>
          </a:prstGeom>
          <a:solidFill>
            <a:srgbClr val="34452C">
              <a:alpha val="92000"/>
            </a:srgbClr>
          </a:solidFill>
          <a:ln w="12700">
            <a:solidFill>
              <a:srgbClr val="FFFFFF">
                <a:alpha val="0"/>
              </a:srgbClr>
            </a:solidFill>
            <a:prstDash val="solid"/>
          </a:ln>
        </p:spPr>
      </p:sp>
      <p:sp>
        <p:nvSpPr>
          <p:cNvPr id="15" name="element_745b5f6f2f3292a192f1ad20db05df6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f6a08cc6baabd261eca8a785d303a69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nodeslide-slide-id:slide_ceb2424830d69be4b2a17bb3fb40c36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24c336654fbde3d27dcafe3bd0e61862"/>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PROOF</a:t>
            </a:r>
            <a:endParaRPr lang="en-US" sz="1500" dirty="0"/>
          </a:p>
        </p:txBody>
      </p:sp>
      <p:sp>
        <p:nvSpPr>
          <p:cNvPr id="4" name="element_b75c3f9e36fb9fb8dc73923e05536abc"/>
          <p:cNvSpPr txBox="1"/>
          <p:nvPr/>
        </p:nvSpPr>
        <p:spPr>
          <a:xfrm>
            <a:off x="853419" y="1097280"/>
            <a:ext cx="10484858" cy="1234440"/>
          </a:xfrm>
          <a:prstGeom prst="rect">
            <a:avLst/>
          </a:prstGeom>
          <a:noFill/>
          <a:ln/>
        </p:spPr>
        <p:txBody>
          <a:bodyPr wrap="square" lIns="0" tIns="0" rIns="0" bIns="0" rtlCol="0" anchor="t">
            <a:normAutofit/>
          </a:bodyPr>
          <a:lstStyle/>
          <a:p>
            <a:pPr algn="l" indent="0" marL="0">
              <a:lnSpc>
                <a:spcPct val="105000"/>
              </a:lnSpc>
              <a:buNone/>
            </a:pPr>
            <a:r>
              <a:rPr lang="en-US" sz="4200" b="1" spc="-60" kern="0" dirty="0">
                <a:solidFill>
                  <a:srgbClr val="26221D"/>
                </a:solidFill>
                <a:latin typeface="Georgia" pitchFamily="34" charset="0"/>
                <a:ea typeface="Georgia" pitchFamily="34" charset="-122"/>
                <a:cs typeface="Georgia" pitchFamily="34" charset="-120"/>
              </a:rPr>
              <a:t>Agree how success will be judged before the next decision.</a:t>
            </a:r>
            <a:endParaRPr lang="en-US" sz="4200" dirty="0"/>
          </a:p>
        </p:txBody>
      </p:sp>
      <p:sp>
        <p:nvSpPr>
          <p:cNvPr id="5" name="element_b335a44d7e401911061a64410539feb0"/>
          <p:cNvSpPr txBox="1"/>
          <p:nvPr/>
        </p:nvSpPr>
        <p:spPr>
          <a:xfrm>
            <a:off x="853419" y="2743200"/>
            <a:ext cx="9631439" cy="1028700"/>
          </a:xfrm>
          <a:prstGeom prst="rect">
            <a:avLst/>
          </a:prstGeom>
          <a:noFill/>
          <a:ln/>
        </p:spPr>
        <p:txBody>
          <a:bodyPr wrap="square" lIns="0" tIns="0" rIns="0" bIns="0" rtlCol="0" anchor="t">
            <a:normAutofit/>
          </a:bodyPr>
          <a:lstStyle/>
          <a:p>
            <a:pPr algn="l" indent="0" marL="0">
              <a:lnSpc>
                <a:spcPct val="135000"/>
              </a:lnSpc>
              <a:buNone/>
            </a:pPr>
            <a:r>
              <a:rPr lang="en-US" sz="1800" dirty="0">
                <a:solidFill>
                  <a:srgbClr val="756B61"/>
                </a:solidFill>
                <a:latin typeface="Geist Variable" pitchFamily="34" charset="0"/>
                <a:ea typeface="Geist Variable" pitchFamily="34" charset="-122"/>
                <a:cs typeface="Geist Variable" pitchFamily="34" charset="-120"/>
              </a:rPr>
              <a:t>Use the supplied success criteria as review questions; do not turn them into invented scores or weights.</a:t>
            </a:r>
            <a:endParaRPr lang="en-US" sz="1800" dirty="0"/>
          </a:p>
        </p:txBody>
      </p:sp>
      <p:sp>
        <p:nvSpPr>
          <p:cNvPr id="6" name="element_c876962da15af50a3a3418e450b710d7"/>
          <p:cNvSpPr txBox="1"/>
          <p:nvPr/>
        </p:nvSpPr>
        <p:spPr>
          <a:xfrm>
            <a:off x="7193100" y="3909060"/>
            <a:ext cx="4023259" cy="51846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Preserve all twelve narrative jobs</a:t>
            </a:r>
            <a:endParaRPr lang="en-US" sz="1700" dirty="0"/>
          </a:p>
        </p:txBody>
      </p:sp>
      <p:sp>
        <p:nvSpPr>
          <p:cNvPr id="7" name="element_cce6061da349f06f174dfb156461da45"/>
          <p:cNvSpPr txBox="1"/>
          <p:nvPr/>
        </p:nvSpPr>
        <p:spPr>
          <a:xfrm>
            <a:off x="7193100" y="4633265"/>
            <a:ext cx="4023259" cy="51846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Separate supplied evidence from open assumptions</a:t>
            </a:r>
            <a:endParaRPr lang="en-US" sz="1700" dirty="0"/>
          </a:p>
        </p:txBody>
      </p:sp>
      <p:sp>
        <p:nvSpPr>
          <p:cNvPr id="8" name="element_2ba27cde993309d182ac7b38e25bbeb4"/>
          <p:cNvSpPr txBox="1"/>
          <p:nvPr/>
        </p:nvSpPr>
        <p:spPr>
          <a:xfrm>
            <a:off x="7193100" y="5356784"/>
            <a:ext cx="4023259" cy="51846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Name ownership and the next decision checkpoint</a:t>
            </a:r>
            <a:endParaRPr lang="en-US" sz="1700" dirty="0"/>
          </a:p>
        </p:txBody>
      </p:sp>
      <p:sp>
        <p:nvSpPr>
          <p:cNvPr id="9" name="element_85488858231fa495c9d8808989e92442"/>
          <p:cNvSpPr/>
          <p:nvPr/>
        </p:nvSpPr>
        <p:spPr>
          <a:xfrm>
            <a:off x="853419" y="788670"/>
            <a:ext cx="9164497" cy="68580"/>
          </a:xfrm>
          <a:prstGeom prst="roundRect">
            <a:avLst/>
          </a:prstGeom>
          <a:solidFill>
            <a:srgbClr val="B44A2D"/>
          </a:solidFill>
          <a:ln w="12700">
            <a:solidFill>
              <a:srgbClr val="FFFFFF">
                <a:alpha val="0"/>
              </a:srgbClr>
            </a:solidFill>
            <a:prstDash val="solid"/>
          </a:ln>
        </p:spPr>
      </p:sp>
      <p:sp>
        <p:nvSpPr>
          <p:cNvPr id="10" name="element_9eb3757bd2d7aa4b4aa316797c1bf834"/>
          <p:cNvSpPr/>
          <p:nvPr/>
        </p:nvSpPr>
        <p:spPr>
          <a:xfrm>
            <a:off x="10777459" y="665226"/>
            <a:ext cx="121917" cy="301752"/>
          </a:xfrm>
          <a:prstGeom prst="roundRect">
            <a:avLst/>
          </a:prstGeom>
          <a:solidFill>
            <a:srgbClr val="34452C"/>
          </a:solidFill>
          <a:ln w="12700">
            <a:solidFill>
              <a:srgbClr val="FFFFFF">
                <a:alpha val="0"/>
              </a:srgbClr>
            </a:solidFill>
            <a:prstDash val="solid"/>
          </a:ln>
        </p:spPr>
      </p:sp>
      <p:sp>
        <p:nvSpPr>
          <p:cNvPr id="11" name="element_0c1526e7148f23dcf0a3cb67eb4cbae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0171fa97dd519d6d68ef59fa2fcfbfe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nodeslide-slide-id:slide_5a47977a59903a2c2eed3a5485895c8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9145126dd3ca9ee01b533ed5d572c8c"/>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c98d1eaa3b75b5da8245e55eed2013cc"/>
          <p:cNvSpPr txBox="1"/>
          <p:nvPr/>
        </p:nvSpPr>
        <p:spPr>
          <a:xfrm>
            <a:off x="853419" y="1028700"/>
            <a:ext cx="9631439" cy="68580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Decide whether the release gate can open</a:t>
            </a:r>
            <a:endParaRPr lang="en-US" sz="3600" dirty="0"/>
          </a:p>
        </p:txBody>
      </p:sp>
      <p:sp>
        <p:nvSpPr>
          <p:cNvPr id="5" name="element_ca56a053b289a5ab3a32f36dc6a79100"/>
          <p:cNvSpPr/>
          <p:nvPr/>
        </p:nvSpPr>
        <p:spPr>
          <a:xfrm>
            <a:off x="853419" y="2125980"/>
            <a:ext cx="3291758" cy="2194560"/>
          </a:xfrm>
          <a:prstGeom prst="roundRect">
            <a:avLst/>
          </a:prstGeom>
          <a:solidFill>
            <a:srgbClr val="E5E9D6"/>
          </a:solidFill>
          <a:ln w="12700">
            <a:solidFill>
              <a:srgbClr val="DED7CC"/>
            </a:solidFill>
            <a:prstDash val="solid"/>
          </a:ln>
        </p:spPr>
      </p:sp>
      <p:sp>
        <p:nvSpPr>
          <p:cNvPr id="6" name="element_9048689b614b2a8a5062c8089a5e247c"/>
          <p:cNvSpPr txBox="1"/>
          <p:nvPr/>
        </p:nvSpPr>
        <p:spPr>
          <a:xfrm>
            <a:off x="1097253" y="226314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01  Agree the outcome</a:t>
            </a:r>
            <a:endParaRPr lang="en-US" sz="1600" dirty="0"/>
          </a:p>
        </p:txBody>
      </p:sp>
      <p:sp>
        <p:nvSpPr>
          <p:cNvPr id="7" name="element_3c70d43a710ed605197625008cb4948a"/>
          <p:cNvSpPr/>
          <p:nvPr/>
        </p:nvSpPr>
        <p:spPr>
          <a:xfrm>
            <a:off x="4449969" y="2125980"/>
            <a:ext cx="3291758" cy="2194560"/>
          </a:xfrm>
          <a:prstGeom prst="roundRect">
            <a:avLst/>
          </a:prstGeom>
          <a:solidFill>
            <a:srgbClr val="E5E9D6"/>
          </a:solidFill>
          <a:ln w="12700">
            <a:solidFill>
              <a:srgbClr val="DED7CC"/>
            </a:solidFill>
            <a:prstDash val="solid"/>
          </a:ln>
        </p:spPr>
      </p:sp>
      <p:sp>
        <p:nvSpPr>
          <p:cNvPr id="8" name="element_07edaa35bd48e392cc223e98d968658c"/>
          <p:cNvSpPr txBox="1"/>
          <p:nvPr/>
        </p:nvSpPr>
        <p:spPr>
          <a:xfrm>
            <a:off x="4693803" y="226314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02  Name the owner</a:t>
            </a:r>
            <a:endParaRPr lang="en-US" sz="1600" dirty="0"/>
          </a:p>
        </p:txBody>
      </p:sp>
      <p:sp>
        <p:nvSpPr>
          <p:cNvPr id="9" name="element_529e307239d65b7780624c371cf9e21c"/>
          <p:cNvSpPr/>
          <p:nvPr/>
        </p:nvSpPr>
        <p:spPr>
          <a:xfrm>
            <a:off x="8046519" y="2125980"/>
            <a:ext cx="3291758" cy="2194560"/>
          </a:xfrm>
          <a:prstGeom prst="roundRect">
            <a:avLst/>
          </a:prstGeom>
          <a:solidFill>
            <a:srgbClr val="E5E9D6"/>
          </a:solidFill>
          <a:ln w="12700">
            <a:solidFill>
              <a:srgbClr val="DED7CC"/>
            </a:solidFill>
            <a:prstDash val="solid"/>
          </a:ln>
        </p:spPr>
      </p:sp>
      <p:sp>
        <p:nvSpPr>
          <p:cNvPr id="10" name="element_829f7a25da59589c448ea8fc7121a974"/>
          <p:cNvSpPr txBox="1"/>
          <p:nvPr/>
        </p:nvSpPr>
        <p:spPr>
          <a:xfrm>
            <a:off x="8290353" y="226314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03  Set the next checkpoint</a:t>
            </a:r>
            <a:endParaRPr lang="en-US" sz="1600" dirty="0"/>
          </a:p>
        </p:txBody>
      </p:sp>
      <p:sp>
        <p:nvSpPr>
          <p:cNvPr id="11" name="element_553630a83ea887bef0f25c96c4628b7c"/>
          <p:cNvSpPr/>
          <p:nvPr/>
        </p:nvSpPr>
        <p:spPr>
          <a:xfrm>
            <a:off x="853419" y="788670"/>
            <a:ext cx="9997190" cy="68580"/>
          </a:xfrm>
          <a:prstGeom prst="roundRect">
            <a:avLst/>
          </a:prstGeom>
          <a:solidFill>
            <a:srgbClr val="B44A2D">
              <a:alpha val="76000"/>
            </a:srgbClr>
          </a:solidFill>
          <a:ln w="12700">
            <a:solidFill>
              <a:srgbClr val="FFFFFF">
                <a:alpha val="0"/>
              </a:srgbClr>
            </a:solidFill>
            <a:prstDash val="solid"/>
          </a:ln>
        </p:spPr>
      </p:sp>
      <p:sp>
        <p:nvSpPr>
          <p:cNvPr id="12" name="element_8acadbf02433edf5abbb1945b48e2fd9"/>
          <p:cNvSpPr/>
          <p:nvPr/>
        </p:nvSpPr>
        <p:spPr>
          <a:xfrm>
            <a:off x="10777459" y="665226"/>
            <a:ext cx="121917" cy="301752"/>
          </a:xfrm>
          <a:prstGeom prst="roundRect">
            <a:avLst/>
          </a:prstGeom>
          <a:solidFill>
            <a:srgbClr val="34452C">
              <a:alpha val="76000"/>
            </a:srgbClr>
          </a:solidFill>
          <a:ln w="12700">
            <a:solidFill>
              <a:srgbClr val="FFFFFF">
                <a:alpha val="0"/>
              </a:srgbClr>
            </a:solidFill>
            <a:prstDash val="solid"/>
          </a:ln>
        </p:spPr>
      </p:sp>
      <p:sp>
        <p:nvSpPr>
          <p:cNvPr id="13" name="element_c8bd323ad13b18128541e75f3d81a63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f696659e8d2bb3478890a33d7eee514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evidence boundary to release decision</dc:title>
  <dc:subject>Decide whether the release gate can open</dc:subject>
  <dc:creator>NodeSlide</dc:creator>
  <cp:lastModifiedBy>NodeSlide</cp:lastModifiedBy>
  <cp:revision>1</cp:revision>
  <dcterms:created xsi:type="dcterms:W3CDTF">2026-08-01T22:15:32Z</dcterms:created>
  <dcterms:modified xsi:type="dcterms:W3CDTF">2026-08-01T22:15:32Z</dcterms:modified>
</cp:coreProperties>
</file>