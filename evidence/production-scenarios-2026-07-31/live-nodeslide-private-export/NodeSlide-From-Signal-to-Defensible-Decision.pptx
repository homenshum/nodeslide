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Composition grammar: process-canvas. Keep the spoken transition focused on "Fluent output is easy. Defensible decisions are not."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
[source_34850357763a205652776afa7557ed6f] Brief success criteria
Citation: Exactly 12 slides; Five production scenarios are distinct; One transforming signal-to-decision metaphor; At least six silhouettes; Brief drift and visual monotony are surfaced honestly; PPTX HTML snapshot receipt and public share complete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Composition grammar: comparison-field. Keep the spoken transition focused on "Two decks can look identical and differ entirely in trust."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Composition grammar: comparison-field. Keep the spoken transition focused on "One system, five jobs, five distinct truth constraints."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“One canonical model; one governed mutation path.”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Composition grammar: process-canvas. Keep the spoken transition focused on "Signals cross the gate; governed artifacts fan out."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
[source_34850357763a205652776afa7557ed6f] Brief success criteria
Citation: Exactly 12 slides; Five production scenarios are distinct; One transforming signal-to-decision metaphor; At least six silhouettes; Brief drift and visual monotony are surfaced honestly; PPTX HTML snapshot receipt and public share complete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Composition grammar: evidence-dossier. Keep the spoken transition focused on "The release gate stays closed until the evidence is verified"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Composition grammar: asymmetric-editorial. Keep the spoken transition focused on "Readiness is a score, not a feeling."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
[source_34850357763a205652776afa7557ed6f] Brief success criteria
Citation: Exactly 12 slides; Five production scenarios are distinct; One transforming signal-to-decision metaphor; At least six silhouettes; Brief drift and visual monotony are surfaced honestly; PPTX HTML snapshot receipt and public share complete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Composition grammar: evidence-dossier. Keep the spoken transition focused on "Approve a gated pilot."
Evidence note: Content is based on the supplied creation brief. Illustrative examples are not independently verified; replace them with measured evidence before external publication.
NodeSlide sources
[source_dbeacfba6b78a79697c2811d35a76212] NodeSlide: From Signal to Defensible Decision — creation brief
Citation: Create a 12-slide executive product and technical presentation about NodeSlide for research leaders, finance teams, startup founders, operators, governance committees, and the coding agents that support them. Communication job: prove that NodeSlide turns evidence and a brief into a defensible, editable, distributable decision artifact. Narrative: open on the gap between plausible AI output and a decision-ready deck; show the five production jobs and their distinct truth constraints; reveal the canonical deck-as-code architecture and one governed mutation path across UI, CLI, and MCP; explain source lineage, proposal-before-mutate, validation, receipts, editable PPTX/HTML/share exports, and agent operability; confront current failure modes honestly, especially brief drift, generic fallback copy, repetitive composition, and false green quality badges; then define the production acceptance gate and close with one owned rollout decision. Use one evolving visual metaphor: scattered signals become a structured story, cross a trust gate, then fan out as reusable institutional memory. The metaphor must visibly transform, not repeat as a progress rail. Use at least six materially different slide silhouettes, no adjacent repeated composition, no dashboard-card collage, no decorative metrics, no placeholder media, and no invented claims. Prefer diagrams, process grids, comparison, architecture, lineage, a truthful scorecard, and a decisive close over prose. Exactly 12 slides. Keep visible copy concise and make every slide advance the argument.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361852dbf9cf92dde3ccfc5d77f5c3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2cfc8ba49bdb74784adccc986f031cb"/>
          <p:cNvSpPr txBox="1"/>
          <p:nvPr/>
        </p:nvSpPr>
        <p:spPr>
          <a:xfrm>
            <a:off x="853419" y="41148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8f831093a730255084537ca0df7ca46c"/>
          <p:cNvSpPr txBox="1"/>
          <p:nvPr/>
        </p:nvSpPr>
        <p:spPr>
          <a:xfrm>
            <a:off x="853419" y="960120"/>
            <a:ext cx="99971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 output is easy. Defensible decisions are not.</a:t>
            </a:r>
            <a:endParaRPr lang="en-US" sz="3200" dirty="0"/>
          </a:p>
        </p:txBody>
      </p:sp>
      <p:sp>
        <p:nvSpPr>
          <p:cNvPr id="5" name="element_d90fb9a2128ea79e86fd95086c2cf90d"/>
          <p:cNvSpPr/>
          <p:nvPr/>
        </p:nvSpPr>
        <p:spPr>
          <a:xfrm>
            <a:off x="2499298" y="3895344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076324993dc679e704f74dd09f93aa89"/>
          <p:cNvSpPr/>
          <p:nvPr/>
        </p:nvSpPr>
        <p:spPr>
          <a:xfrm>
            <a:off x="6095848" y="3895344"/>
            <a:ext cx="359655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87b045d94e7092657daa625889ea567b"/>
          <p:cNvSpPr/>
          <p:nvPr/>
        </p:nvSpPr>
        <p:spPr>
          <a:xfrm>
            <a:off x="853419" y="3497580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7b045d94e7092657daa625889ea567b:text"/>
          <p:cNvSpPr txBox="1"/>
          <p:nvPr/>
        </p:nvSpPr>
        <p:spPr>
          <a:xfrm>
            <a:off x="85341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Plausibility is not provenance</a:t>
            </a:r>
            <a:endParaRPr lang="en-US" sz="1200" dirty="0"/>
          </a:p>
        </p:txBody>
      </p:sp>
      <p:sp>
        <p:nvSpPr>
          <p:cNvPr id="9" name="element_4dae997312615b8e25c6b8e4e4733672"/>
          <p:cNvSpPr/>
          <p:nvPr/>
        </p:nvSpPr>
        <p:spPr>
          <a:xfrm>
            <a:off x="4449969" y="3497580"/>
            <a:ext cx="3291758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4dae997312615b8e25c6b8e4e4733672:text"/>
          <p:cNvSpPr txBox="1"/>
          <p:nvPr/>
        </p:nvSpPr>
        <p:spPr>
          <a:xfrm>
            <a:off x="444996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deck is a decision record, not just slides</a:t>
            </a:r>
            <a:endParaRPr lang="en-US" sz="1200" dirty="0"/>
          </a:p>
        </p:txBody>
      </p:sp>
      <p:sp>
        <p:nvSpPr>
          <p:cNvPr id="11" name="element_4e645da86e9fa4b829333f9522dd5609"/>
          <p:cNvSpPr/>
          <p:nvPr/>
        </p:nvSpPr>
        <p:spPr>
          <a:xfrm>
            <a:off x="8046519" y="3497580"/>
            <a:ext cx="3291758" cy="96012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2" name="element_4e645da86e9fa4b829333f9522dd5609:text"/>
          <p:cNvSpPr txBox="1"/>
          <p:nvPr/>
        </p:nvSpPr>
        <p:spPr>
          <a:xfrm>
            <a:off x="8046519" y="349758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Fluent output is easy. Defensible decisions are not.</a:t>
            </a:r>
            <a:endParaRPr lang="en-US" sz="1200" dirty="0"/>
          </a:p>
        </p:txBody>
      </p:sp>
      <p:sp>
        <p:nvSpPr>
          <p:cNvPr id="13" name="element_1321303dbdf0da45adbd20e52f06a5d3"/>
          <p:cNvSpPr txBox="1"/>
          <p:nvPr/>
        </p:nvSpPr>
        <p:spPr>
          <a:xfrm>
            <a:off x="853419" y="4489247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AI tools generate plausible decks. Leadership needs artifacts whose claims, sources, and edits can be inspected after the fact. Source evidence must be captured before publication.</a:t>
            </a:r>
            <a:endParaRPr lang="en-US" sz="1600" dirty="0"/>
          </a:p>
        </p:txBody>
      </p:sp>
      <p:sp>
        <p:nvSpPr>
          <p:cNvPr id="14" name="element_81c9b692cf852a7dbb0a3b445aa56b6a"/>
          <p:cNvSpPr/>
          <p:nvPr/>
        </p:nvSpPr>
        <p:spPr>
          <a:xfrm>
            <a:off x="853419" y="788670"/>
            <a:ext cx="1249649" cy="68580"/>
          </a:xfrm>
          <a:prstGeom prst="roundRect">
            <a:avLst/>
          </a:prstGeom>
          <a:solidFill>
            <a:srgbClr val="B44A2D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09acf38c7f77fb2722f920c54d425313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84fe8c66d44cd4c799b53896d5c5c7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23612660af126bee12a8fca93b43612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e745406cc37eca0ba00073f52d0d90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2bb34431dd6e6ebcb8020d23a5879ef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ea046ef2cf6a69509a97881712f5ae2a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decks can look identical and differ entirely in trust.</a:t>
            </a:r>
            <a:endParaRPr lang="en-US" sz="3600" dirty="0"/>
          </a:p>
        </p:txBody>
      </p:sp>
      <p:sp>
        <p:nvSpPr>
          <p:cNvPr id="5" name="element_e2fd7b3c7627d51184b83f21f7c25b3c"/>
          <p:cNvSpPr txBox="1"/>
          <p:nvPr/>
        </p:nvSpPr>
        <p:spPr>
          <a:xfrm>
            <a:off x="853419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297af7ef6f4a1b18238288c8760b7cb8"/>
          <p:cNvSpPr txBox="1"/>
          <p:nvPr/>
        </p:nvSpPr>
        <p:spPr>
          <a:xfrm>
            <a:off x="853419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Plausible: fluent copy, unverifiable claims, silent mutations</a:t>
            </a:r>
            <a:endParaRPr lang="en-US" sz="1700" dirty="0"/>
          </a:p>
        </p:txBody>
      </p:sp>
      <p:sp>
        <p:nvSpPr>
          <p:cNvPr id="7" name="element_e57440deb32cd0193a2797298ec5c74d"/>
          <p:cNvSpPr/>
          <p:nvPr/>
        </p:nvSpPr>
        <p:spPr>
          <a:xfrm>
            <a:off x="4287819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ebf72b3c44113839070c2cec6d241323"/>
          <p:cNvSpPr txBox="1"/>
          <p:nvPr/>
        </p:nvSpPr>
        <p:spPr>
          <a:xfrm>
            <a:off x="4470695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94270bcc0ff65ae1f7e9065b45e4f98a"/>
          <p:cNvSpPr txBox="1"/>
          <p:nvPr/>
        </p:nvSpPr>
        <p:spPr>
          <a:xfrm>
            <a:off x="4470695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Defensible: lineage, proposal-before-mutate, receipts</a:t>
            </a:r>
            <a:endParaRPr lang="en-US" sz="1700" dirty="0"/>
          </a:p>
        </p:txBody>
      </p:sp>
      <p:sp>
        <p:nvSpPr>
          <p:cNvPr id="10" name="element_78e1520efb4c1d0725257347e00f2d82"/>
          <p:cNvSpPr/>
          <p:nvPr/>
        </p:nvSpPr>
        <p:spPr>
          <a:xfrm>
            <a:off x="7903876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7719399e73955460c41cf37378cf495b"/>
          <p:cNvSpPr txBox="1"/>
          <p:nvPr/>
        </p:nvSpPr>
        <p:spPr>
          <a:xfrm>
            <a:off x="8086751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8f7767f519c33aa61aa31b926d13f591"/>
          <p:cNvSpPr txBox="1"/>
          <p:nvPr/>
        </p:nvSpPr>
        <p:spPr>
          <a:xfrm>
            <a:off x="8086751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optimizes for the second column</a:t>
            </a:r>
            <a:endParaRPr lang="en-US" sz="1700" dirty="0"/>
          </a:p>
        </p:txBody>
      </p:sp>
      <p:sp>
        <p:nvSpPr>
          <p:cNvPr id="13" name="element_2a8417d2f2bcde5b87692ce9ff3dbb5e"/>
          <p:cNvSpPr/>
          <p:nvPr/>
        </p:nvSpPr>
        <p:spPr>
          <a:xfrm>
            <a:off x="853419" y="788670"/>
            <a:ext cx="2499298" cy="68580"/>
          </a:xfrm>
          <a:prstGeom prst="roundRect">
            <a:avLst/>
          </a:prstGeom>
          <a:solidFill>
            <a:srgbClr val="B44A2D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d49b40836b8b884c71ac78f854f0decf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04f6677be2e4c08dc0ba1f31b685921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d64058b8ae6005723f040296cc98c05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2a5d66c6db4f59f1e3c1398d57539d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8ce427532ab01b986bd2180f66970d9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e149ea82e22d5688376e1e4abfeb8608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five jobs, five distinct truth constraints.</a:t>
            </a:r>
            <a:endParaRPr lang="en-US" sz="3600" dirty="0"/>
          </a:p>
        </p:txBody>
      </p:sp>
      <p:sp>
        <p:nvSpPr>
          <p:cNvPr id="5" name="element_5c49f752d66a332ef3223f2a4a613f19"/>
          <p:cNvSpPr txBox="1"/>
          <p:nvPr/>
        </p:nvSpPr>
        <p:spPr>
          <a:xfrm>
            <a:off x="853419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acce1d35269c6afe6b0e8672e28b7c38"/>
          <p:cNvSpPr txBox="1"/>
          <p:nvPr/>
        </p:nvSpPr>
        <p:spPr>
          <a:xfrm>
            <a:off x="853419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Research and finance demand observed, sourced data</a:t>
            </a:r>
            <a:endParaRPr lang="en-US" sz="1700" dirty="0"/>
          </a:p>
        </p:txBody>
      </p:sp>
      <p:sp>
        <p:nvSpPr>
          <p:cNvPr id="7" name="element_c3b15a8c0fe8831038f9bcfda53a9570"/>
          <p:cNvSpPr/>
          <p:nvPr/>
        </p:nvSpPr>
        <p:spPr>
          <a:xfrm>
            <a:off x="4287819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c7730d85fdabdefb1b96aefd1efe7da1"/>
          <p:cNvSpPr txBox="1"/>
          <p:nvPr/>
        </p:nvSpPr>
        <p:spPr>
          <a:xfrm>
            <a:off x="4470695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2eef7ec8a14c7a6231ebc96d3aea18a7"/>
          <p:cNvSpPr txBox="1"/>
          <p:nvPr/>
        </p:nvSpPr>
        <p:spPr>
          <a:xfrm>
            <a:off x="4470695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Founders and operators mix observed with labeled estimates</a:t>
            </a:r>
            <a:endParaRPr lang="en-US" sz="1700" dirty="0"/>
          </a:p>
        </p:txBody>
      </p:sp>
      <p:sp>
        <p:nvSpPr>
          <p:cNvPr id="10" name="element_dcb418bb1f1124b8e213c1b8f118e7bc"/>
          <p:cNvSpPr/>
          <p:nvPr/>
        </p:nvSpPr>
        <p:spPr>
          <a:xfrm>
            <a:off x="7903876" y="2400300"/>
            <a:ext cx="121917" cy="2880360"/>
          </a:xfrm>
          <a:prstGeom prst="rect">
            <a:avLst/>
          </a:prstGeom>
          <a:solidFill>
            <a:srgbClr val="DED7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ca2bc0eaab6087601ca9b4ae2fb9a18c"/>
          <p:cNvSpPr txBox="1"/>
          <p:nvPr/>
        </p:nvSpPr>
        <p:spPr>
          <a:xfrm>
            <a:off x="8086751" y="240030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9af40ccdf9d899367052b58bf8a66994"/>
          <p:cNvSpPr txBox="1"/>
          <p:nvPr/>
        </p:nvSpPr>
        <p:spPr>
          <a:xfrm>
            <a:off x="8086751" y="294894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Governance requires complete lineage over speed</a:t>
            </a:r>
            <a:endParaRPr lang="en-US" sz="1700" dirty="0"/>
          </a:p>
        </p:txBody>
      </p:sp>
      <p:sp>
        <p:nvSpPr>
          <p:cNvPr id="13" name="element_8a40d0d35ba3df0f423fca313e1c6a63"/>
          <p:cNvSpPr/>
          <p:nvPr/>
        </p:nvSpPr>
        <p:spPr>
          <a:xfrm>
            <a:off x="853419" y="788670"/>
            <a:ext cx="3748946" cy="68580"/>
          </a:xfrm>
          <a:prstGeom prst="roundRect">
            <a:avLst/>
          </a:prstGeom>
          <a:solidFill>
            <a:srgbClr val="B44A2D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4fa0fabe7debdd47662c1dfae9c47463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8e8b8722b19c59e77f39d2a7e698a9d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f3fe2ce2af6643a8307e22db7ec7cbf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149b98a6d5beda0242cddd3be8f5f6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65b13494fb8d98e7cc4494d07d6f32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18aeb3e47e8c849b134d514275e81f1"/>
          <p:cNvSpPr/>
          <p:nvPr/>
        </p:nvSpPr>
        <p:spPr>
          <a:xfrm>
            <a:off x="853419" y="788670"/>
            <a:ext cx="4998595" cy="68580"/>
          </a:xfrm>
          <a:prstGeom prst="roundRect">
            <a:avLst/>
          </a:prstGeom>
          <a:solidFill>
            <a:srgbClr val="B44A2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8677ef7115414e62200f8f41690f7632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6d91a06712708758b6fcc8ab54a1f0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7" name="element_6b03bf94ac4549cc50eb2e98f59372b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canonical model; one governed mutation path.</a:t>
            </a:r>
            <a:endParaRPr lang="en-US" sz="3800" dirty="0"/>
          </a:p>
        </p:txBody>
      </p:sp>
      <p:sp>
        <p:nvSpPr>
          <p:cNvPr id="8" name="element_7bafe1c2d7309702a843dab8da1f77c5"/>
          <p:cNvSpPr txBox="1"/>
          <p:nvPr/>
        </p:nvSpPr>
        <p:spPr>
          <a:xfrm>
            <a:off x="853419" y="2606040"/>
            <a:ext cx="39013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UI, CLI, and MCP agents never write slides directly. They submit proposals against the canonical deck model; validation and receipts wrap every accepted change.</a:t>
            </a:r>
            <a:endParaRPr lang="en-US" sz="1600" dirty="0"/>
          </a:p>
        </p:txBody>
      </p:sp>
      <p:sp>
        <p:nvSpPr>
          <p:cNvPr id="9" name="element_10f8f49ffeef24a111a8ddaad3f21cf6"/>
          <p:cNvSpPr txBox="1"/>
          <p:nvPr/>
        </p:nvSpPr>
        <p:spPr>
          <a:xfrm>
            <a:off x="853419" y="4251960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Canonical deck model is the single source of truth</a:t>
            </a:r>
            <a:endParaRPr lang="en-US" sz="1400" dirty="0"/>
          </a:p>
        </p:txBody>
      </p:sp>
      <p:sp>
        <p:nvSpPr>
          <p:cNvPr id="10" name="element_774d5f67de133776f097f2f08cae8f42"/>
          <p:cNvSpPr txBox="1"/>
          <p:nvPr/>
        </p:nvSpPr>
        <p:spPr>
          <a:xfrm>
            <a:off x="853419" y="4915129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UI, CLI, and MCP share one mutation path</a:t>
            </a:r>
            <a:endParaRPr lang="en-US" sz="1400" dirty="0"/>
          </a:p>
        </p:txBody>
      </p:sp>
      <p:sp>
        <p:nvSpPr>
          <p:cNvPr id="11" name="element_dba9efc0319cde8a5133a9f6144a7990"/>
          <p:cNvSpPr txBox="1"/>
          <p:nvPr/>
        </p:nvSpPr>
        <p:spPr>
          <a:xfrm>
            <a:off x="853419" y="5577611"/>
            <a:ext cx="3657509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gates every proposal before commit</a:t>
            </a:r>
            <a:endParaRPr lang="en-US" sz="1400" dirty="0"/>
          </a:p>
        </p:txBody>
      </p:sp>
      <p:sp>
        <p:nvSpPr>
          <p:cNvPr id="12" name="element_10a9d53ede91a088a4c36aba005ff316"/>
          <p:cNvSpPr/>
          <p:nvPr/>
        </p:nvSpPr>
        <p:spPr>
          <a:xfrm>
            <a:off x="6520119" y="3775329"/>
            <a:ext cx="341977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1968644b92a323d813a0b3db2e963f38"/>
          <p:cNvSpPr/>
          <p:nvPr/>
        </p:nvSpPr>
        <p:spPr>
          <a:xfrm>
            <a:off x="8150148" y="3775329"/>
            <a:ext cx="178974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4" name="element_e5a440418b876cf0b67f3728f5ef15f8"/>
          <p:cNvSpPr/>
          <p:nvPr/>
        </p:nvSpPr>
        <p:spPr>
          <a:xfrm>
            <a:off x="9738726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5" name="element_614b7015ea0ac055d1e8dec8c70470d1"/>
          <p:cNvSpPr/>
          <p:nvPr/>
        </p:nvSpPr>
        <p:spPr>
          <a:xfrm>
            <a:off x="6356750" y="4375404"/>
            <a:ext cx="374407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6" name="element_0c0c97241d1879f7be628504f8318493"/>
          <p:cNvSpPr/>
          <p:nvPr/>
        </p:nvSpPr>
        <p:spPr>
          <a:xfrm>
            <a:off x="6477448" y="497547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7" name="element_177e8f5700a1878ea206a78063fa40c4"/>
          <p:cNvSpPr/>
          <p:nvPr/>
        </p:nvSpPr>
        <p:spPr>
          <a:xfrm>
            <a:off x="8107477" y="497547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8" name="element_8cf3a6e861e464c47c2d41852ac512cc"/>
          <p:cNvSpPr/>
          <p:nvPr/>
        </p:nvSpPr>
        <p:spPr>
          <a:xfrm>
            <a:off x="5120512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8cf3a6e861e464c47c2d41852ac512cc:text"/>
          <p:cNvSpPr txBox="1"/>
          <p:nvPr/>
        </p:nvSpPr>
        <p:spPr>
          <a:xfrm>
            <a:off x="5120512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UI</a:t>
            </a:r>
            <a:endParaRPr lang="en-US" sz="1400" dirty="0"/>
          </a:p>
        </p:txBody>
      </p:sp>
      <p:sp>
        <p:nvSpPr>
          <p:cNvPr id="20" name="element_c607353945d373b2f418b55ba1bcd472"/>
          <p:cNvSpPr/>
          <p:nvPr/>
        </p:nvSpPr>
        <p:spPr>
          <a:xfrm>
            <a:off x="6751761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1" name="element_c607353945d373b2f418b55ba1bcd472:text"/>
          <p:cNvSpPr txBox="1"/>
          <p:nvPr/>
        </p:nvSpPr>
        <p:spPr>
          <a:xfrm>
            <a:off x="6751761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CLI</a:t>
            </a:r>
            <a:endParaRPr lang="en-US" sz="1400" dirty="0"/>
          </a:p>
        </p:txBody>
      </p:sp>
      <p:sp>
        <p:nvSpPr>
          <p:cNvPr id="22" name="element_9d11b3f217b3b426a302fa58b1dcb63c"/>
          <p:cNvSpPr/>
          <p:nvPr/>
        </p:nvSpPr>
        <p:spPr>
          <a:xfrm>
            <a:off x="8381790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3" name="element_9d11b3f217b3b426a302fa58b1dcb63c:text"/>
          <p:cNvSpPr txBox="1"/>
          <p:nvPr/>
        </p:nvSpPr>
        <p:spPr>
          <a:xfrm>
            <a:off x="8381790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MCP agents</a:t>
            </a:r>
            <a:endParaRPr lang="en-US" sz="1300" dirty="0"/>
          </a:p>
        </p:txBody>
      </p:sp>
      <p:sp>
        <p:nvSpPr>
          <p:cNvPr id="24" name="element_c1115fa2abd3a7b27559a1cc6afef452"/>
          <p:cNvSpPr/>
          <p:nvPr/>
        </p:nvSpPr>
        <p:spPr>
          <a:xfrm>
            <a:off x="10013039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5" name="element_c1115fa2abd3a7b27559a1cc6afef452:text"/>
          <p:cNvSpPr txBox="1"/>
          <p:nvPr/>
        </p:nvSpPr>
        <p:spPr>
          <a:xfrm>
            <a:off x="10013039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Proposal engine</a:t>
            </a:r>
            <a:endParaRPr lang="en-US" sz="1300" dirty="0"/>
          </a:p>
        </p:txBody>
      </p:sp>
      <p:sp>
        <p:nvSpPr>
          <p:cNvPr id="26" name="element_6cf7cfc287a75668a46e6c4663aebad9"/>
          <p:cNvSpPr/>
          <p:nvPr/>
        </p:nvSpPr>
        <p:spPr>
          <a:xfrm>
            <a:off x="5120512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7" name="element_6cf7cfc287a75668a46e6c4663aebad9:text"/>
          <p:cNvSpPr txBox="1"/>
          <p:nvPr/>
        </p:nvSpPr>
        <p:spPr>
          <a:xfrm>
            <a:off x="5120512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8" name="element_6ced1101a682b42e688b035cf23513fa"/>
          <p:cNvSpPr/>
          <p:nvPr/>
        </p:nvSpPr>
        <p:spPr>
          <a:xfrm>
            <a:off x="6751761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9" name="element_6ced1101a682b42e688b035cf23513fa:text"/>
          <p:cNvSpPr txBox="1"/>
          <p:nvPr/>
        </p:nvSpPr>
        <p:spPr>
          <a:xfrm>
            <a:off x="6751761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Canonical deck model</a:t>
            </a:r>
            <a:endParaRPr lang="en-US" sz="1200" dirty="0"/>
          </a:p>
        </p:txBody>
      </p:sp>
      <p:sp>
        <p:nvSpPr>
          <p:cNvPr id="30" name="element_8470fa8348393686d3100b2213237861"/>
          <p:cNvSpPr/>
          <p:nvPr/>
        </p:nvSpPr>
        <p:spPr>
          <a:xfrm>
            <a:off x="8381790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31" name="element_8470fa8348393686d3100b2213237861:text"/>
          <p:cNvSpPr txBox="1"/>
          <p:nvPr/>
        </p:nvSpPr>
        <p:spPr>
          <a:xfrm>
            <a:off x="8381790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Receipts &amp; lineage</a:t>
            </a:r>
            <a:endParaRPr lang="en-US" sz="1200" dirty="0"/>
          </a:p>
        </p:txBody>
      </p:sp>
      <p:sp>
        <p:nvSpPr>
          <p:cNvPr id="32" name="element_6dea10811aa411f24a426451ae77136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33" name="element_5d5fad0775502f0e7699c171155df11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006d4354e882c39231b449e6eba250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aac465c941168716585be6bf86bf42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3e497af5d678de69168ff9812bbb0738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cross the gate; governed artifacts fan out.</a:t>
            </a:r>
            <a:endParaRPr lang="en-US" sz="3200" dirty="0"/>
          </a:p>
        </p:txBody>
      </p:sp>
      <p:sp>
        <p:nvSpPr>
          <p:cNvPr id="5" name="element_90e682c9f789288b7e24d0a62bde1473"/>
          <p:cNvSpPr/>
          <p:nvPr/>
        </p:nvSpPr>
        <p:spPr>
          <a:xfrm>
            <a:off x="2049424" y="3295269"/>
            <a:ext cx="5394825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653f6080637ab9c79855fbb766147ac9"/>
          <p:cNvSpPr/>
          <p:nvPr/>
        </p:nvSpPr>
        <p:spPr>
          <a:xfrm>
            <a:off x="4747446" y="3295269"/>
            <a:ext cx="269680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b6554bf047e57a63eb4136975ed03724"/>
          <p:cNvSpPr/>
          <p:nvPr/>
        </p:nvSpPr>
        <p:spPr>
          <a:xfrm>
            <a:off x="7444249" y="3295269"/>
            <a:ext cx="269680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8" name="element_f49e3bb5d0ee021cb6ad08e22bd04db3"/>
          <p:cNvSpPr/>
          <p:nvPr/>
        </p:nvSpPr>
        <p:spPr>
          <a:xfrm>
            <a:off x="1911658" y="3895344"/>
            <a:ext cx="836838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9" name="element_a95b6c29fc6136553a358d09c86f0260"/>
          <p:cNvSpPr/>
          <p:nvPr/>
        </p:nvSpPr>
        <p:spPr>
          <a:xfrm>
            <a:off x="2049424" y="4495419"/>
            <a:ext cx="2698022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d02502dc4e38ddb3b6b5e882cccad2c7"/>
          <p:cNvSpPr/>
          <p:nvPr/>
        </p:nvSpPr>
        <p:spPr>
          <a:xfrm>
            <a:off x="757738" y="2859100"/>
            <a:ext cx="2583371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1" name="element_d02502dc4e38ddb3b6b5e882cccad2c7:text"/>
          <p:cNvSpPr txBox="1"/>
          <p:nvPr/>
        </p:nvSpPr>
        <p:spPr>
          <a:xfrm>
            <a:off x="757738" y="285910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&amp; sources</a:t>
            </a:r>
            <a:endParaRPr lang="en-US" sz="1200" dirty="0"/>
          </a:p>
        </p:txBody>
      </p:sp>
      <p:sp>
        <p:nvSpPr>
          <p:cNvPr id="12" name="element_50ef1f1e264360e5e7b9e0337b769a9d"/>
          <p:cNvSpPr/>
          <p:nvPr/>
        </p:nvSpPr>
        <p:spPr>
          <a:xfrm>
            <a:off x="3455760" y="2859100"/>
            <a:ext cx="2583371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50ef1f1e264360e5e7b9e0337b769a9d:text"/>
          <p:cNvSpPr txBox="1"/>
          <p:nvPr/>
        </p:nvSpPr>
        <p:spPr>
          <a:xfrm>
            <a:off x="3455760" y="285910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Brief</a:t>
            </a:r>
            <a:endParaRPr lang="en-US" sz="1400" dirty="0"/>
          </a:p>
        </p:txBody>
      </p:sp>
      <p:sp>
        <p:nvSpPr>
          <p:cNvPr id="14" name="element_205270b1d56438764c87bb7f2ef15f06"/>
          <p:cNvSpPr/>
          <p:nvPr/>
        </p:nvSpPr>
        <p:spPr>
          <a:xfrm>
            <a:off x="6152563" y="2859100"/>
            <a:ext cx="2583371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205270b1d56438764c87bb7f2ef15f06:text"/>
          <p:cNvSpPr txBox="1"/>
          <p:nvPr/>
        </p:nvSpPr>
        <p:spPr>
          <a:xfrm>
            <a:off x="6152563" y="285910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Proposal</a:t>
            </a:r>
            <a:endParaRPr lang="en-US" sz="1400" dirty="0"/>
          </a:p>
        </p:txBody>
      </p:sp>
      <p:sp>
        <p:nvSpPr>
          <p:cNvPr id="16" name="element_781b8a6e3c7b32ca5291590a422f3f48"/>
          <p:cNvSpPr/>
          <p:nvPr/>
        </p:nvSpPr>
        <p:spPr>
          <a:xfrm>
            <a:off x="8849366" y="2859100"/>
            <a:ext cx="2583371" cy="103693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7" name="element_781b8a6e3c7b32ca5291590a422f3f48:text"/>
          <p:cNvSpPr txBox="1"/>
          <p:nvPr/>
        </p:nvSpPr>
        <p:spPr>
          <a:xfrm>
            <a:off x="8849366" y="285910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Validation gate</a:t>
            </a:r>
            <a:endParaRPr lang="en-US" sz="1300" dirty="0"/>
          </a:p>
        </p:txBody>
      </p:sp>
      <p:sp>
        <p:nvSpPr>
          <p:cNvPr id="18" name="element_fd961be6b0f366c747d35d4062cd82ab"/>
          <p:cNvSpPr/>
          <p:nvPr/>
        </p:nvSpPr>
        <p:spPr>
          <a:xfrm>
            <a:off x="757738" y="4059250"/>
            <a:ext cx="2583371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fd961be6b0f366c747d35d4062cd82ab:text"/>
          <p:cNvSpPr txBox="1"/>
          <p:nvPr/>
        </p:nvSpPr>
        <p:spPr>
          <a:xfrm>
            <a:off x="757738" y="405925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Governed deck</a:t>
            </a:r>
            <a:endParaRPr lang="en-US" sz="1300" dirty="0"/>
          </a:p>
        </p:txBody>
      </p:sp>
      <p:sp>
        <p:nvSpPr>
          <p:cNvPr id="20" name="element_3d6d4e9b171ea60f194b78fc7b8d6ae3"/>
          <p:cNvSpPr/>
          <p:nvPr/>
        </p:nvSpPr>
        <p:spPr>
          <a:xfrm>
            <a:off x="3455760" y="4059250"/>
            <a:ext cx="2583371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1" name="element_3d6d4e9b171ea60f194b78fc7b8d6ae3:text"/>
          <p:cNvSpPr txBox="1"/>
          <p:nvPr/>
        </p:nvSpPr>
        <p:spPr>
          <a:xfrm>
            <a:off x="3455760" y="4059250"/>
            <a:ext cx="2583371" cy="103693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PPTX · HTML · receipt · share</a:t>
            </a:r>
            <a:endParaRPr lang="en-US" sz="1200" dirty="0"/>
          </a:p>
        </p:txBody>
      </p:sp>
      <p:sp>
        <p:nvSpPr>
          <p:cNvPr id="22" name="element_4a90055c3fbdd179575374cbb74ea200"/>
          <p:cNvSpPr txBox="1"/>
          <p:nvPr/>
        </p:nvSpPr>
        <p:spPr>
          <a:xfrm>
            <a:off x="853419" y="4489247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Source lineage feeds proposals; validation is the trust gate; accepted decks export as editable PPTX, HTML snapshot, receipt, and public share — reusable institutional memory.</a:t>
            </a:r>
            <a:endParaRPr lang="en-US" sz="1600" dirty="0"/>
          </a:p>
        </p:txBody>
      </p:sp>
      <p:sp>
        <p:nvSpPr>
          <p:cNvPr id="23" name="element_188f1ba6aa5b2f91c6b224b0ca560034"/>
          <p:cNvSpPr/>
          <p:nvPr/>
        </p:nvSpPr>
        <p:spPr>
          <a:xfrm>
            <a:off x="853419" y="788670"/>
            <a:ext cx="6248244" cy="68580"/>
          </a:xfrm>
          <a:prstGeom prst="roundRect">
            <a:avLst/>
          </a:prstGeom>
          <a:solidFill>
            <a:srgbClr val="B44A2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element_8711afa241020bc86c11e328ed64d71a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element_b142c2a0075300ea9a2c09df278910b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6" name="element_bd5020c4a8b4a820c5ef8fe4f62478c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f01bd76601940db371542fecc85ee56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8d7015904aef8f94e6bf19dbd38aced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cc3da900a3bbf28740094cbb78f65f34"/>
          <p:cNvSpPr txBox="1"/>
          <p:nvPr/>
        </p:nvSpPr>
        <p:spPr>
          <a:xfrm>
            <a:off x="853419" y="1028700"/>
            <a:ext cx="9631439" cy="1013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release gate stays closed until the evidence is verified</a:t>
            </a:r>
            <a:endParaRPr lang="en-US" sz="3800" dirty="0"/>
          </a:p>
        </p:txBody>
      </p:sp>
      <p:sp>
        <p:nvSpPr>
          <p:cNvPr id="5" name="element_cd1a373ff4b9f664b8a440524225727b"/>
          <p:cNvSpPr/>
          <p:nvPr/>
        </p:nvSpPr>
        <p:spPr>
          <a:xfrm>
            <a:off x="853419" y="2453792"/>
            <a:ext cx="4998595" cy="20574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2c49bed5b92f465294a30b592d3265ff"/>
          <p:cNvSpPr txBox="1"/>
          <p:nvPr/>
        </p:nvSpPr>
        <p:spPr>
          <a:xfrm>
            <a:off x="1097253" y="2590952"/>
            <a:ext cx="451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12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CURRENT</a:t>
            </a:r>
            <a:endParaRPr lang="en-US" sz="1300" dirty="0"/>
          </a:p>
        </p:txBody>
      </p:sp>
      <p:sp>
        <p:nvSpPr>
          <p:cNvPr id="7" name="element_8e45828a14d174c67144c3c6a5f4becd"/>
          <p:cNvSpPr txBox="1"/>
          <p:nvPr/>
        </p:nvSpPr>
        <p:spPr>
          <a:xfrm>
            <a:off x="1097253" y="3002432"/>
            <a:ext cx="4510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Hold the release decision</a:t>
            </a:r>
            <a:endParaRPr lang="en-US" sz="1600" dirty="0"/>
          </a:p>
        </p:txBody>
      </p:sp>
      <p:sp>
        <p:nvSpPr>
          <p:cNvPr id="8" name="element_e6b154f7a38035c9d3b67931f0ef031d"/>
          <p:cNvSpPr/>
          <p:nvPr/>
        </p:nvSpPr>
        <p:spPr>
          <a:xfrm>
            <a:off x="6339682" y="2453792"/>
            <a:ext cx="4998595" cy="20574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9" name="element_652d3c0de9e92de2814b7e45cf758b35"/>
          <p:cNvSpPr txBox="1"/>
          <p:nvPr/>
        </p:nvSpPr>
        <p:spPr>
          <a:xfrm>
            <a:off x="6583515" y="2590952"/>
            <a:ext cx="451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120" kern="0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TARGET</a:t>
            </a:r>
            <a:endParaRPr lang="en-US" sz="1300" dirty="0"/>
          </a:p>
        </p:txBody>
      </p:sp>
      <p:sp>
        <p:nvSpPr>
          <p:cNvPr id="10" name="element_873cdd4fd46f48909fcefc27b6a94d0f"/>
          <p:cNvSpPr txBox="1"/>
          <p:nvPr/>
        </p:nvSpPr>
        <p:spPr>
          <a:xfrm>
            <a:off x="6583515" y="3002432"/>
            <a:ext cx="4510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Attach exact figures and metric definitions</a:t>
            </a:r>
            <a:endParaRPr lang="en-US" sz="1600" dirty="0"/>
          </a:p>
        </p:txBody>
      </p:sp>
      <p:sp>
        <p:nvSpPr>
          <p:cNvPr id="11" name="element_4279b09620003cec487236ac48857b61"/>
          <p:cNvSpPr/>
          <p:nvPr/>
        </p:nvSpPr>
        <p:spPr>
          <a:xfrm>
            <a:off x="853419" y="788670"/>
            <a:ext cx="749789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3bf8324d4e59b0c9511c9b2ff4296ca6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35b36de0a80af2a1470fb03aafc2af5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4c7caac79f139eb9b1a94f54d527c48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ea5591a2bbfbcea94ba5c8f51340a9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9e71ccc1c903db338b285df9dc8101"/>
          <p:cNvSpPr txBox="1"/>
          <p:nvPr/>
        </p:nvSpPr>
        <p:spPr>
          <a:xfrm>
            <a:off x="853419" y="445770"/>
            <a:ext cx="48766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a7b84fc04174ca1eaadc8ca259a5082b"/>
          <p:cNvSpPr txBox="1"/>
          <p:nvPr/>
        </p:nvSpPr>
        <p:spPr>
          <a:xfrm>
            <a:off x="853419" y="1097280"/>
            <a:ext cx="633968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is a score, not a feeling.</a:t>
            </a:r>
            <a:endParaRPr lang="en-US" sz="4200" dirty="0"/>
          </a:p>
        </p:txBody>
      </p:sp>
      <p:sp>
        <p:nvSpPr>
          <p:cNvPr id="5" name="element_cf20bc9367ed714185958259ecfbbb0b"/>
          <p:cNvSpPr txBox="1"/>
          <p:nvPr/>
        </p:nvSpPr>
        <p:spPr>
          <a:xfrm>
            <a:off x="853419" y="2743200"/>
            <a:ext cx="512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Production approval requires the weighted gate score to clear threshold — including honesty checks that fail decks showing false green quality badges.</a:t>
            </a:r>
            <a:endParaRPr lang="en-US" sz="1800" dirty="0"/>
          </a:p>
        </p:txBody>
      </p:sp>
      <p:sp>
        <p:nvSpPr>
          <p:cNvPr id="6" name="element_6902e0623d3c0800eb6e08e49626513d"/>
          <p:cNvSpPr txBox="1"/>
          <p:nvPr/>
        </p:nvSpPr>
        <p:spPr>
          <a:xfrm>
            <a:off x="6705432" y="1783080"/>
            <a:ext cx="4632844" cy="20574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Gate = 0.3·Lineage + 0.25·Validation + 0.2·Composition + 0.15·Honesty + 0.1·Exports</a:t>
            </a:r>
            <a:endParaRPr lang="en-US" sz="3000" dirty="0"/>
          </a:p>
        </p:txBody>
      </p:sp>
      <p:sp>
        <p:nvSpPr>
          <p:cNvPr id="7" name="element_b076b6b0c367348d72edf03a20fdb73c"/>
          <p:cNvSpPr txBox="1"/>
          <p:nvPr/>
        </p:nvSpPr>
        <p:spPr>
          <a:xfrm>
            <a:off x="853419" y="4114800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Lineage and validation carry the most weight</a:t>
            </a:r>
            <a:endParaRPr lang="en-US" sz="1400" dirty="0"/>
          </a:p>
        </p:txBody>
      </p:sp>
      <p:sp>
        <p:nvSpPr>
          <p:cNvPr id="8" name="element_59e280b24e98c0a23a8ed802399eb422"/>
          <p:cNvSpPr txBox="1"/>
          <p:nvPr/>
        </p:nvSpPr>
        <p:spPr>
          <a:xfrm>
            <a:off x="853419" y="4533824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Composition variety is scored to catch monotony</a:t>
            </a:r>
            <a:endParaRPr lang="en-US" sz="1400" dirty="0"/>
          </a:p>
        </p:txBody>
      </p:sp>
      <p:sp>
        <p:nvSpPr>
          <p:cNvPr id="9" name="element_b22fbacbe7fb4cfdd53ab7d586623f4a"/>
          <p:cNvSpPr txBox="1"/>
          <p:nvPr/>
        </p:nvSpPr>
        <p:spPr>
          <a:xfrm>
            <a:off x="853419" y="4952848"/>
            <a:ext cx="5120512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Any false green badge fails the gate outright</a:t>
            </a:r>
            <a:endParaRPr lang="en-US" sz="1400" dirty="0"/>
          </a:p>
        </p:txBody>
      </p:sp>
      <p:sp>
        <p:nvSpPr>
          <p:cNvPr id="10" name="element_790e8a31338e75778b750ef90fa69120"/>
          <p:cNvSpPr/>
          <p:nvPr/>
        </p:nvSpPr>
        <p:spPr>
          <a:xfrm>
            <a:off x="853419" y="788670"/>
            <a:ext cx="8747541" cy="68580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98011d4f2dfb5c5bb5c2ad353d278642"/>
          <p:cNvSpPr/>
          <p:nvPr/>
        </p:nvSpPr>
        <p:spPr>
          <a:xfrm>
            <a:off x="10777459" y="665226"/>
            <a:ext cx="121917" cy="301752"/>
          </a:xfrm>
          <a:prstGeom prst="roundRect">
            <a:avLst/>
          </a:prstGeom>
          <a:solidFill>
            <a:srgbClr val="34452C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fce4384d3964016d1186603b9e5ae57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06210619f55c94381943d2e20d1df5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473108d7f43b7a1718296a09c20959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2e8e73ad480fb988ceb65acc122a2e7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942ea7db3a34c159b9c6680a4c8809e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a gated pilot.</a:t>
            </a:r>
            <a:endParaRPr lang="en-US" sz="3600" dirty="0"/>
          </a:p>
        </p:txBody>
      </p:sp>
      <p:sp>
        <p:nvSpPr>
          <p:cNvPr id="5" name="element_e3534443066e4033233299892220a8f3"/>
          <p:cNvSpPr/>
          <p:nvPr/>
        </p:nvSpPr>
        <p:spPr>
          <a:xfrm>
            <a:off x="853419" y="212598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4027b50800fd348266e97f13a7d1c156"/>
          <p:cNvSpPr txBox="1"/>
          <p:nvPr/>
        </p:nvSpPr>
        <p:spPr>
          <a:xfrm>
            <a:off x="10972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Approve gated pilot, not general availability</a:t>
            </a:r>
            <a:endParaRPr lang="en-US" sz="1600" dirty="0"/>
          </a:p>
        </p:txBody>
      </p:sp>
      <p:sp>
        <p:nvSpPr>
          <p:cNvPr id="7" name="element_8f966088a61b4c69aff81fd7693722f1"/>
          <p:cNvSpPr/>
          <p:nvPr/>
        </p:nvSpPr>
        <p:spPr>
          <a:xfrm>
            <a:off x="4449969" y="212598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334d27b4278d0ef53c99e7baf0f885c7"/>
          <p:cNvSpPr txBox="1"/>
          <p:nvPr/>
        </p:nvSpPr>
        <p:spPr>
          <a:xfrm>
            <a:off x="469380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Owner: Head of Product Operations</a:t>
            </a:r>
            <a:endParaRPr lang="en-US" sz="1600" dirty="0"/>
          </a:p>
        </p:txBody>
      </p:sp>
      <p:sp>
        <p:nvSpPr>
          <p:cNvPr id="9" name="element_2eb20eab2478f559a884e84fd703d163"/>
          <p:cNvSpPr/>
          <p:nvPr/>
        </p:nvSpPr>
        <p:spPr>
          <a:xfrm>
            <a:off x="8046519" y="212598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d2a4c110b589abb9581d682b1789f887"/>
          <p:cNvSpPr txBox="1"/>
          <p:nvPr/>
        </p:nvSpPr>
        <p:spPr>
          <a:xfrm>
            <a:off x="82903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Checkpoint: day-30 re-score with real pilot data</a:t>
            </a:r>
            <a:endParaRPr lang="en-US" sz="1600" dirty="0"/>
          </a:p>
        </p:txBody>
      </p:sp>
      <p:sp>
        <p:nvSpPr>
          <p:cNvPr id="11" name="element_32b9e8d4893bae47fedec6310c8aa87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19442cf98b4ea1de53602c9ff0ce319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NodeSlide: From Signal to Defensible Decision</dc:title>
  <dc:subject>Decide whether NodeSlide is ready for five production deck workflows</dc:subject>
  <dc:creator>NodeSlide</dc:creator>
  <cp:lastModifiedBy>NodeSlide</cp:lastModifiedBy>
  <cp:revision>1</cp:revision>
  <dcterms:created xsi:type="dcterms:W3CDTF">2026-07-31T20:32:14Z</dcterms:created>
  <dcterms:modified xsi:type="dcterms:W3CDTF">2026-07-31T20:32:14Z</dcterms:modified>
</cp:coreProperties>
</file>