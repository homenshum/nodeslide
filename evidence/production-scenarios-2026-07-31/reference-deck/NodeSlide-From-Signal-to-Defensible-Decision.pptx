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3af311d89e4f10" /><Relationship Type="http://schemas.openxmlformats.org/officeDocument/2006/relationships/extended-properties" Target="/docProps/app.xml" Id="R5bf6b1c28b74481b" /><Relationship Type="http://schemas.openxmlformats.org/officeDocument/2006/relationships/officeDocument" Target="/ppt/presentation.xml" Id="R110fff26af354b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fbc26b7b7a4c2e"/>
  </p:sldMasterIdLst>
  <p:notesMasterIdLst>
    <p:notesMasterId xmlns:r="http://schemas.openxmlformats.org/officeDocument/2006/relationships" r:id="R5109232cadf142d6"/>
  </p:notesMasterIdLst>
  <p:sldIdLst>
    <p:sldId xmlns:r="http://schemas.openxmlformats.org/officeDocument/2006/relationships" id="256" r:id="R409e878ccb0141e5"/>
    <p:sldId xmlns:r="http://schemas.openxmlformats.org/officeDocument/2006/relationships" id="257" r:id="Rb2de28aaa9e643bb"/>
    <p:sldId xmlns:r="http://schemas.openxmlformats.org/officeDocument/2006/relationships" id="258" r:id="Rc4e1581bcd4741a5"/>
    <p:sldId xmlns:r="http://schemas.openxmlformats.org/officeDocument/2006/relationships" id="259" r:id="R570893a02bda44e9"/>
    <p:sldId xmlns:r="http://schemas.openxmlformats.org/officeDocument/2006/relationships" id="260" r:id="R98a5e81cfdff46d6"/>
    <p:sldId xmlns:r="http://schemas.openxmlformats.org/officeDocument/2006/relationships" id="261" r:id="Ra0c301a49895498b"/>
    <p:sldId xmlns:r="http://schemas.openxmlformats.org/officeDocument/2006/relationships" id="262" r:id="R7cf3dfe838944e00"/>
    <p:sldId xmlns:r="http://schemas.openxmlformats.org/officeDocument/2006/relationships" id="263" r:id="R58a746aa8cb54792"/>
    <p:sldId xmlns:r="http://schemas.openxmlformats.org/officeDocument/2006/relationships" id="264" r:id="Rd53e87a7fa2840b8"/>
    <p:sldId xmlns:r="http://schemas.openxmlformats.org/officeDocument/2006/relationships" id="265" r:id="R174b7307546f4391"/>
    <p:sldId xmlns:r="http://schemas.openxmlformats.org/officeDocument/2006/relationships" id="266" r:id="Re09eef9b22e64590"/>
    <p:sldId xmlns:r="http://schemas.openxmlformats.org/officeDocument/2006/relationships" id="267" r:id="R3cafb6c7d62a4a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c2ccb3e88a4606" /><Relationship Type="http://schemas.openxmlformats.org/officeDocument/2006/relationships/slideMaster" Target="/ppt/slideMasters/slideMaster1.xml" Id="R2afbc26b7b7a4c2e" /><Relationship Type="http://schemas.openxmlformats.org/officeDocument/2006/relationships/notesMaster" Target="/ppt/notesMasters/notesMaster1.xml" Id="R5109232cadf142d6" /><Relationship Type="http://schemas.openxmlformats.org/officeDocument/2006/relationships/presProps" Target="/ppt/presProps.xml" Id="Re728b13a9a8f46bc" /><Relationship Type="http://schemas.openxmlformats.org/officeDocument/2006/relationships/tableStyles" Target="/ppt/tableStyles.xml" Id="Rb0badbab5da74972" /><Relationship Type="http://schemas.openxmlformats.org/officeDocument/2006/relationships/slide" Target="/ppt/slides/slide1.xml" Id="R409e878ccb0141e5" /><Relationship Type="http://schemas.openxmlformats.org/officeDocument/2006/relationships/slide" Target="/ppt/slides/slide2.xml" Id="Rb2de28aaa9e643bb" /><Relationship Type="http://schemas.openxmlformats.org/officeDocument/2006/relationships/slide" Target="/ppt/slides/slide3.xml" Id="Rc4e1581bcd4741a5" /><Relationship Type="http://schemas.openxmlformats.org/officeDocument/2006/relationships/slide" Target="/ppt/slides/slide4.xml" Id="R570893a02bda44e9" /><Relationship Type="http://schemas.openxmlformats.org/officeDocument/2006/relationships/slide" Target="/ppt/slides/slide5.xml" Id="R98a5e81cfdff46d6" /><Relationship Type="http://schemas.openxmlformats.org/officeDocument/2006/relationships/slide" Target="/ppt/slides/slide6.xml" Id="Ra0c301a49895498b" /><Relationship Type="http://schemas.openxmlformats.org/officeDocument/2006/relationships/slide" Target="/ppt/slides/slide7.xml" Id="R7cf3dfe838944e00" /><Relationship Type="http://schemas.openxmlformats.org/officeDocument/2006/relationships/slide" Target="/ppt/slides/slide8.xml" Id="R58a746aa8cb54792" /><Relationship Type="http://schemas.openxmlformats.org/officeDocument/2006/relationships/slide" Target="/ppt/slides/slide9.xml" Id="Rd53e87a7fa2840b8" /><Relationship Type="http://schemas.openxmlformats.org/officeDocument/2006/relationships/slide" Target="/ppt/slides/slide10.xml" Id="R174b7307546f4391" /><Relationship Type="http://schemas.openxmlformats.org/officeDocument/2006/relationships/slide" Target="/ppt/slides/slide11.xml" Id="Re09eef9b22e64590" /><Relationship Type="http://schemas.openxmlformats.org/officeDocument/2006/relationships/slide" Target="/ppt/slides/slide12.xml" Id="R3cafb6c7d62a4a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8997d829b94c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831de7f65a4130" /><Relationship Type="http://schemas.openxmlformats.org/officeDocument/2006/relationships/notesMaster" Target="/ppt/notesMasters/notesMaster1.xml" Id="R2fbe2eebfa3341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2ea445991f4454" /><Relationship Type="http://schemas.openxmlformats.org/officeDocument/2006/relationships/notesMaster" Target="/ppt/notesMasters/notesMaster1.xml" Id="R0d4189fceecc4d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fbb1e9c9349b3" /><Relationship Type="http://schemas.openxmlformats.org/officeDocument/2006/relationships/notesMaster" Target="/ppt/notesMasters/notesMaster1.xml" Id="R4dec9cb14fba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9d729bacf24b7b" /><Relationship Type="http://schemas.openxmlformats.org/officeDocument/2006/relationships/notesMaster" Target="/ppt/notesMasters/notesMaster1.xml" Id="Ree70881a04e840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826d3d58c64ddc" /><Relationship Type="http://schemas.openxmlformats.org/officeDocument/2006/relationships/notesMaster" Target="/ppt/notesMasters/notesMaster1.xml" Id="Rb19647e31c23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84c6c6486d4c1a" /><Relationship Type="http://schemas.openxmlformats.org/officeDocument/2006/relationships/notesMaster" Target="/ppt/notesMasters/notesMaster1.xml" Id="R9262e7cbd93e40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27e604abde4e10" /><Relationship Type="http://schemas.openxmlformats.org/officeDocument/2006/relationships/notesMaster" Target="/ppt/notesMasters/notesMaster1.xml" Id="R73ebad9c7b384e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12ee0b09944fac" /><Relationship Type="http://schemas.openxmlformats.org/officeDocument/2006/relationships/notesMaster" Target="/ppt/notesMasters/notesMaster1.xml" Id="R05db4d1adb7c4d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1c2e8057bb4e4e" /><Relationship Type="http://schemas.openxmlformats.org/officeDocument/2006/relationships/notesMaster" Target="/ppt/notesMasters/notesMaster1.xml" Id="Rcf751997af5e4a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617003356347c2" /><Relationship Type="http://schemas.openxmlformats.org/officeDocument/2006/relationships/notesMaster" Target="/ppt/notesMasters/notesMaster1.xml" Id="R17db4405a8d747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b7fd3012b44882" /><Relationship Type="http://schemas.openxmlformats.org/officeDocument/2006/relationships/notesMaster" Target="/ppt/notesMasters/notesMaster1.xml" Id="Ra63b72ff658743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f9960e533448e9" /><Relationship Type="http://schemas.openxmlformats.org/officeDocument/2006/relationships/notesMaster" Target="/ppt/notesMasters/notesMaster1.xml" Id="R6fe4aaf4101849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3b98bddda41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93fbf75b784b14" /><Relationship Type="http://schemas.openxmlformats.org/officeDocument/2006/relationships/slideLayout" Target="/ppt/slideLayouts/slideLayout1.xml" Id="R4b521f6a26f84e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521f6a26f84e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2423f939b48b8" /><Relationship Type="http://schemas.openxmlformats.org/officeDocument/2006/relationships/image" Target="/ppt/media/image.png" Id="R883229cd8118468a" /><Relationship Type="http://schemas.openxmlformats.org/officeDocument/2006/relationships/notesSlide" Target="/ppt/notesSlides/notesSlide1.xml" Id="Rf1e72f40679e45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bc17bb73d439f" /><Relationship Type="http://schemas.openxmlformats.org/officeDocument/2006/relationships/notesSlide" Target="/ppt/notesSlides/notesSlide2.xml" Id="R60d0a5f6741243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4204579634ac2" /><Relationship Type="http://schemas.openxmlformats.org/officeDocument/2006/relationships/notesSlide" Target="/ppt/notesSlides/notesSlide3.xml" Id="Rb8c4dec893e042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cfc1fdca24c38" /><Relationship Type="http://schemas.openxmlformats.org/officeDocument/2006/relationships/notesSlide" Target="/ppt/notesSlides/notesSlide4.xml" Id="R3d8fed381ef546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56a6c2b4f4726" /><Relationship Type="http://schemas.openxmlformats.org/officeDocument/2006/relationships/notesSlide" Target="/ppt/notesSlides/notesSlide5.xml" Id="R436b38d6ec964a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f521f30ae4dd3" /><Relationship Type="http://schemas.openxmlformats.org/officeDocument/2006/relationships/notesSlide" Target="/ppt/notesSlides/notesSlide6.xml" Id="R72583048bc3840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76228f2b04fae" /><Relationship Type="http://schemas.openxmlformats.org/officeDocument/2006/relationships/notesSlide" Target="/ppt/notesSlides/notesSlide7.xml" Id="Re8acabe1c2d749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1ad499f834367" /><Relationship Type="http://schemas.openxmlformats.org/officeDocument/2006/relationships/notesSlide" Target="/ppt/notesSlides/notesSlide8.xml" Id="R5a9d77df876747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8c976b9874eb0" /><Relationship Type="http://schemas.openxmlformats.org/officeDocument/2006/relationships/notesSlide" Target="/ppt/notesSlides/notesSlide9.xml" Id="R18b753a4893849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2298b73524ab8" /><Relationship Type="http://schemas.openxmlformats.org/officeDocument/2006/relationships/notesSlide" Target="/ppt/notesSlides/notesSlide10.xml" Id="R4fc0e1749c5145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8953ad2e9c4723" /><Relationship Type="http://schemas.openxmlformats.org/officeDocument/2006/relationships/notesSlide" Target="/ppt/notesSlides/notesSlide11.xml" Id="R28c3acccf64848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99d8e8fb24ab2" /><Relationship Type="http://schemas.openxmlformats.org/officeDocument/2006/relationships/image" Target="/ppt/media/image2.png" Id="R17db62bbab954cf6" /><Relationship Type="http://schemas.openxmlformats.org/officeDocument/2006/relationships/notesSlide" Target="/ppt/notesSlides/notesSlide12.xml" Id="R35479105763141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229cd811846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3F464-4B34-4ACF-A361-5385F66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67224-F8E1-415B-A2F6-C5F8DD47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D7E8"/>
                </a:solidFill>
              </a:defRPr>
            </a:pPr>
            <a:r>
              <a:rPr sz="975" b="1">
                <a:solidFill>
                  <a:srgbClr val="5ED7E8"/>
                </a:solidFill>
              </a:rPr>
              <a:t>PRODUCT DECISION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061AB-26BB-4ED6-92B2-D5B74A4D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AF0"/>
                </a:solidFill>
              </a:defRPr>
            </a:pPr>
            <a:r>
              <a:rPr sz="4950" b="1">
                <a:solidFill>
                  <a:srgbClr val="FFFAF0"/>
                </a:solidFill>
              </a:rPr>
              <a:t>NodeSlide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0CAEE-1317-4AEB-86D9-A216BFD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AF0"/>
                </a:solidFill>
              </a:defRPr>
            </a:pPr>
            <a:r>
              <a:rPr sz="3600" b="1">
                <a:solidFill>
                  <a:srgbClr val="FFFAF0"/>
                </a:solidFill>
              </a:rPr>
              <a:t>From signal to</a:t>
            </a:r>
          </a:p>
          <a:p xmlns:a="http://schemas.openxmlformats.org/drawingml/2006/main">
            <a:pPr algn="l">
              <a:defRPr sz="3600" b="1">
                <a:solidFill>
                  <a:srgbClr val="FFFAF0"/>
                </a:solidFill>
              </a:defRPr>
            </a:pPr>
            <a:r>
              <a:rPr sz="3600" b="1">
                <a:solidFill>
                  <a:srgbClr val="FFFAF0"/>
                </a:solidFill>
              </a:rPr>
              <a:t>defensible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8E631-E0BE-4774-8518-A99766F5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EEA"/>
                </a:solidFill>
              </a:defRPr>
            </a:pPr>
            <a:r>
              <a:rPr sz="1650" b="0">
                <a:solidFill>
                  <a:srgbClr val="D7DEEA"/>
                </a:solidFill>
              </a:rPr>
              <a:t>A production case for research, finance, startup, operating, and governance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54F94-F440-49E9-A22C-258EC52B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AD8BE-E7F9-4A88-AF66-30A82CF9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5B"/>
                </a:solidFill>
              </a:defRPr>
            </a:pPr>
            <a:r>
              <a:rPr sz="1500" b="1">
                <a:solidFill>
                  <a:srgbClr val="FFB45B"/>
                </a:solidFill>
              </a:rPr>
              <a:t>The deck is not done when it renders.</a:t>
            </a:r>
          </a:p>
          <a:p xmlns:a="http://schemas.openxmlformats.org/drawingml/2006/main">
            <a:pPr algn="l">
              <a:defRPr sz="1500" b="1">
                <a:solidFill>
                  <a:srgbClr val="FFB45B"/>
                </a:solidFill>
              </a:defRPr>
            </a:pPr>
            <a:r>
              <a:rPr sz="1500" b="1">
                <a:solidFill>
                  <a:srgbClr val="FFB45B"/>
                </a:solidFill>
              </a:rPr>
              <a:t>It is done when the decision job finishes.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727CF-A299-4DEA-814C-D974C8A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B"/>
                </a:solidFill>
              </a:defRPr>
            </a:pPr>
            <a:r>
              <a:rPr sz="825" b="1">
                <a:solidFill>
                  <a:srgbClr val="9AA8BB"/>
                </a:solidFill>
              </a:rPr>
              <a:t>2026 · REFERENCE DECK</a:t>
            </a:r>
          </a:p>
        </p:txBody>
      </p:sp>
    </p:spTree>
    <p:extLst>
      <p:ext uri="{BB962C8B-B14F-4D97-AF65-F5344CB8AC3E}">
        <p14:creationId xmlns:p14="http://schemas.microsoft.com/office/powerpoint/2010/main" val="992199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34A505-5100-45C2-9E47-B89AA677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D7E8"/>
                </a:solidFill>
              </a:defRPr>
            </a:pPr>
            <a:r>
              <a:rPr sz="1050" b="1">
                <a:solidFill>
                  <a:srgbClr val="5ED7E8"/>
                </a:solidFill>
              </a:rPr>
              <a:t>THE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44208-09DD-4EC3-9C55-C24D85A9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AF0"/>
                </a:solidFill>
              </a:defRPr>
            </a:pPr>
            <a:r>
              <a:rPr sz="3150" b="1">
                <a:solidFill>
                  <a:srgbClr val="FFFAF0"/>
                </a:solidFill>
              </a:rPr>
              <a:t>Plausible slides are not decision-ready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CDB7B-6878-4518-8EBC-669A63A6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F6D36-D6DC-4115-A116-EEB58BBE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B"/>
                </a:solidFill>
              </a:defRPr>
            </a:pPr>
            <a:r>
              <a:rPr sz="825" b="1">
                <a:solidFill>
                  <a:srgbClr val="9AA8BB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D5C75-E691-4DB1-B449-BB0577E9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B45B"/>
                </a:solidFill>
              </a:defRPr>
            </a:pPr>
            <a:r>
              <a:rPr sz="825" b="1">
                <a:solidFill>
                  <a:srgbClr val="FFB45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63105-460E-4203-9F51-188DCDAA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AA8BB"/>
                </a:solidFill>
              </a:defRPr>
            </a:pPr>
            <a:r>
              <a:rPr sz="1650" b="0">
                <a:solidFill>
                  <a:srgbClr val="9AA8BB"/>
                </a:solidFill>
              </a:rPr>
              <a:t>A prompt can produce fluent copy and still fail the job.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F2D9F-713E-4A33-BEA2-ED10BEC9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B4337-13CB-4A87-A8BE-8C637059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2427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6C86A-3F56-4633-97A3-82CBF6A1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52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C0282-5C92-4723-A89D-3FE2CC44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1957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8B323-EBEA-4A7E-90EA-16D4813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95DEF-EA7E-461D-87CA-7AFD2B2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2427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FAE29-9335-414E-824D-60A0F464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52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1131B-BA27-4297-9333-CCC80C32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8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AD87E-C6FD-40F3-A0E2-8A520850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57"/>
                </a:solidFill>
              </a:defRPr>
            </a:pPr>
            <a:r>
              <a:rPr sz="2250" b="1">
                <a:solidFill>
                  <a:srgbClr val="FF6B57"/>
                </a:solidFill>
              </a:rPr>
              <a:t>PLAUSIBLE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CCA8D-9246-4F0F-A5DC-9976AC18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1809750" cy="30289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99F19-A3C8-4841-97F9-5919EAAE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09850"/>
            <a:ext cx="13525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B45B"/>
                </a:solidFill>
              </a:defRPr>
            </a:pPr>
            <a:r>
              <a:rPr sz="2100" b="1">
                <a:solidFill>
                  <a:srgbClr val="FFB45B"/>
                </a:solidFill>
              </a:rPr>
              <a:t>THE</a:t>
            </a:r>
          </a:p>
          <a:p xmlns:a="http://schemas.openxmlformats.org/drawingml/2006/main">
            <a:pPr algn="ctr">
              <a:defRPr sz="2100" b="1">
                <a:solidFill>
                  <a:srgbClr val="FFB45B"/>
                </a:solidFill>
              </a:defRPr>
            </a:pPr>
            <a:r>
              <a:rPr sz="2100" b="1">
                <a:solidFill>
                  <a:srgbClr val="FFB45B"/>
                </a:solidFill>
              </a:rPr>
              <a:t>MISSING</a:t>
            </a:r>
          </a:p>
          <a:p xmlns:a="http://schemas.openxmlformats.org/drawingml/2006/main">
            <a:pPr algn="ctr">
              <a:defRPr sz="2100" b="1">
                <a:solidFill>
                  <a:srgbClr val="FFB45B"/>
                </a:solidFill>
              </a:defRPr>
            </a:pPr>
            <a:r>
              <a:rPr sz="2100" b="1">
                <a:solidFill>
                  <a:srgbClr val="FFB45B"/>
                </a:solidFill>
              </a:rPr>
              <a:t>MIDDLE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6FAF7-4468-4EA2-AB57-6CF57E90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210050"/>
            <a:ext cx="1085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8BB"/>
                </a:solidFill>
              </a:defRPr>
            </a:pPr>
            <a:r>
              <a:rPr sz="1275" b="0">
                <a:solidFill>
                  <a:srgbClr val="9AA8BB"/>
                </a:solidFill>
              </a:rPr>
              <a:t>truth</a:t>
            </a:r>
          </a:p>
          <a:p xmlns:a="http://schemas.openxmlformats.org/drawingml/2006/main">
            <a:pPr algn="ctr">
              <a:defRPr sz="1275" b="0">
                <a:solidFill>
                  <a:srgbClr val="9AA8BB"/>
                </a:solidFill>
              </a:defRPr>
            </a:pPr>
            <a:r>
              <a:rPr sz="1275" b="0">
                <a:solidFill>
                  <a:srgbClr val="9AA8BB"/>
                </a:solidFill>
              </a:rPr>
              <a:t>story</a:t>
            </a:r>
          </a:p>
          <a:p xmlns:a="http://schemas.openxmlformats.org/drawingml/2006/main">
            <a:pPr algn="ctr">
              <a:defRPr sz="1275" b="0">
                <a:solidFill>
                  <a:srgbClr val="9AA8BB"/>
                </a:solidFill>
              </a:defRPr>
            </a:pPr>
            <a:r>
              <a:rPr sz="1275" b="0">
                <a:solidFill>
                  <a:srgbClr val="9AA8BB"/>
                </a:solidFill>
              </a:rPr>
              <a:t>review</a:t>
            </a:r>
          </a:p>
          <a:p xmlns:a="http://schemas.openxmlformats.org/drawingml/2006/main">
            <a:pPr algn="ctr">
              <a:defRPr sz="1275" b="0">
                <a:solidFill>
                  <a:srgbClr val="9AA8BB"/>
                </a:solidFill>
              </a:defRPr>
            </a:pPr>
            <a:r>
              <a:rPr sz="1275" b="0">
                <a:solidFill>
                  <a:srgbClr val="9AA8BB"/>
                </a:solidFill>
              </a:rPr>
              <a:t>completion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29387-5777-4EE1-A08C-AC64FC0E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161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D3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8BC65-36C2-409B-9C4E-7E85B5A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7BD39A"/>
                </a:solidFill>
              </a:defRPr>
            </a:pPr>
            <a:r>
              <a:rPr sz="2250" b="1">
                <a:solidFill>
                  <a:srgbClr val="7BD39A"/>
                </a:solidFill>
              </a:rPr>
              <a:t>DECISION-READY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9B8342-F919-4A7E-9BCB-E00268CC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Source-bound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3F9A23-D0CE-488B-8E93-629F2C05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24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Narrative advances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F5611-27B0-401A-AA4F-2DAAD564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Visually legible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7C4E0-BAC1-42ED-8FDB-0BD40503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Exported + owned</a:t>
            </a:r>
          </a:p>
        </p:txBody>
      </p:sp>
    </p:spTree>
    <p:extLst>
      <p:ext uri="{BB962C8B-B14F-4D97-AF65-F5344CB8AC3E}">
        <p14:creationId xmlns:p14="http://schemas.microsoft.com/office/powerpoint/2010/main" val="797234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44CEA7-0370-4AC7-B4E8-0E7A0556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7"/>
                </a:solidFill>
              </a:defRPr>
            </a:pPr>
            <a:r>
              <a:rPr sz="1050" b="1">
                <a:solidFill>
                  <a:srgbClr val="FF6B57"/>
                </a:solidFill>
              </a:rPr>
              <a:t>PRODUCTION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BB440-C98D-4743-BA72-C2102B5C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F"/>
                </a:solidFill>
              </a:defRPr>
            </a:pPr>
            <a:r>
              <a:rPr sz="3150" b="1">
                <a:solidFill>
                  <a:srgbClr val="07101F"/>
                </a:solidFill>
              </a:rPr>
              <a:t>One engine must finish five different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4DFFA-03D0-4DA2-B10F-4198E21E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54968-6DE1-4B31-8CFF-02EC0992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5A6D"/>
                </a:solidFill>
              </a:defRPr>
            </a:pPr>
            <a:r>
              <a:rPr sz="825" b="1">
                <a:solidFill>
                  <a:srgbClr val="4B5A6D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80834-A0C0-457B-96EA-F6507081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6B57"/>
                </a:solidFill>
              </a:defRPr>
            </a:pPr>
            <a:r>
              <a:rPr sz="825" b="1">
                <a:solidFill>
                  <a:srgbClr val="FF6B57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0D771-9A54-4A29-9495-C33136BD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A6D"/>
                </a:solidFill>
              </a:defRPr>
            </a:pPr>
            <a:r>
              <a:rPr sz="1575" b="0">
                <a:solidFill>
                  <a:srgbClr val="4B5A6D"/>
                </a:solidFill>
              </a:rPr>
              <a:t>The truth constraint changes by domain. The completion contract does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0C065-2A0F-4DF1-8957-BA673D3D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6E0BC8-BF39-4C36-8DDB-8448BEB3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BB94E-CF30-4403-B353-8CA51500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Contradiction</a:t>
            </a:r>
          </a:p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+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FEC5D-B906-4A39-B4DC-7E793C8C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80A8B-72D5-4486-AD92-550B65B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Brief fidelity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Source truth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Story progression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Editable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501FF-CCBD-4534-AA8A-30615E8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860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861FD-819E-4A1C-AFE6-077A1C17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71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FINANCE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A58DA-AE63-43CA-9770-A047EEE7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Units +</a:t>
            </a:r>
          </a:p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03751-DACE-4E87-8416-18A93F9B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1480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06DE7-950D-45AC-A62A-699D9063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2862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Brief fidelity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Source truth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Story progression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Editable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88241-8B01-4B10-BD05-37A13D3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9B804-A8AA-4DE5-876A-DE838B58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STARTUP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D952E-0731-4F55-B93F-51F76CE8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Retellable</a:t>
            </a:r>
          </a:p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without fiction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29048-9725-4A50-A5D4-885D36BD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F0DB4-2BA7-457F-A2BB-F374439F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Brief fidelity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Source truth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Story progression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Editable delivery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435A8-0C70-49AF-9F11-6A9225D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9446A-4E99-43C9-A2F1-23186E2A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OPERATING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52227-92DE-4E69-A14A-F444F1AD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Owner +</a:t>
            </a:r>
          </a:p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checkpoint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9BDC0C-D186-487C-B39F-8F94AD3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1480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8F8CA0-7A96-41EC-8D16-F5D51608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Brief fidelity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Source truth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Story progression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Editable delivery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9E413-4070-43F2-A66F-DFB46E06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860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D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51E984-5913-493C-BD82-3CBC587F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5FF8D2-3C29-4DCE-A542-8BDBC50B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Evidence-bound</a:t>
            </a:r>
          </a:p>
          <a:p xmlns:a="http://schemas.openxmlformats.org/drawingml/2006/main">
            <a:pPr algn="l">
              <a:defRPr sz="1425" b="0">
                <a:solidFill>
                  <a:srgbClr val="4B5A6D"/>
                </a:solidFill>
              </a:defRPr>
            </a:pPr>
            <a:r>
              <a:rPr sz="1425" b="0">
                <a:solidFill>
                  <a:srgbClr val="4B5A6D"/>
                </a:solidFill>
              </a:rPr>
              <a:t>release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CA3A4B-4E6F-46BF-B8AC-6A01D831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1480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A945F7-D02F-4C51-8C96-68DCCA0E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862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Brief fidelity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Source truth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Story progression</a:t>
            </a:r>
          </a:p>
          <a:p xmlns:a="http://schemas.openxmlformats.org/drawingml/2006/main">
            <a:pPr algn="l">
              <a:defRPr sz="1200" b="0">
                <a:solidFill>
                  <a:srgbClr val="07101F"/>
                </a:solidFill>
              </a:defRPr>
            </a:pPr>
            <a:r>
              <a:rPr sz="1200" b="0">
                <a:solidFill>
                  <a:srgbClr val="07101F"/>
                </a:solidFill>
              </a:rPr>
              <a:t>Editable delivery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FE1575-492D-4277-8B35-9652021E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7101F"/>
                </a:solidFill>
              </a:defRPr>
            </a:pPr>
            <a:r>
              <a:rPr sz="2550" b="1">
                <a:solidFill>
                  <a:srgbClr val="07101F"/>
                </a:solidFill>
              </a:rPr>
              <a:t>Same gate. Different evidence.</a:t>
            </a:r>
          </a:p>
        </p:txBody>
      </p:sp>
    </p:spTree>
    <p:extLst>
      <p:ext uri="{BB962C8B-B14F-4D97-AF65-F5344CB8AC3E}">
        <p14:creationId xmlns:p14="http://schemas.microsoft.com/office/powerpoint/2010/main" val="574542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C285F-6209-4D7F-9A71-581D87B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D7E8"/>
                </a:solidFill>
              </a:defRPr>
            </a:pPr>
            <a:r>
              <a:rPr sz="1050" b="1">
                <a:solidFill>
                  <a:srgbClr val="5ED7E8"/>
                </a:solidFill>
              </a:rPr>
              <a:t>SCENARIO 01 ·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D547C-E086-46F2-A804-8297BFE6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AF0"/>
                </a:solidFill>
              </a:defRPr>
            </a:pPr>
            <a:r>
              <a:rPr sz="3150" b="1">
                <a:solidFill>
                  <a:srgbClr val="FFFAF0"/>
                </a:solidFill>
              </a:rPr>
              <a:t>Research must preserve disagreement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D64F8-24A4-4233-A55A-BB39F078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8F766-2890-4CC1-A451-662EB430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B"/>
                </a:solidFill>
              </a:defRPr>
            </a:pPr>
            <a:r>
              <a:rPr sz="825" b="1">
                <a:solidFill>
                  <a:srgbClr val="9AA8BB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73F98-D27E-4F65-AA10-52FFB5E3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B45B"/>
                </a:solidFill>
              </a:defRPr>
            </a:pPr>
            <a:r>
              <a:rPr sz="825" b="1">
                <a:solidFill>
                  <a:srgbClr val="FFB45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D5665-FEB6-4D23-87D6-CC8728E0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8BB"/>
                </a:solidFill>
              </a:defRPr>
            </a:pPr>
            <a:r>
              <a:rPr sz="1575" b="0">
                <a:solidFill>
                  <a:srgbClr val="9AA8BB"/>
                </a:solidFill>
              </a:rPr>
              <a:t>Synthesis is not consensus. The unresolved edge stays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E21D2-3336-413D-8058-0242DDB0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0408F-18F2-4697-9F87-459F863D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AF0"/>
                </a:solidFill>
              </a:defRPr>
            </a:pPr>
            <a:r>
              <a:rPr sz="1200" b="1">
                <a:solidFill>
                  <a:srgbClr val="FFFAF0"/>
                </a:solidFill>
              </a:rPr>
              <a:t>PAPER 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C8F16-1EA6-4F31-B7BB-F3BB9DB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550"/>
            <a:ext cx="15811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4348C-FE5E-4B0A-99E2-3418560D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F15AE-43AD-44F3-B060-A97E378E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AF0"/>
                </a:solidFill>
              </a:defRPr>
            </a:pPr>
            <a:r>
              <a:rPr sz="1200" b="1">
                <a:solidFill>
                  <a:srgbClr val="FFFAF0"/>
                </a:solidFill>
              </a:rPr>
              <a:t>EVAL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DE596-9DE9-4EFC-9D73-F23A63B1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90900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B4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B6634-9FCE-4460-9AF8-ED04751A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B8D22-69FF-4A7F-8B17-BA1200D0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AF0"/>
                </a:solidFill>
              </a:defRPr>
            </a:pPr>
            <a:r>
              <a:rPr sz="1200" b="1">
                <a:solidFill>
                  <a:srgbClr val="FFFAF0"/>
                </a:solidFill>
              </a:rPr>
              <a:t>INTERVIEWS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42F6D-030A-47AC-ADDF-E90A76EE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90900"/>
            <a:ext cx="158115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4DA33-9064-4626-BA9B-9624AF91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52700"/>
            <a:ext cx="180975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5ED7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F1A27-0CF3-4D8C-8594-6EA86C55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104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AF0"/>
                </a:solidFill>
              </a:defRPr>
            </a:pPr>
            <a:r>
              <a:rPr sz="2100" b="1">
                <a:solidFill>
                  <a:srgbClr val="FFFAF0"/>
                </a:solidFill>
              </a:rPr>
              <a:t>CLAIM</a:t>
            </a:r>
          </a:p>
          <a:p xmlns:a="http://schemas.openxmlformats.org/drawingml/2006/main">
            <a:pPr algn="ctr">
              <a:defRPr sz="2100" b="1">
                <a:solidFill>
                  <a:srgbClr val="FFFAF0"/>
                </a:solidFill>
              </a:defRPr>
            </a:pPr>
            <a:r>
              <a:rPr sz="2100" b="1">
                <a:solidFill>
                  <a:srgbClr val="FFFAF0"/>
                </a:solidFill>
              </a:rPr>
              <a:t>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C5D08-923A-4ADA-B08B-23CBCD6E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152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ED7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1C39A-27FC-4EEA-A0DD-47E3E6D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14325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FFFA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5CCAC-6673-4047-9729-05C03772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01F"/>
                </a:solidFill>
              </a:defRPr>
            </a:pPr>
            <a:r>
              <a:rPr sz="1200" b="1">
                <a:solidFill>
                  <a:srgbClr val="07101F"/>
                </a:solidFill>
              </a:rPr>
              <a:t>PILOT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CC676-F3DB-4D85-9649-8654DAE2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101F"/>
                </a:solidFill>
              </a:defRPr>
            </a:pPr>
            <a:r>
              <a:rPr sz="2175" b="1">
                <a:solidFill>
                  <a:srgbClr val="07101F"/>
                </a:solidFill>
              </a:rPr>
              <a:t>Adopt for six weeks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FA5A4-FE04-4CCD-8BF5-3059789D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A6D"/>
                </a:solidFill>
              </a:defRPr>
            </a:pPr>
            <a:r>
              <a:rPr sz="1200" b="0">
                <a:solidFill>
                  <a:srgbClr val="4B5A6D"/>
                </a:solidFill>
              </a:rPr>
              <a:t>Owner · metric · stop condition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43912A-87FB-4E01-BD38-032045D9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68630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311A28"/>
          </a:solidFill>
          <a:ln xmlns:a="http://schemas.openxmlformats.org/drawingml/2006/main" w="9525">
            <a:solidFill>
              <a:srgbClr val="FF6B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57361-135C-4849-9DDF-FF3BF47C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815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7"/>
                </a:solidFill>
              </a:defRPr>
            </a:pPr>
            <a:r>
              <a:rPr sz="1125" b="1">
                <a:solidFill>
                  <a:srgbClr val="FF6B57"/>
                </a:solidFill>
              </a:rPr>
              <a:t>UNRESOLVED</a:t>
            </a:r>
          </a:p>
          <a:p xmlns:a="http://schemas.openxmlformats.org/drawingml/2006/main">
            <a:pPr algn="ctr">
              <a:defRPr sz="1125" b="1">
                <a:solidFill>
                  <a:srgbClr val="FF6B57"/>
                </a:solidFill>
              </a:defRPr>
            </a:pPr>
            <a:r>
              <a:rPr sz="1125" b="1">
                <a:solidFill>
                  <a:srgbClr val="FF6B57"/>
                </a:solidFill>
              </a:rPr>
              <a:t>2 conflicting claims</a:t>
            </a:r>
          </a:p>
        </p:txBody>
      </p:sp>
    </p:spTree>
    <p:extLst>
      <p:ext uri="{BB962C8B-B14F-4D97-AF65-F5344CB8AC3E}">
        <p14:creationId xmlns:p14="http://schemas.microsoft.com/office/powerpoint/2010/main" val="1424226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BD993-5030-4140-809C-8016C5FF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7"/>
                </a:solidFill>
              </a:defRPr>
            </a:pPr>
            <a:r>
              <a:rPr sz="1050" b="1">
                <a:solidFill>
                  <a:srgbClr val="FF6B57"/>
                </a:solidFill>
              </a:rPr>
              <a:t>SCENARIO 02 · FINANCE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B712A-5D6B-4E6C-80E2-4046D976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F"/>
                </a:solidFill>
              </a:defRPr>
            </a:pPr>
            <a:r>
              <a:rPr sz="3150" b="1">
                <a:solidFill>
                  <a:srgbClr val="07101F"/>
                </a:solidFill>
              </a:rPr>
              <a:t>Finance needs a bridge, not decoration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AB748-7FBB-4A68-8CE2-DBA41E5F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32BFC-2FD5-4E21-A63B-0E17811F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5A6D"/>
                </a:solidFill>
              </a:defRPr>
            </a:pPr>
            <a:r>
              <a:rPr sz="825" b="1">
                <a:solidFill>
                  <a:srgbClr val="4B5A6D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BA6F4-E819-4B91-ADE3-60E70219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6B57"/>
                </a:solidFill>
              </a:defRPr>
            </a:pPr>
            <a:r>
              <a:rPr sz="825" b="1">
                <a:solidFill>
                  <a:srgbClr val="FF6B57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4DB687-1275-45BC-9A21-A9B722D6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A6D"/>
                </a:solidFill>
              </a:defRPr>
            </a:pPr>
            <a:r>
              <a:rPr sz="1575" b="0">
                <a:solidFill>
                  <a:srgbClr val="4B5A6D"/>
                </a:solidFill>
              </a:rPr>
              <a:t>Every number keeps its unit, source, and status as it becomes an outlook.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8AC97-BEC6-4D8A-881B-2298B4C9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104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5B854-9FFD-4308-BAF9-5376B255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01F"/>
                </a:solidFill>
              </a:defRPr>
            </a:pPr>
            <a:r>
              <a:rPr sz="1050" b="1">
                <a:solidFill>
                  <a:srgbClr val="07101F"/>
                </a:solidFill>
              </a:rPr>
              <a:t>REPORTED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4E04F-4D54-4C4C-BD52-20293004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76600"/>
            <a:ext cx="1104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0C161-4782-4230-ACEB-BCCB82E0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91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01F"/>
                </a:solidFill>
              </a:defRPr>
            </a:pPr>
            <a:r>
              <a:rPr sz="1050" b="1">
                <a:solidFill>
                  <a:srgbClr val="07101F"/>
                </a:solidFill>
              </a:rPr>
              <a:t>NON-GAAP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B65D3-DD31-48D1-9CDD-F4F3657C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86225"/>
            <a:ext cx="1104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84FC9-E160-4F41-AA03-7E959468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91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01F"/>
                </a:solidFill>
              </a:defRPr>
            </a:pPr>
            <a:r>
              <a:rPr sz="1050" b="1">
                <a:solidFill>
                  <a:srgbClr val="07101F"/>
                </a:solidFill>
              </a:rPr>
              <a:t>ASSUMPTION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88BC2-4DEC-4AE2-B6DB-8643C943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57475"/>
            <a:ext cx="11049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D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27CDE-D286-4359-B3A0-BC609FBA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911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01F"/>
                </a:solidFill>
              </a:defRPr>
            </a:pPr>
            <a:r>
              <a:rPr sz="1050" b="1">
                <a:solidFill>
                  <a:srgbClr val="07101F"/>
                </a:solidFill>
              </a:rPr>
              <a:t>OUTLOOK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6197FD-3E0C-4B12-8B52-66E1452A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600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3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7FA4A-51F5-4EEB-BC85-2AF62565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4095750" cy="31813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07101F"/>
          </a:solidFill>
          <a:ln xmlns:a="http://schemas.openxmlformats.org/drawingml/2006/main" w="9525">
            <a:solidFill>
              <a:srgbClr val="0710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67BB4-60BA-479A-9F15-C39DBB0F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76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45B"/>
                </a:solidFill>
              </a:defRPr>
            </a:pPr>
            <a:r>
              <a:rPr sz="975" b="1">
                <a:solidFill>
                  <a:srgbClr val="FFB45B"/>
                </a:solidFill>
              </a:rPr>
              <a:t>RECONCILIATION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500AA-EF10-43F1-B3C5-F84A9F96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14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AF0"/>
                </a:solidFill>
              </a:defRPr>
            </a:pPr>
            <a:r>
              <a:rPr sz="2100" b="1">
                <a:solidFill>
                  <a:srgbClr val="FFFAF0"/>
                </a:solidFill>
              </a:rPr>
              <a:t>Observed ≠ forward-looking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8AB75-009D-4D20-AFC4-D9CD75EE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523A8-E2D1-4F46-A1C1-8C87463F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Units survive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A814E-B2E1-420D-805A-58F1EDC1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A12AA-E513-4289-92FC-47A1B3E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Totals reconcile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1DC71-AA3B-4E85-9F7E-6F8473DF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D30A7-EA97-499F-A138-52673B99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Missing ≠ zero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3C0E33-67B5-4B99-9E20-80C0145C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D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7DB72-8102-460F-9377-C73497D1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24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AF0"/>
                </a:solidFill>
              </a:defRPr>
            </a:pPr>
            <a:r>
              <a:rPr sz="1275" b="0">
                <a:solidFill>
                  <a:srgbClr val="FFFAF0"/>
                </a:solidFill>
              </a:rPr>
              <a:t>Guidance is labeled</a:t>
            </a:r>
          </a:p>
        </p:txBody>
      </p:sp>
    </p:spTree>
    <p:extLst>
      <p:ext uri="{BB962C8B-B14F-4D97-AF65-F5344CB8AC3E}">
        <p14:creationId xmlns:p14="http://schemas.microsoft.com/office/powerpoint/2010/main" val="580268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73B6B-618E-4409-A0F6-C6456000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D7E8"/>
                </a:solidFill>
              </a:defRPr>
            </a:pPr>
            <a:r>
              <a:rPr sz="1050" b="1">
                <a:solidFill>
                  <a:srgbClr val="5ED7E8"/>
                </a:solidFill>
              </a:rPr>
              <a:t>SCENARIO 03 · STARTUP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888B0-555D-4645-BBD0-1C301EE1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AF0"/>
                </a:solidFill>
              </a:defRPr>
            </a:pPr>
            <a:r>
              <a:rPr sz="3150" b="1">
                <a:solidFill>
                  <a:srgbClr val="FFFAF0"/>
                </a:solidFill>
              </a:rPr>
              <a:t>A startup story must become retellable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F0EAD-972E-422D-9489-8857B5A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ECF06-25CF-4ED1-B86B-72C66B2C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B"/>
                </a:solidFill>
              </a:defRPr>
            </a:pPr>
            <a:r>
              <a:rPr sz="825" b="1">
                <a:solidFill>
                  <a:srgbClr val="9AA8BB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95E28-B0D4-47AE-B976-D300254C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B45B"/>
                </a:solidFill>
              </a:defRPr>
            </a:pPr>
            <a:r>
              <a:rPr sz="825" b="1">
                <a:solidFill>
                  <a:srgbClr val="FFB45B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3AF09-4B05-48BB-A13A-F5786D4C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8BB"/>
                </a:solidFill>
              </a:defRPr>
            </a:pPr>
            <a:r>
              <a:rPr sz="1575" b="0">
                <a:solidFill>
                  <a:srgbClr val="9AA8BB"/>
                </a:solidFill>
              </a:rPr>
              <a:t>The shape changes as belief compounds; the synthetic label never disappears.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B0A0E-48FF-4357-86BC-D06D902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143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AB1AC-50C4-4281-9AC1-21132C63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PAIN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F8392-C392-4DF0-9DC2-9F90C92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76775"/>
            <a:ext cx="32385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E4179-9ED6-4A53-9756-0044B0CD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05300"/>
            <a:ext cx="1428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A92E7-15EC-4571-A346-BAF931B0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81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904D8-5C69-43DB-AE9A-B34FBA19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67175"/>
            <a:ext cx="2857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E7B26-9934-4163-8799-9DF45FB8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43300"/>
            <a:ext cx="1524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3169B-CE7D-4574-8309-FED5FD2F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7413A-4D45-4617-A76E-640F4A3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3238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D7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CDC4A-A560-41E5-98FD-02D3F8D7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1714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FAAA6-FB59-44A3-A20B-178B87F5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38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WEDGE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39654-77AC-4311-AA2F-72C61A44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67025"/>
            <a:ext cx="38100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D7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4E0A0-ECFA-428F-AB96-6C044100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24765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9525">
            <a:solidFill>
              <a:srgbClr val="FFB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994E4-35B5-4A6D-BD07-30DB4C57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7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6D3E3-6675-4697-94D8-CC6E9945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3524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91F16"/>
          </a:solidFill>
          <a:ln xmlns:a="http://schemas.openxmlformats.org/drawingml/2006/main" w="9525">
            <a:solidFill>
              <a:srgbClr val="FFB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E741D-EE4F-494F-9F99-BCAD3F33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9590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45B"/>
                </a:solidFill>
              </a:defRPr>
            </a:pPr>
            <a:r>
              <a:rPr sz="1050" b="1">
                <a:solidFill>
                  <a:srgbClr val="FFB45B"/>
                </a:solidFill>
              </a:rPr>
              <a:t>SYNTHETIC TEST DATA · ALWAYS VISIBLE</a:t>
            </a:r>
          </a:p>
        </p:txBody>
      </p:sp>
    </p:spTree>
    <p:extLst>
      <p:ext uri="{BB962C8B-B14F-4D97-AF65-F5344CB8AC3E}">
        <p14:creationId xmlns:p14="http://schemas.microsoft.com/office/powerpoint/2010/main" val="1226433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861EDC-C06F-4DF9-BC07-87BD5EC5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7"/>
                </a:solidFill>
              </a:defRPr>
            </a:pPr>
            <a:r>
              <a:rPr sz="1050" b="1">
                <a:solidFill>
                  <a:srgbClr val="FF6B57"/>
                </a:solidFill>
              </a:rPr>
              <a:t>SCENARIO 04 · OPERATING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5C558-19B7-4A78-BDC8-8F97E6A1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F"/>
                </a:solidFill>
              </a:defRPr>
            </a:pPr>
            <a:r>
              <a:rPr sz="3150" b="1">
                <a:solidFill>
                  <a:srgbClr val="07101F"/>
                </a:solidFill>
              </a:rPr>
              <a:t>Operating reviews must expose the constraint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624E0-CEC2-4553-95C8-4F2BAC91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384CC-E069-4031-847F-989C8F9F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5A6D"/>
                </a:solidFill>
              </a:defRPr>
            </a:pPr>
            <a:r>
              <a:rPr sz="825" b="1">
                <a:solidFill>
                  <a:srgbClr val="4B5A6D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68055-ACCC-4279-A1EE-23887AC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6B57"/>
                </a:solidFill>
              </a:defRPr>
            </a:pPr>
            <a:r>
              <a:rPr sz="825" b="1">
                <a:solidFill>
                  <a:srgbClr val="FF6B57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92B89-28D1-431D-88D2-2F40F28B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A6D"/>
                </a:solidFill>
              </a:defRPr>
            </a:pPr>
            <a:r>
              <a:rPr sz="1575" b="0">
                <a:solidFill>
                  <a:srgbClr val="4B5A6D"/>
                </a:solidFill>
              </a:rPr>
              <a:t>Metrics matter when they point to an owned intervention and the next cadence.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CDB11-39D4-44FE-8F37-4696094F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714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5ED7E8"/>
          </a:solidFill>
          <a:ln xmlns:a="http://schemas.openxmlformats.org/drawingml/2006/main" w="9525">
            <a:solidFill>
              <a:srgbClr val="5ED7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DC740-CC23-4BB6-9977-6B912A52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5EBA3-56FD-460E-9EAD-46DE2303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3370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10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F8AEF-9295-4FF8-BCAC-0EA5A886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1714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7101F"/>
          </a:solidFill>
          <a:ln xmlns:a="http://schemas.openxmlformats.org/drawingml/2006/main" w="9525">
            <a:solidFill>
              <a:srgbClr val="0710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E4213-AC59-4C1F-BF29-14A2072A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37BAD-702B-4AA2-9B5B-42782620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10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DAF94-CB64-4DBD-B8B8-916E89A6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622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6B57"/>
          </a:solidFill>
          <a:ln xmlns:a="http://schemas.openxmlformats.org/drawingml/2006/main" w="9525">
            <a:solidFill>
              <a:srgbClr val="FF6B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8F136-F748-4057-A646-2DC4D4A2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BOTTLENECK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EE6BA-9C0C-424F-BA47-DCE4ECA3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33700"/>
            <a:ext cx="514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710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E7100-B436-45F0-93C8-CA665D1B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1714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7BD39A"/>
          </a:solidFill>
          <a:ln xmlns:a="http://schemas.openxmlformats.org/drawingml/2006/main" w="9525">
            <a:solidFill>
              <a:srgbClr val="7BD3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1F590-0690-48BB-9363-2F23E542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01F"/>
                </a:solidFill>
              </a:defRPr>
            </a:pPr>
            <a:r>
              <a:rPr sz="1275" b="1">
                <a:solidFill>
                  <a:srgbClr val="07101F"/>
                </a:solidFill>
              </a:rPr>
              <a:t>INTERVENTION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480C9-7E58-486D-8D60-77C0F3B9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24175"/>
            <a:ext cx="1200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D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761AB-A48A-4D03-A5A1-89862E90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38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D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73990-D957-464B-BAB8-B9FC0F75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43300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01F"/>
                </a:solidFill>
              </a:defRPr>
            </a:pPr>
            <a:r>
              <a:rPr sz="1800" b="1">
                <a:solidFill>
                  <a:srgbClr val="07101F"/>
                </a:solidFill>
              </a:rPr>
              <a:t>30-DAY</a:t>
            </a:r>
          </a:p>
          <a:p xmlns:a="http://schemas.openxmlformats.org/drawingml/2006/main">
            <a:pPr algn="ctr">
              <a:defRPr sz="1800" b="1">
                <a:solidFill>
                  <a:srgbClr val="07101F"/>
                </a:solidFill>
              </a:defRPr>
            </a:pPr>
            <a:r>
              <a:rPr sz="1800" b="1">
                <a:solidFill>
                  <a:srgbClr val="07101F"/>
                </a:solidFill>
              </a:rPr>
              <a:t>CADENCE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48E55-B101-47A9-AAE7-594CFCB7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57"/>
                </a:solidFill>
              </a:defRPr>
            </a:pPr>
            <a:r>
              <a:rPr sz="975" b="1">
                <a:solidFill>
                  <a:srgbClr val="FF6B57"/>
                </a:solidFill>
              </a:rPr>
              <a:t>OWNER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C90C8-A53C-4E36-9D67-CA40659A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1F"/>
                </a:solidFill>
              </a:defRPr>
            </a:pPr>
            <a:r>
              <a:rPr sz="1800" b="1">
                <a:solidFill>
                  <a:srgbClr val="07101F"/>
                </a:solidFill>
              </a:rPr>
              <a:t>COO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B4DA9-FDC6-48CA-8E97-93986454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57"/>
                </a:solidFill>
              </a:defRPr>
            </a:pPr>
            <a:r>
              <a:rPr sz="975" b="1">
                <a:solidFill>
                  <a:srgbClr val="FF6B57"/>
                </a:solidFill>
              </a:rPr>
              <a:t>LEADING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C8C40-3538-4AD3-8CE1-C40F3A4C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048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1F"/>
                </a:solidFill>
              </a:defRPr>
            </a:pPr>
            <a:r>
              <a:rPr sz="1800" b="1">
                <a:solidFill>
                  <a:srgbClr val="07101F"/>
                </a:solidFill>
              </a:rPr>
              <a:t>Cycle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959FB-3039-47ED-8C81-313D2027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57"/>
                </a:solidFill>
              </a:defRPr>
            </a:pPr>
            <a:r>
              <a:rPr sz="975" b="1">
                <a:solidFill>
                  <a:srgbClr val="FF6B57"/>
                </a:solidFill>
              </a:rPr>
              <a:t>CHECKPOINT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4CAAD-E1E9-4C07-99F9-079336C5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48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1F"/>
                </a:solidFill>
              </a:defRPr>
            </a:pPr>
            <a:r>
              <a:rPr sz="1800" b="1">
                <a:solidFill>
                  <a:srgbClr val="07101F"/>
                </a:solidFill>
              </a:rPr>
              <a:t>Weekly</a:t>
            </a:r>
          </a:p>
        </p:txBody>
      </p:sp>
    </p:spTree>
    <p:extLst>
      <p:ext uri="{BB962C8B-B14F-4D97-AF65-F5344CB8AC3E}">
        <p14:creationId xmlns:p14="http://schemas.microsoft.com/office/powerpoint/2010/main" val="21422021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29958-C9AC-4A7A-9C3A-1B333AD1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D7E8"/>
                </a:solidFill>
              </a:defRPr>
            </a:pPr>
            <a:r>
              <a:rPr sz="1050" b="1">
                <a:solidFill>
                  <a:srgbClr val="5ED7E8"/>
                </a:solidFill>
              </a:rPr>
              <a:t>SCENARIO 05 ·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FF31A-3C93-4C58-98F2-61C2170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AF0"/>
                </a:solidFill>
              </a:defRPr>
            </a:pPr>
            <a:r>
              <a:rPr sz="3150" b="1">
                <a:solidFill>
                  <a:srgbClr val="FFFAF0"/>
                </a:solidFill>
              </a:rPr>
              <a:t>Governance culminates in a visible release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ED884-5993-4B66-8F47-D5EBAF7F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5FC00-0DB1-4594-BAB9-4E91BE63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B"/>
                </a:solidFill>
              </a:defRPr>
            </a:pPr>
            <a:r>
              <a:rPr sz="825" b="1">
                <a:solidFill>
                  <a:srgbClr val="9AA8BB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DE5B4-8136-45A8-A109-F6BAF31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B45B"/>
                </a:solidFill>
              </a:defRPr>
            </a:pPr>
            <a:r>
              <a:rPr sz="825" b="1">
                <a:solidFill>
                  <a:srgbClr val="FFB45B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2E83C-7D9D-429A-9942-86E67FE2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8BB"/>
                </a:solidFill>
              </a:defRPr>
            </a:pPr>
            <a:r>
              <a:rPr sz="1575" b="0">
                <a:solidFill>
                  <a:srgbClr val="9AA8BB"/>
                </a:solidFill>
              </a:rPr>
              <a:t>A failed control cannot hide behind a green quality badge.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83E2-2A99-4B66-968A-2E5CA132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EE417-B322-4526-9F11-D0C7602A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469F-E368-4DDA-9A3F-98B597A3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9875"/>
            <a:ext cx="18859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A1815-4DD5-4382-83A9-7338ABEC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C3AF7-D545-45A6-BBDF-125F33CF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0CD15-4258-4590-A047-9232523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81375"/>
            <a:ext cx="18859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06C4B-387C-464B-8190-34F8E4CF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6E97C-A60C-4F48-A028-49207946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MANAGE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53871-7DCF-40A4-AD77-293379F4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81375"/>
            <a:ext cx="188595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D7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51F82-C425-4C76-B5FC-A1FF29A2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24100"/>
            <a:ext cx="238125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5ED7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43733-6660-4B02-B8EF-B1A2366D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ED7E8"/>
                </a:solidFill>
              </a:defRPr>
            </a:pPr>
            <a:r>
              <a:rPr sz="1650" b="1">
                <a:solidFill>
                  <a:srgbClr val="5ED7E8"/>
                </a:solidFill>
              </a:rPr>
              <a:t>GOVERN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EF460-0F6C-4BCD-AB31-5E51CC90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81350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AF0"/>
                </a:solidFill>
              </a:defRPr>
            </a:pPr>
            <a:r>
              <a:rPr sz="1350" b="0">
                <a:solidFill>
                  <a:srgbClr val="FFFAF0"/>
                </a:solidFill>
              </a:rPr>
              <a:t>cross-cutting</a:t>
            </a:r>
          </a:p>
          <a:p xmlns:a="http://schemas.openxmlformats.org/drawingml/2006/main">
            <a:pPr algn="ctr">
              <a:defRPr sz="1350" b="0">
                <a:solidFill>
                  <a:srgbClr val="FFFAF0"/>
                </a:solidFill>
              </a:defRPr>
            </a:pPr>
            <a:r>
              <a:rPr sz="1350" b="0">
                <a:solidFill>
                  <a:srgbClr val="FFFAF0"/>
                </a:solidFill>
              </a:rPr>
              <a:t>owners · policy</a:t>
            </a:r>
          </a:p>
          <a:p xmlns:a="http://schemas.openxmlformats.org/drawingml/2006/main">
            <a:pPr algn="ctr">
              <a:defRPr sz="1350" b="0">
                <a:solidFill>
                  <a:srgbClr val="FFFAF0"/>
                </a:solidFill>
              </a:defRPr>
            </a:pPr>
            <a:r>
              <a:rPr sz="1350" b="0">
                <a:solidFill>
                  <a:srgbClr val="FFFAF0"/>
                </a:solidFill>
              </a:rPr>
              <a:t>exceptions ·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5E902-D16C-4EBE-92CB-F3077E74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9A29A-AB33-4D51-9396-D1A2E9C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45B"/>
                </a:solidFill>
              </a:defRPr>
            </a:pPr>
            <a:r>
              <a:rPr sz="1650" b="1">
                <a:solidFill>
                  <a:srgbClr val="FFB45B"/>
                </a:solidFill>
              </a:rPr>
              <a:t>TRUST</a:t>
            </a:r>
          </a:p>
          <a:p xmlns:a="http://schemas.openxmlformats.org/drawingml/2006/main">
            <a:pPr algn="ctr">
              <a:defRPr sz="1650" b="1">
                <a:solidFill>
                  <a:srgbClr val="FFB45B"/>
                </a:solidFill>
              </a:defRPr>
            </a:pPr>
            <a:r>
              <a:rPr sz="1650" b="1">
                <a:solidFill>
                  <a:srgbClr val="FFB45B"/>
                </a:solidFill>
              </a:rPr>
              <a:t>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65D31-7F0B-45AB-8706-A787DDB0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32385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6291F"/>
          </a:solidFill>
          <a:ln xmlns:a="http://schemas.openxmlformats.org/drawingml/2006/main" w="9525">
            <a:solidFill>
              <a:srgbClr val="7BD3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88F43-CDC8-4BE8-992A-E7035F46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D39A"/>
                </a:solidFill>
              </a:defRPr>
            </a:pPr>
            <a:r>
              <a:rPr sz="975" b="1">
                <a:solidFill>
                  <a:srgbClr val="7BD39A"/>
                </a:solidFill>
              </a:rPr>
              <a:t>DECISION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9F87D-3FA4-4FA5-B6F9-FBB6BF70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AF0"/>
                </a:solidFill>
              </a:defRPr>
            </a:pPr>
            <a:r>
              <a:rPr sz="2250" b="1">
                <a:solidFill>
                  <a:srgbClr val="FFFAF0"/>
                </a:solidFill>
              </a:rPr>
              <a:t>CONDITIONALLY</a:t>
            </a:r>
          </a:p>
          <a:p xmlns:a="http://schemas.openxmlformats.org/drawingml/2006/main">
            <a:pPr algn="l">
              <a:defRPr sz="2250" b="1">
                <a:solidFill>
                  <a:srgbClr val="FFFAF0"/>
                </a:solidFill>
              </a:defRPr>
            </a:pPr>
            <a:r>
              <a:rPr sz="2250" b="1">
                <a:solidFill>
                  <a:srgbClr val="FFFAF0"/>
                </a:solidFill>
              </a:rPr>
              <a:t>APPROVE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5AC3F-AEDA-4093-8A8C-D473C9B9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E9D3"/>
                </a:solidFill>
              </a:defRPr>
            </a:pPr>
            <a:r>
              <a:rPr sz="1275" b="0">
                <a:solidFill>
                  <a:srgbClr val="C8E9D3"/>
                </a:solidFill>
              </a:rPr>
              <a:t>2 controls due · owner named</a:t>
            </a:r>
          </a:p>
          <a:p xmlns:a="http://schemas.openxmlformats.org/drawingml/2006/main">
            <a:pPr algn="l">
              <a:defRPr sz="1275" b="0">
                <a:solidFill>
                  <a:srgbClr val="C8E9D3"/>
                </a:solidFill>
              </a:defRPr>
            </a:pPr>
            <a:r>
              <a:rPr sz="1275" b="0">
                <a:solidFill>
                  <a:srgbClr val="C8E9D3"/>
                </a:solidFill>
              </a:rPr>
              <a:t>next checkpoint · 14 days</a:t>
            </a:r>
          </a:p>
        </p:txBody>
      </p:sp>
    </p:spTree>
    <p:extLst>
      <p:ext uri="{BB962C8B-B14F-4D97-AF65-F5344CB8AC3E}">
        <p14:creationId xmlns:p14="http://schemas.microsoft.com/office/powerpoint/2010/main" val="1419756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9F620E-55D2-4186-813C-7FDFB99F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7"/>
                </a:solidFill>
              </a:defRPr>
            </a:pPr>
            <a:r>
              <a:rPr sz="1050" b="1">
                <a:solidFill>
                  <a:srgbClr val="FF6B57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B341C-F1A5-4399-84D3-F07E5351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F"/>
                </a:solidFill>
              </a:defRPr>
            </a:pPr>
            <a:r>
              <a:rPr sz="3150" b="1">
                <a:solidFill>
                  <a:srgbClr val="07101F"/>
                </a:solidFill>
              </a:rPr>
              <a:t>Three front doors, one governed deck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77A23-A1DE-4C17-B23B-1BC74C98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78789-63F3-4B24-BCB9-DD9C013E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5A6D"/>
                </a:solidFill>
              </a:defRPr>
            </a:pPr>
            <a:r>
              <a:rPr sz="825" b="1">
                <a:solidFill>
                  <a:srgbClr val="4B5A6D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A995E-8B7B-4789-9120-6095E2F0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6B57"/>
                </a:solidFill>
              </a:defRPr>
            </a:pPr>
            <a:r>
              <a:rPr sz="825" b="1">
                <a:solidFill>
                  <a:srgbClr val="FF6B57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AFAF0-1D81-4ABB-B361-AFC29E9F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A6D"/>
                </a:solidFill>
              </a:defRPr>
            </a:pPr>
            <a:r>
              <a:rPr sz="1575" b="0">
                <a:solidFill>
                  <a:srgbClr val="4B5A6D"/>
                </a:solidFill>
              </a:rPr>
              <a:t>UI, CLI, and MCP converge before any mutation becomes durable.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B3D4A-6507-42B8-83D8-2BACFF9F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6B57"/>
          </a:solidFill>
          <a:ln xmlns:a="http://schemas.openxmlformats.org/drawingml/2006/main" w="9525">
            <a:solidFill>
              <a:srgbClr val="FF6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18C3A-630F-4E52-A9A6-E8278E3D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47ADA-C54B-42C5-A782-593EB7D0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6050"/>
            <a:ext cx="182880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0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6A7AF-CCAC-4FCC-B656-8D696BEF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5ED7E8"/>
          </a:solidFill>
          <a:ln xmlns:a="http://schemas.openxmlformats.org/drawingml/2006/main" w="9525">
            <a:solidFill>
              <a:srgbClr val="5ED7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8999C-9645-4F6D-BE03-00EC7C77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CLI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35F20-C160-4E38-A6B8-CF57032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90900"/>
            <a:ext cx="18288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0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28C57-657B-4930-892A-6BAC6CFD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428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B45B"/>
          </a:solidFill>
          <a:ln xmlns:a="http://schemas.openxmlformats.org/drawingml/2006/main" w="9525">
            <a:solidFill>
              <a:srgbClr val="FFB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CFD64D-A7F5-41AA-86BE-A2693B9B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F"/>
                </a:solidFill>
              </a:defRPr>
            </a:pPr>
            <a:r>
              <a:rPr sz="1650" b="1">
                <a:solidFill>
                  <a:srgbClr val="07101F"/>
                </a:solidFill>
              </a:rPr>
              <a:t>MCP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AC689-BCE3-4B83-B59E-828AB5DB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90900"/>
            <a:ext cx="182880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10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1DB50C-0796-4F83-B9F8-93043287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30480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7101F"/>
          </a:solidFill>
          <a:ln xmlns:a="http://schemas.openxmlformats.org/drawingml/2006/main" w="9525">
            <a:solidFill>
              <a:srgbClr val="0710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91683-F225-4101-BD95-C6A5F9C4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D7E8"/>
                </a:solidFill>
              </a:defRPr>
            </a:pPr>
            <a:r>
              <a:rPr sz="975" b="1">
                <a:solidFill>
                  <a:srgbClr val="5ED7E8"/>
                </a:solidFill>
              </a:rPr>
              <a:t>CANONICAL PROGRAM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58747-8658-461E-A7CB-3788ED0B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AF0"/>
                </a:solidFill>
              </a:defRPr>
            </a:pPr>
            <a:r>
              <a:rPr sz="2250" b="1">
                <a:solidFill>
                  <a:srgbClr val="FFFAF0"/>
                </a:solidFill>
              </a:rPr>
              <a:t>DeckSnapshot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BC28BF-DED0-4EAB-9607-381327C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623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8BB"/>
                </a:solidFill>
              </a:defRPr>
            </a:pPr>
            <a:r>
              <a:rPr sz="1350" b="0">
                <a:solidFill>
                  <a:srgbClr val="9AA8BB"/>
                </a:solidFill>
              </a:rPr>
              <a:t>typed elements</a:t>
            </a:r>
          </a:p>
          <a:p xmlns:a="http://schemas.openxmlformats.org/drawingml/2006/main">
            <a:pPr algn="l">
              <a:defRPr sz="1350" b="0">
                <a:solidFill>
                  <a:srgbClr val="9AA8BB"/>
                </a:solidFill>
              </a:defRPr>
            </a:pPr>
            <a:r>
              <a:rPr sz="1350" b="0">
                <a:solidFill>
                  <a:srgbClr val="9AA8BB"/>
                </a:solidFill>
              </a:rPr>
              <a:t>source bindings</a:t>
            </a:r>
          </a:p>
          <a:p xmlns:a="http://schemas.openxmlformats.org/drawingml/2006/main">
            <a:pPr algn="l">
              <a:defRPr sz="1350" b="0">
                <a:solidFill>
                  <a:srgbClr val="9AA8BB"/>
                </a:solidFill>
              </a:defRPr>
            </a:pPr>
            <a:r>
              <a:rPr sz="1350" b="0">
                <a:solidFill>
                  <a:srgbClr val="9AA8BB"/>
                </a:solidFill>
              </a:rPr>
              <a:t>version +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24837-4377-4767-88D9-2F47AA6F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1581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710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B968C-4DAF-4363-976E-6E56718B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266700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9525">
            <a:solidFill>
              <a:srgbClr val="CFC6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510D1-2F48-4E16-A6E1-71B731F0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7"/>
                </a:solidFill>
              </a:defRPr>
            </a:pPr>
            <a:r>
              <a:rPr sz="1125" b="1">
                <a:solidFill>
                  <a:srgbClr val="FF6B57"/>
                </a:solidFill>
              </a:rPr>
              <a:t>ONE MUTATION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D69BD-8116-40E1-AE43-312253B3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01F"/>
                </a:solidFill>
              </a:defRPr>
            </a:pPr>
            <a:r>
              <a:rPr sz="1500" b="1">
                <a:solidFill>
                  <a:srgbClr val="07101F"/>
                </a:solidFill>
              </a:rPr>
              <a:t>propose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CC6E2-490B-41A9-A1BE-11FBE2D4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099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01F"/>
                </a:solidFill>
              </a:defRPr>
            </a:pPr>
            <a:r>
              <a:rPr sz="1500" b="1">
                <a:solidFill>
                  <a:srgbClr val="07101F"/>
                </a:solidFill>
              </a:rPr>
              <a:t>validate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EC132D-7F8A-41F0-A4DD-EE90C0BD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290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01F"/>
                </a:solidFill>
              </a:defRPr>
            </a:pPr>
            <a:r>
              <a:rPr sz="1500" b="1">
                <a:solidFill>
                  <a:srgbClr val="07101F"/>
                </a:solidFill>
              </a:rPr>
              <a:t>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7ADB1-3C0C-45AF-9709-C9975540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BD39A"/>
                </a:solidFill>
              </a:defRPr>
            </a:pPr>
            <a:r>
              <a:rPr sz="1500" b="1">
                <a:solidFill>
                  <a:srgbClr val="7BD39A"/>
                </a:solidFill>
              </a:rPr>
              <a:t>accept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9A7DE-C110-47F5-BCA9-C0563F30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A6D"/>
                </a:solidFill>
              </a:defRPr>
            </a:pPr>
            <a:r>
              <a:rPr sz="900" b="0">
                <a:solidFill>
                  <a:srgbClr val="4B5A6D"/>
                </a:solidFill>
              </a:rPr>
              <a:t>Source · README / EXTERNAL_AGENT_ACCESS</a:t>
            </a:r>
          </a:p>
        </p:txBody>
      </p:sp>
    </p:spTree>
    <p:extLst>
      <p:ext uri="{BB962C8B-B14F-4D97-AF65-F5344CB8AC3E}">
        <p14:creationId xmlns:p14="http://schemas.microsoft.com/office/powerpoint/2010/main" val="1682333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93BAF-95A4-441E-A093-14369A6B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D7E8"/>
                </a:solidFill>
              </a:defRPr>
            </a:pPr>
            <a:r>
              <a:rPr sz="1050" b="1">
                <a:solidFill>
                  <a:srgbClr val="5ED7E8"/>
                </a:solidFill>
              </a:rPr>
              <a:t>PROOF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91219-EB1F-47A9-BECF-51563217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AF0"/>
                </a:solidFill>
              </a:defRPr>
            </a:pPr>
            <a:r>
              <a:rPr sz="3150" b="1">
                <a:solidFill>
                  <a:srgbClr val="FFFAF0"/>
                </a:solidFill>
              </a:rPr>
              <a:t>Trust is a chain of independently checkable receipts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82E48-81F2-4298-97EB-BD9F5AA3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4BF21-EE6A-407F-A15D-D9B829D1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AA8BB"/>
                </a:solidFill>
              </a:defRPr>
            </a:pPr>
            <a:r>
              <a:rPr sz="825" b="1">
                <a:solidFill>
                  <a:srgbClr val="9AA8BB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57163-DBFF-4E95-A2B8-90C5F4D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B45B"/>
                </a:solidFill>
              </a:defRPr>
            </a:pPr>
            <a:r>
              <a:rPr sz="825" b="1">
                <a:solidFill>
                  <a:srgbClr val="FFB45B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594CE-90BE-4E09-B9FE-A95B7F18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AA8BB"/>
                </a:solidFill>
              </a:defRPr>
            </a:pPr>
            <a:r>
              <a:rPr sz="1575" b="0">
                <a:solidFill>
                  <a:srgbClr val="9AA8BB"/>
                </a:solidFill>
              </a:rPr>
              <a:t>The UI badge is never the authority. The artifact and receipt 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8F142-0E87-44C1-A992-690BADE8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60CE8-48B1-4E57-A805-B93633BB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D7E8"/>
                </a:solidFill>
              </a:defRPr>
            </a:pPr>
            <a:r>
              <a:rPr sz="1125" b="1">
                <a:solidFill>
                  <a:srgbClr val="5ED7E8"/>
                </a:solidFill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073D3-C8B9-4427-8B48-ABA471FE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34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8948B-0963-4A9B-AF44-4B6ED8A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813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E95A7-BEFD-4726-9C95-E5A22842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AF0"/>
                </a:solidFill>
              </a:defRPr>
            </a:pPr>
            <a:r>
              <a:rPr sz="1125" b="1">
                <a:solidFill>
                  <a:srgbClr val="FFFAF0"/>
                </a:solidFill>
              </a:rPr>
              <a:t>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404FA-1751-488E-A18E-65B9C1D6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861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34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7901C-5667-4EE1-828B-F7A9B08B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4A108-9C0A-4F67-8492-3331003F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B45B"/>
                </a:solidFill>
              </a:defRPr>
            </a:pPr>
            <a:r>
              <a:rPr sz="1125" b="1">
                <a:solidFill>
                  <a:srgbClr val="FFB45B"/>
                </a:solidFill>
              </a:rPr>
              <a:t>ARTIFACT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800A0-A9D7-4475-8835-2B843C04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861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34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E38CD-9C27-4400-B217-7CFBA2D4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3C596-4D6D-41EB-92CA-3D9FEF7D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7"/>
                </a:solidFill>
              </a:defRPr>
            </a:pPr>
            <a:r>
              <a:rPr sz="1125" b="1">
                <a:solidFill>
                  <a:srgbClr val="FF6B57"/>
                </a:solidFill>
              </a:rPr>
              <a:t>RENDER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BA5A0-FB37-4F0C-9822-95E83A78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106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34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D94EC-0358-4603-A3B6-01DFCB00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D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203F9-3EC8-4D5F-BCBB-99063764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BD39A"/>
                </a:solidFill>
              </a:defRPr>
            </a:pPr>
            <a:r>
              <a:rPr sz="1125" b="1">
                <a:solidFill>
                  <a:srgbClr val="7BD39A"/>
                </a:solidFill>
              </a:rPr>
              <a:t>EXPORT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B4CB1-6EAA-4030-AA43-BDA64EB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7429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D1B31"/>
          </a:solidFill>
          <a:ln xmlns:a="http://schemas.openxmlformats.org/drawingml/2006/main" w="9525">
            <a:solidFill>
              <a:srgbClr val="2434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A8E98-71C6-4C03-A239-AEF6F06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291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digest · model · cost · tokens · validation · version · publication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4554C-8613-4C9F-96F0-533D3350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219700"/>
            <a:ext cx="678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D7E8"/>
                </a:solidFill>
              </a:defRPr>
            </a:pPr>
            <a:r>
              <a:rPr sz="1125" b="0">
                <a:solidFill>
                  <a:srgbClr val="5ED7E8"/>
                </a:solidFill>
              </a:rPr>
              <a:t>Receipt completeness is the proof surface agents can reason over.</a:t>
            </a:r>
          </a:p>
        </p:txBody>
      </p:sp>
    </p:spTree>
    <p:extLst>
      <p:ext uri="{BB962C8B-B14F-4D97-AF65-F5344CB8AC3E}">
        <p14:creationId xmlns:p14="http://schemas.microsoft.com/office/powerpoint/2010/main" val="14100131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9FBF4B-C24E-4360-B5C4-AFBD3B29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7"/>
                </a:solidFill>
              </a:defRPr>
            </a:pPr>
            <a:r>
              <a:rPr sz="1050" b="1">
                <a:solidFill>
                  <a:srgbClr val="FF6B57"/>
                </a:solidFill>
              </a:rPr>
              <a:t>THE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25127-35BE-4B90-A5BC-E3FCB0B7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F"/>
                </a:solidFill>
              </a:defRPr>
            </a:pPr>
            <a:r>
              <a:rPr sz="3150" b="1">
                <a:solidFill>
                  <a:srgbClr val="07101F"/>
                </a:solidFill>
              </a:rPr>
              <a:t>Production readiness must fail closed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C979B-1AA1-42AC-BD11-1A50972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D7CC0-B9A1-43E3-A36A-37C12A9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B5A6D"/>
                </a:solidFill>
              </a:defRPr>
            </a:pPr>
            <a:r>
              <a:rPr sz="825" b="1">
                <a:solidFill>
                  <a:srgbClr val="4B5A6D"/>
                </a:solidFill>
              </a:rPr>
              <a:t>NODESLIDE  /  SIGNAL →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6DE66-16F3-422D-B5F8-C51108B4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6B57"/>
                </a:solidFill>
              </a:defRPr>
            </a:pPr>
            <a:r>
              <a:rPr sz="825" b="1">
                <a:solidFill>
                  <a:srgbClr val="FF6B57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D9CE5-ECCB-4CC8-998E-F2847DC5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A6D"/>
                </a:solidFill>
              </a:defRPr>
            </a:pPr>
            <a:r>
              <a:rPr sz="1575" b="0">
                <a:solidFill>
                  <a:srgbClr val="4B5A6D"/>
                </a:solidFill>
              </a:rPr>
              <a:t>The latest live run proved the remaining gap: the artifact completed, the brief did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45254-7D22-4523-B043-4D3D7FEE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57"/>
                </a:solidFill>
              </a:defRPr>
            </a:pPr>
            <a:r>
              <a:rPr sz="975" b="1">
                <a:solidFill>
                  <a:srgbClr val="FF6B57"/>
                </a:solidFill>
              </a:rPr>
              <a:t>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4473E-2C88-4342-A6BF-B51BAD94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57"/>
                </a:solidFill>
              </a:defRPr>
            </a:pPr>
            <a:r>
              <a:rPr sz="975" b="1">
                <a:solidFill>
                  <a:srgbClr val="FF6B57"/>
                </a:solidFill>
              </a:rPr>
              <a:t>EXPECTED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EAABA-0825-4020-B5EF-833FD17D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57"/>
                </a:solidFill>
              </a:defRPr>
            </a:pPr>
            <a:r>
              <a:rPr sz="975" b="1">
                <a:solidFill>
                  <a:srgbClr val="FF6B57"/>
                </a:solidFill>
              </a:rPr>
              <a:t>OBSERVED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2932B-5E65-4CBA-AABE-8D2921D9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CE987-722E-4EDA-BE3B-0B02C8EF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F"/>
                </a:solidFill>
              </a:defRPr>
            </a:pPr>
            <a:r>
              <a:rPr sz="1350" b="1">
                <a:solidFill>
                  <a:srgbClr val="07101F"/>
                </a:solidFill>
              </a:rPr>
              <a:t>Requested slide 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A8325-58FC-43ED-A203-AD47C3C7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A6D"/>
                </a:solidFill>
              </a:defRPr>
            </a:pPr>
            <a:r>
              <a:rPr sz="1350" b="0">
                <a:solidFill>
                  <a:srgbClr val="4B5A6D"/>
                </a:solidFill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6B008-5CC0-424C-9EA4-51016AEE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9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A6A"/>
                </a:solidFill>
              </a:defRPr>
            </a:pPr>
            <a:r>
              <a:rPr sz="1350" b="1">
                <a:solidFill>
                  <a:srgbClr val="FF6A6A"/>
                </a:solidFill>
              </a:rPr>
              <a:t>Produced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2009E-08A9-49B7-BFEB-192AA54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62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37F74-3F5B-44FE-8DD3-621BBA0A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D0CCB-4DDF-4FEE-ADBF-16FCDC52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F"/>
                </a:solidFill>
              </a:defRPr>
            </a:pPr>
            <a:r>
              <a:rPr sz="1350" b="1">
                <a:solidFill>
                  <a:srgbClr val="07101F"/>
                </a:solidFill>
              </a:rPr>
              <a:t>Supporting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16719-EC54-49E3-923A-374D45F2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04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A6D"/>
                </a:solidFill>
              </a:defRPr>
            </a:pPr>
            <a:r>
              <a:rPr sz="1350" b="0">
                <a:solidFill>
                  <a:srgbClr val="4B5A6D"/>
                </a:solidFill>
              </a:rPr>
              <a:t>Exactly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26966-EB0D-4E38-80E8-0CB8AFC4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04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A6A"/>
                </a:solidFill>
              </a:defRPr>
            </a:pPr>
            <a:r>
              <a:rPr sz="1350" b="1">
                <a:solidFill>
                  <a:srgbClr val="FF6A6A"/>
                </a:solidFill>
              </a:rPr>
              <a:t>Drifted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C5862-D377-4DF8-ACCF-307BC316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352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3474F-D948-4D9D-BBC8-4235A3B3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CFCC63-FAB3-4AE5-A474-21D0725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F"/>
                </a:solidFill>
              </a:defRPr>
            </a:pPr>
            <a:r>
              <a:rPr sz="1350" b="1">
                <a:solidFill>
                  <a:srgbClr val="07101F"/>
                </a:solidFill>
              </a:rPr>
              <a:t>Composition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F9167-0FC7-452B-AE79-3CDB0993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90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A6D"/>
                </a:solidFill>
              </a:defRPr>
            </a:pPr>
            <a:r>
              <a:rPr sz="1350" b="0">
                <a:solidFill>
                  <a:srgbClr val="4B5A6D"/>
                </a:solidFill>
              </a:rPr>
              <a:t>Distinct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B2688-BFD4-4ABF-9103-6148A8BB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D39A"/>
                </a:solidFill>
              </a:defRPr>
            </a:pPr>
            <a:r>
              <a:rPr sz="1350" b="1">
                <a:solidFill>
                  <a:srgbClr val="7BD39A"/>
                </a:solidFill>
              </a:rPr>
              <a:t>Improved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9E10E-5DD9-4A41-A4CD-297200CB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943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D3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3DAA3A-8960-44B4-B17E-282E48CA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5A98F-8721-4ED7-AFE1-19C35B04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F"/>
                </a:solidFill>
              </a:defRPr>
            </a:pPr>
            <a:r>
              <a:rPr sz="1350" b="1">
                <a:solidFill>
                  <a:srgbClr val="07101F"/>
                </a:solidFill>
              </a:rPr>
              <a:t>Metaphor progression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64FB54-FF79-4344-B75B-9B40DFFA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A6D"/>
                </a:solidFill>
              </a:defRPr>
            </a:pPr>
            <a:r>
              <a:rPr sz="1350" b="0">
                <a:solidFill>
                  <a:srgbClr val="4B5A6D"/>
                </a:solidFill>
              </a:rPr>
              <a:t>Visible change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D5C0B-6745-4171-BF6B-8D46D7AD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A6A"/>
                </a:solidFill>
              </a:defRPr>
            </a:pPr>
            <a:r>
              <a:rPr sz="1350" b="1">
                <a:solidFill>
                  <a:srgbClr val="FF6A6A"/>
                </a:solidFill>
              </a:rPr>
              <a:t>Rail repeated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FDA479-A6A7-42C1-AD4A-0C10B71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8C90AA-49FE-4BD0-A70B-BF7D9966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E2E5B-8629-4979-913C-1116C0A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F"/>
                </a:solidFill>
              </a:defRPr>
            </a:pPr>
            <a:r>
              <a:rPr sz="1350" b="1">
                <a:solidFill>
                  <a:srgbClr val="07101F"/>
                </a:solidFill>
              </a:rPr>
              <a:t>Quality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049252-B38F-4A55-8E73-68B3664C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A6D"/>
                </a:solidFill>
              </a:defRPr>
            </a:pPr>
            <a:r>
              <a:rPr sz="1350" b="0">
                <a:solidFill>
                  <a:srgbClr val="4B5A6D"/>
                </a:solidFill>
              </a:rPr>
              <a:t>Fail closed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5F0A87-424B-41DC-A2CE-9F72DA3F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72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A6A"/>
                </a:solidFill>
              </a:defRPr>
            </a:pPr>
            <a:r>
              <a:rPr sz="1350" b="1">
                <a:solidFill>
                  <a:srgbClr val="FF6A6A"/>
                </a:solidFill>
              </a:rPr>
              <a:t>Badge stayed green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D289B6-C535-4A30-A0E7-9B664F2E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124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4AE4E-70CB-4ED3-B682-BF3DAF7D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72150"/>
            <a:ext cx="4038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7101F"/>
          </a:solidFill>
          <a:ln xmlns:a="http://schemas.openxmlformats.org/drawingml/2006/main" w="9525">
            <a:solidFill>
              <a:srgbClr val="0710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B2A1FE-843E-4EB2-AEC7-D76955E0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829300"/>
            <a:ext cx="3733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AF0"/>
                </a:solidFill>
              </a:defRPr>
            </a:pPr>
            <a:r>
              <a:rPr sz="1050" b="1">
                <a:solidFill>
                  <a:srgbClr val="FFFAF0"/>
                </a:solidFill>
              </a:rPr>
              <a:t>READY = JOB COMPLETE × TRUTH × VISUAL PROOF</a:t>
            </a:r>
          </a:p>
        </p:txBody>
      </p:sp>
    </p:spTree>
    <p:extLst>
      <p:ext uri="{BB962C8B-B14F-4D97-AF65-F5344CB8AC3E}">
        <p14:creationId xmlns:p14="http://schemas.microsoft.com/office/powerpoint/2010/main" val="1840498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b62bbab954c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39140-4FD6-4856-B58A-937D6C43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F">
              <a:alpha val="8117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96897-0959-4357-9F2C-8A7D5B60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D39A"/>
                </a:solidFill>
              </a:defRPr>
            </a:pPr>
            <a:r>
              <a:rPr sz="975" b="1">
                <a:solidFill>
                  <a:srgbClr val="7BD39A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203E2-A04C-4893-BD9C-E50AC9F1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AF0"/>
                </a:solidFill>
              </a:defRPr>
            </a:pPr>
            <a:r>
              <a:rPr sz="3750" b="1">
                <a:solidFill>
                  <a:srgbClr val="FFFAF0"/>
                </a:solidFill>
              </a:rPr>
              <a:t>Pilot the jobs.</a:t>
            </a:r>
          </a:p>
          <a:p xmlns:a="http://schemas.openxmlformats.org/drawingml/2006/main">
            <a:pPr algn="l">
              <a:defRPr sz="3750" b="1">
                <a:solidFill>
                  <a:srgbClr val="FFFAF0"/>
                </a:solidFill>
              </a:defRPr>
            </a:pPr>
            <a:r>
              <a:rPr sz="3750" b="1">
                <a:solidFill>
                  <a:srgbClr val="FFFAF0"/>
                </a:solidFill>
              </a:rPr>
              <a:t>Do not ship the illusion.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A25C6-A583-40D1-81E3-616991FB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EEA"/>
                </a:solidFill>
              </a:defRPr>
            </a:pPr>
            <a:r>
              <a:rPr sz="1650" b="0">
                <a:solidFill>
                  <a:srgbClr val="D7DEEA"/>
                </a:solidFill>
              </a:rPr>
              <a:t>Release each domain only when its complete job, truth rules, visual progression, export, and receipt pass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CEAF0-5AF1-438E-9643-EFFE3258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45B"/>
                </a:solidFill>
              </a:defRPr>
            </a:pPr>
            <a:r>
              <a:rPr sz="1275" b="1">
                <a:solidFill>
                  <a:srgbClr val="FFB45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450D1-FD4F-4A84-B859-40D9197E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Research +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23AC8-AE96-4EE3-AA34-383E171F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B"/>
                </a:solidFill>
              </a:defRPr>
            </a:pPr>
            <a:r>
              <a:rPr sz="1275" b="0">
                <a:solidFill>
                  <a:srgbClr val="9AA8BB"/>
                </a:solidFill>
              </a:rPr>
              <a:t>prove evidence and fail-closed 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57E09-4445-4B06-A510-08C8DCEA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45B"/>
                </a:solidFill>
              </a:defRPr>
            </a:pPr>
            <a:r>
              <a:rPr sz="1275" b="1">
                <a:solidFill>
                  <a:srgbClr val="FFB45B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B6BC6-5E10-406F-8DF3-0A2F6076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Finance + operating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6B534-74D8-4955-8AA6-18CD7994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95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B"/>
                </a:solidFill>
              </a:defRPr>
            </a:pPr>
            <a:r>
              <a:rPr sz="1275" b="0">
                <a:solidFill>
                  <a:srgbClr val="9AA8BB"/>
                </a:solidFill>
              </a:rPr>
              <a:t>prove numbers, owners, and cadence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95BCC-A35F-490E-81A8-2628F008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45B"/>
                </a:solidFill>
              </a:defRPr>
            </a:pPr>
            <a:r>
              <a:rPr sz="1275" b="1">
                <a:solidFill>
                  <a:srgbClr val="FFB45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FE88E-3D97-44F1-813C-C6C02D96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AF0"/>
                </a:solidFill>
              </a:defRPr>
            </a:pPr>
            <a:r>
              <a:rPr sz="1500" b="1">
                <a:solidFill>
                  <a:srgbClr val="FFFAF0"/>
                </a:solidFill>
              </a:rPr>
              <a:t>Startup + agent distribution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61D46D-09BA-476D-880A-4CAACB2C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8BB"/>
                </a:solidFill>
              </a:defRPr>
            </a:pPr>
            <a:r>
              <a:rPr sz="1275" b="0">
                <a:solidFill>
                  <a:srgbClr val="9AA8BB"/>
                </a:solidFill>
              </a:rPr>
              <a:t>prove retellability and repeat 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91D09-613A-4D3D-99E7-D266C7D0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667000" cy="2857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D1B31">
              <a:alpha val="86667"/>
            </a:srgbClr>
          </a:solidFill>
          <a:ln xmlns:a="http://schemas.openxmlformats.org/drawingml/2006/main" w="9525">
            <a:solidFill>
              <a:srgbClr val="7B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F9EFD-A1DF-4953-A5CE-421B7F8F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BD39A"/>
                </a:solidFill>
              </a:defRPr>
            </a:pPr>
            <a:r>
              <a:rPr sz="1050" b="1">
                <a:solidFill>
                  <a:srgbClr val="7BD39A"/>
                </a:solidFill>
              </a:rPr>
              <a:t>OWNER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04644-9C01-48DF-A6D1-D0635E5F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28950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AF0"/>
                </a:solidFill>
              </a:defRPr>
            </a:pPr>
            <a:r>
              <a:rPr sz="2100" b="1">
                <a:solidFill>
                  <a:srgbClr val="FFFAF0"/>
                </a:solidFill>
              </a:rPr>
              <a:t>Product +</a:t>
            </a:r>
          </a:p>
          <a:p xmlns:a="http://schemas.openxmlformats.org/drawingml/2006/main">
            <a:pPr algn="ctr">
              <a:defRPr sz="2100" b="1">
                <a:solidFill>
                  <a:srgbClr val="FFFAF0"/>
                </a:solidFill>
              </a:defRPr>
            </a:pPr>
            <a:r>
              <a:rPr sz="2100" b="1">
                <a:solidFill>
                  <a:srgbClr val="FFFAF0"/>
                </a:solidFill>
              </a:rPr>
              <a:t>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B47E6-B4E6-412F-8909-E4235301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86200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4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859C3-0F82-4A4C-85CC-ABCFDA0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57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B45B"/>
                </a:solidFill>
              </a:defRPr>
            </a:pPr>
            <a:r>
              <a:rPr sz="975" b="1">
                <a:solidFill>
                  <a:srgbClr val="FFB45B"/>
                </a:solidFill>
              </a:rPr>
              <a:t>NEXT CHECKPOINT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FEFB8-4C75-40F0-B023-751F5560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62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5 held-out decks</a:t>
            </a:r>
          </a:p>
          <a:p xmlns:a="http://schemas.openxmlformats.org/drawingml/2006/main">
            <a:pPr algn="ctr">
              <a:defRPr sz="1275" b="1">
                <a:solidFill>
                  <a:srgbClr val="FFFAF0"/>
                </a:solidFill>
              </a:defRPr>
            </a:pPr>
            <a:r>
              <a:rPr sz="1275" b="1">
                <a:solidFill>
                  <a:srgbClr val="FFFAF0"/>
                </a:solidFill>
              </a:rPr>
              <a:t>all gates green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52BB2-47C5-437B-B06D-DCB9B6C4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D7E8"/>
                </a:solidFill>
              </a:defRPr>
            </a:pPr>
            <a:r>
              <a:rPr sz="1200" b="1">
                <a:solidFill>
                  <a:srgbClr val="5ED7E8"/>
                </a:solidFill>
              </a:rPr>
              <a:t>MAKE THE DECISION ARTIFACT THE PRODUCT.</a:t>
            </a:r>
          </a:p>
        </p:txBody>
      </p:sp>
    </p:spTree>
    <p:extLst>
      <p:ext uri="{BB962C8B-B14F-4D97-AF65-F5344CB8AC3E}">
        <p14:creationId xmlns:p14="http://schemas.microsoft.com/office/powerpoint/2010/main" val="772897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2026-07-31T20:23:11.4180000Z</dcterms:created>
  <dcterms:modified xsi:type="dcterms:W3CDTF">2026-07-31T20:23:11.4180000Z</dcterms:modified>
</coreProperties>
</file>