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Orient</c:v>
                  </c:pt>
                  <c:pt idx="1">
                    <c:v>Tension</c:v>
                  </c:pt>
                  <c:pt idx="2">
                    <c:v>Hint</c:v>
                  </c:pt>
                  <c:pt idx="3">
                    <c:v>Reveal</c:v>
                  </c:pt>
                  <c:pt idx="4">
                    <c:v>Prove</c:v>
                  </c:pt>
                  <c:pt idx="5">
                    <c:v>Climax</c:v>
                  </c:pt>
                  <c:pt idx="6">
                    <c:v>Resolve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</c:v>
                </c:pt>
                <c:pt idx="1">
                  <c:v>64</c:v>
                </c:pt>
                <c:pt idx="2">
                  <c:v>52</c:v>
                </c:pt>
                <c:pt idx="3">
                  <c:v>38</c:v>
                </c:pt>
                <c:pt idx="4">
                  <c:v>22</c:v>
                </c:pt>
                <c:pt idx="5">
                  <c:v>12</c:v>
                </c:pt>
                <c:pt idx="6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Orient. Keep the spoken transition focused on “Plausible is not production. The threshold line begins here.”
Evidence note: Content is based on the supplied creation brief. Illustrative examples are not independently verified; replace them with measured evidence before external publication.
NodeSlide sources
[source_d1e767d5fef3e1ae2e02151129aaa2b5] The Trust Threshold — Production Proof — creation brief
Citation: Create a seven-scene decision story for engineering and product leaders about crossing from plausible AI output to reliable production slide creation. Use one threshold-line motif that visibly progresses across every scene; a guarded-threshold metaphor that transforms from exposure to controlled passage; reveal pacing that orients, creates tension, hints, reveals, proves, climaxes, then resolves; an emotional arc that rises to the production gate and releases into owned action; and at least four clearly distinct compositions. Include an inspectable risk chart and an editable system-flow diagram. End with one accountable decision.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“Exposure: everything plausible passes, nothing is accountable.”
Evidence note: Content is based on the supplied creation brief. Illustrative examples are not independently verified; replace them with measured evidence before external publication.
NodeSlide sources
[source_d1e767d5fef3e1ae2e02151129aaa2b5] The Trust Threshold — Production Proof — creation brief
Citation: Create a seven-scene decision story for engineering and product leaders about crossing from plausible AI output to reliable production slide creation. Use one threshold-line motif that visibly progresses across every scene; a guarded-threshold metaphor that transforms from exposure to controlled passage; reveal pacing that orients, creates tension, hints, reveals, proves, climaxes, then resolves; an emotional arc that rises to the production gate and releases into owned action; and at least four clearly distinct compositions. Include an inspectable risk chart and an editable system-flow diagram. End with one accountable decision.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“Hint: the gate is a formula, not a feeling.”
Evidence note: Content is based on the supplied creation brief. Illustrative examples are not independently verified; replace them with measured evidence before external publication.
NodeSlide sources
[source_d1e767d5fef3e1ae2e02151129aaa2b5] The Trust Threshold — Production Proof — creation brief
Citation: Create a seven-scene decision story for engineering and product leaders about crossing from plausible AI output to reliable production slide creation. Use one threshold-line motif that visibly progresses across every scene; a guarded-threshold metaphor that transforms from exposure to controlled passage; reveal pacing that orients, creates tension, hints, reveals, proves, climaxes, then resolves; an emotional arc that rises to the production gate and releases into owned action; and at least four clearly distinct compositions. Include an inspectable risk chart and an editable system-flow diagram. End with one accountable decision.
Disclaimer: Internal working material
[source_87950ec5f5dfab88703c51914f15daed] Brief success criteria
Citation: Scene continuity is visible; The threshold metaphor transforms across slides; Reveal pacing escalates then resolves; At least four compositions are visibly distinct; PPTX and public share both complete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“Reveal: the threshold is enforced by architecture, not intention.”
Evidence note: Content is based on the supplied creation brief. Illustrative examples are not independently verified; replace them with measured evidence before external publication.
NodeSlide sources
[source_d1e767d5fef3e1ae2e02151129aaa2b5] The Trust Threshold — Production Proof — creation brief
Citation: Create a seven-scene decision story for engineering and product leaders about crossing from plausible AI output to reliable production slide creation. Use one threshold-line motif that visibly progresses across every scene; a guarded-threshold metaphor that transforms from exposure to controlled passage; reveal pacing that orients, creates tension, hints, reveals, proves, climaxes, then resolves; an emotional arc that rises to the production gate and releases into owned action; and at least four clearly distinct compositions. Include an inspectable risk chart and an editable system-flow diagram. End with one accountable decision.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“Proof: watch risk fall as reveal intensity climbs the gate.”
Evidence note: Content is based on the supplied creation brief. Illustrative examples are not independently verified; replace them with measured evidence before external publication.
NodeSlide sources
[source_d1e767d5fef3e1ae2e02151129aaa2b5] The Trust Threshold — Production Proof — creation brief
Citation: Create a seven-scene decision story for engineering and product leaders about crossing from plausible AI output to reliable production slide creation. Use one threshold-line motif that visibly progresses across every scene; a guarded-threshold metaphor that transforms from exposure to controlled passage; reveal pacing that orients, creates tension, hints, reveals, proves, climaxes, then resolves; an emotional arc that rises to the production gate and releases into owned action; and at least four clearly distinct compositions. Include an inspectable risk chart and an editable system-flow diagram. End with one accountable decision.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“Climax: the guarded threshold opens — for what can be proven.”
Evidence note: Content is based on the supplied creation brief. Illustrative examples are not independently verified; replace them with measured evidence before external publication.
NodeSlide sources
[source_d1e767d5fef3e1ae2e02151129aaa2b5] The Trust Threshold — Production Proof — creation brief
Citation: Create a seven-scene decision story for engineering and product leaders about crossing from plausible AI output to reliable production slide creation. Use one threshold-line motif that visibly progresses across every scene; a guarded-threshold metaphor that transforms from exposure to controlled passage; reveal pacing that orients, creates tension, hints, reveals, proves, climaxes, then resolves; an emotional arc that rises to the production gate and releases into owned action; and at least four clearly distinct compositions. Include an inspectable risk chart and an editable system-flow diagram. End with one accountable decision.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Decide. Keep the spoken transition focused on “Resolve: approve the gate, own the threshold.”
Evidence note: Content is based on the supplied creation brief. Illustrative examples are not independently verified; replace them with measured evidence before external publication.
NodeSlide sources
[source_d1e767d5fef3e1ae2e02151129aaa2b5] The Trust Threshold — Production Proof — creation brief
Citation: Create a seven-scene decision story for engineering and product leaders about crossing from plausible AI output to reliable production slide creation. Use one threshold-line motif that visibly progresses across every scene; a guarded-threshold metaphor that transforms from exposure to controlled passage; reveal pacing that orients, creates tension, hints, reveals, proves, climaxes, then resolves; an emotional arc that rises to the production gate and releases into owned action; and at least four clearly distinct compositions. Include an inspectable risk chart and an editable system-flow diagram. End with one accountable decision.
Disclaimer: Internal working material
[source_87950ec5f5dfab88703c51914f15daed] Brief success criteria
Citation: Scene continuity is visible; The threshold metaphor transforms across slides; Reveal pacing escalates then resolves; At least four compositions are visibly distinct; PPTX and public share both complete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883906be34307c641ab9d5045eef580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0e69051b8eb096f727313027fb4b59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1c9c3a72948918c6caa6df5a6c47df9c"/>
          <p:cNvSpPr/>
          <p:nvPr/>
        </p:nvSpPr>
        <p:spPr>
          <a:xfrm>
            <a:off x="853419" y="788670"/>
            <a:ext cx="1427648" cy="68580"/>
          </a:xfrm>
          <a:prstGeom prst="roundRect">
            <a:avLst/>
          </a:prstGeom>
          <a:solidFill>
            <a:srgbClr val="B44A2D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381053cbea0d5090a9b848e6f93cadd5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ORIENT</a:t>
            </a:r>
            <a:endParaRPr lang="en-US" sz="1500" dirty="0"/>
          </a:p>
        </p:txBody>
      </p:sp>
      <p:sp>
        <p:nvSpPr>
          <p:cNvPr id="6" name="element_443ab0055db6328db787fc9112243365"/>
          <p:cNvSpPr txBox="1"/>
          <p:nvPr/>
        </p:nvSpPr>
        <p:spPr>
          <a:xfrm>
            <a:off x="853419" y="1028700"/>
            <a:ext cx="9631439" cy="1901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Plausible is not production. The threshold line begins here.</a:t>
            </a:r>
            <a:endParaRPr lang="en-US" sz="4800" dirty="0"/>
          </a:p>
        </p:txBody>
      </p:sp>
      <p:sp>
        <p:nvSpPr>
          <p:cNvPr id="7" name="element_d39aa471b8164fa41430a1ff230e70fa"/>
          <p:cNvSpPr txBox="1"/>
          <p:nvPr/>
        </p:nvSpPr>
        <p:spPr>
          <a:xfrm>
            <a:off x="853419" y="3341903"/>
            <a:ext cx="8046519" cy="162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Every leader here has watched an AI generate a deck that looked right — until someone tried to edit, export, or defend it. NodeSlide's promise is narrower and harder: agents that finish coherent, editable, published decks. The threshold line sits at 24% intensity: oriented, not yet convinced.</a:t>
            </a:r>
            <a:endParaRPr lang="en-US" sz="1900" dirty="0"/>
          </a:p>
        </p:txBody>
      </p:sp>
      <p:sp>
        <p:nvSpPr>
          <p:cNvPr id="8" name="element_405a32b753100ac6f7d75cf2f39eb5ed"/>
          <p:cNvSpPr txBox="1"/>
          <p:nvPr/>
        </p:nvSpPr>
        <p:spPr>
          <a:xfrm>
            <a:off x="853419" y="5176418"/>
            <a:ext cx="3047924" cy="731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Tension: impressive drafts, unverifiable outcomes</a:t>
            </a:r>
            <a:endParaRPr lang="en-US" sz="1600" dirty="0"/>
          </a:p>
        </p:txBody>
      </p:sp>
      <p:sp>
        <p:nvSpPr>
          <p:cNvPr id="9" name="element_8313aecb47a14878b4cba2dc93da9049"/>
          <p:cNvSpPr txBox="1"/>
          <p:nvPr/>
        </p:nvSpPr>
        <p:spPr>
          <a:xfrm>
            <a:off x="4267093" y="5176418"/>
            <a:ext cx="3047924" cy="731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Promise: coherence, editability, and publication as inspectable artifacts</a:t>
            </a:r>
            <a:endParaRPr lang="en-US" sz="1600" dirty="0"/>
          </a:p>
        </p:txBody>
      </p:sp>
      <p:sp>
        <p:nvSpPr>
          <p:cNvPr id="10" name="element_4fe584aa937e489779dcc8befabd4712"/>
          <p:cNvSpPr txBox="1"/>
          <p:nvPr/>
        </p:nvSpPr>
        <p:spPr>
          <a:xfrm>
            <a:off x="7680768" y="5176418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Threshold line 1 of 7: the gate is open and unguarded</a:t>
            </a:r>
            <a:endParaRPr lang="en-US" sz="1600" dirty="0"/>
          </a:p>
        </p:txBody>
      </p:sp>
      <p:sp>
        <p:nvSpPr>
          <p:cNvPr id="11" name="element_33fa6303ad74819159264c33a099b89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ae766eb57ed7a34228ea9b5f576caf2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6ca836609c84df2a4e78feb51dbdba56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35aaf3561a9ef4e4ee37928a785050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06e92e87ce2ef1bc4bf7b91fb460cb30"/>
          <p:cNvSpPr/>
          <p:nvPr/>
        </p:nvSpPr>
        <p:spPr>
          <a:xfrm>
            <a:off x="853419" y="788670"/>
            <a:ext cx="2856514" cy="68580"/>
          </a:xfrm>
          <a:prstGeom prst="roundRect">
            <a:avLst/>
          </a:prstGeom>
          <a:solidFill>
            <a:srgbClr val="B44A2D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14f7ca1b73ba9a6641b12576e13cfdf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6" name="element_eec7413ca61c5f79dd7ff64d5287dda9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Exposure: everything plausible passes, nothing is accountable.</a:t>
            </a:r>
            <a:endParaRPr lang="en-US" sz="3800" dirty="0"/>
          </a:p>
        </p:txBody>
      </p:sp>
      <p:sp>
        <p:nvSpPr>
          <p:cNvPr id="7" name="element_2a85f053fcaa3e635402fd3d11f14dac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Without a guarded threshold, plausible and production-grade output travel the same path. The comparison below separates the two cohorts so the gate has something to enforce.</a:t>
            </a:r>
            <a:endParaRPr lang="en-US" sz="1500" dirty="0"/>
          </a:p>
        </p:txBody>
      </p:sp>
      <p:sp>
        <p:nvSpPr>
          <p:cNvPr id="8" name="element_b7f1520d17e69f1bfd7bfd5c00b97258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Plausible output: fluent prose, unverifiable claims, broken exports</a:t>
            </a:r>
            <a:endParaRPr lang="en-US" sz="1400" dirty="0"/>
          </a:p>
        </p:txBody>
      </p:sp>
      <p:sp>
        <p:nvSpPr>
          <p:cNvPr id="9" name="element_5a874628536fc889e6c9e877066d8384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Production output: typed artifacts, honest provenance, completed PPTX and share link</a:t>
            </a:r>
            <a:endParaRPr lang="en-US" sz="1400" dirty="0"/>
          </a:p>
        </p:txBody>
      </p:sp>
      <p:sp>
        <p:nvSpPr>
          <p:cNvPr id="10" name="element_142df8ffae8eee4089fd826e4fa3839d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Threshold line 2 of 7: the guardrail appears</a:t>
            </a:r>
            <a:endParaRPr lang="en-US" sz="1400" dirty="0"/>
          </a:p>
        </p:txBody>
      </p:sp>
      <p:sp>
        <p:nvSpPr>
          <p:cNvPr id="11" name="element_5c80373772e02cc0729b13d35520610c"/>
          <p:cNvSpPr txBox="1"/>
          <p:nvPr/>
        </p:nvSpPr>
        <p:spPr>
          <a:xfrm>
            <a:off x="6827349" y="2811780"/>
            <a:ext cx="4145176" cy="13716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 cohorts</a:t>
            </a:r>
            <a:endParaRPr lang="en-US" sz="5600" dirty="0"/>
          </a:p>
        </p:txBody>
      </p:sp>
      <p:sp>
        <p:nvSpPr>
          <p:cNvPr id="12" name="element_5a5bae5b47b387dc99f6dc833f0812b7"/>
          <p:cNvSpPr txBox="1"/>
          <p:nvPr/>
        </p:nvSpPr>
        <p:spPr>
          <a:xfrm>
            <a:off x="7193100" y="43205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editability — no compatible plotted metric</a:t>
            </a:r>
            <a:endParaRPr lang="en-US" sz="1500" dirty="0"/>
          </a:p>
        </p:txBody>
      </p:sp>
      <p:sp>
        <p:nvSpPr>
          <p:cNvPr id="13" name="element_89e7df9f33cbde80492a6c5189ce06a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b458c07f9518f1998b9f29740cb9be8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9a0afe7db210f86b95d54098c17ffd08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35c3f2e2377d09857ce0fc13ab37ae2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ce1d91e44e5b797995e953394beeddb5"/>
          <p:cNvSpPr/>
          <p:nvPr/>
        </p:nvSpPr>
        <p:spPr>
          <a:xfrm>
            <a:off x="7054115" y="788670"/>
            <a:ext cx="4284162" cy="68580"/>
          </a:xfrm>
          <a:prstGeom prst="roundRect">
            <a:avLst/>
          </a:prstGeom>
          <a:solidFill>
            <a:srgbClr val="B44A2D">
              <a:alpha val="5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17c79d65be21a1927d75be362c0b55a3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6" name="element_99f69197da0e5e4947c6873a8c26e765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Hint: the gate is a formula, not a feeling.</a:t>
            </a:r>
            <a:endParaRPr lang="en-US" sz="3800" dirty="0"/>
          </a:p>
        </p:txBody>
      </p:sp>
      <p:sp>
        <p:nvSpPr>
          <p:cNvPr id="7" name="element_b32e23709d81b1c35714f9ec5fbc9b64"/>
          <p:cNvSpPr txBox="1"/>
          <p:nvPr/>
        </p:nvSpPr>
        <p:spPr>
          <a:xfrm>
            <a:off x="6583515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Readiness becomes decidable when expressed as a machine-readable rule. This illustrative score weights the three things the brief demands: coherence, editability, and delivery.</a:t>
            </a:r>
            <a:endParaRPr lang="en-US" sz="1500" dirty="0"/>
          </a:p>
        </p:txBody>
      </p:sp>
      <p:sp>
        <p:nvSpPr>
          <p:cNvPr id="8" name="element_68c3fc8875552da7eb3c4b5642da2a0c"/>
          <p:cNvSpPr txBox="1"/>
          <p:nvPr/>
        </p:nvSpPr>
        <p:spPr>
          <a:xfrm>
            <a:off x="6583515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Each factor is scored 0–1 from inspectable artifacts</a:t>
            </a:r>
            <a:endParaRPr lang="en-US" sz="1400" dirty="0"/>
          </a:p>
        </p:txBody>
      </p:sp>
      <p:sp>
        <p:nvSpPr>
          <p:cNvPr id="9" name="element_e2863f8b355e02a18fb257d6058485fa"/>
          <p:cNvSpPr txBox="1"/>
          <p:nvPr/>
        </p:nvSpPr>
        <p:spPr>
          <a:xfrm>
            <a:off x="6583515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The gate opens only at R ≥ 0.8</a:t>
            </a:r>
            <a:endParaRPr lang="en-US" sz="1400" dirty="0"/>
          </a:p>
        </p:txBody>
      </p:sp>
      <p:sp>
        <p:nvSpPr>
          <p:cNvPr id="10" name="element_d270b87f71845c85473b0a5536a016c6"/>
          <p:cNvSpPr txBox="1"/>
          <p:nvPr/>
        </p:nvSpPr>
        <p:spPr>
          <a:xfrm>
            <a:off x="6583515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Threshold line 3 of 7: the guard takes its post</a:t>
            </a:r>
            <a:endParaRPr lang="en-US" sz="1400" dirty="0"/>
          </a:p>
        </p:txBody>
      </p:sp>
      <p:sp>
        <p:nvSpPr>
          <p:cNvPr id="11" name="element_71fa580ea65090093c1a247ffcda6989"/>
          <p:cNvSpPr txBox="1"/>
          <p:nvPr/>
        </p:nvSpPr>
        <p:spPr>
          <a:xfrm>
            <a:off x="975336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 = 0.35·C + 0.35·E + 0.30·D (pass when R ≥ 0.8)</a:t>
            </a:r>
            <a:endParaRPr lang="en-US" sz="3000" dirty="0"/>
          </a:p>
        </p:txBody>
      </p:sp>
      <p:sp>
        <p:nvSpPr>
          <p:cNvPr id="12" name="element_146c332b4f2e9f328a1ef51e5d511c92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f2678d0cb88860b21c9d56e901a35bbd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a6137ee25c5614574ae48bb540073692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f6c754863f36addcda36525114f094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ffbc3b0c3fb7311629bdbb39d8309319"/>
          <p:cNvSpPr/>
          <p:nvPr/>
        </p:nvSpPr>
        <p:spPr>
          <a:xfrm>
            <a:off x="853419" y="788670"/>
            <a:ext cx="5713028" cy="68580"/>
          </a:xfrm>
          <a:prstGeom prst="roundRect">
            <a:avLst/>
          </a:prstGeom>
          <a:solidFill>
            <a:srgbClr val="B44A2D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5815f71ee95b0798a176104b7488bd86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6" name="element_c972093eac25117c3c0d3c659e3769b6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Reveal: the threshold is enforced by architecture, not intention.</a:t>
            </a:r>
            <a:endParaRPr lang="en-US" sz="3800" dirty="0"/>
          </a:p>
        </p:txBody>
      </p:sp>
      <p:sp>
        <p:nvSpPr>
          <p:cNvPr id="7" name="element_67c0cfe014a2937c35779a039335e3bd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editable diagram is the guarded threshold made structural: typed nodes, controlled edges, and a decision gate executing the Scene 3 equation.</a:t>
            </a:r>
            <a:endParaRPr lang="en-US" sz="1500" dirty="0"/>
          </a:p>
        </p:txBody>
      </p:sp>
      <p:sp>
        <p:nvSpPr>
          <p:cNvPr id="8" name="element_c3c6fc7adfe3e9c29fdb350cefdbccc8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Fully editable: nodes and edges are typed primitives, not pixels</a:t>
            </a:r>
            <a:endParaRPr lang="en-US" sz="1400" dirty="0"/>
          </a:p>
        </p:txBody>
      </p:sp>
      <p:sp>
        <p:nvSpPr>
          <p:cNvPr id="9" name="element_a7ed1e28037f2734eeb1c2c2dc7e31ea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Gate blocks unproven artifacts from export</a:t>
            </a:r>
            <a:endParaRPr lang="en-US" sz="1400" dirty="0"/>
          </a:p>
        </p:txBody>
      </p:sp>
      <p:sp>
        <p:nvSpPr>
          <p:cNvPr id="10" name="element_d9ebd75ae6b7667799f082787a1c760c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Threshold line 4 of 7: passage becomes controlled</a:t>
            </a:r>
            <a:endParaRPr lang="en-US" sz="1400" dirty="0"/>
          </a:p>
        </p:txBody>
      </p:sp>
      <p:sp>
        <p:nvSpPr>
          <p:cNvPr id="11" name="element_cb65ce96fd3f9d5c611b571ef159ab55"/>
          <p:cNvSpPr/>
          <p:nvPr/>
        </p:nvSpPr>
        <p:spPr>
          <a:xfrm>
            <a:off x="6477448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2" name="element_9b9adf1b9984594f3d4fe0391e150c4f"/>
          <p:cNvSpPr/>
          <p:nvPr/>
        </p:nvSpPr>
        <p:spPr>
          <a:xfrm>
            <a:off x="8107477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3" name="element_c8b4240356456a427312840734f7e80d"/>
          <p:cNvSpPr/>
          <p:nvPr/>
        </p:nvSpPr>
        <p:spPr>
          <a:xfrm>
            <a:off x="9738726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4" name="element_cce5b33be456140ef113b86e39e47aa6"/>
          <p:cNvSpPr/>
          <p:nvPr/>
        </p:nvSpPr>
        <p:spPr>
          <a:xfrm>
            <a:off x="6356750" y="4375404"/>
            <a:ext cx="3744070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5" name="element_b22f9a1bc18f8c69772c86ed12865e2f"/>
          <p:cNvSpPr/>
          <p:nvPr/>
        </p:nvSpPr>
        <p:spPr>
          <a:xfrm>
            <a:off x="9738726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6" name="element_56733881e0bcc3935f4777aaf49d01ae"/>
          <p:cNvSpPr/>
          <p:nvPr/>
        </p:nvSpPr>
        <p:spPr>
          <a:xfrm>
            <a:off x="6477448" y="497547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7" name="element_42724c06ab4a6ac33244752c39cbf995"/>
          <p:cNvSpPr/>
          <p:nvPr/>
        </p:nvSpPr>
        <p:spPr>
          <a:xfrm>
            <a:off x="5120512" y="337756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8" name="element_42724c06ab4a6ac33244752c39cbf995:text"/>
          <p:cNvSpPr txBox="1"/>
          <p:nvPr/>
        </p:nvSpPr>
        <p:spPr>
          <a:xfrm>
            <a:off x="5120512" y="3377565"/>
            <a:ext cx="1326456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Creation Brief</a:t>
            </a:r>
            <a:endParaRPr lang="en-US" sz="1600" dirty="0"/>
          </a:p>
        </p:txBody>
      </p:sp>
      <p:sp>
        <p:nvSpPr>
          <p:cNvPr id="19" name="element_715fa9fa96e997424ccbb6feb71a7706"/>
          <p:cNvSpPr/>
          <p:nvPr/>
        </p:nvSpPr>
        <p:spPr>
          <a:xfrm>
            <a:off x="6751761" y="337756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0" name="element_715fa9fa96e997424ccbb6feb71a7706:text"/>
          <p:cNvSpPr txBox="1"/>
          <p:nvPr/>
        </p:nvSpPr>
        <p:spPr>
          <a:xfrm>
            <a:off x="6751761" y="3377565"/>
            <a:ext cx="1326456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StorySpec &amp; Materials</a:t>
            </a:r>
            <a:endParaRPr lang="en-US" sz="1600" dirty="0"/>
          </a:p>
        </p:txBody>
      </p:sp>
      <p:sp>
        <p:nvSpPr>
          <p:cNvPr id="21" name="element_f2a9ff8823c49b80e81983106edce4a0"/>
          <p:cNvSpPr/>
          <p:nvPr/>
        </p:nvSpPr>
        <p:spPr>
          <a:xfrm>
            <a:off x="8381790" y="337756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2" name="element_f2a9ff8823c49b80e81983106edce4a0:text"/>
          <p:cNvSpPr txBox="1"/>
          <p:nvPr/>
        </p:nvSpPr>
        <p:spPr>
          <a:xfrm>
            <a:off x="8381790" y="3377565"/>
            <a:ext cx="1326456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Agent Composition</a:t>
            </a:r>
            <a:endParaRPr lang="en-US" sz="1600" dirty="0"/>
          </a:p>
        </p:txBody>
      </p:sp>
      <p:sp>
        <p:nvSpPr>
          <p:cNvPr id="23" name="element_351e24919cdf5ef31fcc0cfd46623cec"/>
          <p:cNvSpPr/>
          <p:nvPr/>
        </p:nvSpPr>
        <p:spPr>
          <a:xfrm>
            <a:off x="10013039" y="337756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4" name="element_351e24919cdf5ef31fcc0cfd46623cec:text"/>
          <p:cNvSpPr txBox="1"/>
          <p:nvPr/>
        </p:nvSpPr>
        <p:spPr>
          <a:xfrm>
            <a:off x="10013039" y="3377565"/>
            <a:ext cx="1326456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Readiness Gate</a:t>
            </a:r>
            <a:endParaRPr lang="en-US" sz="1600" dirty="0"/>
          </a:p>
        </p:txBody>
      </p:sp>
      <p:sp>
        <p:nvSpPr>
          <p:cNvPr id="25" name="element_8fabe39f9ae2a3a600536071fed032c8"/>
          <p:cNvSpPr/>
          <p:nvPr/>
        </p:nvSpPr>
        <p:spPr>
          <a:xfrm>
            <a:off x="5120512" y="457771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6" name="element_8fabe39f9ae2a3a600536071fed032c8:text"/>
          <p:cNvSpPr txBox="1"/>
          <p:nvPr/>
        </p:nvSpPr>
        <p:spPr>
          <a:xfrm>
            <a:off x="5120512" y="4577715"/>
            <a:ext cx="1326456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PPTX Render</a:t>
            </a:r>
            <a:endParaRPr lang="en-US" sz="1600" dirty="0"/>
          </a:p>
        </p:txBody>
      </p:sp>
      <p:sp>
        <p:nvSpPr>
          <p:cNvPr id="27" name="element_009cfd94df1b6dcc90b4547a8c51303d"/>
          <p:cNvSpPr/>
          <p:nvPr/>
        </p:nvSpPr>
        <p:spPr>
          <a:xfrm>
            <a:off x="6751761" y="457771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8" name="element_009cfd94df1b6dcc90b4547a8c51303d:text"/>
          <p:cNvSpPr txBox="1"/>
          <p:nvPr/>
        </p:nvSpPr>
        <p:spPr>
          <a:xfrm>
            <a:off x="6751761" y="4577715"/>
            <a:ext cx="1326456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Public Share</a:t>
            </a:r>
            <a:endParaRPr lang="en-US" sz="1600" dirty="0"/>
          </a:p>
        </p:txBody>
      </p:sp>
      <p:sp>
        <p:nvSpPr>
          <p:cNvPr id="29" name="element_c5420ce5cca7f14186343db5b851737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30" name="element_15e09eb1d5c7479408a67ebec95c0da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9c55181801f639326a2ed5364834d15b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8216c41b39d8856e9ca3fb2cb10caa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c526d710f940e5bf3bceca75f3c80073"/>
          <p:cNvSpPr/>
          <p:nvPr/>
        </p:nvSpPr>
        <p:spPr>
          <a:xfrm>
            <a:off x="853419" y="788670"/>
            <a:ext cx="7140676" cy="68580"/>
          </a:xfrm>
          <a:prstGeom prst="roundRect">
            <a:avLst/>
          </a:prstGeom>
          <a:solidFill>
            <a:srgbClr val="B44A2D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282919677c551db36ec2d862d8f04a3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6" name="element_494b186844d3236edcdfb29a2b967586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Proof: watch risk fall as reveal intensity climbs the gate.</a:t>
            </a:r>
            <a:endParaRPr lang="en-US" sz="3800" dirty="0"/>
          </a:p>
        </p:txBody>
      </p:sp>
      <p:sp>
        <p:nvSpPr>
          <p:cNvPr id="7" name="element_33c31d20114bdf4d025c38a07de8c80b"/>
          <p:cNvSpPr txBox="1"/>
          <p:nvPr/>
        </p:nvSpPr>
        <p:spPr>
          <a:xfrm>
            <a:off x="853419" y="2743200"/>
            <a:ext cx="3657509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This chart is inspectable and honest: no numeric series was supplied, so these values are explicitly illustrative — a labeled stand-in until measured runs replace them.</a:t>
            </a:r>
            <a:endParaRPr lang="en-US" sz="1500" dirty="0"/>
          </a:p>
        </p:txBody>
      </p:sp>
      <p:sp>
        <p:nvSpPr>
          <p:cNvPr id="8" name="element_0ab4ac1e8aa42f6a741dc992ef07d226"/>
          <p:cNvSpPr txBox="1"/>
          <p:nvPr/>
        </p:nvSpPr>
        <p:spPr>
          <a:xfrm>
            <a:off x="853419" y="442341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Risk declines from 72 to 8 (illustrative units) across seven beats</a:t>
            </a:r>
            <a:endParaRPr lang="en-US" sz="1400" dirty="0"/>
          </a:p>
        </p:txBody>
      </p:sp>
      <p:sp>
        <p:nvSpPr>
          <p:cNvPr id="9" name="element_2f689dc12401b4095c3cc7fbf11f3856"/>
          <p:cNvSpPr txBox="1"/>
          <p:nvPr/>
        </p:nvSpPr>
        <p:spPr>
          <a:xfrm>
            <a:off x="853419" y="510921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Reveal intensity (24→100→76) drives the curve</a:t>
            </a:r>
            <a:endParaRPr lang="en-US" sz="1400" dirty="0"/>
          </a:p>
        </p:txBody>
      </p:sp>
      <p:sp>
        <p:nvSpPr>
          <p:cNvPr id="10" name="element_7901cab73fe66ea9db9a8b3b903b6611"/>
          <p:cNvSpPr txBox="1"/>
          <p:nvPr/>
        </p:nvSpPr>
        <p:spPr>
          <a:xfrm>
            <a:off x="853419" y="579501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Threshold line 5 of 7: the gate is tested under load</a:t>
            </a:r>
            <a:endParaRPr lang="en-US" sz="1400" dirty="0"/>
          </a:p>
        </p:txBody>
      </p:sp>
      <p:graphicFrame>
        <p:nvGraphicFramePr>
          <p:cNvPr id="11" name="element_144a24c72046e32eaca4023d3ca7eae2" descr=""/>
          <p:cNvGraphicFramePr/>
          <p:nvPr/>
        </p:nvGraphicFramePr>
        <p:xfrm>
          <a:off x="5120512" y="2880360"/>
          <a:ext cx="6095848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4a3412ac10f19076fc1e6e5f09ab6276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a36534006f44ee4b9f6e9ccbe05d86d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ecebba1f07a5e327b3363b386d499de9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95d4095dd7f6806afe69ac5cdc7cf39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363b1c207e6a3ad66af4bee959110025"/>
          <p:cNvSpPr/>
          <p:nvPr/>
        </p:nvSpPr>
        <p:spPr>
          <a:xfrm>
            <a:off x="853419" y="788670"/>
            <a:ext cx="8569543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c6e470af16841d7c0b579f0896146a5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6" name="element_eaf71086c48a8d0753f920e18eac3c07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Climax: the guarded threshold opens — for what can be proven.</a:t>
            </a:r>
            <a:endParaRPr lang="en-US" sz="3800" dirty="0"/>
          </a:p>
        </p:txBody>
      </p:sp>
      <p:sp>
        <p:nvSpPr>
          <p:cNvPr id="7" name="element_bcf23d26453c44d49870483b27aae002"/>
          <p:cNvSpPr txBox="1"/>
          <p:nvPr/>
        </p:nvSpPr>
        <p:spPr>
          <a:xfrm>
            <a:off x="6339682" y="2743200"/>
            <a:ext cx="4876678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transformation the brief demanded: the threshold line that began as exposure now operates as controlled passage. The placeholder is reserved for a captured production screenshot; none was supplied, so it stays an honest replace-image slot.</a:t>
            </a:r>
            <a:endParaRPr lang="en-US" sz="1500" dirty="0"/>
          </a:p>
        </p:txBody>
      </p:sp>
      <p:sp>
        <p:nvSpPr>
          <p:cNvPr id="8" name="element_2ac7eafcea1ff26b5c15f934e542d3f4"/>
          <p:cNvSpPr txBox="1"/>
          <p:nvPr/>
        </p:nvSpPr>
        <p:spPr>
          <a:xfrm>
            <a:off x="6339682" y="442341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Emotional peak at 100% intensity: the gate holds under scrutiny</a:t>
            </a:r>
            <a:endParaRPr lang="en-US" sz="1400" dirty="0"/>
          </a:p>
        </p:txBody>
      </p:sp>
      <p:sp>
        <p:nvSpPr>
          <p:cNvPr id="9" name="element_4920999494fb441064471b001010a6ba"/>
          <p:cNvSpPr txBox="1"/>
          <p:nvPr/>
        </p:nvSpPr>
        <p:spPr>
          <a:xfrm>
            <a:off x="6339682" y="510921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Exposure has become controlled passage</a:t>
            </a:r>
            <a:endParaRPr lang="en-US" sz="1400" dirty="0"/>
          </a:p>
        </p:txBody>
      </p:sp>
      <p:sp>
        <p:nvSpPr>
          <p:cNvPr id="10" name="element_6dde1c1049db7b03613f3e09725a3e0d"/>
          <p:cNvSpPr txBox="1"/>
          <p:nvPr/>
        </p:nvSpPr>
        <p:spPr>
          <a:xfrm>
            <a:off x="6339682" y="579501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Threshold line 6 of 7: verified decks only</a:t>
            </a:r>
            <a:endParaRPr lang="en-US" sz="1400" dirty="0"/>
          </a:p>
        </p:txBody>
      </p:sp>
      <p:sp>
        <p:nvSpPr>
          <p:cNvPr id="11" name="element_ee124df5a619f2fd5ec869588d80e3e9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2" name="element_ee124df5a619f2fd5ec869588d80e3e9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success-5; image/png; digest sha256:00000000000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placeholder — image/png digest is bound, but no renderable URL was supplied.</a:t>
            </a:r>
            <a:endParaRPr lang="en-US" sz="1400" dirty="0"/>
          </a:p>
        </p:txBody>
      </p:sp>
      <p:sp>
        <p:nvSpPr>
          <p:cNvPr id="13" name="element_6ba6718a7410258bdb54ed1b838aa731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placeholder — image/png digest is bound, but no renderable URL was supplied.</a:t>
            </a:r>
            <a:endParaRPr lang="en-US" sz="1400" dirty="0"/>
          </a:p>
        </p:txBody>
      </p:sp>
      <p:sp>
        <p:nvSpPr>
          <p:cNvPr id="14" name="element_ba4f2f4a2c0e0fb771a079abdba1c46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2c3b0503773b80885b572b4661616c4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b1bdda97f0b4ea28f02d7c54b150fa46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a5c5d0a15d64cfab488c089faa07ab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4f17b96ccfd93ef3f304752ac4b835c4"/>
          <p:cNvSpPr/>
          <p:nvPr/>
        </p:nvSpPr>
        <p:spPr>
          <a:xfrm>
            <a:off x="853419" y="788670"/>
            <a:ext cx="9997190" cy="68580"/>
          </a:xfrm>
          <a:prstGeom prst="roundRect">
            <a:avLst/>
          </a:prstGeom>
          <a:solidFill>
            <a:srgbClr val="B44A2D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eebfc1134e0eaf0c362e0d8ca125655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DECIDE</a:t>
            </a:r>
            <a:endParaRPr lang="en-US" sz="1500" dirty="0"/>
          </a:p>
        </p:txBody>
      </p:sp>
      <p:sp>
        <p:nvSpPr>
          <p:cNvPr id="6" name="element_9a300a968ee7399cf7ece21d92382d33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Resolve: approve the gate, own the threshold.</a:t>
            </a:r>
            <a:endParaRPr lang="en-US" sz="3800" dirty="0"/>
          </a:p>
        </p:txBody>
      </p:sp>
      <p:sp>
        <p:nvSpPr>
          <p:cNvPr id="7" name="element_8424181dba8ff4815d872fab9be813a0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arc releases here. One decision, one owner, one checkpoint — because a threshold nobody owns is no threshold at all. The illustrative curve and equation become binding once real run data replaces the stand-ins.</a:t>
            </a:r>
            <a:endParaRPr lang="en-US" sz="1500" dirty="0"/>
          </a:p>
        </p:txBody>
      </p:sp>
      <p:sp>
        <p:nvSpPr>
          <p:cNvPr id="8" name="element_294fefdd2d4ea7bb85a3c9c1970a8629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Decision: approve the readiness gate (R ≥ 0.8) as the production entry criterion</a:t>
            </a:r>
            <a:endParaRPr lang="en-US" sz="1400" dirty="0"/>
          </a:p>
        </p:txBody>
      </p:sp>
      <p:sp>
        <p:nvSpPr>
          <p:cNvPr id="9" name="element_90499387892461c04359d6486baf8afe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Owner: engineering lead signs the gate; product owns the checkpoint review</a:t>
            </a:r>
            <a:endParaRPr lang="en-US" sz="1400" dirty="0"/>
          </a:p>
        </p:txBody>
      </p:sp>
      <p:sp>
        <p:nvSpPr>
          <p:cNvPr id="10" name="element_b3162957f0d49da1abc9e10f5107dce5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Next checkpoint: replace illustrative chart data with measured runs in two weeks</a:t>
            </a:r>
            <a:endParaRPr lang="en-US" sz="1400" dirty="0"/>
          </a:p>
        </p:txBody>
      </p:sp>
      <p:sp>
        <p:nvSpPr>
          <p:cNvPr id="11" name="element_8ead783a9341323115c02bd402a29411"/>
          <p:cNvSpPr txBox="1"/>
          <p:nvPr/>
        </p:nvSpPr>
        <p:spPr>
          <a:xfrm>
            <a:off x="6827349" y="2811780"/>
            <a:ext cx="4145176" cy="13716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 ≥ 0.8</a:t>
            </a:r>
            <a:endParaRPr lang="en-US" sz="5600" dirty="0"/>
          </a:p>
        </p:txBody>
      </p:sp>
      <p:sp>
        <p:nvSpPr>
          <p:cNvPr id="12" name="element_f3b619e730ac5de0979701313b4be626"/>
          <p:cNvSpPr txBox="1"/>
          <p:nvPr/>
        </p:nvSpPr>
        <p:spPr>
          <a:xfrm>
            <a:off x="7193100" y="43205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Approved gate — eng owns, product checkpoints</a:t>
            </a:r>
            <a:endParaRPr lang="en-US" sz="1500" dirty="0"/>
          </a:p>
        </p:txBody>
      </p:sp>
      <p:sp>
        <p:nvSpPr>
          <p:cNvPr id="13" name="element_1798da3bfa51f751d51b82772daab6f8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d8540069d3ba91d10b55423fca6f8a4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Trust Threshold — Production Proof</dc:title>
  <dc:subject>Prove NodeSlide agents finish coherent, editable, published decks</dc:subject>
  <dc:creator>NodeSlide</dc:creator>
  <cp:lastModifiedBy>NodeSlide</cp:lastModifiedBy>
  <cp:revision>1</cp:revision>
  <dcterms:created xsi:type="dcterms:W3CDTF">2026-07-30T00:30:27Z</dcterms:created>
  <dcterms:modified xsi:type="dcterms:W3CDTF">2026-07-30T00:30:27Z</dcterms:modified>
</cp:coreProperties>
</file>