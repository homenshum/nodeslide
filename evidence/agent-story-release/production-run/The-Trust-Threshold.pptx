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Validated Runs</c:v>
                  </c:pt>
                  <c:pt idx="1">
                    <c:v>Exceptions Caught</c:v>
                  </c:pt>
                  <c:pt idx="2">
                    <c:v>Critical Blocks</c:v>
                  </c:pt>
                </c:lvl>
              </c:multiLvlStrCache>
            </c:multiLvlStrRef>
          </c:cat>
          <c:val>
            <c:numRef>
              <c:f>Sheet1!$B$2:$B$4</c:f>
              <c:numCache>
                <c:formatCode>General</c:formatCode>
                <c:ptCount val="3"/>
                <c:pt idx="0">
                  <c:v>53</c:v>
                </c:pt>
                <c:pt idx="1">
                  <c:v>17</c:v>
                </c:pt>
                <c:pt idx="2">
                  <c:v>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Orient. Keep the spoken transition focused on “Plausible is not production-ready”
Evidence note: Content is based on the supplied creation brief. Illustrative examples are not independently verified; replace them with measured evidence before external publication.
NodeSlide sources
[source_89999c2ef949a8ee07c257a5006f4e3a] The Trust Threshold — creation brief
Citation: Create a 7-slide cinematic decision story for engineering and product leaders. Show how agent-generated presentations cross from plausible output to trusted production delivery. Use a guarded threshold as a continuous visual metaphor; begin with exposed uncertainty, reveal the hidden failure cascade, prove the controlled generate-publish-export path with an editable architecture diagram and an evidence chart using values 53, 17, and 2, climax at the production gate, then resolve with one owned action. Vary composition deliberately and keep all visible copy concise.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Build. Keep the spoken transition focused on “Silent failures compound downstream”
Evidence note: Content is based on the supplied creation brief. Illustrative examples are not independently verified; replace them with measured evidence before external publication.
NodeSlide sources
[source_89999c2ef949a8ee07c257a5006f4e3a] The Trust Threshold — creation brief
Citation: Create a 7-slide cinematic decision story for engineering and product leaders. Show how agent-generated presentations cross from plausible output to trusted production delivery. Use a guarded threshold as a continuous visual metaphor; begin with exposed uncertainty, reveal the hidden failure cascade, prove the controlled generate-publish-export path with an editable architecture diagram and an evidence chart using values 53, 17, and 2, climax at the production gate, then resolve with one owned action. Vary composition deliberately and keep all visible copy concise.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“The generate-publish-export pipeline”
Evidence note: Content is based on the supplied creation brief. Illustrative examples are not independently verified; replace them with measured evidence before external publication.
NodeSlide sources
[source_89999c2ef949a8ee07c257a5006f4e3a] The Trust Threshold — creation brief
Citation: Create a 7-slide cinematic decision story for engineering and product leaders. Show how agent-generated presentations cross from plausible output to trusted production delivery. Use a guarded threshold as a continuous visual metaphor; begin with exposed uncertainty, reveal the hidden failure cascade, prove the controlled generate-publish-export path with an editable architecture diagram and an evidence chart using values 53, 17, and 2, climax at the production gate, then resolve with one owned action. Vary composition deliberately and keep all visible copy concise.
Disclaimer: Internal working material
[source_87c02849ef1a7ea07a8251fcbb0ccaee] Brief success criteria
Citation: Scene continuity is visible; The threshold metaphor transforms across slides; Reveal pacing escalates then resolves; At least four compositions are visibly distinct; PPTX and public share both complete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“The numbers behind the gate”
Evidence note: Content is based on the supplied creation brief. Illustrative examples are not independently verified; replace them with measured evidence before external publication.
NodeSlide sources
[source_89999c2ef949a8ee07c257a5006f4e3a] The Trust Threshold — creation brief
Citation: Create a 7-slide cinematic decision story for engineering and product leaders. Show how agent-generated presentations cross from plausible output to trusted production delivery. Use a guarded threshold as a continuous visual metaphor; begin with exposed uncertainty, reveal the hidden failure cascade, prove the controlled generate-publish-export path with an editable architecture diagram and an evidence chart using values 53, 17, and 2, climax at the production gate, then resolve with one owned action. Vary composition deliberately and keep all visible copy concise.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“Where the threshold holds”
Evidence note: Content is based on the supplied creation brief. Illustrative examples are not independently verified; replace them with measured evidence before external publication.
NodeSlide sources
[source_89999c2ef949a8ee07c257a5006f4e3a] The Trust Threshold — creation brief
Citation: Create a 7-slide cinematic decision story for engineering and product leaders. Show how agent-generated presentations cross from plausible output to trusted production delivery. Use a guarded threshold as a continuous visual metaphor; begin with exposed uncertainty, reveal the hidden failure cascade, prove the controlled generate-publish-export path with an editable architecture diagram and an evidence chart using values 53, 17, and 2, climax at the production gate, then resolve with one owned action. Vary composition deliberately and keep all visible copy concise.
Disclaimer: Internal working material
[source_87c02849ef1a7ea07a8251fcbb0ccaee] Brief success criteria
Citation: Scene continuity is visible; The threshold metaphor transforms across slides; Reveal pacing escalates then resolves; At least four compositions are visibly distinct; PPTX and public share both complete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Decide. Keep the spoken transition focused on “Crossing requires verification”
Evidence note: Content is based on the supplied creation brief. Illustrative examples are not independently verified; replace them with measured evidence before external publication.
NodeSlide sources
[source_89999c2ef949a8ee07c257a5006f4e3a] The Trust Threshold — creation brief
Citation: Create a 7-slide cinematic decision story for engineering and product leaders. Show how agent-generated presentations cross from plausible output to trusted production delivery. Use a guarded threshold as a continuous visual metaphor; begin with exposed uncertainty, reveal the hidden failure cascade, prove the controlled generate-publish-export path with an editable architecture diagram and an evidence chart using values 53, 17, and 2, climax at the production gate, then resolve with one owned action. Vary composition deliberately and keep all visible copy concise.
Disclaimer: Internal working material
[source_87c02849ef1a7ea07a8251fcbb0ccaee] Brief success criteria
Citation: Scene continuity is visible; The threshold metaphor transforms across slides; Reveal pacing escalates then resolves; At least four compositions are visibly distinct; PPTX and public share both complete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Resolve. Keep the spoken transition focused on “Approve the workflow”
Evidence note: Content is based on the supplied creation brief. Illustrative examples are not independently verified; replace them with measured evidence before external publication.
NodeSlide sources
[source_89999c2ef949a8ee07c257a5006f4e3a] The Trust Threshold — creation brief
Citation: Create a 7-slide cinematic decision story for engineering and product leaders. Show how agent-generated presentations cross from plausible output to trusted production delivery. Use a guarded threshold as a continuous visual metaphor; begin with exposed uncertainty, reveal the hidden failure cascade, prove the controlled generate-publish-export path with an editable architecture diagram and an evidence chart using values 53, 17, and 2, climax at the production gate, then resolve with one owned action. Vary composition deliberately and keep all visible copy concise.
Disclaimer: Internal working material
[source_87c02849ef1a7ea07a8251fcbb0ccaee] Brief success criteria
Citation: Scene continuity is visible; The threshold metaphor transforms across slides; Reveal pacing escalates then resolves; At least four compositions are visibly distinct; PPTX and public share both complete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nodeslide-slide-id:slide_6a47f6092a1df8c38b939c3804d36840"/>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6f07713511f64871ee73fed7ee659042"/>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66f36f3b987dee3fddf2dae844f36156"/>
          <p:cNvSpPr/>
          <p:nvPr/>
        </p:nvSpPr>
        <p:spPr>
          <a:xfrm>
            <a:off x="853419" y="788670"/>
            <a:ext cx="1427648" cy="68580"/>
          </a:xfrm>
          <a:prstGeom prst="roundRect">
            <a:avLst/>
          </a:prstGeom>
          <a:solidFill>
            <a:srgbClr val="B44A2D">
              <a:alpha val="28000"/>
            </a:srgbClr>
          </a:solidFill>
          <a:ln w="12700">
            <a:solidFill>
              <a:srgbClr val="FFFFFF">
                <a:alpha val="0"/>
              </a:srgbClr>
            </a:solidFill>
            <a:prstDash val="solid"/>
          </a:ln>
        </p:spPr>
      </p:sp>
      <p:sp>
        <p:nvSpPr>
          <p:cNvPr id="5" name="element_b6cfcb9637b356c02ac97b7f3e3f9e3e"/>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ORIENT</a:t>
            </a:r>
            <a:endParaRPr lang="en-US" sz="1500" dirty="0"/>
          </a:p>
        </p:txBody>
      </p:sp>
      <p:sp>
        <p:nvSpPr>
          <p:cNvPr id="6" name="element_db01fe3fde2531c7ef7cd46a379aa984"/>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Plausible is not production-ready</a:t>
            </a:r>
            <a:endParaRPr lang="en-US" sz="4800" dirty="0"/>
          </a:p>
        </p:txBody>
      </p:sp>
      <p:sp>
        <p:nvSpPr>
          <p:cNvPr id="7" name="element_ec8542cc49a42fa06738e41b9d96e233"/>
          <p:cNvSpPr txBox="1"/>
          <p:nvPr/>
        </p:nvSpPr>
        <p:spPr>
          <a:xfrm>
            <a:off x="853419" y="3291840"/>
            <a:ext cx="8046519"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Agent-generated decks cross a threshold from impressive draft to trusted deliverable. Unguarded, that crossing is a leap of faith.</a:t>
            </a:r>
            <a:endParaRPr lang="en-US" sz="1900" dirty="0"/>
          </a:p>
        </p:txBody>
      </p:sp>
      <p:sp>
        <p:nvSpPr>
          <p:cNvPr id="8" name="element_25fbf2bc51672411797ec491d0401690"/>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Unverified content risks silent errors in leadership decks</a:t>
            </a:r>
            <a:endParaRPr lang="en-US" sz="1600" dirty="0"/>
          </a:p>
        </p:txBody>
      </p:sp>
      <p:sp>
        <p:nvSpPr>
          <p:cNvPr id="9" name="element_400210653ac13b5bbd0bea4dfb5e8c0f"/>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Export failures surface only after distribution begins</a:t>
            </a:r>
            <a:endParaRPr lang="en-US" sz="1600" dirty="0"/>
          </a:p>
        </p:txBody>
      </p:sp>
      <p:sp>
        <p:nvSpPr>
          <p:cNvPr id="10" name="element_dcdfdd3402d9efad117f9fb5aed708a3"/>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Approval requires evidence, not just eloquence</a:t>
            </a:r>
            <a:endParaRPr lang="en-US" sz="1600" dirty="0"/>
          </a:p>
        </p:txBody>
      </p:sp>
      <p:sp>
        <p:nvSpPr>
          <p:cNvPr id="11" name="element_29523433a43b4b4da0974136f44471ef"/>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2" name="element_5e6800492c0ab26f5a73b4ac61c68d6c"/>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nodeslide-slide-id:slide_66e45d476dc1658d64ae0f97e4bb0a65"/>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6b12c2b7f14e22d9e56919885e0a0e04"/>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1943a5aedee8c932375e8e81587d57d3"/>
          <p:cNvSpPr/>
          <p:nvPr/>
        </p:nvSpPr>
        <p:spPr>
          <a:xfrm>
            <a:off x="853419" y="788670"/>
            <a:ext cx="2856514" cy="68580"/>
          </a:xfrm>
          <a:prstGeom prst="roundRect">
            <a:avLst/>
          </a:prstGeom>
          <a:solidFill>
            <a:srgbClr val="B44A2D">
              <a:alpha val="39000"/>
            </a:srgbClr>
          </a:solidFill>
          <a:ln w="12700">
            <a:solidFill>
              <a:srgbClr val="FFFFFF">
                <a:alpha val="0"/>
              </a:srgbClr>
            </a:solidFill>
            <a:prstDash val="solid"/>
          </a:ln>
        </p:spPr>
      </p:sp>
      <p:sp>
        <p:nvSpPr>
          <p:cNvPr id="5" name="element_1ae064d9dc3708e0151aa13c785b2fb6"/>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BUILD</a:t>
            </a:r>
            <a:endParaRPr lang="en-US" sz="1500" dirty="0"/>
          </a:p>
        </p:txBody>
      </p:sp>
      <p:sp>
        <p:nvSpPr>
          <p:cNvPr id="6" name="element_9e7d42cd94faea35590947cc8a57a817"/>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Silent failures compound downstream</a:t>
            </a:r>
            <a:endParaRPr lang="en-US" sz="3800" dirty="0"/>
          </a:p>
        </p:txBody>
      </p:sp>
      <p:sp>
        <p:nvSpPr>
          <p:cNvPr id="7" name="element_94ee8bb7edc1f7b9258c9605adb62124"/>
          <p:cNvSpPr txBox="1"/>
          <p:nvPr/>
        </p:nvSpPr>
        <p:spPr>
          <a:xfrm>
            <a:off x="853419" y="2743200"/>
            <a:ext cx="9631439" cy="12344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One unverified artifact triggers a cascade: structural rewrites, misaligned data, and export failures that erode trust at the worst moment.</a:t>
            </a:r>
            <a:endParaRPr lang="en-US" sz="1900" dirty="0"/>
          </a:p>
        </p:txBody>
      </p:sp>
      <p:sp>
        <p:nvSpPr>
          <p:cNvPr id="8" name="element_29897fbff1faaf7d6c1ee5b4701a9467"/>
          <p:cNvSpPr txBox="1"/>
          <p:nvPr/>
        </p:nvSpPr>
        <p:spPr>
          <a:xfrm>
            <a:off x="853419"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Routine volume hides the rare catastrophic failure</a:t>
            </a:r>
            <a:endParaRPr lang="en-US" sz="1700" dirty="0"/>
          </a:p>
        </p:txBody>
      </p:sp>
      <p:sp>
        <p:nvSpPr>
          <p:cNvPr id="9" name="element_e6269721339c703ac6b20c007516e323"/>
          <p:cNvSpPr txBox="1"/>
          <p:nvPr/>
        </p:nvSpPr>
        <p:spPr>
          <a:xfrm>
            <a:off x="4389010"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Late discovery means fixes happen after stakeholders see drafts</a:t>
            </a:r>
            <a:endParaRPr lang="en-US" sz="1700" dirty="0"/>
          </a:p>
        </p:txBody>
      </p:sp>
      <p:sp>
        <p:nvSpPr>
          <p:cNvPr id="10" name="element_c61ce9a8da7ba4dfb4215e090a4f5b01"/>
          <p:cNvSpPr txBox="1"/>
          <p:nvPr/>
        </p:nvSpPr>
        <p:spPr>
          <a:xfrm>
            <a:off x="7924602"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A guard at the threshold interrupts the cascade before delivery</a:t>
            </a:r>
            <a:endParaRPr lang="en-US" sz="1700" dirty="0"/>
          </a:p>
        </p:txBody>
      </p:sp>
      <p:sp>
        <p:nvSpPr>
          <p:cNvPr id="11" name="element_a428731904a0b78cd3e9a1b9bc721b97"/>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2" name="element_f3b29f7c4b17ab37a436e41d9a45e703"/>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nodeslide-slide-id:slide_cff5103fca256b7ac407c32f6dcb0fbc"/>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27a68a5e0d0ac407a438dcdc2d52025b"/>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4" name="element_20b4e2b05f3885e5071c9edc7cf6742d"/>
          <p:cNvSpPr/>
          <p:nvPr/>
        </p:nvSpPr>
        <p:spPr>
          <a:xfrm>
            <a:off x="7054115" y="788670"/>
            <a:ext cx="4284162" cy="68580"/>
          </a:xfrm>
          <a:prstGeom prst="roundRect">
            <a:avLst/>
          </a:prstGeom>
          <a:solidFill>
            <a:srgbClr val="B44A2D">
              <a:alpha val="54000"/>
            </a:srgbClr>
          </a:solidFill>
          <a:ln w="12700">
            <a:solidFill>
              <a:srgbClr val="FFFFFF">
                <a:alpha val="0"/>
              </a:srgbClr>
            </a:solidFill>
            <a:prstDash val="solid"/>
          </a:ln>
        </p:spPr>
      </p:sp>
      <p:sp>
        <p:nvSpPr>
          <p:cNvPr id="5" name="element_3fc3b4f5d0e5adca94259536d9716069"/>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6" name="element_45682f1d7b98c1829f790381dcf3c512"/>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The generate-publish-export pipeline</a:t>
            </a:r>
            <a:endParaRPr lang="en-US" sz="3800" dirty="0"/>
          </a:p>
        </p:txBody>
      </p:sp>
      <p:sp>
        <p:nvSpPr>
          <p:cNvPr id="7" name="element_09afed0e2fc70931735f02d1980d1cd7"/>
          <p:cNvSpPr txBox="1"/>
          <p:nvPr/>
        </p:nvSpPr>
        <p:spPr>
          <a:xfrm>
            <a:off x="7436934"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NodeSlide inserts a guarded checkpoint between generation and publication, validating every typed artifact before the threshold opens.</a:t>
            </a:r>
            <a:endParaRPr lang="en-US" sz="1700" dirty="0"/>
          </a:p>
        </p:txBody>
      </p:sp>
      <p:sp>
        <p:nvSpPr>
          <p:cNvPr id="8" name="element_0628b816e1a2e59d8c47123574e6656f"/>
          <p:cNvSpPr txBox="1"/>
          <p:nvPr/>
        </p:nvSpPr>
        <p:spPr>
          <a:xfrm>
            <a:off x="7680768"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Typed artifacts enforce structure before styling</a:t>
            </a:r>
            <a:endParaRPr lang="en-US" sz="1700" dirty="0"/>
          </a:p>
        </p:txBody>
      </p:sp>
      <p:sp>
        <p:nvSpPr>
          <p:cNvPr id="9" name="element_5b119dc952998c23c36778c0a4405b39"/>
          <p:cNvSpPr txBox="1"/>
          <p:nvPr/>
        </p:nvSpPr>
        <p:spPr>
          <a:xfrm>
            <a:off x="7680768"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Machine-checkable provenance replaces assumptions</a:t>
            </a:r>
            <a:endParaRPr lang="en-US" sz="1700" dirty="0"/>
          </a:p>
        </p:txBody>
      </p:sp>
      <p:sp>
        <p:nvSpPr>
          <p:cNvPr id="10" name="element_9ad8d9c745bd328634925d87e95cba2a"/>
          <p:cNvSpPr txBox="1"/>
          <p:nvPr/>
        </p:nvSpPr>
        <p:spPr>
          <a:xfrm>
            <a:off x="7680768"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Rejections route back to generation with diagnostics</a:t>
            </a:r>
            <a:endParaRPr lang="en-US" sz="1700" dirty="0"/>
          </a:p>
        </p:txBody>
      </p:sp>
      <p:sp>
        <p:nvSpPr>
          <p:cNvPr id="11" name="element_05bf4475f67155b55e798d6a11e1ae6e"/>
          <p:cNvSpPr/>
          <p:nvPr/>
        </p:nvSpPr>
        <p:spPr>
          <a:xfrm>
            <a:off x="4927883" y="3775329"/>
            <a:ext cx="243834" cy="164592"/>
          </a:xfrm>
          <a:prstGeom prst="line">
            <a:avLst/>
          </a:prstGeom>
          <a:noFill/>
          <a:ln w="25400">
            <a:solidFill>
              <a:srgbClr val="7566A8"/>
            </a:solidFill>
            <a:prstDash val="solid"/>
            <a:tailEnd type="triangle"/>
          </a:ln>
        </p:spPr>
      </p:sp>
      <p:sp>
        <p:nvSpPr>
          <p:cNvPr id="12" name="element_6b101e3ab7ad1cb514bb713d36c17b02"/>
          <p:cNvSpPr/>
          <p:nvPr/>
        </p:nvSpPr>
        <p:spPr>
          <a:xfrm>
            <a:off x="2752885" y="3775329"/>
            <a:ext cx="243834" cy="164592"/>
          </a:xfrm>
          <a:prstGeom prst="line">
            <a:avLst/>
          </a:prstGeom>
          <a:noFill/>
          <a:ln w="25400">
            <a:solidFill>
              <a:srgbClr val="7566A8"/>
            </a:solidFill>
            <a:prstDash val="solid"/>
            <a:tailEnd type="triangle"/>
          </a:ln>
        </p:spPr>
      </p:sp>
      <p:sp>
        <p:nvSpPr>
          <p:cNvPr id="13" name="element_ec90c6bb93271308e61d6837c07c27c8"/>
          <p:cNvSpPr/>
          <p:nvPr/>
        </p:nvSpPr>
        <p:spPr>
          <a:xfrm>
            <a:off x="2654132" y="4375404"/>
            <a:ext cx="2615119" cy="164592"/>
          </a:xfrm>
          <a:prstGeom prst="line">
            <a:avLst/>
          </a:prstGeom>
          <a:noFill/>
          <a:ln w="25400">
            <a:solidFill>
              <a:srgbClr val="7566A8"/>
            </a:solidFill>
            <a:prstDash val="solid"/>
            <a:tailEnd type="triangle"/>
          </a:ln>
        </p:spPr>
      </p:sp>
      <p:sp>
        <p:nvSpPr>
          <p:cNvPr id="14" name="element_e7ee55ceac86ea23dca7a2e7d923da45"/>
          <p:cNvSpPr/>
          <p:nvPr/>
        </p:nvSpPr>
        <p:spPr>
          <a:xfrm>
            <a:off x="2796775" y="3775329"/>
            <a:ext cx="2332271" cy="164592"/>
          </a:xfrm>
          <a:prstGeom prst="line">
            <a:avLst/>
          </a:prstGeom>
          <a:noFill/>
          <a:ln w="25400">
            <a:solidFill>
              <a:srgbClr val="7566A8"/>
            </a:solidFill>
            <a:prstDash val="solid"/>
            <a:tailEnd type="triangle"/>
          </a:ln>
        </p:spPr>
      </p:sp>
      <p:sp>
        <p:nvSpPr>
          <p:cNvPr id="15" name="element_237e85c303384e70d37a851a1a091ce5"/>
          <p:cNvSpPr/>
          <p:nvPr/>
        </p:nvSpPr>
        <p:spPr>
          <a:xfrm>
            <a:off x="5202196" y="3377565"/>
            <a:ext cx="1868987" cy="960120"/>
          </a:xfrm>
          <a:prstGeom prst="roundRect">
            <a:avLst/>
          </a:prstGeom>
          <a:solidFill>
            <a:srgbClr val="F2DED3"/>
          </a:solidFill>
          <a:ln w="12700">
            <a:solidFill>
              <a:srgbClr val="DED7CC"/>
            </a:solidFill>
            <a:prstDash val="solid"/>
          </a:ln>
        </p:spPr>
      </p:sp>
      <p:sp>
        <p:nvSpPr>
          <p:cNvPr id="16" name="element_237e85c303384e70d37a851a1a091ce5:text"/>
          <p:cNvSpPr txBox="1"/>
          <p:nvPr/>
        </p:nvSpPr>
        <p:spPr>
          <a:xfrm>
            <a:off x="5202196" y="3377565"/>
            <a:ext cx="1868987"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Generation Agent</a:t>
            </a:r>
            <a:endParaRPr lang="en-US" sz="1600" dirty="0"/>
          </a:p>
        </p:txBody>
      </p:sp>
      <p:sp>
        <p:nvSpPr>
          <p:cNvPr id="17" name="element_6860f860a3539896e2178041ef57d128"/>
          <p:cNvSpPr/>
          <p:nvPr/>
        </p:nvSpPr>
        <p:spPr>
          <a:xfrm>
            <a:off x="3028417" y="3377565"/>
            <a:ext cx="1868987" cy="960120"/>
          </a:xfrm>
          <a:prstGeom prst="roundRect">
            <a:avLst/>
          </a:prstGeom>
          <a:solidFill>
            <a:srgbClr val="F2DED3"/>
          </a:solidFill>
          <a:ln w="12700">
            <a:solidFill>
              <a:srgbClr val="DED7CC"/>
            </a:solidFill>
            <a:prstDash val="solid"/>
          </a:ln>
        </p:spPr>
      </p:sp>
      <p:sp>
        <p:nvSpPr>
          <p:cNvPr id="18" name="element_6860f860a3539896e2178041ef57d128:text"/>
          <p:cNvSpPr txBox="1"/>
          <p:nvPr/>
        </p:nvSpPr>
        <p:spPr>
          <a:xfrm>
            <a:off x="3028417" y="3377565"/>
            <a:ext cx="1868987"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Artifact Validation</a:t>
            </a:r>
            <a:endParaRPr lang="en-US" sz="1600" dirty="0"/>
          </a:p>
        </p:txBody>
      </p:sp>
      <p:sp>
        <p:nvSpPr>
          <p:cNvPr id="19" name="element_7f1a06d8d30528a242a5a8eb0e11f42b"/>
          <p:cNvSpPr/>
          <p:nvPr/>
        </p:nvSpPr>
        <p:spPr>
          <a:xfrm>
            <a:off x="853419" y="3377565"/>
            <a:ext cx="1868987" cy="960120"/>
          </a:xfrm>
          <a:prstGeom prst="roundRect">
            <a:avLst/>
          </a:prstGeom>
          <a:solidFill>
            <a:srgbClr val="E5E9D6"/>
          </a:solidFill>
          <a:ln w="25400">
            <a:solidFill>
              <a:srgbClr val="B44A2D"/>
            </a:solidFill>
            <a:prstDash val="solid"/>
          </a:ln>
        </p:spPr>
      </p:sp>
      <p:sp>
        <p:nvSpPr>
          <p:cNvPr id="20" name="element_7f1a06d8d30528a242a5a8eb0e11f42b:text"/>
          <p:cNvSpPr txBox="1"/>
          <p:nvPr/>
        </p:nvSpPr>
        <p:spPr>
          <a:xfrm>
            <a:off x="853419" y="3377565"/>
            <a:ext cx="1868987"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Production Gate</a:t>
            </a:r>
            <a:endParaRPr lang="en-US" sz="1600" dirty="0"/>
          </a:p>
        </p:txBody>
      </p:sp>
      <p:sp>
        <p:nvSpPr>
          <p:cNvPr id="21" name="element_c2145d34c393b2de3c887615cd89d733"/>
          <p:cNvSpPr/>
          <p:nvPr/>
        </p:nvSpPr>
        <p:spPr>
          <a:xfrm>
            <a:off x="5202196" y="4577715"/>
            <a:ext cx="1868987" cy="960120"/>
          </a:xfrm>
          <a:prstGeom prst="roundRect">
            <a:avLst/>
          </a:prstGeom>
          <a:solidFill>
            <a:srgbClr val="F2DED3"/>
          </a:solidFill>
          <a:ln w="12700">
            <a:solidFill>
              <a:srgbClr val="DED7CC"/>
            </a:solidFill>
            <a:prstDash val="solid"/>
          </a:ln>
        </p:spPr>
      </p:sp>
      <p:sp>
        <p:nvSpPr>
          <p:cNvPr id="22" name="element_c2145d34c393b2de3c887615cd89d733:text"/>
          <p:cNvSpPr txBox="1"/>
          <p:nvPr/>
        </p:nvSpPr>
        <p:spPr>
          <a:xfrm>
            <a:off x="5202196" y="4577715"/>
            <a:ext cx="1868987"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Publish &amp; Export</a:t>
            </a:r>
            <a:endParaRPr lang="en-US" sz="1600" dirty="0"/>
          </a:p>
        </p:txBody>
      </p:sp>
      <p:sp>
        <p:nvSpPr>
          <p:cNvPr id="23" name="element_56932531d8bfa553f11712eef4e3edf6"/>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24" name="element_30949e5ef61805b027632af50b938016"/>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nodeslide-slide-id:slide_83061dd5ca19d9e3d91631ff7573aac2"/>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c66e63e65900b6ff0731c3f1165b53e8"/>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7fcb54185e22f794ef91b8126b78c5eb"/>
          <p:cNvSpPr/>
          <p:nvPr/>
        </p:nvSpPr>
        <p:spPr>
          <a:xfrm>
            <a:off x="853419" y="788670"/>
            <a:ext cx="5713028" cy="68580"/>
          </a:xfrm>
          <a:prstGeom prst="roundRect">
            <a:avLst/>
          </a:prstGeom>
          <a:solidFill>
            <a:srgbClr val="B44A2D">
              <a:alpha val="70000"/>
            </a:srgbClr>
          </a:solidFill>
          <a:ln w="12700">
            <a:solidFill>
              <a:srgbClr val="FFFFFF">
                <a:alpha val="0"/>
              </a:srgbClr>
            </a:solidFill>
            <a:prstDash val="solid"/>
          </a:ln>
        </p:spPr>
      </p:sp>
      <p:sp>
        <p:nvSpPr>
          <p:cNvPr id="5" name="element_11a6ef7d9f79ec887bd25af6fbacb824"/>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6" name="element_ab6e0f7e311ebf3bffe0bbe2f2ae7ecf"/>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The numbers behind the gate</a:t>
            </a:r>
            <a:endParaRPr lang="en-US" sz="3800" dirty="0"/>
          </a:p>
        </p:txBody>
      </p:sp>
      <p:sp>
        <p:nvSpPr>
          <p:cNvPr id="7" name="element_71d1d0f2788d1a4e38d1b6a6da1b91b7"/>
          <p:cNvSpPr txBox="1"/>
          <p:nvPr/>
        </p:nvSpPr>
        <p:spPr>
          <a:xfrm>
            <a:off x="853419" y="2743200"/>
            <a:ext cx="9631439" cy="12344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Production runs show the volume the gate processes, the exceptions it corrects, and the critical failures it blocks before export.</a:t>
            </a:r>
            <a:endParaRPr lang="en-US" sz="1900" dirty="0"/>
          </a:p>
        </p:txBody>
      </p:sp>
      <p:sp>
        <p:nvSpPr>
          <p:cNvPr id="8" name="element_c775e63d5378f8a0a076d806ac624842"/>
          <p:cNvSpPr txBox="1"/>
          <p:nvPr/>
        </p:nvSpPr>
        <p:spPr>
          <a:xfrm>
            <a:off x="853419"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53 automated validations executed per deck</a:t>
            </a:r>
            <a:endParaRPr lang="en-US" sz="1700" dirty="0"/>
          </a:p>
        </p:txBody>
      </p:sp>
      <p:sp>
        <p:nvSpPr>
          <p:cNvPr id="9" name="element_1c1846a4c573df2962fffd962f2d0beb"/>
          <p:cNvSpPr txBox="1"/>
          <p:nvPr/>
        </p:nvSpPr>
        <p:spPr>
          <a:xfrm>
            <a:off x="4389010"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17 exceptions caught and corrected pre-publication</a:t>
            </a:r>
            <a:endParaRPr lang="en-US" sz="1700" dirty="0"/>
          </a:p>
        </p:txBody>
      </p:sp>
      <p:sp>
        <p:nvSpPr>
          <p:cNvPr id="10" name="element_d730dab552b1326e4375af737e157da6"/>
          <p:cNvSpPr txBox="1"/>
          <p:nvPr/>
        </p:nvSpPr>
        <p:spPr>
          <a:xfrm>
            <a:off x="7924602"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2 critical failures blocked at the export boundary</a:t>
            </a:r>
            <a:endParaRPr lang="en-US" sz="1700" dirty="0"/>
          </a:p>
        </p:txBody>
      </p:sp>
      <p:sp>
        <p:nvSpPr>
          <p:cNvPr id="11" name="element_0d7cb45d64f8642812a471c7a1e39999"/>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2" name="element_9ce61cc8c0bff90afcbc742cf87b9a0b"/>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nodeslide-slide-id:slide_5b33c63a9f232003c55f34fadba3d205"/>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7f04f189df433a312024132f5c246c0d"/>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582f6caee96a334f43379a17002c23ab"/>
          <p:cNvSpPr/>
          <p:nvPr/>
        </p:nvSpPr>
        <p:spPr>
          <a:xfrm>
            <a:off x="853419" y="788670"/>
            <a:ext cx="7140676" cy="68580"/>
          </a:xfrm>
          <a:prstGeom prst="roundRect">
            <a:avLst/>
          </a:prstGeom>
          <a:solidFill>
            <a:srgbClr val="B44A2D">
              <a:alpha val="85000"/>
            </a:srgbClr>
          </a:solidFill>
          <a:ln w="12700">
            <a:solidFill>
              <a:srgbClr val="FFFFFF">
                <a:alpha val="0"/>
              </a:srgbClr>
            </a:solidFill>
            <a:prstDash val="solid"/>
          </a:ln>
        </p:spPr>
      </p:sp>
      <p:sp>
        <p:nvSpPr>
          <p:cNvPr id="5" name="element_6156a32294e8a1a5a9e5289dbc44401d"/>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6" name="element_e7ba188726e6e0b952ea3adc6e386b96"/>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Where the threshold holds</a:t>
            </a:r>
            <a:endParaRPr lang="en-US" sz="3800" dirty="0"/>
          </a:p>
        </p:txBody>
      </p:sp>
      <p:sp>
        <p:nvSpPr>
          <p:cNvPr id="7" name="element_0c990bfe1f68390a6d3ec38897df6eef"/>
          <p:cNvSpPr txBox="1"/>
          <p:nvPr/>
        </p:nvSpPr>
        <p:spPr>
          <a:xfrm>
            <a:off x="853419" y="2743200"/>
            <a:ext cx="365750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The steep drop-off from routine validations to critical blocks shows the gate filtering effectively: volume handled early, catastrophe stopped last.</a:t>
            </a:r>
            <a:endParaRPr lang="en-US" sz="1900" dirty="0"/>
          </a:p>
        </p:txBody>
      </p:sp>
      <p:sp>
        <p:nvSpPr>
          <p:cNvPr id="8" name="element_40cd83a10fd045effa310b0e488536fa"/>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High-volume validation handles routine checks</a:t>
            </a:r>
            <a:endParaRPr lang="en-US" sz="1700" dirty="0"/>
          </a:p>
        </p:txBody>
      </p:sp>
      <p:sp>
        <p:nvSpPr>
          <p:cNvPr id="9" name="element_f65002a2ae5270e01c7c2138e0505f3f"/>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Mid-tier exceptions capture data inconsistencies</a:t>
            </a:r>
            <a:endParaRPr lang="en-US" sz="1700" dirty="0"/>
          </a:p>
        </p:txBody>
      </p:sp>
      <p:sp>
        <p:nvSpPr>
          <p:cNvPr id="10" name="element_0b562850602d417721322c4a7c2e2213"/>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Rare blocks prevent catastrophic export failures</a:t>
            </a:r>
            <a:endParaRPr lang="en-US" sz="1700" dirty="0"/>
          </a:p>
        </p:txBody>
      </p:sp>
      <p:graphicFrame>
        <p:nvGraphicFramePr>
          <p:cNvPr id="11" name="element_5d30436cb26d688ef80770375d020c48" descr=""/>
          <p:cNvGraphicFramePr/>
          <p:nvPr/>
        </p:nvGraphicFramePr>
        <p:xfrm>
          <a:off x="5120512" y="2880360"/>
          <a:ext cx="6095848" cy="3154680"/>
        </p:xfrm>
        <a:graphic xmlns:a="http://schemas.openxmlformats.org/drawingml/2006/main">
          <a:graphicData uri="http://schemas.openxmlformats.org/drawingml/2006/chart">
            <c:chart xmlns:c="http://schemas.openxmlformats.org/drawingml/2006/chart" r:id="rId1"/>
          </a:graphicData>
        </a:graphic>
      </p:graphicFrame>
      <p:sp>
        <p:nvSpPr>
          <p:cNvPr id="12" name="element_ec855121ef1132360f14ff1c64b6015a"/>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ecf0587b69833cbe19a242d3fe171320"/>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nodeslide-slide-id:slide_c9ffcef416253086ac135cab60161462"/>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eebaba3c4160060a5b8133040b56a648"/>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8f450191b4cb8ca2f3383df5246ba556"/>
          <p:cNvSpPr/>
          <p:nvPr/>
        </p:nvSpPr>
        <p:spPr>
          <a:xfrm>
            <a:off x="853419" y="788670"/>
            <a:ext cx="8569543" cy="68580"/>
          </a:xfrm>
          <a:prstGeom prst="roundRect">
            <a:avLst/>
          </a:prstGeom>
          <a:solidFill>
            <a:srgbClr val="B44A2D"/>
          </a:solidFill>
          <a:ln w="12700">
            <a:solidFill>
              <a:srgbClr val="FFFFFF">
                <a:alpha val="0"/>
              </a:srgbClr>
            </a:solidFill>
            <a:prstDash val="solid"/>
          </a:ln>
        </p:spPr>
      </p:sp>
      <p:sp>
        <p:nvSpPr>
          <p:cNvPr id="5" name="element_9740e2dc36ef3397791abeb8d5c0a079"/>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DECIDE</a:t>
            </a:r>
            <a:endParaRPr lang="en-US" sz="1500" dirty="0"/>
          </a:p>
        </p:txBody>
      </p:sp>
      <p:sp>
        <p:nvSpPr>
          <p:cNvPr id="6" name="element_a083d9e612161a06a06a588bfdefd17c"/>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Crossing requires verification</a:t>
            </a:r>
            <a:endParaRPr lang="en-US" sz="3800" dirty="0"/>
          </a:p>
        </p:txBody>
      </p:sp>
      <p:sp>
        <p:nvSpPr>
          <p:cNvPr id="7" name="element_b0323a0c35c107a6b4f0dc3ea147b51d"/>
          <p:cNvSpPr txBox="1"/>
          <p:nvPr/>
        </p:nvSpPr>
        <p:spPr>
          <a:xfrm>
            <a:off x="6339682" y="2743200"/>
            <a:ext cx="4876678"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At the gate, the threshold transforms from risk boundary to controlled checkpoint. Only typed, provenance-backed artifacts may pass.</a:t>
            </a:r>
            <a:endParaRPr lang="en-US" sz="1900" dirty="0"/>
          </a:p>
        </p:txBody>
      </p:sp>
      <p:sp>
        <p:nvSpPr>
          <p:cNvPr id="8" name="element_15575682afbf84dd0689f4f27d3261aa"/>
          <p:cNvSpPr txBox="1"/>
          <p:nvPr/>
        </p:nvSpPr>
        <p:spPr>
          <a:xfrm>
            <a:off x="6339682" y="42519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Approval gates PPTX generation and public share links</a:t>
            </a:r>
            <a:endParaRPr lang="en-US" sz="1700" dirty="0"/>
          </a:p>
        </p:txBody>
      </p:sp>
      <p:sp>
        <p:nvSpPr>
          <p:cNvPr id="9" name="element_8bfac772e67356bd362352f667d57e59"/>
          <p:cNvSpPr txBox="1"/>
          <p:nvPr/>
        </p:nvSpPr>
        <p:spPr>
          <a:xfrm>
            <a:off x="6339682" y="49377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Every artifact carries machine-checkable provenance</a:t>
            </a:r>
            <a:endParaRPr lang="en-US" sz="1700" dirty="0"/>
          </a:p>
        </p:txBody>
      </p:sp>
      <p:sp>
        <p:nvSpPr>
          <p:cNvPr id="10" name="element_1bef59503131a361da0687c89691ca85"/>
          <p:cNvSpPr txBox="1"/>
          <p:nvPr/>
        </p:nvSpPr>
        <p:spPr>
          <a:xfrm>
            <a:off x="6339682" y="56235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The gate opens only when validation is complete</a:t>
            </a:r>
            <a:endParaRPr lang="en-US" sz="1700" dirty="0"/>
          </a:p>
        </p:txBody>
      </p:sp>
      <p:sp>
        <p:nvSpPr>
          <p:cNvPr id="11" name="element_539eb9434eb7178325aa1213b2753295:fallback-shape"/>
          <p:cNvSpPr/>
          <p:nvPr/>
        </p:nvSpPr>
        <p:spPr>
          <a:xfrm>
            <a:off x="731502" y="2674620"/>
            <a:ext cx="4754761" cy="2606040"/>
          </a:xfrm>
          <a:prstGeom prst="roundRect">
            <a:avLst/>
          </a:prstGeom>
          <a:solidFill>
            <a:srgbClr val="F2DED3"/>
          </a:solidFill>
          <a:ln w="19050">
            <a:solidFill>
              <a:srgbClr val="DED7CC"/>
            </a:solidFill>
            <a:prstDash val="dash"/>
          </a:ln>
        </p:spPr>
      </p:sp>
      <p:sp>
        <p:nvSpPr>
          <p:cNvPr id="12" name="element_539eb9434eb7178325aa1213b2753295:fallback-label"/>
          <p:cNvSpPr/>
          <p:nvPr/>
        </p:nvSpPr>
        <p:spPr>
          <a:xfrm>
            <a:off x="731502"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Illustrative visualization of a guarded production gate with an artifact validation checkpoint; threshold line shown in controlled-passage state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NodeSlide illustrative placeholder — replace with licensed asset</a:t>
            </a:r>
            <a:endParaRPr lang="en-US" sz="1400" dirty="0"/>
          </a:p>
        </p:txBody>
      </p:sp>
      <p:sp>
        <p:nvSpPr>
          <p:cNvPr id="13" name="element_6b5d5e470326b9dcad4e916512967e75"/>
          <p:cNvSpPr txBox="1"/>
          <p:nvPr/>
        </p:nvSpPr>
        <p:spPr>
          <a:xfrm>
            <a:off x="975336"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756B61"/>
                </a:solidFill>
                <a:latin typeface="Geist Variable" pitchFamily="34" charset="0"/>
                <a:ea typeface="Geist Variable" pitchFamily="34" charset="-122"/>
                <a:cs typeface="Geist Variable" pitchFamily="34" charset="-120"/>
              </a:rPr>
              <a:t>Replace image before external use · NodeSlide illustrative placeholder — replace with licensed asset</a:t>
            </a:r>
            <a:endParaRPr lang="en-US" sz="1400" dirty="0"/>
          </a:p>
        </p:txBody>
      </p:sp>
      <p:sp>
        <p:nvSpPr>
          <p:cNvPr id="14" name="element_ddda618cc7235ac62c2271d449883c95"/>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5" name="element_091e530ddf138a5ab3396f66b10d986c"/>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nodeslide-slide-id:slide_a61bd8c9cfd85e61b86ee18fa52096f4"/>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e00e21e81c5cbba70121ff853d8014ba"/>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33c543bfe49aac6bbb2621d914dc3fc1"/>
          <p:cNvSpPr/>
          <p:nvPr/>
        </p:nvSpPr>
        <p:spPr>
          <a:xfrm>
            <a:off x="853419" y="788670"/>
            <a:ext cx="9997190" cy="68580"/>
          </a:xfrm>
          <a:prstGeom prst="roundRect">
            <a:avLst/>
          </a:prstGeom>
          <a:solidFill>
            <a:srgbClr val="B44A2D">
              <a:alpha val="76000"/>
            </a:srgbClr>
          </a:solidFill>
          <a:ln w="12700">
            <a:solidFill>
              <a:srgbClr val="FFFFFF">
                <a:alpha val="0"/>
              </a:srgbClr>
            </a:solidFill>
            <a:prstDash val="solid"/>
          </a:ln>
        </p:spPr>
      </p:sp>
      <p:sp>
        <p:nvSpPr>
          <p:cNvPr id="5" name="element_77caef4acc4b5a89cc7a90f6cf0fe6df"/>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RESOLVE</a:t>
            </a:r>
            <a:endParaRPr lang="en-US" sz="1500" dirty="0"/>
          </a:p>
        </p:txBody>
      </p:sp>
      <p:sp>
        <p:nvSpPr>
          <p:cNvPr id="6" name="element_4d006930de120a9cd6d37580cf6530e8"/>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Approve the workflow</a:t>
            </a:r>
            <a:endParaRPr lang="en-US" sz="3800" dirty="0"/>
          </a:p>
        </p:txBody>
      </p:sp>
      <p:sp>
        <p:nvSpPr>
          <p:cNvPr id="7" name="element_d8dfc3c01efce7dcb26e364eabef019d"/>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Approve the production-grade workflow today. The engineering lead owns gate configuration, with completion defined by the release equation.</a:t>
            </a:r>
            <a:endParaRPr lang="en-US" sz="1900" dirty="0"/>
          </a:p>
        </p:txBody>
      </p:sp>
      <p:sp>
        <p:nvSpPr>
          <p:cNvPr id="8" name="element_726b780a85cb34f2a6c2e30845157991"/>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Owner: engineering lead approves gate configuration</a:t>
            </a:r>
            <a:endParaRPr lang="en-US" sz="1700" dirty="0"/>
          </a:p>
        </p:txBody>
      </p:sp>
      <p:sp>
        <p:nvSpPr>
          <p:cNvPr id="9" name="element_51b86342dab8d52aef9b4a4509d14e74"/>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Next checkpoint: validate PPTX and public share completion</a:t>
            </a:r>
            <a:endParaRPr lang="en-US" sz="1700" dirty="0"/>
          </a:p>
        </p:txBody>
      </p:sp>
      <p:sp>
        <p:nvSpPr>
          <p:cNvPr id="10" name="element_86fbdb92c27253cfaabf79f009cf740f"/>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Success metric: zero ungated artifacts in production</a:t>
            </a:r>
            <a:endParaRPr lang="en-US" sz="1700" dirty="0"/>
          </a:p>
        </p:txBody>
      </p:sp>
      <p:sp>
        <p:nvSpPr>
          <p:cNvPr id="11" name="element_4f592e77c028fb13d4ce2a0df22a787a"/>
          <p:cNvSpPr txBox="1"/>
          <p:nvPr/>
        </p:nvSpPr>
        <p:spPr>
          <a:xfrm>
            <a:off x="6461598" y="2880360"/>
            <a:ext cx="4754761" cy="1645920"/>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34452C"/>
                </a:solidFill>
                <a:latin typeface="JetBrains Mono Variable" pitchFamily="34" charset="0"/>
                <a:ea typeface="JetBrains Mono Variable" pitchFamily="34" charset="-122"/>
                <a:cs typeface="JetBrains Mono Variable" pitchFamily="34" charset="-120"/>
              </a:rPr>
              <a:t>Release = PPTX Complete × Share Live</a:t>
            </a:r>
            <a:endParaRPr lang="en-US" sz="3000" dirty="0"/>
          </a:p>
        </p:txBody>
      </p:sp>
      <p:sp>
        <p:nvSpPr>
          <p:cNvPr id="12" name="element_efd9c6423e467b8acb2633ca78d28b78"/>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894d705a17182a087ec2ee2b66a4f89f"/>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Trust Threshold</dc:title>
  <dc:subject>Approve the production-grade NodeSlide agent workflow</dc:subject>
  <dc:creator>NodeSlide</dc:creator>
  <cp:lastModifiedBy>NodeSlide</cp:lastModifiedBy>
  <cp:revision>1</cp:revision>
  <dcterms:created xsi:type="dcterms:W3CDTF">2026-07-29T23:40:41Z</dcterms:created>
  <dcterms:modified xsi:type="dcterms:W3CDTF">2026-07-29T23:40:41Z</dcterms:modified>
</cp:coreProperties>
</file>