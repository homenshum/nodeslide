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120</c:v>
                </c:pt>
                <c:pt idx="2">
                  <c:v>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pilot only. Review 100 → 120 → 140 units; reference 00123 remains text.
Decision: prototype after checking the budget. 中文交接 — no external claims.
NodeSlide sources
[source_d5167a00a50b356528b35c6d9c21afc7]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
metric,value,unit,source
month_1,100,units,Illustrative test input
month_2,120,units,Illustrative test input
month_3,140,units,Illustrative test input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Composition grammar: process-canvas. Keep the spoken transition focused on "The cost of waiting is usually hidden in repeated work."
Evidence note: Content is based on the supplied creation brief. Illustrative examples are not independently verified; replace them with measured evidence before external publication.
NodeSlide sources
[source_d5167a00a50b356528b35c6d9c21afc7]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
metric,value,unit,source
month_1,100,units,Illustrative test input
month_2,120,units,Illustrative test input
month_3,140,units,Illustrative test input
Disclaimer: Internal working material
[source_ee9223cffaa6fc02ab1b4acc811e4abc] Brief success criteria
Citation: Honor explicit slide-count and presentation constraints in the brief; Use only claims and artifact types supported by the supplied brief and evidence; Validation passes before presentation, export, or publication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Composition grammar: scene-stage. Keep the spoken transition focused on "A better outcome starts with a sharper point of view."
Evidence note: Content is based on the supplied creation brief. Illustrative examples are not independently verified; replace them with measured evidence before external publication.
NodeSlide sources
[source_d5167a00a50b356528b35c6d9c21afc7]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
metric,value,unit,source
month_1,100,units,Illustrative test input
month_2,120,units,Illustrative test input
month_3,140,units,Illustrative test input
Disclaimer: Internal working material
[source_ee9223cffaa6fc02ab1b4acc811e4abc] Brief success criteria
Citation: Honor explicit slide-count and presentation constraints in the brief; Use only claims and artifact types supported by the supplied brief and evidence; Validation passes before presentation, export, or publication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Composition grammar: asymmetric-editorial. Keep the spoken transition focused on "The uploaded values remain an editable chart."
Evidence note: Content is based on the supplied creation brief. Illustrative examples are not independently verified; replace them with measured evidence before external publication.
NodeSlide sources
[source_d5167a00a50b356528b35c6d9c21afc7]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
metric,value,unit,source
month_1,100,units,Illustrative test input
month_2,120,units,Illustrative test input
month_3,140,units,Illustrative test input
Disclaimer: Internal working material
[source_ee9223cffaa6fc02ab1b4acc811e4abc] Brief success criteria
Citation: Honor explicit slide-count and presentation constraints in the brief; Use only claims and artifact types supported by the supplied brief and evidence; Validation passes before presentation, export, or publication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Composition grammar: scene-stage. Keep the spoken transition focused on "Define proof before asking for commitment."
Evidence note: Content is based on the supplied creation brief. Illustrative examples are not independently verified; replace them with measured evidence before external publication.
NodeSlide sources
[source_d5167a00a50b356528b35c6d9c21afc7]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
metric,value,unit,source
month_1,100,units,Illustrative test input
month_2,120,units,Illustrative test input
month_3,140,units,Illustrative test input
Disclaimer: Internal working material
[source_ee9223cffaa6fc02ab1b4acc811e4abc] Brief success criteria
Citation: Honor explicit slide-count and presentation constraints in the brief; Use only claims and artifact types supported by the supplied brief and evidence; Validation passes before presentation, export, or publication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Composition grammar: evidence-dossier. Keep the spoken transition focused on "Create an editable, reviewable presentation from this idea"
Evidence note: Content is based on the supplied creation brief. Illustrative examples are not independently verified; replace them with measured evidence before external publication.
NodeSlide sources
[source_d5167a00a50b356528b35c6d9c21afc7]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
metric,value,unit,source
month_1,100,units,Illustrative test input
month_2,120,units,Illustrative test input
month_3,140,units,Illustrative test input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ea926f5d280fc57755e662911aa607c5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2a8e6ca1ef118a03a80676fe2efae4d"/>
          <p:cNvSpPr txBox="1"/>
          <p:nvPr/>
        </p:nvSpPr>
        <p:spPr>
          <a:xfrm>
            <a:off x="853419" y="2185645"/>
            <a:ext cx="10484858" cy="2487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400" b="1" spc="-12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6400" dirty="0"/>
          </a:p>
        </p:txBody>
      </p:sp>
      <p:sp>
        <p:nvSpPr>
          <p:cNvPr id="4" name="element_28332c825c5deb5d70df3861d690a462"/>
          <p:cNvSpPr/>
          <p:nvPr/>
        </p:nvSpPr>
        <p:spPr>
          <a:xfrm>
            <a:off x="853419" y="4809515"/>
            <a:ext cx="1463003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b8612017b982c1ccdcf17f8e93dabdd7"/>
          <p:cNvSpPr txBox="1"/>
          <p:nvPr/>
        </p:nvSpPr>
        <p:spPr>
          <a:xfrm>
            <a:off x="853419" y="41148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6" name="element_46ba08924f56ca79dd85979ed9c5f465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F2DED3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93618182e481b8e0bc4d47828f47c7f6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F2DED3">
              <a:alpha val="4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818f2b0aa1a6fc51244deaa8ffbd6ee4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F2DED3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008098c1d5ba1ee8d81d59fe6985dd1c"/>
          <p:cNvSpPr/>
          <p:nvPr/>
        </p:nvSpPr>
        <p:spPr>
          <a:xfrm>
            <a:off x="9749699" y="457429"/>
            <a:ext cx="1077746" cy="606247"/>
          </a:xfrm>
          <a:prstGeom prst="roundRect">
            <a:avLst/>
          </a:prstGeom>
          <a:solidFill>
            <a:srgbClr val="F2DED3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05339dea4c077818181286d671b2bae1"/>
          <p:cNvSpPr/>
          <p:nvPr/>
        </p:nvSpPr>
        <p:spPr>
          <a:xfrm>
            <a:off x="10049614" y="626135"/>
            <a:ext cx="668105" cy="375818"/>
          </a:xfrm>
          <a:prstGeom prst="roundRect">
            <a:avLst/>
          </a:prstGeom>
          <a:solidFill>
            <a:srgbClr val="F2DED3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a872ed98963b44e804768e58e97c0f70"/>
          <p:cNvSpPr/>
          <p:nvPr/>
        </p:nvSpPr>
        <p:spPr>
          <a:xfrm>
            <a:off x="10314174" y="774954"/>
            <a:ext cx="430367" cy="242087"/>
          </a:xfrm>
          <a:prstGeom prst="roundRect">
            <a:avLst/>
          </a:prstGeom>
          <a:solidFill>
            <a:srgbClr val="B44A2D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633c63f3dcbfb20df378ca16f7a35810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eb16e292b382784a8b5c1a36f724238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6120b50964dd3a7bbf243d74b939c974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3f31638fa3cb4ec499ed642c555f0f4"/>
          <p:cNvSpPr txBox="1"/>
          <p:nvPr/>
        </p:nvSpPr>
        <p:spPr>
          <a:xfrm>
            <a:off x="853419" y="41148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2206c785ec4730016b29da389db0fbd0"/>
          <p:cNvSpPr txBox="1"/>
          <p:nvPr/>
        </p:nvSpPr>
        <p:spPr>
          <a:xfrm>
            <a:off x="853419" y="960120"/>
            <a:ext cx="9997190" cy="894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200" dirty="0"/>
          </a:p>
        </p:txBody>
      </p:sp>
      <p:sp>
        <p:nvSpPr>
          <p:cNvPr id="5" name="element_6a01de6470f3f6c6fbea5a557544cc68"/>
          <p:cNvSpPr/>
          <p:nvPr/>
        </p:nvSpPr>
        <p:spPr>
          <a:xfrm>
            <a:off x="2499298" y="2936596"/>
            <a:ext cx="3596550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6" name="element_11de8dacec2e1630f6ef266412c17e6e"/>
          <p:cNvSpPr/>
          <p:nvPr/>
        </p:nvSpPr>
        <p:spPr>
          <a:xfrm>
            <a:off x="6095848" y="2936596"/>
            <a:ext cx="3596550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7" name="element_48568052fd93c17e7d7b8a3c9bf23d4a"/>
          <p:cNvSpPr/>
          <p:nvPr/>
        </p:nvSpPr>
        <p:spPr>
          <a:xfrm>
            <a:off x="853419" y="2538832"/>
            <a:ext cx="3291758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8" name="element_48568052fd93c17e7d7b8a3c9bf23d4a:text"/>
          <p:cNvSpPr txBox="1"/>
          <p:nvPr/>
        </p:nvSpPr>
        <p:spPr>
          <a:xfrm>
            <a:off x="853419" y="2538832"/>
            <a:ext cx="3291758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400" dirty="0"/>
          </a:p>
        </p:txBody>
      </p:sp>
      <p:sp>
        <p:nvSpPr>
          <p:cNvPr id="9" name="element_8f77d547c1471cc6a509ae5a77f9476e"/>
          <p:cNvSpPr/>
          <p:nvPr/>
        </p:nvSpPr>
        <p:spPr>
          <a:xfrm>
            <a:off x="4449969" y="2538832"/>
            <a:ext cx="3291758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0" name="element_8f77d547c1471cc6a509ae5a77f9476e:text"/>
          <p:cNvSpPr txBox="1"/>
          <p:nvPr/>
        </p:nvSpPr>
        <p:spPr>
          <a:xfrm>
            <a:off x="4449969" y="2538832"/>
            <a:ext cx="3291758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300" dirty="0"/>
          </a:p>
        </p:txBody>
      </p:sp>
      <p:sp>
        <p:nvSpPr>
          <p:cNvPr id="11" name="element_4dcd6b698d6bf216ca2d7a0cb5189fc3"/>
          <p:cNvSpPr/>
          <p:nvPr/>
        </p:nvSpPr>
        <p:spPr>
          <a:xfrm>
            <a:off x="8046519" y="2538832"/>
            <a:ext cx="3291758" cy="96012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4dcd6b698d6bf216ca2d7a0cb5189fc3:text"/>
          <p:cNvSpPr txBox="1"/>
          <p:nvPr/>
        </p:nvSpPr>
        <p:spPr>
          <a:xfrm>
            <a:off x="8046519" y="2538832"/>
            <a:ext cx="3291758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300" dirty="0"/>
          </a:p>
        </p:txBody>
      </p:sp>
      <p:sp>
        <p:nvSpPr>
          <p:cNvPr id="13" name="element_de4230efbe6df5fb789fda9a6e2b1b6d"/>
          <p:cNvSpPr txBox="1"/>
          <p:nvPr/>
        </p:nvSpPr>
        <p:spPr>
          <a:xfrm>
            <a:off x="853419" y="3704692"/>
            <a:ext cx="9631439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600" dirty="0"/>
          </a:p>
        </p:txBody>
      </p:sp>
      <p:sp>
        <p:nvSpPr>
          <p:cNvPr id="14" name="element_2b930609e6abd1a4a448874f1cb4716a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F2DED3">
              <a:alpha val="5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e39c242832ab90d58bdcef363f723752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F2DED3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d0e25f87a9b0561cc19ead1466ce046f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F2DED3">
              <a:alpha val="3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5ccd214514c1167507a099f40a3b7d1e"/>
          <p:cNvSpPr/>
          <p:nvPr/>
        </p:nvSpPr>
        <p:spPr>
          <a:xfrm>
            <a:off x="9708247" y="434111"/>
            <a:ext cx="1178937" cy="663169"/>
          </a:xfrm>
          <a:prstGeom prst="roundRect">
            <a:avLst/>
          </a:prstGeom>
          <a:solidFill>
            <a:srgbClr val="F2DED3">
              <a:alpha val="2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lement_f514f90bef2afc42ff84d43c434a0f49"/>
          <p:cNvSpPr/>
          <p:nvPr/>
        </p:nvSpPr>
        <p:spPr>
          <a:xfrm>
            <a:off x="10030108" y="615163"/>
            <a:ext cx="730283" cy="410794"/>
          </a:xfrm>
          <a:prstGeom prst="roundRect">
            <a:avLst/>
          </a:prstGeom>
          <a:solidFill>
            <a:srgbClr val="F2DED3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lement_f1c4a98f4209c4fe5a9cbd1628574c13"/>
          <p:cNvSpPr/>
          <p:nvPr/>
        </p:nvSpPr>
        <p:spPr>
          <a:xfrm>
            <a:off x="10314174" y="774954"/>
            <a:ext cx="471819" cy="265405"/>
          </a:xfrm>
          <a:prstGeom prst="roundRect">
            <a:avLst/>
          </a:prstGeom>
          <a:solidFill>
            <a:srgbClr val="B44A2D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element_a66c89474bdf9c40b36968ec5ec27ee7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605edc3b0b6ff29760a39e13402fbe40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5a06ab7be27666be160a0c3eec91aa75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9676a510cd0197f925df05a06d5efaa"/>
          <p:cNvSpPr/>
          <p:nvPr/>
        </p:nvSpPr>
        <p:spPr>
          <a:xfrm>
            <a:off x="731502" y="1920240"/>
            <a:ext cx="5120512" cy="3017520"/>
          </a:xfrm>
          <a:prstGeom prst="roundRect">
            <a:avLst/>
          </a:prstGeom>
          <a:solidFill>
            <a:srgbClr val="F2DED3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a6cb4f268fde5accf72e4af88487a467"/>
          <p:cNvSpPr/>
          <p:nvPr/>
        </p:nvSpPr>
        <p:spPr>
          <a:xfrm>
            <a:off x="5077841" y="2636215"/>
            <a:ext cx="281628" cy="349758"/>
          </a:xfrm>
          <a:prstGeom prst="roundRect">
            <a:avLst/>
          </a:prstGeom>
          <a:solidFill>
            <a:srgbClr val="F2DED3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34af7c6eb9783db27404e58282898678"/>
          <p:cNvSpPr/>
          <p:nvPr/>
        </p:nvSpPr>
        <p:spPr>
          <a:xfrm>
            <a:off x="4306107" y="3708806"/>
            <a:ext cx="207259" cy="256489"/>
          </a:xfrm>
          <a:prstGeom prst="roundRect">
            <a:avLst/>
          </a:prstGeom>
          <a:solidFill>
            <a:srgbClr val="F2DED3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5f999ec6ad3db92838d9b536018538a5"/>
          <p:cNvSpPr/>
          <p:nvPr/>
        </p:nvSpPr>
        <p:spPr>
          <a:xfrm>
            <a:off x="3685549" y="2752801"/>
            <a:ext cx="169465" cy="209855"/>
          </a:xfrm>
          <a:prstGeom prst="roundRect">
            <a:avLst/>
          </a:prstGeom>
          <a:solidFill>
            <a:srgbClr val="F2DED3">
              <a:alpha val="2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cd38717cf1d4e9770fb6685c5d05badc"/>
          <p:cNvSpPr/>
          <p:nvPr/>
        </p:nvSpPr>
        <p:spPr>
          <a:xfrm>
            <a:off x="1449593" y="2496312"/>
            <a:ext cx="1973835" cy="2448306"/>
          </a:xfrm>
          <a:prstGeom prst="roundRect">
            <a:avLst/>
          </a:prstGeom>
          <a:solidFill>
            <a:srgbClr val="F2DED3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6b17407bb0a10b75c12495e219c91fdb"/>
          <p:cNvSpPr/>
          <p:nvPr/>
        </p:nvSpPr>
        <p:spPr>
          <a:xfrm>
            <a:off x="1672701" y="3149194"/>
            <a:ext cx="1224046" cy="1517675"/>
          </a:xfrm>
          <a:prstGeom prst="roundRect">
            <a:avLst/>
          </a:prstGeom>
          <a:solidFill>
            <a:srgbClr val="F2DED3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c7c6630fd893ea07205e3cd35c34e85a"/>
          <p:cNvSpPr/>
          <p:nvPr/>
        </p:nvSpPr>
        <p:spPr>
          <a:xfrm>
            <a:off x="1637345" y="3732124"/>
            <a:ext cx="790022" cy="979322"/>
          </a:xfrm>
          <a:prstGeom prst="roundRect">
            <a:avLst/>
          </a:prstGeom>
          <a:solidFill>
            <a:srgbClr val="B44A2D">
              <a:alpha val="6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16d4113f7b71ba30e93c5a3ffc3226f6"/>
          <p:cNvSpPr txBox="1"/>
          <p:nvPr/>
        </p:nvSpPr>
        <p:spPr>
          <a:xfrm>
            <a:off x="7802685" y="445770"/>
            <a:ext cx="365750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11" name="element_97d5129fa7c0c5ceacc34e72177a1c6c"/>
          <p:cNvSpPr txBox="1"/>
          <p:nvPr/>
        </p:nvSpPr>
        <p:spPr>
          <a:xfrm>
            <a:off x="6583515" y="1234440"/>
            <a:ext cx="4876678" cy="208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spc="-5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500" dirty="0"/>
          </a:p>
        </p:txBody>
      </p:sp>
      <p:sp>
        <p:nvSpPr>
          <p:cNvPr id="12" name="element_c2f39e1c796d0e5e6259ce171b56eed4"/>
          <p:cNvSpPr txBox="1"/>
          <p:nvPr/>
        </p:nvSpPr>
        <p:spPr>
          <a:xfrm>
            <a:off x="6583515" y="3554501"/>
            <a:ext cx="4876678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six-slide decision review for a fictional sourcing pilot. All data are illustrative test inputs: pilot volume 100, 120, and 140 units over three months; budget 2000 dollars. Include an editable chart, clearly label assumptions, and end with the decis…</a:t>
            </a:r>
            <a:endParaRPr lang="en-US" sz="1400" dirty="0"/>
          </a:p>
        </p:txBody>
      </p:sp>
      <p:sp>
        <p:nvSpPr>
          <p:cNvPr id="13" name="element_fd05c98ca6ecccfdd9de4ab40b177c97"/>
          <p:cNvSpPr txBox="1"/>
          <p:nvPr/>
        </p:nvSpPr>
        <p:spPr>
          <a:xfrm>
            <a:off x="6583515" y="5280660"/>
            <a:ext cx="4876678" cy="82296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Honor explicit slide-count and presentation constraints in the brief</a:t>
            </a:r>
            <a:endParaRPr lang="en-US" sz="1600" dirty="0"/>
          </a:p>
        </p:txBody>
      </p:sp>
      <p:sp>
        <p:nvSpPr>
          <p:cNvPr id="14" name="element_ea517b1f0d7988bc1fe9511ca565b13f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6f7061b53a02d29431fa3ab9101af81d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d57e48ec95e39d9a545d45ad253a0d9d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6654f2665ae2d6e3717e2d6215042a3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4e707bb761172d9d1102bb5ceabfb017"/>
          <p:cNvSpPr txBox="1"/>
          <p:nvPr/>
        </p:nvSpPr>
        <p:spPr>
          <a:xfrm>
            <a:off x="7071183" y="1097280"/>
            <a:ext cx="4145176" cy="156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900" b="1" spc="-6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uploaded values remain an editable chart.</a:t>
            </a:r>
            <a:endParaRPr lang="en-US" sz="3900" dirty="0"/>
          </a:p>
        </p:txBody>
      </p:sp>
      <p:sp>
        <p:nvSpPr>
          <p:cNvPr id="5" name="element_87fc48924a650811c1e749f91a026930"/>
          <p:cNvSpPr txBox="1"/>
          <p:nvPr/>
        </p:nvSpPr>
        <p:spPr>
          <a:xfrm>
            <a:off x="7071183" y="3068955"/>
            <a:ext cx="4145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Labels and values stay in the canonical deck spec for direct editing, validation, and native export.</a:t>
            </a:r>
            <a:endParaRPr lang="en-US" sz="1800" dirty="0"/>
          </a:p>
        </p:txBody>
      </p:sp>
      <p:graphicFrame>
        <p:nvGraphicFramePr>
          <p:cNvPr id="6" name="element_c270821ba7400bf3804f708b9fbf6f27" descr=""/>
          <p:cNvGraphicFramePr/>
          <p:nvPr/>
        </p:nvGraphicFramePr>
        <p:xfrm>
          <a:off x="731502" y="1097280"/>
          <a:ext cx="6095848" cy="4457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element_69162b69736e69372a242479a5cfb607"/>
          <p:cNvSpPr txBox="1"/>
          <p:nvPr/>
        </p:nvSpPr>
        <p:spPr>
          <a:xfrm>
            <a:off x="7071183" y="4440555"/>
            <a:ext cx="4145176" cy="29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Data-bound bars</a:t>
            </a:r>
            <a:endParaRPr lang="en-US" sz="1400" dirty="0"/>
          </a:p>
        </p:txBody>
      </p:sp>
      <p:sp>
        <p:nvSpPr>
          <p:cNvPr id="8" name="element_fdc71eb468553c3ca58d3c685f904076"/>
          <p:cNvSpPr txBox="1"/>
          <p:nvPr/>
        </p:nvSpPr>
        <p:spPr>
          <a:xfrm>
            <a:off x="7071183" y="4839005"/>
            <a:ext cx="4145176" cy="29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Source-linked values</a:t>
            </a:r>
            <a:endParaRPr lang="en-US" sz="1400" dirty="0"/>
          </a:p>
        </p:txBody>
      </p:sp>
      <p:sp>
        <p:nvSpPr>
          <p:cNvPr id="9" name="element_8b118cd184113f8ec75ceeff7f11dc2a"/>
          <p:cNvSpPr txBox="1"/>
          <p:nvPr/>
        </p:nvSpPr>
        <p:spPr>
          <a:xfrm>
            <a:off x="7071183" y="5237455"/>
            <a:ext cx="4145176" cy="29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Editable labels</a:t>
            </a:r>
            <a:endParaRPr lang="en-US" sz="1400" dirty="0"/>
          </a:p>
        </p:txBody>
      </p:sp>
      <p:sp>
        <p:nvSpPr>
          <p:cNvPr id="10" name="element_ea88fe39ab0b7ffb67c2070a7830ab4f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F2DED3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25ffd5c819adbbcf67a37f18b31cb7b7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F2DED3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96415bdc51073f9387151c0acf6a577c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F2DED3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18f8369cfd25b4f98caba0c85e4cfeb0"/>
          <p:cNvSpPr/>
          <p:nvPr/>
        </p:nvSpPr>
        <p:spPr>
          <a:xfrm>
            <a:off x="9627782" y="388849"/>
            <a:ext cx="1382538" cy="777697"/>
          </a:xfrm>
          <a:prstGeom prst="roundRect">
            <a:avLst/>
          </a:prstGeom>
          <a:solidFill>
            <a:srgbClr val="F2DED3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6e069e7dd3aaaa67f21212b680e354b6"/>
          <p:cNvSpPr/>
          <p:nvPr/>
        </p:nvSpPr>
        <p:spPr>
          <a:xfrm>
            <a:off x="9988656" y="591845"/>
            <a:ext cx="857076" cy="482117"/>
          </a:xfrm>
          <a:prstGeom prst="roundRect">
            <a:avLst/>
          </a:prstGeom>
          <a:solidFill>
            <a:srgbClr val="F2DED3">
              <a:alpha val="5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3370a895c7db7fd0558bda0ce5b13296"/>
          <p:cNvSpPr/>
          <p:nvPr/>
        </p:nvSpPr>
        <p:spPr>
          <a:xfrm>
            <a:off x="10314174" y="774954"/>
            <a:ext cx="552284" cy="310667"/>
          </a:xfrm>
          <a:prstGeom prst="roundRect">
            <a:avLst/>
          </a:prstGeom>
          <a:solidFill>
            <a:srgbClr val="B44A2D">
              <a:alpha val="8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3977c609bcd0f58e9ac7c966909a4dc1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7" name="element_1326d0d7a6db9f18090a0c37750ba6f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e370b8bf5d9de343e3f9c82590d773da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76f3e2690a7b6777d6c41ee12cd4aa1"/>
          <p:cNvSpPr/>
          <p:nvPr/>
        </p:nvSpPr>
        <p:spPr>
          <a:xfrm>
            <a:off x="5608180" y="1234440"/>
            <a:ext cx="5852014" cy="4114800"/>
          </a:xfrm>
          <a:prstGeom prst="roundRect">
            <a:avLst/>
          </a:prstGeom>
          <a:solidFill>
            <a:srgbClr val="F2DED3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4f70ffc34a61250861453cf30fa8c21a"/>
          <p:cNvSpPr/>
          <p:nvPr/>
        </p:nvSpPr>
        <p:spPr>
          <a:xfrm>
            <a:off x="6131204" y="2125980"/>
            <a:ext cx="327957" cy="514350"/>
          </a:xfrm>
          <a:prstGeom prst="roundRect">
            <a:avLst/>
          </a:prstGeom>
          <a:solidFill>
            <a:srgbClr val="F2DED3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e0daebd959279e95bfefadea8d09aff1"/>
          <p:cNvSpPr/>
          <p:nvPr/>
        </p:nvSpPr>
        <p:spPr>
          <a:xfrm>
            <a:off x="7113854" y="3703320"/>
            <a:ext cx="240176" cy="377190"/>
          </a:xfrm>
          <a:prstGeom prst="roundRect">
            <a:avLst/>
          </a:prstGeom>
          <a:solidFill>
            <a:srgbClr val="F2DED3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77a5616ab5a787a9a19fec1daf438f6b"/>
          <p:cNvSpPr/>
          <p:nvPr/>
        </p:nvSpPr>
        <p:spPr>
          <a:xfrm>
            <a:off x="7879493" y="2297430"/>
            <a:ext cx="196286" cy="308610"/>
          </a:xfrm>
          <a:prstGeom prst="roundRect">
            <a:avLst/>
          </a:prstGeom>
          <a:solidFill>
            <a:srgbClr val="F2DED3">
              <a:alpha val="1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9865bbe446ce66c663973bd77f3f0bce"/>
          <p:cNvSpPr/>
          <p:nvPr/>
        </p:nvSpPr>
        <p:spPr>
          <a:xfrm>
            <a:off x="8235490" y="1690497"/>
            <a:ext cx="2657790" cy="4173093"/>
          </a:xfrm>
          <a:prstGeom prst="roundRect">
            <a:avLst/>
          </a:prstGeom>
          <a:solidFill>
            <a:srgbClr val="F2DED3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a400322b8dd3c1401cea5fe3891b9396"/>
          <p:cNvSpPr/>
          <p:nvPr/>
        </p:nvSpPr>
        <p:spPr>
          <a:xfrm>
            <a:off x="8920663" y="2767203"/>
            <a:ext cx="1647098" cy="2585466"/>
          </a:xfrm>
          <a:prstGeom prst="roundRect">
            <a:avLst/>
          </a:prstGeom>
          <a:solidFill>
            <a:srgbClr val="F2DED3">
              <a:alpha val="5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f4d1ae0cbddbcdde16d3549155fecb68"/>
          <p:cNvSpPr/>
          <p:nvPr/>
        </p:nvSpPr>
        <p:spPr>
          <a:xfrm>
            <a:off x="9538782" y="3737610"/>
            <a:ext cx="1064335" cy="1669923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a8805e755249fbb7225fa52a6c1c3e0d"/>
          <p:cNvSpPr txBox="1"/>
          <p:nvPr/>
        </p:nvSpPr>
        <p:spPr>
          <a:xfrm>
            <a:off x="731502" y="445770"/>
            <a:ext cx="365750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11" name="element_73b462121e0d0b49f40631dd3dc4bb4c"/>
          <p:cNvSpPr txBox="1"/>
          <p:nvPr/>
        </p:nvSpPr>
        <p:spPr>
          <a:xfrm>
            <a:off x="731502" y="1234440"/>
            <a:ext cx="4145176" cy="1882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5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12" name="element_650011d3168699eeddf571e3fe7e0a61"/>
          <p:cNvSpPr txBox="1"/>
          <p:nvPr/>
        </p:nvSpPr>
        <p:spPr>
          <a:xfrm>
            <a:off x="731502" y="3356991"/>
            <a:ext cx="4145176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6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qualitative review questions until measured evidence is supplied.</a:t>
            </a:r>
            <a:endParaRPr lang="en-US" sz="1600" dirty="0"/>
          </a:p>
        </p:txBody>
      </p:sp>
      <p:sp>
        <p:nvSpPr>
          <p:cNvPr id="13" name="element_8578307439fd4295f0a1b77dd8c987cf"/>
          <p:cNvSpPr txBox="1"/>
          <p:nvPr/>
        </p:nvSpPr>
        <p:spPr>
          <a:xfrm>
            <a:off x="731502" y="5280660"/>
            <a:ext cx="4145176" cy="758495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Honor explicit slide-count and presentation constraints in the brief</a:t>
            </a:r>
            <a:endParaRPr lang="en-US" sz="1400" dirty="0"/>
          </a:p>
        </p:txBody>
      </p:sp>
      <p:sp>
        <p:nvSpPr>
          <p:cNvPr id="14" name="element_4aac61d7205c22d42094950d218f0ab3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13ad69590c6de7d67f9f3f0c25ff127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9474fe0e4b7089e31a716491b594afc5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d5bcc9488c9e1921e3ca72e5e38a821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3a6cfc50f5d399f9431a265b21bd4661"/>
          <p:cNvSpPr txBox="1"/>
          <p:nvPr/>
        </p:nvSpPr>
        <p:spPr>
          <a:xfrm>
            <a:off x="853419" y="1028700"/>
            <a:ext cx="96314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4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600" dirty="0"/>
          </a:p>
        </p:txBody>
      </p:sp>
      <p:sp>
        <p:nvSpPr>
          <p:cNvPr id="5" name="element_aa6d3ac62b916d5b46b6af4c19337152"/>
          <p:cNvSpPr/>
          <p:nvPr/>
        </p:nvSpPr>
        <p:spPr>
          <a:xfrm>
            <a:off x="853419" y="2400300"/>
            <a:ext cx="3291758" cy="219456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6" name="element_19ab85d44015f6e8e4e9fd862c5d4aa2"/>
          <p:cNvSpPr txBox="1"/>
          <p:nvPr/>
        </p:nvSpPr>
        <p:spPr>
          <a:xfrm>
            <a:off x="1097253" y="253746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Agree the outcome</a:t>
            </a:r>
            <a:endParaRPr lang="en-US" sz="1600" dirty="0"/>
          </a:p>
        </p:txBody>
      </p:sp>
      <p:sp>
        <p:nvSpPr>
          <p:cNvPr id="7" name="element_549b2449299b32b548758e9137b2a5c0"/>
          <p:cNvSpPr/>
          <p:nvPr/>
        </p:nvSpPr>
        <p:spPr>
          <a:xfrm>
            <a:off x="4449969" y="2400300"/>
            <a:ext cx="3291758" cy="219456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8" name="element_6c77384c80f57595889c283cd4122b13"/>
          <p:cNvSpPr txBox="1"/>
          <p:nvPr/>
        </p:nvSpPr>
        <p:spPr>
          <a:xfrm>
            <a:off x="4693803" y="253746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Name the owner</a:t>
            </a:r>
            <a:endParaRPr lang="en-US" sz="1600" dirty="0"/>
          </a:p>
        </p:txBody>
      </p:sp>
      <p:sp>
        <p:nvSpPr>
          <p:cNvPr id="9" name="element_02e9d2ff2f93a44afcd6dc59b598e50e"/>
          <p:cNvSpPr/>
          <p:nvPr/>
        </p:nvSpPr>
        <p:spPr>
          <a:xfrm>
            <a:off x="8046519" y="2400300"/>
            <a:ext cx="3291758" cy="219456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0" name="element_460787ca86ae326a5c30ac60567d9aa3"/>
          <p:cNvSpPr txBox="1"/>
          <p:nvPr/>
        </p:nvSpPr>
        <p:spPr>
          <a:xfrm>
            <a:off x="8290353" y="253746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Set the next checkpoint</a:t>
            </a:r>
            <a:endParaRPr lang="en-US" sz="1600" dirty="0"/>
          </a:p>
        </p:txBody>
      </p:sp>
      <p:sp>
        <p:nvSpPr>
          <p:cNvPr id="11" name="element_e828d8d18902f7206630c9a1ee9aa4cd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F2DED3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feb115c4518ef8e311969422d78ea932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F2DED3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ce55b4f1edb78f7edf1b1c4ca4845245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F2DED3">
              <a:alpha val="1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0ae4c0622fa7952ec70c4d5a159bcf94"/>
          <p:cNvSpPr/>
          <p:nvPr/>
        </p:nvSpPr>
        <p:spPr>
          <a:xfrm>
            <a:off x="9546097" y="342900"/>
            <a:ext cx="1584920" cy="891540"/>
          </a:xfrm>
          <a:prstGeom prst="roundRect">
            <a:avLst/>
          </a:prstGeom>
          <a:solidFill>
            <a:srgbClr val="F2DED3">
              <a:alpha val="4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915f3390ba9decb525cafc494a2a47bc"/>
          <p:cNvSpPr/>
          <p:nvPr/>
        </p:nvSpPr>
        <p:spPr>
          <a:xfrm>
            <a:off x="9948423" y="569214"/>
            <a:ext cx="982651" cy="552755"/>
          </a:xfrm>
          <a:prstGeom prst="roundRect">
            <a:avLst/>
          </a:prstGeom>
          <a:solidFill>
            <a:srgbClr val="F2DED3">
              <a:alpha val="6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216e9383a813ff2ca2c9b3692237a874"/>
          <p:cNvSpPr/>
          <p:nvPr/>
        </p:nvSpPr>
        <p:spPr>
          <a:xfrm>
            <a:off x="10314174" y="774954"/>
            <a:ext cx="633968" cy="356616"/>
          </a:xfrm>
          <a:prstGeom prst="roundRect">
            <a:avLst/>
          </a:prstGeom>
          <a:solidFill>
            <a:srgbClr val="B44A2D">
              <a:alpha val="7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77be68d3df99a2f388346e11699446c2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4906dd7d2e417c759acfe3b02fe7bff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NodeSlide local handoff — structured chart fixture</dc:title>
  <dc:subject>Create an editable, reviewable presentation from this idea</dc:subject>
  <dc:creator>NodeSlide</dc:creator>
  <cp:lastModifiedBy>NodeSlide</cp:lastModifiedBy>
  <cp:revision>1</cp:revision>
  <dcterms:created xsi:type="dcterms:W3CDTF">2026-09-05T12:05:56Z</dcterms:created>
  <dcterms:modified xsi:type="dcterms:W3CDTF">2026-09-05T12:05:56Z</dcterms:modified>
</cp:coreProperties>
</file>