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pilot only. Review 100 → 120 → 140 units; reference 00123 remains text.
Decision: prototype after checking the budget. 中文交接 — no external claims.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Composition grammar: process-canvas. Keep the spoken transition focused on "The cost of waiting is usually hidden in repeated work."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Composition grammar: scene-stage. Keep the spoken transition focused on "A better outcome starts with a sharper point of view."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Composition grammar: scene-stage. Keep the spoken transition focused on "Turn the idea into a sequence people can understand and own."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Composition grammar: scene-stage. Keep the spoken transition focused on "Define proof before asking for commitment."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
[source_a481aeee6d24a6dc939af76ab92f3cf3] Brief success criteria
Citation: Honor explicit slide-count and presentation constraints in the brief; Use only claims and artifact types supported by the supplied brief and evidence; Validation passes before presentation, export, or publication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Composition grammar: evidence-dossier. Keep the spoken transition focused on "Create an editable, reviewable presentation from this idea"
Evidence note: Content is based on the supplied creation brief. Illustrative examples are not independently verified; replace them with measured evidence before external publication.
NodeSlide sources
[source_3acc3aa444ea8506995c798cc70fb28c] Create a six-slide decision review for a fictional sourcing pilot — creation brief
Citation: Create a six-slide decision review for a fictional sourcing pilot. All data are illustrative test inputs: pilot volume 100, 120, and 140 units over three months; budget 2000 dollars. Include an editable chart, clearly label assumptions, and end with the decision to run a small prototype. Do not invent external sources.
Disclaimer: Internal working material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b98a4e3cdf139a3e193e53a40ba42f0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d938337190117e0bd4b0fe8cc1c66f"/>
          <p:cNvSpPr txBox="1"/>
          <p:nvPr/>
        </p:nvSpPr>
        <p:spPr>
          <a:xfrm>
            <a:off x="853419" y="2185645"/>
            <a:ext cx="10484858" cy="2487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6400" b="1" spc="-12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6400" dirty="0"/>
          </a:p>
        </p:txBody>
      </p:sp>
      <p:sp>
        <p:nvSpPr>
          <p:cNvPr id="4" name="element_100280e39c028ed30ff6559b6b09a6dc"/>
          <p:cNvSpPr/>
          <p:nvPr/>
        </p:nvSpPr>
        <p:spPr>
          <a:xfrm>
            <a:off x="9875273" y="4809515"/>
            <a:ext cx="1463003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ae7fa060a8b1db5139c185efbf63da59"/>
          <p:cNvSpPr txBox="1"/>
          <p:nvPr/>
        </p:nvSpPr>
        <p:spPr>
          <a:xfrm>
            <a:off x="6461598" y="41148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6" name="element_d3ccdd2123138fae0ad275b42692a3b6"/>
          <p:cNvSpPr/>
          <p:nvPr/>
        </p:nvSpPr>
        <p:spPr>
          <a:xfrm>
            <a:off x="3596550" y="452628"/>
            <a:ext cx="182875" cy="102870"/>
          </a:xfrm>
          <a:prstGeom prst="roundRect">
            <a:avLst/>
          </a:prstGeom>
          <a:solidFill>
            <a:srgbClr val="F2DED3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f46031658fc6ff93d20ca49d4573766b"/>
          <p:cNvSpPr/>
          <p:nvPr/>
        </p:nvSpPr>
        <p:spPr>
          <a:xfrm>
            <a:off x="3096691" y="768096"/>
            <a:ext cx="134109" cy="75438"/>
          </a:xfrm>
          <a:prstGeom prst="roundRect">
            <a:avLst/>
          </a:prstGeom>
          <a:solidFill>
            <a:srgbClr val="F2DED3">
              <a:alpha val="4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286a3432e501a159a10e4a75b859b09"/>
          <p:cNvSpPr/>
          <p:nvPr/>
        </p:nvSpPr>
        <p:spPr>
          <a:xfrm>
            <a:off x="2694365" y="486918"/>
            <a:ext cx="121917" cy="68580"/>
          </a:xfrm>
          <a:prstGeom prst="roundRect">
            <a:avLst/>
          </a:prstGeom>
          <a:solidFill>
            <a:srgbClr val="F2DED3">
              <a:alpha val="3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aa56f6605f04f78fcd34266b5a904f4"/>
          <p:cNvSpPr/>
          <p:nvPr/>
        </p:nvSpPr>
        <p:spPr>
          <a:xfrm>
            <a:off x="1364251" y="457429"/>
            <a:ext cx="1077746" cy="606247"/>
          </a:xfrm>
          <a:prstGeom prst="roundRect">
            <a:avLst/>
          </a:prstGeom>
          <a:solidFill>
            <a:srgbClr val="F2DED3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75fbb74d3b6d1a5262dc8b092897846a"/>
          <p:cNvSpPr/>
          <p:nvPr/>
        </p:nvSpPr>
        <p:spPr>
          <a:xfrm>
            <a:off x="1473976" y="626135"/>
            <a:ext cx="668105" cy="375818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element_82a649a8b4417c9295938bea3b85e5a9"/>
          <p:cNvSpPr/>
          <p:nvPr/>
        </p:nvSpPr>
        <p:spPr>
          <a:xfrm>
            <a:off x="1447154" y="774954"/>
            <a:ext cx="430367" cy="242087"/>
          </a:xfrm>
          <a:prstGeom prst="roundRect">
            <a:avLst/>
          </a:prstGeom>
          <a:solidFill>
            <a:srgbClr val="B44A2D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d04d3d0e6c5e1e1b8333c01a229aa66c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ff89f684bae6c48f7aee20178913076c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a484a1c29bbf2d8d7bed4f8189f1ffdd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3bee2c00c1d407385153bdab1931b852"/>
          <p:cNvSpPr txBox="1"/>
          <p:nvPr/>
        </p:nvSpPr>
        <p:spPr>
          <a:xfrm>
            <a:off x="1706837" y="514350"/>
            <a:ext cx="8778021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56720175478d4d35a5a426f6e773c33b"/>
          <p:cNvSpPr txBox="1"/>
          <p:nvPr/>
        </p:nvSpPr>
        <p:spPr>
          <a:xfrm>
            <a:off x="975336" y="1028700"/>
            <a:ext cx="5120512" cy="1676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200" dirty="0"/>
          </a:p>
        </p:txBody>
      </p:sp>
      <p:sp>
        <p:nvSpPr>
          <p:cNvPr id="5" name="element_998e62e671e5da309ce9cf950c2aa95d"/>
          <p:cNvSpPr/>
          <p:nvPr/>
        </p:nvSpPr>
        <p:spPr>
          <a:xfrm>
            <a:off x="2926007" y="32918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6" name="element_ce5c2c012a3a5c4c2940504f48e4fc02"/>
          <p:cNvSpPr/>
          <p:nvPr/>
        </p:nvSpPr>
        <p:spPr>
          <a:xfrm>
            <a:off x="2926007" y="4320540"/>
            <a:ext cx="243834" cy="342900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7" name="element_8bd567afcb3fac2d043be0e7d01993ef"/>
          <p:cNvSpPr/>
          <p:nvPr/>
        </p:nvSpPr>
        <p:spPr>
          <a:xfrm>
            <a:off x="975336" y="26060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bd567afcb3fac2d043be0e7d01993ef:text"/>
          <p:cNvSpPr txBox="1"/>
          <p:nvPr/>
        </p:nvSpPr>
        <p:spPr>
          <a:xfrm>
            <a:off x="975336" y="26060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400" dirty="0"/>
          </a:p>
        </p:txBody>
      </p:sp>
      <p:sp>
        <p:nvSpPr>
          <p:cNvPr id="9" name="element_a3fc2da0461cb1fe719b1c3e15ddc434"/>
          <p:cNvSpPr/>
          <p:nvPr/>
        </p:nvSpPr>
        <p:spPr>
          <a:xfrm>
            <a:off x="975336" y="3634740"/>
            <a:ext cx="4145176" cy="68580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a3fc2da0461cb1fe719b1c3e15ddc434:text"/>
          <p:cNvSpPr txBox="1"/>
          <p:nvPr/>
        </p:nvSpPr>
        <p:spPr>
          <a:xfrm>
            <a:off x="975336" y="36347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11" name="element_5249c86e59cff5447b0cb6e1123ce57b"/>
          <p:cNvSpPr/>
          <p:nvPr/>
        </p:nvSpPr>
        <p:spPr>
          <a:xfrm>
            <a:off x="975336" y="4663440"/>
            <a:ext cx="4145176" cy="68580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5249c86e59cff5447b0cb6e1123ce57b:text"/>
          <p:cNvSpPr txBox="1"/>
          <p:nvPr/>
        </p:nvSpPr>
        <p:spPr>
          <a:xfrm>
            <a:off x="975336" y="4663440"/>
            <a:ext cx="4145176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300" dirty="0"/>
          </a:p>
        </p:txBody>
      </p:sp>
      <p:sp>
        <p:nvSpPr>
          <p:cNvPr id="13" name="element_a302e122c17500ce387181a64a87878f"/>
          <p:cNvSpPr txBox="1"/>
          <p:nvPr/>
        </p:nvSpPr>
        <p:spPr>
          <a:xfrm>
            <a:off x="6339682" y="2743200"/>
            <a:ext cx="463284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600" dirty="0"/>
          </a:p>
        </p:txBody>
      </p:sp>
      <p:sp>
        <p:nvSpPr>
          <p:cNvPr id="14" name="element_fb19912f0f857d0de8b946117546bb57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fa1ca9c397de5f0af93e04f6d2ae2a93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4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5a037912fad8e736df7543d10f7b1b4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3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4652da30dca5ae0176bb93bdb34efa68"/>
          <p:cNvSpPr/>
          <p:nvPr/>
        </p:nvSpPr>
        <p:spPr>
          <a:xfrm>
            <a:off x="9708247" y="434111"/>
            <a:ext cx="1178937" cy="663169"/>
          </a:xfrm>
          <a:prstGeom prst="roundRect">
            <a:avLst/>
          </a:prstGeom>
          <a:solidFill>
            <a:srgbClr val="F2DED3">
              <a:alpha val="2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element_a55caee39d83853e75643d57afe3d908"/>
          <p:cNvSpPr/>
          <p:nvPr/>
        </p:nvSpPr>
        <p:spPr>
          <a:xfrm>
            <a:off x="10030108" y="615163"/>
            <a:ext cx="730283" cy="410794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element_bc134b3994c7fe1bff0a188488cf953c"/>
          <p:cNvSpPr/>
          <p:nvPr/>
        </p:nvSpPr>
        <p:spPr>
          <a:xfrm>
            <a:off x="10314174" y="774954"/>
            <a:ext cx="471819" cy="265405"/>
          </a:xfrm>
          <a:prstGeom prst="roundRect">
            <a:avLst/>
          </a:prstGeom>
          <a:solidFill>
            <a:srgbClr val="B44A2D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element_46a962e22a80c6b50cf5ded9923ce389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21" name="element_edb524f50cbb01cf14ebdbe2758d51fd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3d0d1cd479afab8466feef118761c736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b17631af3f6d6ecca6017e044dbf54a"/>
          <p:cNvSpPr/>
          <p:nvPr/>
        </p:nvSpPr>
        <p:spPr>
          <a:xfrm>
            <a:off x="731502" y="1920240"/>
            <a:ext cx="5120512" cy="301752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a2501f534fe28934d60d619c1a51d447"/>
          <p:cNvSpPr/>
          <p:nvPr/>
        </p:nvSpPr>
        <p:spPr>
          <a:xfrm>
            <a:off x="5077841" y="2636215"/>
            <a:ext cx="281628" cy="349758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97d5932ac6c1375ffd540822fc22c2aa"/>
          <p:cNvSpPr/>
          <p:nvPr/>
        </p:nvSpPr>
        <p:spPr>
          <a:xfrm>
            <a:off x="4306107" y="3708806"/>
            <a:ext cx="207259" cy="256489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b3111d35736cb652247963f9ad7e8394"/>
          <p:cNvSpPr/>
          <p:nvPr/>
        </p:nvSpPr>
        <p:spPr>
          <a:xfrm>
            <a:off x="3685549" y="2752801"/>
            <a:ext cx="169465" cy="209855"/>
          </a:xfrm>
          <a:prstGeom prst="roundRect">
            <a:avLst/>
          </a:prstGeom>
          <a:solidFill>
            <a:srgbClr val="F2DED3">
              <a:alpha val="2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7fe15fb13b2af4ac45be3a2a89cc9557"/>
          <p:cNvSpPr/>
          <p:nvPr/>
        </p:nvSpPr>
        <p:spPr>
          <a:xfrm>
            <a:off x="1449593" y="2496312"/>
            <a:ext cx="1973835" cy="2448306"/>
          </a:xfrm>
          <a:prstGeom prst="roundRect">
            <a:avLst/>
          </a:prstGeom>
          <a:solidFill>
            <a:srgbClr val="F2DED3">
              <a:alpha val="3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75ffabcd081ee461faffcc194478fb63"/>
          <p:cNvSpPr/>
          <p:nvPr/>
        </p:nvSpPr>
        <p:spPr>
          <a:xfrm>
            <a:off x="1672701" y="3149194"/>
            <a:ext cx="1224046" cy="1517675"/>
          </a:xfrm>
          <a:prstGeom prst="roundRect">
            <a:avLst/>
          </a:prstGeom>
          <a:solidFill>
            <a:srgbClr val="F2DED3">
              <a:alpha val="4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774683aadd77ade74400439d5fb6373"/>
          <p:cNvSpPr/>
          <p:nvPr/>
        </p:nvSpPr>
        <p:spPr>
          <a:xfrm>
            <a:off x="1637345" y="3732124"/>
            <a:ext cx="790022" cy="979322"/>
          </a:xfrm>
          <a:prstGeom prst="roundRect">
            <a:avLst/>
          </a:prstGeom>
          <a:solidFill>
            <a:srgbClr val="B44A2D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ed759f9e083bd57e118bad53ca0946de"/>
          <p:cNvSpPr txBox="1"/>
          <p:nvPr/>
        </p:nvSpPr>
        <p:spPr>
          <a:xfrm>
            <a:off x="7802685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11" name="element_50dd7541cc7a76b4b4b7308deae27df6"/>
          <p:cNvSpPr txBox="1"/>
          <p:nvPr/>
        </p:nvSpPr>
        <p:spPr>
          <a:xfrm>
            <a:off x="6583515" y="1234440"/>
            <a:ext cx="4876678" cy="208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500" dirty="0"/>
          </a:p>
        </p:txBody>
      </p:sp>
      <p:sp>
        <p:nvSpPr>
          <p:cNvPr id="12" name="element_cd258671c60f4f4c940924ac9017275e"/>
          <p:cNvSpPr txBox="1"/>
          <p:nvPr/>
        </p:nvSpPr>
        <p:spPr>
          <a:xfrm>
            <a:off x="6583515" y="3554501"/>
            <a:ext cx="4876678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six-slide decision review for a fictional sourcing pilot. All data are illustrative test inputs: pilot volume 100, 120, and 140 units over three months; budget 2000 dollars. Include an editable chart, clearly label assumptions, and end with the decis…</a:t>
            </a:r>
            <a:endParaRPr lang="en-US" sz="1400" dirty="0"/>
          </a:p>
        </p:txBody>
      </p:sp>
      <p:sp>
        <p:nvSpPr>
          <p:cNvPr id="13" name="element_9c095d169a4fb347629f2a8047a4524a"/>
          <p:cNvSpPr txBox="1"/>
          <p:nvPr/>
        </p:nvSpPr>
        <p:spPr>
          <a:xfrm>
            <a:off x="6583515" y="5280660"/>
            <a:ext cx="4876678" cy="82296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600" dirty="0"/>
          </a:p>
        </p:txBody>
      </p:sp>
      <p:sp>
        <p:nvSpPr>
          <p:cNvPr id="14" name="element_d478efaf9e1b0246273728a8f13f0a43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0522aeb592512fd75b905ec8581234b7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79096078a4b5bfb1b3e6d87497ad3e37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fa3c8b18e9f6a2e239e7164989ed2e44"/>
          <p:cNvSpPr/>
          <p:nvPr/>
        </p:nvSpPr>
        <p:spPr>
          <a:xfrm>
            <a:off x="731502" y="1577340"/>
            <a:ext cx="5608180" cy="356616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4f01ba21da6a905e197246bf744eed7f"/>
          <p:cNvSpPr/>
          <p:nvPr/>
        </p:nvSpPr>
        <p:spPr>
          <a:xfrm>
            <a:off x="1244772" y="2381098"/>
            <a:ext cx="312107" cy="432054"/>
          </a:xfrm>
          <a:prstGeom prst="roundRect">
            <a:avLst/>
          </a:prstGeom>
          <a:solidFill>
            <a:srgbClr val="F2DED3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cb25e14d22b2784d0b4c18bf693840d"/>
          <p:cNvSpPr/>
          <p:nvPr/>
        </p:nvSpPr>
        <p:spPr>
          <a:xfrm>
            <a:off x="2182313" y="3706063"/>
            <a:ext cx="229204" cy="316840"/>
          </a:xfrm>
          <a:prstGeom prst="roundRect">
            <a:avLst/>
          </a:prstGeom>
          <a:solidFill>
            <a:srgbClr val="F2DED3">
              <a:alpha val="2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4c2ec43b87c49458b4dbc2a95e232004"/>
          <p:cNvSpPr/>
          <p:nvPr/>
        </p:nvSpPr>
        <p:spPr>
          <a:xfrm>
            <a:off x="2910158" y="2525116"/>
            <a:ext cx="187752" cy="259232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add3969b2450946b34e351d17ada7ee5"/>
          <p:cNvSpPr/>
          <p:nvPr/>
        </p:nvSpPr>
        <p:spPr>
          <a:xfrm>
            <a:off x="3321018" y="2112950"/>
            <a:ext cx="2361531" cy="3266465"/>
          </a:xfrm>
          <a:prstGeom prst="roundRect">
            <a:avLst/>
          </a:prstGeom>
          <a:solidFill>
            <a:srgbClr val="F2DED3">
              <a:alpha val="3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dcd36ed2a68529de83b10be0bb80e18b"/>
          <p:cNvSpPr/>
          <p:nvPr/>
        </p:nvSpPr>
        <p:spPr>
          <a:xfrm>
            <a:off x="3937918" y="2966085"/>
            <a:ext cx="1464223" cy="2025167"/>
          </a:xfrm>
          <a:prstGeom prst="roundRect">
            <a:avLst/>
          </a:prstGeom>
          <a:solidFill>
            <a:srgbClr val="F2DED3">
              <a:alpha val="5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94f4340538fe759c8aa7eaabc07dcdc0"/>
          <p:cNvSpPr/>
          <p:nvPr/>
        </p:nvSpPr>
        <p:spPr>
          <a:xfrm>
            <a:off x="4493859" y="3734867"/>
            <a:ext cx="943637" cy="1305077"/>
          </a:xfrm>
          <a:prstGeom prst="roundRect">
            <a:avLst/>
          </a:prstGeom>
          <a:solidFill>
            <a:srgbClr val="B44A2D">
              <a:alpha val="8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a500eaec294750e6511e93446d50022e"/>
          <p:cNvSpPr txBox="1"/>
          <p:nvPr/>
        </p:nvSpPr>
        <p:spPr>
          <a:xfrm>
            <a:off x="7315017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11" name="element_dc8990f8f09e8543ffcf3a3543b33fdf"/>
          <p:cNvSpPr txBox="1"/>
          <p:nvPr/>
        </p:nvSpPr>
        <p:spPr>
          <a:xfrm>
            <a:off x="7315017" y="1234440"/>
            <a:ext cx="4145176" cy="2245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400" dirty="0"/>
          </a:p>
        </p:txBody>
      </p:sp>
      <p:sp>
        <p:nvSpPr>
          <p:cNvPr id="12" name="element_5529b93c0150291ce3b5dac3d3ad8563"/>
          <p:cNvSpPr txBox="1"/>
          <p:nvPr/>
        </p:nvSpPr>
        <p:spPr>
          <a:xfrm>
            <a:off x="7315017" y="3719779"/>
            <a:ext cx="4145176" cy="1423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600" dirty="0"/>
          </a:p>
        </p:txBody>
      </p:sp>
      <p:sp>
        <p:nvSpPr>
          <p:cNvPr id="13" name="element_f67e5657ceb0d46c8af9a479701a6e34"/>
          <p:cNvSpPr txBox="1"/>
          <p:nvPr/>
        </p:nvSpPr>
        <p:spPr>
          <a:xfrm>
            <a:off x="7315017" y="5280660"/>
            <a:ext cx="4145176" cy="7543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Align on intent</a:t>
            </a:r>
            <a:endParaRPr lang="en-US" sz="1600" dirty="0"/>
          </a:p>
        </p:txBody>
      </p:sp>
      <p:sp>
        <p:nvSpPr>
          <p:cNvPr id="14" name="element_b7359a1c37d7f6ad1579de37fc2b57df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8e02599aadda444b918e2970e204755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8ec920c169be3b6d9b3d36743a112fb4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8148105e79faf6190f174f74b4cb22e"/>
          <p:cNvSpPr/>
          <p:nvPr/>
        </p:nvSpPr>
        <p:spPr>
          <a:xfrm>
            <a:off x="5608180" y="1234440"/>
            <a:ext cx="5852014" cy="411480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element_3d8faa149748262b03e3ad21a5af8f2a"/>
          <p:cNvSpPr/>
          <p:nvPr/>
        </p:nvSpPr>
        <p:spPr>
          <a:xfrm>
            <a:off x="6131204" y="2125980"/>
            <a:ext cx="327957" cy="514350"/>
          </a:xfrm>
          <a:prstGeom prst="roundRect">
            <a:avLst/>
          </a:prstGeom>
          <a:solidFill>
            <a:srgbClr val="F2DED3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element_48abb187bcfbd20092f677d070b66edc"/>
          <p:cNvSpPr/>
          <p:nvPr/>
        </p:nvSpPr>
        <p:spPr>
          <a:xfrm>
            <a:off x="7113854" y="3703320"/>
            <a:ext cx="240176" cy="377190"/>
          </a:xfrm>
          <a:prstGeom prst="roundRect">
            <a:avLst/>
          </a:prstGeom>
          <a:solidFill>
            <a:srgbClr val="F2DED3">
              <a:alpha val="2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element_d4d91142af1744bccfcee0d9c0c573bb"/>
          <p:cNvSpPr/>
          <p:nvPr/>
        </p:nvSpPr>
        <p:spPr>
          <a:xfrm>
            <a:off x="7879493" y="2297430"/>
            <a:ext cx="196286" cy="308610"/>
          </a:xfrm>
          <a:prstGeom prst="roundRect">
            <a:avLst/>
          </a:prstGeom>
          <a:solidFill>
            <a:srgbClr val="F2DED3">
              <a:alpha val="1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element_4cdd0517ab2dc50187df5be97445a4a2"/>
          <p:cNvSpPr/>
          <p:nvPr/>
        </p:nvSpPr>
        <p:spPr>
          <a:xfrm>
            <a:off x="8235490" y="1690497"/>
            <a:ext cx="2657790" cy="4173093"/>
          </a:xfrm>
          <a:prstGeom prst="roundRect">
            <a:avLst/>
          </a:prstGeom>
          <a:solidFill>
            <a:srgbClr val="F2DED3">
              <a:alpha val="4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element_f5feaeefc96bc94f76a00a058e79f817"/>
          <p:cNvSpPr/>
          <p:nvPr/>
        </p:nvSpPr>
        <p:spPr>
          <a:xfrm>
            <a:off x="8920663" y="2767203"/>
            <a:ext cx="1647098" cy="2585466"/>
          </a:xfrm>
          <a:prstGeom prst="roundRect">
            <a:avLst/>
          </a:prstGeom>
          <a:solidFill>
            <a:srgbClr val="F2DED3">
              <a:alpha val="5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element_47ba9cf2d22c03ec4fca366dca670b48"/>
          <p:cNvSpPr/>
          <p:nvPr/>
        </p:nvSpPr>
        <p:spPr>
          <a:xfrm>
            <a:off x="9538782" y="3737610"/>
            <a:ext cx="1064335" cy="1669923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element_d6438d926f922cac02512592e2827f2b"/>
          <p:cNvSpPr txBox="1"/>
          <p:nvPr/>
        </p:nvSpPr>
        <p:spPr>
          <a:xfrm>
            <a:off x="731502" y="445770"/>
            <a:ext cx="365750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11" name="element_ad09cff7bb5ade35bfa9f6ba4bc235f7"/>
          <p:cNvSpPr txBox="1"/>
          <p:nvPr/>
        </p:nvSpPr>
        <p:spPr>
          <a:xfrm>
            <a:off x="731502" y="1234440"/>
            <a:ext cx="4145176" cy="1882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5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12" name="element_3333e6a8df561bf0f9d081ce885a6a9e"/>
          <p:cNvSpPr txBox="1"/>
          <p:nvPr/>
        </p:nvSpPr>
        <p:spPr>
          <a:xfrm>
            <a:off x="731502" y="3356991"/>
            <a:ext cx="4145176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6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qualitative review questions until measured evidence is supplied.</a:t>
            </a:r>
            <a:endParaRPr lang="en-US" sz="1600" dirty="0"/>
          </a:p>
        </p:txBody>
      </p:sp>
      <p:sp>
        <p:nvSpPr>
          <p:cNvPr id="13" name="element_3dffa0e125ea8a82533922e8d7ef6861"/>
          <p:cNvSpPr txBox="1"/>
          <p:nvPr/>
        </p:nvSpPr>
        <p:spPr>
          <a:xfrm>
            <a:off x="731502" y="5280660"/>
            <a:ext cx="4145176" cy="758495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Honor explicit slide-count and presentation constraints in the brief</a:t>
            </a:r>
            <a:endParaRPr lang="en-US" sz="1400" dirty="0"/>
          </a:p>
        </p:txBody>
      </p:sp>
      <p:sp>
        <p:nvSpPr>
          <p:cNvPr id="14" name="element_eb475dfdc98ba02e5ce164a003b21b1b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5" name="element_3c5fa9a9dc4b36231fb0bc76e80c2a3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deslide-slide-id:slide_d5079c95c5daf2bd4697bb9f2cd7cb5c"/>
          <p:cNvSpPr/>
          <p:nvPr/>
        </p:nvSpPr>
        <p:spPr>
          <a:xfrm>
            <a:off x="0" y="0"/>
            <a:ext cx="914" cy="91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1c4e3286a24f25917f50f81ae5840df"/>
          <p:cNvSpPr txBox="1"/>
          <p:nvPr/>
        </p:nvSpPr>
        <p:spPr>
          <a:xfrm>
            <a:off x="853419" y="445770"/>
            <a:ext cx="487667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3b09c597187f1de74fb0df642255eab0"/>
          <p:cNvSpPr txBox="1"/>
          <p:nvPr/>
        </p:nvSpPr>
        <p:spPr>
          <a:xfrm>
            <a:off x="853419" y="1028700"/>
            <a:ext cx="963143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b="1" spc="-4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600" dirty="0"/>
          </a:p>
        </p:txBody>
      </p:sp>
      <p:sp>
        <p:nvSpPr>
          <p:cNvPr id="5" name="element_b1d3ed697393488a705cb772ea9b47d5"/>
          <p:cNvSpPr/>
          <p:nvPr/>
        </p:nvSpPr>
        <p:spPr>
          <a:xfrm>
            <a:off x="8534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6" name="element_48a72e1b6d156619d44f9ca3fa3d4b8c"/>
          <p:cNvSpPr txBox="1"/>
          <p:nvPr/>
        </p:nvSpPr>
        <p:spPr>
          <a:xfrm>
            <a:off x="10972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Agree the outcome</a:t>
            </a:r>
            <a:endParaRPr lang="en-US" sz="1600" dirty="0"/>
          </a:p>
        </p:txBody>
      </p:sp>
      <p:sp>
        <p:nvSpPr>
          <p:cNvPr id="7" name="element_39790e5987345feb43a41dbfd286504e"/>
          <p:cNvSpPr/>
          <p:nvPr/>
        </p:nvSpPr>
        <p:spPr>
          <a:xfrm>
            <a:off x="444996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8" name="element_87bfcb51afc6f745166702e62707ff5c"/>
          <p:cNvSpPr txBox="1"/>
          <p:nvPr/>
        </p:nvSpPr>
        <p:spPr>
          <a:xfrm>
            <a:off x="469380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Name the owner</a:t>
            </a:r>
            <a:endParaRPr lang="en-US" sz="1600" dirty="0"/>
          </a:p>
        </p:txBody>
      </p:sp>
      <p:sp>
        <p:nvSpPr>
          <p:cNvPr id="9" name="element_6e14cb1a77798669748777c24fc44a1f"/>
          <p:cNvSpPr/>
          <p:nvPr/>
        </p:nvSpPr>
        <p:spPr>
          <a:xfrm>
            <a:off x="8046519" y="2400300"/>
            <a:ext cx="3291758" cy="219456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element_67d7c231ef9fddee89d88f081d35d9e7"/>
          <p:cNvSpPr txBox="1"/>
          <p:nvPr/>
        </p:nvSpPr>
        <p:spPr>
          <a:xfrm>
            <a:off x="8290353" y="2537460"/>
            <a:ext cx="280409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4452C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Set the next checkpoint</a:t>
            </a:r>
            <a:endParaRPr lang="en-US" sz="1600" dirty="0"/>
          </a:p>
        </p:txBody>
      </p:sp>
      <p:sp>
        <p:nvSpPr>
          <p:cNvPr id="11" name="element_5aeb8bbe21918c0217b819a5ffba8ed0"/>
          <p:cNvSpPr/>
          <p:nvPr/>
        </p:nvSpPr>
        <p:spPr>
          <a:xfrm>
            <a:off x="8412270" y="452628"/>
            <a:ext cx="182875" cy="102870"/>
          </a:xfrm>
          <a:prstGeom prst="roundRect">
            <a:avLst/>
          </a:prstGeom>
          <a:solidFill>
            <a:srgbClr val="F2DED3">
              <a:alpha val="1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element_4f81cdad99d291ed8df703af04cae6ee"/>
          <p:cNvSpPr/>
          <p:nvPr/>
        </p:nvSpPr>
        <p:spPr>
          <a:xfrm>
            <a:off x="8960896" y="768096"/>
            <a:ext cx="134109" cy="75438"/>
          </a:xfrm>
          <a:prstGeom prst="roundRect">
            <a:avLst/>
          </a:prstGeom>
          <a:solidFill>
            <a:srgbClr val="F2DED3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element_60c2c07ef17403a70177616525207250"/>
          <p:cNvSpPr/>
          <p:nvPr/>
        </p:nvSpPr>
        <p:spPr>
          <a:xfrm>
            <a:off x="9387605" y="486918"/>
            <a:ext cx="121917" cy="68580"/>
          </a:xfrm>
          <a:prstGeom prst="roundRect">
            <a:avLst/>
          </a:prstGeom>
          <a:solidFill>
            <a:srgbClr val="F2DED3">
              <a:alpha val="11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element_faac9b36634dd099bde425e8c0e955a2"/>
          <p:cNvSpPr/>
          <p:nvPr/>
        </p:nvSpPr>
        <p:spPr>
          <a:xfrm>
            <a:off x="9546097" y="342900"/>
            <a:ext cx="1584920" cy="891540"/>
          </a:xfrm>
          <a:prstGeom prst="roundRect">
            <a:avLst/>
          </a:prstGeom>
          <a:solidFill>
            <a:srgbClr val="F2DED3">
              <a:alpha val="4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element_57fa192ef450d137da1532af696b28c4"/>
          <p:cNvSpPr/>
          <p:nvPr/>
        </p:nvSpPr>
        <p:spPr>
          <a:xfrm>
            <a:off x="9948423" y="569214"/>
            <a:ext cx="982651" cy="552755"/>
          </a:xfrm>
          <a:prstGeom prst="roundRect">
            <a:avLst/>
          </a:prstGeom>
          <a:solidFill>
            <a:srgbClr val="F2DED3">
              <a:alpha val="6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element_dc8f8bc6501d546acfef552fa91e8160"/>
          <p:cNvSpPr/>
          <p:nvPr/>
        </p:nvSpPr>
        <p:spPr>
          <a:xfrm>
            <a:off x="10314174" y="774954"/>
            <a:ext cx="633968" cy="356616"/>
          </a:xfrm>
          <a:prstGeom prst="roundRect">
            <a:avLst/>
          </a:prstGeom>
          <a:solidFill>
            <a:srgbClr val="B44A2D">
              <a:alpha val="7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element_6554ad0804bebdcf4daa761e259571f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cf20e71f3523fe11575c38ab41b9a1b0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NodeSlide local handoff — illustrative sourcing pilot</dc:title>
  <dc:subject>Create an editable, reviewable presentation from this idea</dc:subject>
  <dc:creator>NodeSlide</dc:creator>
  <cp:lastModifiedBy>NodeSlide</cp:lastModifiedBy>
  <cp:revision>1</cp:revision>
  <dcterms:created xsi:type="dcterms:W3CDTF">2026-09-05T11:31:29Z</dcterms:created>
  <dcterms:modified xsi:type="dcterms:W3CDTF">2026-09-05T11:31:29Z</dcterms:modified>
</cp:coreProperties>
</file>