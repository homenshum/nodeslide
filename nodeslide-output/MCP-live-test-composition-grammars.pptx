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Composition grammar: full-bleed-thesis. Keep the spoken transition focused on "Move one AI system to a governed release decision"
Evidence note: Content is based on the supplied creation brief. Illustrative examples are not independently verified; replace them with measured evidence before external publication.
NodeSlide sources
[source_bb9b2075226a198b6860261e6083c479] MCP live test: composition grammars — creation brief
Citation: Show a risk committee how the NIST AI RMF governance loop moves one AI system to a governed release decision, with GOVERN cross-cutting MAP, MEASURE, and MANAGE, a release gate, and a success metric.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Composition grammar: process-canvas. Keep the spoken transition focused on "GOVERN is cross-cutting: it surrounds MAP, MEASURE, MANAGE, A RELEASE GATE, A SUCCESS METRIC."
Evidence note: Content is based on the supplied creation brief. Illustrative examples are not independently verified; replace them with measured evidence before external publication.
NodeSlide sources
[source_bb9b2075226a198b6860261e6083c479] MCP live test: composition grammars — creation brief
Citation: Show a risk committee how the NIST AI RMF governance loop moves one AI system to a governed release decision, with GOVERN cross-cutting MAP, MEASURE, and MANAGE, a release gate, and a success metric.
Disclaimer: Internal working material
[source_c0be97c8348813d0b4639475c8dd170a] Brief success criteria
Citation: Keep GOVERN cross-cutting; Show the release gate; Name one decision metric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Composition grammar: comparison-field. Keep the spoken transition focused on "A better outcome starts with a sharper point of view."
Evidence note: Content is based on the supplied creation brief. Illustrative examples are not independently verified; replace them with measured evidence before external publication.
NodeSlide sources
[source_bb9b2075226a198b6860261e6083c479] MCP live test: composition grammars — creation brief
Citation: Show a risk committee how the NIST AI RMF governance loop moves one AI system to a governed release decision, with GOVERN cross-cutting MAP, MEASURE, and MANAGE, a release gate, and a success metric.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Composition grammar: asymmetric-editorial. Keep the spoken transition focused on "Turn the idea into a sequence people can understand and own."
Evidence note: Content is based on the supplied creation brief. Illustrative examples are not independently verified; replace them with measured evidence before external publication.
NodeSlide sources
[source_bb9b2075226a198b6860261e6083c479] MCP live test: composition grammars — creation brief
Citation: Show a risk committee how the NIST AI RMF governance loop moves one AI system to a governed release decision, with GOVERN cross-cutting MAP, MEASURE, and MANAGE, a release gate, and a success metric.
Disclaimer: Internal working material
[source_c0be97c8348813d0b4639475c8dd170a] Brief success criteria
Citation: Keep GOVERN cross-cutting; Show the release gate; Name one decision metric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[source_bb9b2075226a198b6860261e6083c479] MCP live test: composition grammars — creation brief
Citation: Show a risk committee how the NIST AI RMF governance loop moves one AI system to a governed release decision, with GOVERN cross-cutting MAP, MEASURE, and MANAGE, a release gate, and a success metric.
Disclaimer: Internal working material
[source_c0be97c8348813d0b4639475c8dd170a] Brief success criteria
Citation: Keep GOVERN cross-cutting; Show the release gate; Name one decision metric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Composition grammar: process-canvas. Keep the spoken transition focused on "Start narrow, learn quickly, and preserve room to adapt."
Evidence note: Content is based on the supplied creation brief. Illustrative examples are not independently verified; replace them with measured evidence before external publication.
NodeSlide sources
[source_bb9b2075226a198b6860261e6083c479] MCP live test: composition grammars — creation brief
Citation: Show a risk committee how the NIST AI RMF governance loop moves one AI system to a governed release decision, with GOVERN cross-cutting MAP, MEASURE, and MANAGE, a release gate, and a success metric.
Disclaimer: Internal working material
[source_c0be97c8348813d0b4639475c8dd170a] Brief success criteria
Citation: Keep GOVERN cross-cutting; Show the release gate; Name one decision metric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Composition grammar: evidence-dossier. Keep the spoken transition focused on "Move one AI system to a governed release decision"
Evidence note: Content is based on the supplied creation brief. Illustrative examples are not independently verified; replace them with measured evidence before external publication.
NodeSlide sources
[source_bb9b2075226a198b6860261e6083c479] MCP live test: composition grammars — creation brief
Citation: Show a risk committee how the NIST AI RMF governance loop moves one AI system to a governed release decision, with GOVERN cross-cutting MAP, MEASURE, and MANAGE, a release gate, and a success metric.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46bd5bd8a837ecf506dfe8d49fbacd09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d038fa37e0ccf34d172395e95bcf968"/>
          <p:cNvSpPr txBox="1"/>
          <p:nvPr/>
        </p:nvSpPr>
        <p:spPr>
          <a:xfrm>
            <a:off x="853419" y="2185645"/>
            <a:ext cx="10484858" cy="2487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400" b="1" spc="-12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one AI system to a governed release decision</a:t>
            </a:r>
            <a:endParaRPr lang="en-US" sz="6400" dirty="0"/>
          </a:p>
        </p:txBody>
      </p:sp>
      <p:sp>
        <p:nvSpPr>
          <p:cNvPr id="4" name="element_5f60e8b9b274d4b4ee14db0402bec11c"/>
          <p:cNvSpPr/>
          <p:nvPr/>
        </p:nvSpPr>
        <p:spPr>
          <a:xfrm>
            <a:off x="853419" y="4809515"/>
            <a:ext cx="1463003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87c7c3b44d7a9c41ae4750ecec40dc77"/>
          <p:cNvSpPr txBox="1"/>
          <p:nvPr/>
        </p:nvSpPr>
        <p:spPr>
          <a:xfrm>
            <a:off x="853419" y="411480"/>
            <a:ext cx="4876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6" name="element_2410b20d2b09927464f9350fd53958a1"/>
          <p:cNvSpPr/>
          <p:nvPr/>
        </p:nvSpPr>
        <p:spPr>
          <a:xfrm>
            <a:off x="853419" y="788670"/>
            <a:ext cx="1427648" cy="68580"/>
          </a:xfrm>
          <a:prstGeom prst="roundRect">
            <a:avLst/>
          </a:prstGeom>
          <a:solidFill>
            <a:srgbClr val="B44A2D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6fb976be4c44784ff18e33f10dcf8273"/>
          <p:cNvSpPr/>
          <p:nvPr/>
        </p:nvSpPr>
        <p:spPr>
          <a:xfrm>
            <a:off x="10777459" y="665226"/>
            <a:ext cx="121917" cy="301752"/>
          </a:xfrm>
          <a:prstGeom prst="roundRect">
            <a:avLst/>
          </a:prstGeom>
          <a:solidFill>
            <a:srgbClr val="34452C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2686559755edefbdc8ed849594a4946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9" name="element_a07e85949c0d0762f3f6f22b3afd587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7e684b917b0fa120792f84bf3b771d7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66625c0f692523df5493005627e1416"/>
          <p:cNvSpPr txBox="1"/>
          <p:nvPr/>
        </p:nvSpPr>
        <p:spPr>
          <a:xfrm>
            <a:off x="853419" y="411480"/>
            <a:ext cx="4876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ab45c6e2a4ed21cd9963487edec89756"/>
          <p:cNvSpPr txBox="1"/>
          <p:nvPr/>
        </p:nvSpPr>
        <p:spPr>
          <a:xfrm>
            <a:off x="853419" y="960120"/>
            <a:ext cx="99971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 is cross-cutting: it surrounds MAP, MEASURE, MANAGE, A RELEASE GATE, A SUCCESS METRIC.</a:t>
            </a:r>
            <a:endParaRPr lang="en-US" sz="3200" dirty="0"/>
          </a:p>
        </p:txBody>
      </p:sp>
      <p:sp>
        <p:nvSpPr>
          <p:cNvPr id="5" name="element_45cf8859b871a0e904ddd5e4c176d6d5"/>
          <p:cNvSpPr/>
          <p:nvPr/>
        </p:nvSpPr>
        <p:spPr>
          <a:xfrm>
            <a:off x="1666605" y="3518154"/>
            <a:ext cx="1771453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6" name="element_365d4619a8661206902a93a9a98313b1"/>
          <p:cNvSpPr/>
          <p:nvPr/>
        </p:nvSpPr>
        <p:spPr>
          <a:xfrm>
            <a:off x="3438058" y="3518154"/>
            <a:ext cx="1771453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7" name="element_70988530dc5cd5e5736cc8cb87184362"/>
          <p:cNvSpPr/>
          <p:nvPr/>
        </p:nvSpPr>
        <p:spPr>
          <a:xfrm>
            <a:off x="5209511" y="3518154"/>
            <a:ext cx="1771453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8" name="element_a4868b27dc631190a612672f5b4b0e43"/>
          <p:cNvSpPr/>
          <p:nvPr/>
        </p:nvSpPr>
        <p:spPr>
          <a:xfrm>
            <a:off x="6982184" y="3518154"/>
            <a:ext cx="1771453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9" name="element_25a0ac268ef0883f18b9da1b74d601cc"/>
          <p:cNvSpPr/>
          <p:nvPr/>
        </p:nvSpPr>
        <p:spPr>
          <a:xfrm>
            <a:off x="8753637" y="3518154"/>
            <a:ext cx="1771453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2948adf9d33239b28452118ebf919808"/>
          <p:cNvSpPr/>
          <p:nvPr/>
        </p:nvSpPr>
        <p:spPr>
          <a:xfrm>
            <a:off x="853419" y="2125980"/>
            <a:ext cx="10484858" cy="685800"/>
          </a:xfrm>
          <a:prstGeom prst="roundRect">
            <a:avLst/>
          </a:prstGeom>
          <a:solidFill>
            <a:srgbClr val="E5E9D6"/>
          </a:solidFill>
          <a:ln w="25400">
            <a:solidFill>
              <a:srgbClr val="B44A2D"/>
            </a:solidFill>
            <a:prstDash val="solid"/>
          </a:ln>
        </p:spPr>
      </p:sp>
      <p:sp>
        <p:nvSpPr>
          <p:cNvPr id="11" name="element_2948adf9d33239b28452118ebf919808:text"/>
          <p:cNvSpPr txBox="1"/>
          <p:nvPr/>
        </p:nvSpPr>
        <p:spPr>
          <a:xfrm>
            <a:off x="853419" y="2125980"/>
            <a:ext cx="10484858" cy="685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GOVERN</a:t>
            </a:r>
            <a:endParaRPr lang="en-US" sz="1500" dirty="0"/>
          </a:p>
        </p:txBody>
      </p:sp>
      <p:sp>
        <p:nvSpPr>
          <p:cNvPr id="12" name="element_69bf4a0d34e7df7513707148be47ed95"/>
          <p:cNvSpPr/>
          <p:nvPr/>
        </p:nvSpPr>
        <p:spPr>
          <a:xfrm>
            <a:off x="853419" y="3120390"/>
            <a:ext cx="1625153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3" name="element_69bf4a0d34e7df7513707148be47ed95:text"/>
          <p:cNvSpPr txBox="1"/>
          <p:nvPr/>
        </p:nvSpPr>
        <p:spPr>
          <a:xfrm>
            <a:off x="853419" y="3120390"/>
            <a:ext cx="1625153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MAP</a:t>
            </a:r>
            <a:endParaRPr lang="en-US" sz="1400" dirty="0"/>
          </a:p>
        </p:txBody>
      </p:sp>
      <p:sp>
        <p:nvSpPr>
          <p:cNvPr id="14" name="element_120a229c5fc6ef7a4f5f3eeb472ee75b"/>
          <p:cNvSpPr/>
          <p:nvPr/>
        </p:nvSpPr>
        <p:spPr>
          <a:xfrm>
            <a:off x="2624872" y="3120390"/>
            <a:ext cx="1625153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5" name="element_120a229c5fc6ef7a4f5f3eeb472ee75b:text"/>
          <p:cNvSpPr txBox="1"/>
          <p:nvPr/>
        </p:nvSpPr>
        <p:spPr>
          <a:xfrm>
            <a:off x="2624872" y="3120390"/>
            <a:ext cx="1625153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MEASURE</a:t>
            </a:r>
            <a:endParaRPr lang="en-US" sz="1400" dirty="0"/>
          </a:p>
        </p:txBody>
      </p:sp>
      <p:sp>
        <p:nvSpPr>
          <p:cNvPr id="16" name="element_0bc33447ffca0e97c6c2409c6d08f521"/>
          <p:cNvSpPr/>
          <p:nvPr/>
        </p:nvSpPr>
        <p:spPr>
          <a:xfrm>
            <a:off x="4397544" y="3120390"/>
            <a:ext cx="1625153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7" name="element_0bc33447ffca0e97c6c2409c6d08f521:text"/>
          <p:cNvSpPr txBox="1"/>
          <p:nvPr/>
        </p:nvSpPr>
        <p:spPr>
          <a:xfrm>
            <a:off x="4397544" y="3120390"/>
            <a:ext cx="1625153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MANAGE</a:t>
            </a:r>
            <a:endParaRPr lang="en-US" sz="1400" dirty="0"/>
          </a:p>
        </p:txBody>
      </p:sp>
      <p:sp>
        <p:nvSpPr>
          <p:cNvPr id="18" name="element_6a90a5ce997ca5ede00468a450d80e55"/>
          <p:cNvSpPr/>
          <p:nvPr/>
        </p:nvSpPr>
        <p:spPr>
          <a:xfrm>
            <a:off x="6168998" y="3120390"/>
            <a:ext cx="1625153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9" name="element_6a90a5ce997ca5ede00468a450d80e55:text"/>
          <p:cNvSpPr txBox="1"/>
          <p:nvPr/>
        </p:nvSpPr>
        <p:spPr>
          <a:xfrm>
            <a:off x="6168998" y="3120390"/>
            <a:ext cx="1625153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RELEASE GATE</a:t>
            </a:r>
            <a:endParaRPr lang="en-US" sz="1300" dirty="0"/>
          </a:p>
        </p:txBody>
      </p:sp>
      <p:sp>
        <p:nvSpPr>
          <p:cNvPr id="20" name="element_86cb1819110b5a583ce44fa9870e2e88"/>
          <p:cNvSpPr/>
          <p:nvPr/>
        </p:nvSpPr>
        <p:spPr>
          <a:xfrm>
            <a:off x="7940451" y="3120390"/>
            <a:ext cx="1625153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1" name="element_86cb1819110b5a583ce44fa9870e2e88:text"/>
          <p:cNvSpPr txBox="1"/>
          <p:nvPr/>
        </p:nvSpPr>
        <p:spPr>
          <a:xfrm>
            <a:off x="7940451" y="3120390"/>
            <a:ext cx="1625153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SUCCESS METRIC</a:t>
            </a:r>
            <a:endParaRPr lang="en-US" sz="1200" dirty="0"/>
          </a:p>
        </p:txBody>
      </p:sp>
      <p:sp>
        <p:nvSpPr>
          <p:cNvPr id="22" name="element_9ded573f50b846951b1e5f3fc7a747fd"/>
          <p:cNvSpPr/>
          <p:nvPr/>
        </p:nvSpPr>
        <p:spPr>
          <a:xfrm>
            <a:off x="9713124" y="3120390"/>
            <a:ext cx="1625153" cy="960120"/>
          </a:xfrm>
          <a:prstGeom prst="roundRect">
            <a:avLst/>
          </a:prstGeom>
          <a:solidFill>
            <a:srgbClr val="E5E9D6"/>
          </a:solidFill>
          <a:ln w="25400">
            <a:solidFill>
              <a:srgbClr val="B44A2D"/>
            </a:solidFill>
            <a:prstDash val="solid"/>
          </a:ln>
        </p:spPr>
      </p:sp>
      <p:sp>
        <p:nvSpPr>
          <p:cNvPr id="23" name="element_9ded573f50b846951b1e5f3fc7a747fd:text"/>
          <p:cNvSpPr txBox="1"/>
          <p:nvPr/>
        </p:nvSpPr>
        <p:spPr>
          <a:xfrm>
            <a:off x="9713124" y="3120390"/>
            <a:ext cx="1625153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Release Gate</a:t>
            </a:r>
            <a:endParaRPr lang="en-US" sz="1300" dirty="0"/>
          </a:p>
        </p:txBody>
      </p:sp>
      <p:sp>
        <p:nvSpPr>
          <p:cNvPr id="24" name="element_371c999dce8638b66d6e0bac50da9814"/>
          <p:cNvSpPr txBox="1"/>
          <p:nvPr/>
        </p:nvSpPr>
        <p:spPr>
          <a:xfrm>
            <a:off x="853419" y="4489247"/>
            <a:ext cx="9631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GOVERN function sets culture, accountability, and structure around MAP, MEASURE, MANAGE, A RELEASE GATE, A SUCCESS METRIC, which operate iteratively from inventory entry through retirement.</a:t>
            </a:r>
            <a:endParaRPr lang="en-US" sz="1600" dirty="0"/>
          </a:p>
        </p:txBody>
      </p:sp>
      <p:sp>
        <p:nvSpPr>
          <p:cNvPr id="25" name="element_f1739d261f8f9f3bffcca6c43acc47cc"/>
          <p:cNvSpPr/>
          <p:nvPr/>
        </p:nvSpPr>
        <p:spPr>
          <a:xfrm>
            <a:off x="853419" y="788670"/>
            <a:ext cx="2856514" cy="68580"/>
          </a:xfrm>
          <a:prstGeom prst="roundRect">
            <a:avLst/>
          </a:prstGeom>
          <a:solidFill>
            <a:srgbClr val="B44A2D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element_cc3081a49dcb4252bd89c020bc7d34ed"/>
          <p:cNvSpPr/>
          <p:nvPr/>
        </p:nvSpPr>
        <p:spPr>
          <a:xfrm>
            <a:off x="10777459" y="665226"/>
            <a:ext cx="121917" cy="301752"/>
          </a:xfrm>
          <a:prstGeom prst="roundRect">
            <a:avLst/>
          </a:prstGeom>
          <a:solidFill>
            <a:srgbClr val="34452C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element_5acc3b313f2024069117f02722f2493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8" name="element_3cdf43657d1134c431fa5fc31cab0da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645903725691a2f13e9334506ff9a6e7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110893386fa7bad15ae958f46111734"/>
          <p:cNvSpPr txBox="1"/>
          <p:nvPr/>
        </p:nvSpPr>
        <p:spPr>
          <a:xfrm>
            <a:off x="853419" y="445770"/>
            <a:ext cx="4876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e38c7b4fe22f8625d269ccefafd16d2a"/>
          <p:cNvSpPr txBox="1"/>
          <p:nvPr/>
        </p:nvSpPr>
        <p:spPr>
          <a:xfrm>
            <a:off x="853419" y="1028700"/>
            <a:ext cx="96314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600" dirty="0"/>
          </a:p>
        </p:txBody>
      </p:sp>
      <p:sp>
        <p:nvSpPr>
          <p:cNvPr id="5" name="element_783d39cbe5136ba41cb8727d7bcb7a59"/>
          <p:cNvSpPr txBox="1"/>
          <p:nvPr/>
        </p:nvSpPr>
        <p:spPr>
          <a:xfrm>
            <a:off x="853419" y="240030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element_c7e3969f1a6ffc5d5d03e8de7bbdb64e"/>
          <p:cNvSpPr txBox="1"/>
          <p:nvPr/>
        </p:nvSpPr>
        <p:spPr>
          <a:xfrm>
            <a:off x="853419" y="294894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Keep GOVERN cross-cutting</a:t>
            </a:r>
            <a:endParaRPr lang="en-US" sz="1700" dirty="0"/>
          </a:p>
        </p:txBody>
      </p:sp>
      <p:sp>
        <p:nvSpPr>
          <p:cNvPr id="7" name="element_ade2dafb3607de8658d173d14cd71f6a"/>
          <p:cNvSpPr/>
          <p:nvPr/>
        </p:nvSpPr>
        <p:spPr>
          <a:xfrm>
            <a:off x="4287819" y="2400300"/>
            <a:ext cx="121917" cy="2880360"/>
          </a:xfrm>
          <a:prstGeom prst="rect">
            <a:avLst/>
          </a:prstGeom>
          <a:solidFill>
            <a:srgbClr val="DED7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76b3739fe518556da6b3f1eb0861eb8a"/>
          <p:cNvSpPr txBox="1"/>
          <p:nvPr/>
        </p:nvSpPr>
        <p:spPr>
          <a:xfrm>
            <a:off x="4470695" y="240030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element_37042fea6a730a7a713967df0ca394b9"/>
          <p:cNvSpPr txBox="1"/>
          <p:nvPr/>
        </p:nvSpPr>
        <p:spPr>
          <a:xfrm>
            <a:off x="4470695" y="294894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Show the release gate</a:t>
            </a:r>
            <a:endParaRPr lang="en-US" sz="1700" dirty="0"/>
          </a:p>
        </p:txBody>
      </p:sp>
      <p:sp>
        <p:nvSpPr>
          <p:cNvPr id="10" name="element_282f6c8395ead2230629fab8b949fa5e"/>
          <p:cNvSpPr/>
          <p:nvPr/>
        </p:nvSpPr>
        <p:spPr>
          <a:xfrm>
            <a:off x="7903876" y="2400300"/>
            <a:ext cx="121917" cy="2880360"/>
          </a:xfrm>
          <a:prstGeom prst="rect">
            <a:avLst/>
          </a:prstGeom>
          <a:solidFill>
            <a:srgbClr val="DED7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e46b2dd1ebf7b63725de8e0ad0899fbb"/>
          <p:cNvSpPr txBox="1"/>
          <p:nvPr/>
        </p:nvSpPr>
        <p:spPr>
          <a:xfrm>
            <a:off x="8086751" y="240030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element_6a07b9fa4971c3296cb3247d1416ef40"/>
          <p:cNvSpPr txBox="1"/>
          <p:nvPr/>
        </p:nvSpPr>
        <p:spPr>
          <a:xfrm>
            <a:off x="8086751" y="294894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Name one decision metric</a:t>
            </a:r>
            <a:endParaRPr lang="en-US" sz="1700" dirty="0"/>
          </a:p>
        </p:txBody>
      </p:sp>
      <p:sp>
        <p:nvSpPr>
          <p:cNvPr id="13" name="element_b19770290dbaefc3f4aadf7ed1fd238b"/>
          <p:cNvSpPr/>
          <p:nvPr/>
        </p:nvSpPr>
        <p:spPr>
          <a:xfrm>
            <a:off x="853419" y="788670"/>
            <a:ext cx="4284162" cy="68580"/>
          </a:xfrm>
          <a:prstGeom prst="roundRect">
            <a:avLst/>
          </a:prstGeom>
          <a:solidFill>
            <a:srgbClr val="B44A2D">
              <a:alpha val="5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2684536f9b4d3ea18bfd0ee87b6f8f8d"/>
          <p:cNvSpPr/>
          <p:nvPr/>
        </p:nvSpPr>
        <p:spPr>
          <a:xfrm>
            <a:off x="10777459" y="665226"/>
            <a:ext cx="121917" cy="301752"/>
          </a:xfrm>
          <a:prstGeom prst="roundRect">
            <a:avLst/>
          </a:prstGeom>
          <a:solidFill>
            <a:srgbClr val="34452C">
              <a:alpha val="5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9f0e186643bcdc933075c302ace2dd7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0f60c82abd5d021b12c57d834c6e820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738b9d0e42dd2ae30178e721b47e4cff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0ddf380770daa92ad6ccb9cb5923610"/>
          <p:cNvSpPr txBox="1"/>
          <p:nvPr/>
        </p:nvSpPr>
        <p:spPr>
          <a:xfrm>
            <a:off x="853419" y="445770"/>
            <a:ext cx="4876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2e1ea7101567fea4cc328866ac38ee0d"/>
          <p:cNvSpPr txBox="1"/>
          <p:nvPr/>
        </p:nvSpPr>
        <p:spPr>
          <a:xfrm>
            <a:off x="6095848" y="1097280"/>
            <a:ext cx="51205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4200" dirty="0"/>
          </a:p>
        </p:txBody>
      </p:sp>
      <p:sp>
        <p:nvSpPr>
          <p:cNvPr id="5" name="element_9fc0c5618e95451b33939c0b2cc1d2d8"/>
          <p:cNvSpPr txBox="1"/>
          <p:nvPr/>
        </p:nvSpPr>
        <p:spPr>
          <a:xfrm>
            <a:off x="6095848" y="3566160"/>
            <a:ext cx="512051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800" dirty="0"/>
          </a:p>
        </p:txBody>
      </p:sp>
      <p:sp>
        <p:nvSpPr>
          <p:cNvPr id="6" name="element_843efc00699ef0e365a47eddfff5ea5e"/>
          <p:cNvSpPr txBox="1"/>
          <p:nvPr/>
        </p:nvSpPr>
        <p:spPr>
          <a:xfrm>
            <a:off x="731502" y="1783080"/>
            <a:ext cx="4632844" cy="20574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7" name="element_67c0f63c06e859f9b0f0b9ada79a145d"/>
          <p:cNvSpPr txBox="1"/>
          <p:nvPr/>
        </p:nvSpPr>
        <p:spPr>
          <a:xfrm>
            <a:off x="6095848" y="4732020"/>
            <a:ext cx="5120512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400" dirty="0"/>
          </a:p>
        </p:txBody>
      </p:sp>
      <p:sp>
        <p:nvSpPr>
          <p:cNvPr id="8" name="element_6d53cef24595157b0becfdae2017338b"/>
          <p:cNvSpPr txBox="1"/>
          <p:nvPr/>
        </p:nvSpPr>
        <p:spPr>
          <a:xfrm>
            <a:off x="6095848" y="5151044"/>
            <a:ext cx="5120512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400" dirty="0"/>
          </a:p>
        </p:txBody>
      </p:sp>
      <p:sp>
        <p:nvSpPr>
          <p:cNvPr id="9" name="element_6cfae5527b8cb7432a71209956e50d4f"/>
          <p:cNvSpPr txBox="1"/>
          <p:nvPr/>
        </p:nvSpPr>
        <p:spPr>
          <a:xfrm>
            <a:off x="6095848" y="5570068"/>
            <a:ext cx="5120512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400" dirty="0"/>
          </a:p>
        </p:txBody>
      </p:sp>
      <p:sp>
        <p:nvSpPr>
          <p:cNvPr id="10" name="element_1c1087b494a614e13f88a1c89c81043b"/>
          <p:cNvSpPr/>
          <p:nvPr/>
        </p:nvSpPr>
        <p:spPr>
          <a:xfrm>
            <a:off x="853419" y="788670"/>
            <a:ext cx="5713028" cy="68580"/>
          </a:xfrm>
          <a:prstGeom prst="roundRect">
            <a:avLst/>
          </a:prstGeom>
          <a:solidFill>
            <a:srgbClr val="B44A2D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64eca536fbe605d1e5efa808a00fba92"/>
          <p:cNvSpPr/>
          <p:nvPr/>
        </p:nvSpPr>
        <p:spPr>
          <a:xfrm>
            <a:off x="10777459" y="665226"/>
            <a:ext cx="121917" cy="301752"/>
          </a:xfrm>
          <a:prstGeom prst="roundRect">
            <a:avLst/>
          </a:prstGeom>
          <a:solidFill>
            <a:srgbClr val="34452C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e4b15bbc9b44663a425eba3c88465f2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6610065fba460028790cdb4a5d6ced4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b6be93b2108af2c8c8fbcfbd5254256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8bb4c24164553e1e90406b668fec52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6e96979fcbbf35508095006ebf609a4c"/>
          <p:cNvSpPr/>
          <p:nvPr/>
        </p:nvSpPr>
        <p:spPr>
          <a:xfrm>
            <a:off x="853419" y="788670"/>
            <a:ext cx="7140676" cy="68580"/>
          </a:xfrm>
          <a:prstGeom prst="roundRect">
            <a:avLst/>
          </a:prstGeom>
          <a:solidFill>
            <a:srgbClr val="B44A2D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a8999791e390b55ff8ce6913854e7de3"/>
          <p:cNvSpPr/>
          <p:nvPr/>
        </p:nvSpPr>
        <p:spPr>
          <a:xfrm>
            <a:off x="10777459" y="665226"/>
            <a:ext cx="121917" cy="301752"/>
          </a:xfrm>
          <a:prstGeom prst="roundRect">
            <a:avLst/>
          </a:prstGeom>
          <a:solidFill>
            <a:srgbClr val="34452C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850199ec48f209a4d3796cebcef71b3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7" name="element_6dec50a284bfa4360572914f1adabd03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8" name="element_25415de6d67c2446d28bb5a67d401c92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600" dirty="0"/>
          </a:p>
        </p:txBody>
      </p:sp>
      <p:sp>
        <p:nvSpPr>
          <p:cNvPr id="9" name="element_5ce662cc0de79b84a9de2f02675aeb10"/>
          <p:cNvSpPr txBox="1"/>
          <p:nvPr/>
        </p:nvSpPr>
        <p:spPr>
          <a:xfrm>
            <a:off x="853419" y="4251960"/>
            <a:ext cx="3657509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Keep GOVERN cross-cutting</a:t>
            </a:r>
            <a:endParaRPr lang="en-US" sz="1400" dirty="0"/>
          </a:p>
        </p:txBody>
      </p:sp>
      <p:sp>
        <p:nvSpPr>
          <p:cNvPr id="10" name="element_c23ac257640578d303b58fd27b851537"/>
          <p:cNvSpPr txBox="1"/>
          <p:nvPr/>
        </p:nvSpPr>
        <p:spPr>
          <a:xfrm>
            <a:off x="853419" y="4915129"/>
            <a:ext cx="3657509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Show the release gate</a:t>
            </a:r>
            <a:endParaRPr lang="en-US" sz="1400" dirty="0"/>
          </a:p>
        </p:txBody>
      </p:sp>
      <p:sp>
        <p:nvSpPr>
          <p:cNvPr id="11" name="element_abb289b30dc41c7d8cd340d94cc579e0"/>
          <p:cNvSpPr txBox="1"/>
          <p:nvPr/>
        </p:nvSpPr>
        <p:spPr>
          <a:xfrm>
            <a:off x="853419" y="5577611"/>
            <a:ext cx="3657509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Name one decision metric</a:t>
            </a:r>
            <a:endParaRPr lang="en-US" sz="1400" dirty="0"/>
          </a:p>
        </p:txBody>
      </p:sp>
      <p:sp>
        <p:nvSpPr>
          <p:cNvPr id="12" name="element_6ad00e6d9f199033d41a98d339c31f3c"/>
          <p:cNvSpPr txBox="1"/>
          <p:nvPr/>
        </p:nvSpPr>
        <p:spPr>
          <a:xfrm>
            <a:off x="6827349" y="2811780"/>
            <a:ext cx="4145176" cy="10287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3" name="element_f6818dd212574a7dc04e6bc29eea1013"/>
          <p:cNvSpPr txBox="1"/>
          <p:nvPr/>
        </p:nvSpPr>
        <p:spPr>
          <a:xfrm>
            <a:off x="7193100" y="411480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4" name="element_c37b2a80ad280ab43bd73d537fd38c22" descr=""/>
          <p:cNvGraphicFramePr/>
          <p:nvPr/>
        </p:nvGraphicFramePr>
        <p:xfrm>
          <a:off x="5120512" y="4937760"/>
          <a:ext cx="6095848" cy="11658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element_f8b25c2613815c93030b8f062485286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47f3bc00354e2fa795bd4e5f417aa62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1d8e3054a39f4f08edb052989dc2368a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4faff1f453d47c418485caf0ee740ac"/>
          <p:cNvSpPr txBox="1"/>
          <p:nvPr/>
        </p:nvSpPr>
        <p:spPr>
          <a:xfrm>
            <a:off x="853419" y="411480"/>
            <a:ext cx="4876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a41963663e1399c153164b4c9b21d3cc"/>
          <p:cNvSpPr txBox="1"/>
          <p:nvPr/>
        </p:nvSpPr>
        <p:spPr>
          <a:xfrm>
            <a:off x="853419" y="960120"/>
            <a:ext cx="99971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200" dirty="0"/>
          </a:p>
        </p:txBody>
      </p:sp>
      <p:sp>
        <p:nvSpPr>
          <p:cNvPr id="5" name="element_f00681bccc334f014c300f841383eae0"/>
          <p:cNvSpPr/>
          <p:nvPr/>
        </p:nvSpPr>
        <p:spPr>
          <a:xfrm>
            <a:off x="2499298" y="3895344"/>
            <a:ext cx="3596550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6" name="element_1ea34ed0c8fac392d37afda34b14cd44"/>
          <p:cNvSpPr/>
          <p:nvPr/>
        </p:nvSpPr>
        <p:spPr>
          <a:xfrm>
            <a:off x="6095848" y="3895344"/>
            <a:ext cx="3596550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7" name="element_cd2e6ceba27cd58b36ad43531fd240b7"/>
          <p:cNvSpPr/>
          <p:nvPr/>
        </p:nvSpPr>
        <p:spPr>
          <a:xfrm>
            <a:off x="853419" y="3497580"/>
            <a:ext cx="3291758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cd2e6ceba27cd58b36ad43531fd240b7:text"/>
          <p:cNvSpPr txBox="1"/>
          <p:nvPr/>
        </p:nvSpPr>
        <p:spPr>
          <a:xfrm>
            <a:off x="853419" y="3497580"/>
            <a:ext cx="3291758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Launch the smallest credible move</a:t>
            </a:r>
            <a:endParaRPr lang="en-US" sz="1200" dirty="0"/>
          </a:p>
        </p:txBody>
      </p:sp>
      <p:sp>
        <p:nvSpPr>
          <p:cNvPr id="9" name="element_8ffc204c7dc12e73e3af42a9ccd3a6a0"/>
          <p:cNvSpPr/>
          <p:nvPr/>
        </p:nvSpPr>
        <p:spPr>
          <a:xfrm>
            <a:off x="4449969" y="3497580"/>
            <a:ext cx="3291758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element_8ffc204c7dc12e73e3af42a9ccd3a6a0:text"/>
          <p:cNvSpPr txBox="1"/>
          <p:nvPr/>
        </p:nvSpPr>
        <p:spPr>
          <a:xfrm>
            <a:off x="4449969" y="3497580"/>
            <a:ext cx="3291758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Review evidence with stakeholders</a:t>
            </a:r>
            <a:endParaRPr lang="en-US" sz="1200" dirty="0"/>
          </a:p>
        </p:txBody>
      </p:sp>
      <p:sp>
        <p:nvSpPr>
          <p:cNvPr id="11" name="element_9fab09a133bbb1eca62b59c68892d87a"/>
          <p:cNvSpPr/>
          <p:nvPr/>
        </p:nvSpPr>
        <p:spPr>
          <a:xfrm>
            <a:off x="8046519" y="3497580"/>
            <a:ext cx="3291758" cy="960120"/>
          </a:xfrm>
          <a:prstGeom prst="roundRect">
            <a:avLst/>
          </a:prstGeom>
          <a:solidFill>
            <a:srgbClr val="E5E9D6"/>
          </a:solidFill>
          <a:ln w="25400">
            <a:solidFill>
              <a:srgbClr val="B44A2D"/>
            </a:solidFill>
            <a:prstDash val="solid"/>
          </a:ln>
        </p:spPr>
      </p:sp>
      <p:sp>
        <p:nvSpPr>
          <p:cNvPr id="12" name="element_9fab09a133bbb1eca62b59c68892d87a:text"/>
          <p:cNvSpPr txBox="1"/>
          <p:nvPr/>
        </p:nvSpPr>
        <p:spPr>
          <a:xfrm>
            <a:off x="8046519" y="3497580"/>
            <a:ext cx="3291758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Start narrow, learn quickly, and preserve room to adapt.</a:t>
            </a:r>
            <a:endParaRPr lang="en-US" sz="1200" dirty="0"/>
          </a:p>
        </p:txBody>
      </p:sp>
      <p:sp>
        <p:nvSpPr>
          <p:cNvPr id="13" name="element_226c0bb53cb89f441d536e04a30306c2"/>
          <p:cNvSpPr txBox="1"/>
          <p:nvPr/>
        </p:nvSpPr>
        <p:spPr>
          <a:xfrm>
            <a:off x="853419" y="4489247"/>
            <a:ext cx="9631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 Source evidence must be captured before publication.</a:t>
            </a:r>
            <a:endParaRPr lang="en-US" sz="1600" dirty="0"/>
          </a:p>
        </p:txBody>
      </p:sp>
      <p:sp>
        <p:nvSpPr>
          <p:cNvPr id="14" name="element_914362c182938c6ac87f2df73f9fbe60"/>
          <p:cNvSpPr/>
          <p:nvPr/>
        </p:nvSpPr>
        <p:spPr>
          <a:xfrm>
            <a:off x="853419" y="788670"/>
            <a:ext cx="8569543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26a37b312c2e9f4f1bdcf780b231be91"/>
          <p:cNvSpPr/>
          <p:nvPr/>
        </p:nvSpPr>
        <p:spPr>
          <a:xfrm>
            <a:off x="10777459" y="665226"/>
            <a:ext cx="121917" cy="301752"/>
          </a:xfrm>
          <a:prstGeom prst="roundRect">
            <a:avLst/>
          </a:prstGeom>
          <a:solidFill>
            <a:srgbClr val="3445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0b84ff9e48391c9e48757a7aef8598a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7" name="element_2b0f0d2a8db01a2130484d69310bba4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73680a4212025c1128eb12e823eee3b6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d5da05c6fd387f444e5f3145e61dfc2"/>
          <p:cNvSpPr txBox="1"/>
          <p:nvPr/>
        </p:nvSpPr>
        <p:spPr>
          <a:xfrm>
            <a:off x="853419" y="445770"/>
            <a:ext cx="4876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1e389de4311c7f0c5c225f2601c2c988"/>
          <p:cNvSpPr txBox="1"/>
          <p:nvPr/>
        </p:nvSpPr>
        <p:spPr>
          <a:xfrm>
            <a:off x="853419" y="1028700"/>
            <a:ext cx="96314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one AI system to a governed release decision</a:t>
            </a:r>
            <a:endParaRPr lang="en-US" sz="3600" dirty="0"/>
          </a:p>
        </p:txBody>
      </p:sp>
      <p:sp>
        <p:nvSpPr>
          <p:cNvPr id="5" name="element_47645c83367c34d5ab0c3fbf5411927d"/>
          <p:cNvSpPr/>
          <p:nvPr/>
        </p:nvSpPr>
        <p:spPr>
          <a:xfrm>
            <a:off x="85341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6" name="element_7a036e162be9abd6ac2578278b97d189"/>
          <p:cNvSpPr txBox="1"/>
          <p:nvPr/>
        </p:nvSpPr>
        <p:spPr>
          <a:xfrm>
            <a:off x="109725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Record release, release with controls, or hold</a:t>
            </a:r>
            <a:endParaRPr lang="en-US" sz="1600" dirty="0"/>
          </a:p>
        </p:txBody>
      </p:sp>
      <p:sp>
        <p:nvSpPr>
          <p:cNvPr id="7" name="element_3347ebfc2a57f8818b71e8e8920a1569"/>
          <p:cNvSpPr/>
          <p:nvPr/>
        </p:nvSpPr>
        <p:spPr>
          <a:xfrm>
            <a:off x="444996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fac3ae5d5b20b60d7361b2baafd51715"/>
          <p:cNvSpPr txBox="1"/>
          <p:nvPr/>
        </p:nvSpPr>
        <p:spPr>
          <a:xfrm>
            <a:off x="469380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Name the owner</a:t>
            </a:r>
            <a:endParaRPr lang="en-US" sz="1600" dirty="0"/>
          </a:p>
        </p:txBody>
      </p:sp>
      <p:sp>
        <p:nvSpPr>
          <p:cNvPr id="9" name="element_b30fe2e8da42fc0d7acf52df8ed4bbfe"/>
          <p:cNvSpPr/>
          <p:nvPr/>
        </p:nvSpPr>
        <p:spPr>
          <a:xfrm>
            <a:off x="804651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element_198082100924bdc26dc50707ec9de69e"/>
          <p:cNvSpPr txBox="1"/>
          <p:nvPr/>
        </p:nvSpPr>
        <p:spPr>
          <a:xfrm>
            <a:off x="829035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Set the next checkpoint</a:t>
            </a:r>
            <a:endParaRPr lang="en-US" sz="1600" dirty="0"/>
          </a:p>
        </p:txBody>
      </p:sp>
      <p:sp>
        <p:nvSpPr>
          <p:cNvPr id="11" name="element_2a813b2301488dbf7cd9ea2536fbb461"/>
          <p:cNvSpPr/>
          <p:nvPr/>
        </p:nvSpPr>
        <p:spPr>
          <a:xfrm>
            <a:off x="853419" y="788670"/>
            <a:ext cx="9997190" cy="68580"/>
          </a:xfrm>
          <a:prstGeom prst="roundRect">
            <a:avLst/>
          </a:prstGeom>
          <a:solidFill>
            <a:srgbClr val="B44A2D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2ee8a63e8e55b5a601914ee61268fbe4"/>
          <p:cNvSpPr/>
          <p:nvPr/>
        </p:nvSpPr>
        <p:spPr>
          <a:xfrm>
            <a:off x="10777459" y="665226"/>
            <a:ext cx="121917" cy="301752"/>
          </a:xfrm>
          <a:prstGeom prst="roundRect">
            <a:avLst/>
          </a:prstGeom>
          <a:solidFill>
            <a:srgbClr val="34452C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3bbdd28fa6a5fe8b33b585d25a5c977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f5491720115add522beb828eeb06e9e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live test: composition grammars</dc:title>
  <dc:subject>Move one AI system to a governed release decision</dc:subject>
  <dc:creator>NodeSlide</dc:creator>
  <cp:lastModifiedBy>NodeSlide</cp:lastModifiedBy>
  <cp:revision>1</cp:revision>
  <dcterms:created xsi:type="dcterms:W3CDTF">2026-07-30T22:09:30Z</dcterms:created>
  <dcterms:modified xsi:type="dcterms:W3CDTF">2026-07-30T22:09:30Z</dcterms:modified>
</cp:coreProperties>
</file>