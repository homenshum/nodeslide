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ok</c:v>
                  </c:pt>
                  <c:pt idx="1">
                    <c:v>publish</c:v>
                  </c:pt>
                  <c:pt idx="2">
                    <c:v>clean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NodeSlide / 01. Keep the spoken transition focused on “Build the story. Keep every decision editable.”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Scenario / 02. Keep the spoken transition focused on “Keep source context attached as the story moves.”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
[source_8a22baf6717d3e9cb4de18a8a81d6d82]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Foundation / 03. Keep the spoken transition focused on “Structure turns a visual artifact into an operating surface.”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
[source_8a22baf6717d3e9cb4de18a8a81d6d82]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Workflow / 04. Keep the spoken transition focused on “Plan → propose → commit, with scope checked at every boundary.”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
[source_8a22baf6717d3e9cb4de18a8a81d6d82]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Proof / 05. Keep the spoken transition focused on “A beautiful deck still needs deterministic gates.”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
[source_8a22baf6717d3e9cb4de18a8a81d6d82] Golden workflow scenario
Citation: Qualitative product-workflow scenario for demonstrating NodeSlide; no measured customer benchmark is claimed.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Trust / 06. Keep the spoken transition focused on “Comments become context. Patches remain choices.”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Next / 07. Keep the spoken transition focused on “Move at presentation speed without giving up engineering-grade trust.”
Evidence note: Content is based on the supplied creation brief. Illustrative examples are not independently verified; replace them with measured evidence before external publication.
NodeSlide sources
[source_93ab71e30efa8578017c37e8da0fa12f] NodeSlide product brief
Citation: Show how NodeSlide turns presentation work into a traceable, editable, reviewable system.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be2de7eb66a85d7ac2740a211b7dbb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6f6f48f9f114cccc8f36a2e4d1f6dd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/ 01</a:t>
            </a:r>
            <a:endParaRPr lang="en-US" sz="1500" dirty="0"/>
          </a:p>
        </p:txBody>
      </p:sp>
      <p:sp>
        <p:nvSpPr>
          <p:cNvPr id="4" name="element_ef9b2c78ae9dd5154b781b4da27b06ac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story. Keep every decision editable.</a:t>
            </a:r>
            <a:endParaRPr lang="en-US" sz="4800" dirty="0"/>
          </a:p>
        </p:txBody>
      </p:sp>
      <p:sp>
        <p:nvSpPr>
          <p:cNvPr id="5" name="element_05c05e7c78818d1dd381582fb11b8007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NodeSlide treats a deck as a typed system: narrative, geometry, sources, comments, and changes stay connected from first brief to final room.</a:t>
            </a:r>
            <a:endParaRPr lang="en-US" sz="1900" dirty="0"/>
          </a:p>
        </p:txBody>
      </p:sp>
      <p:sp>
        <p:nvSpPr>
          <p:cNvPr id="6" name="element_774d2e4579ae56db6399692ccac2e77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canvas</a:t>
            </a:r>
            <a:endParaRPr lang="en-US" sz="1600" dirty="0"/>
          </a:p>
        </p:txBody>
      </p:sp>
      <p:sp>
        <p:nvSpPr>
          <p:cNvPr id="7" name="element_d4b09456fbde82a90c8ee0a6ce3b3600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Guarded edits</a:t>
            </a:r>
            <a:endParaRPr lang="en-US" sz="1600" dirty="0"/>
          </a:p>
        </p:txBody>
      </p:sp>
      <p:sp>
        <p:nvSpPr>
          <p:cNvPr id="8" name="element_6f81635f0bba2397c612380a9db82435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Traceable claims</a:t>
            </a:r>
            <a:endParaRPr lang="en-US" sz="1600" dirty="0"/>
          </a:p>
        </p:txBody>
      </p:sp>
      <p:sp>
        <p:nvSpPr>
          <p:cNvPr id="9" name="element_eb1b84c876604f9b62eb6ed2901b3d0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231ed5a8d3e15fb49cbcefb48ba5744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b541adbd6280c3b4f564f588b6bd94c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33990612b3f3cbd71e5b26241fbf92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SCENARIO / 02</a:t>
            </a:r>
            <a:endParaRPr lang="en-US" sz="1500" dirty="0"/>
          </a:p>
        </p:txBody>
      </p:sp>
      <p:sp>
        <p:nvSpPr>
          <p:cNvPr id="4" name="element_8643bbc7d3381e64e759a3953e5a478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source context attached as the story moves.</a:t>
            </a:r>
            <a:endParaRPr lang="en-US" sz="3800" dirty="0"/>
          </a:p>
        </p:txBody>
      </p:sp>
      <p:sp>
        <p:nvSpPr>
          <p:cNvPr id="5" name="element_1019d42475a922ac33d7190dd74843de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This golden scenario focuses on one design goal: keep copy, layout, citations, and feedback connected through drafting, review, revision, and handoff.</a:t>
            </a:r>
            <a:endParaRPr lang="en-US" sz="1900" dirty="0"/>
          </a:p>
        </p:txBody>
      </p:sp>
      <p:sp>
        <p:nvSpPr>
          <p:cNvPr id="6" name="element_924365505c693e1c6a002aa220333edf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Draft with source context</a:t>
            </a:r>
            <a:endParaRPr lang="en-US" sz="1700" dirty="0"/>
          </a:p>
        </p:txBody>
      </p:sp>
      <p:sp>
        <p:nvSpPr>
          <p:cNvPr id="7" name="element_1c9c8ac4241d908bc2b7e592e8c70fb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on stable anchors</a:t>
            </a:r>
            <a:endParaRPr lang="en-US" sz="1700" dirty="0"/>
          </a:p>
        </p:txBody>
      </p:sp>
      <p:sp>
        <p:nvSpPr>
          <p:cNvPr id="8" name="element_e40242810b043d34e3db4dd3051a6ae8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Hand off editable structure</a:t>
            </a:r>
            <a:endParaRPr lang="en-US" sz="1700" dirty="0"/>
          </a:p>
        </p:txBody>
      </p:sp>
      <p:sp>
        <p:nvSpPr>
          <p:cNvPr id="9" name="element_aba6333cf4deb7ba53dc6d4d41f38719"/>
          <p:cNvSpPr txBox="1"/>
          <p:nvPr/>
        </p:nvSpPr>
        <p:spPr>
          <a:xfrm>
            <a:off x="6827349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</a:t>
            </a:r>
            <a:endParaRPr lang="en-US" sz="5600" dirty="0"/>
          </a:p>
        </p:txBody>
      </p:sp>
      <p:sp>
        <p:nvSpPr>
          <p:cNvPr id="10" name="element_90515eef8754d0a36c1decc702ee37eb"/>
          <p:cNvSpPr txBox="1"/>
          <p:nvPr/>
        </p:nvSpPr>
        <p:spPr>
          <a:xfrm>
            <a:off x="7193100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Qualitative workflow label — not a measured benchmark</a:t>
            </a:r>
            <a:endParaRPr lang="en-US" sz="1500" dirty="0"/>
          </a:p>
        </p:txBody>
      </p:sp>
      <p:sp>
        <p:nvSpPr>
          <p:cNvPr id="11" name="element_84bf34a2f18cae5ba3b851e4d58978a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41c9bf08bbc4c849d0d66a4e35d8624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9676df28ed9e453aab57c49025c7162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353cb9a95c200c39c7601d56b945214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FOUNDATION / 03</a:t>
            </a:r>
            <a:endParaRPr lang="en-US" sz="1500" dirty="0"/>
          </a:p>
        </p:txBody>
      </p:sp>
      <p:sp>
        <p:nvSpPr>
          <p:cNvPr id="4" name="element_bf30fb05a2910b74eeec5ab2ff0bc944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turns a visual artifact into an operating surface.</a:t>
            </a:r>
            <a:endParaRPr lang="en-US" sz="3800" dirty="0"/>
          </a:p>
        </p:txBody>
      </p:sp>
      <p:sp>
        <p:nvSpPr>
          <p:cNvPr id="5" name="element_ae6547f45c6823f623057c99319c9ee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Slides and elements carry stable IDs, normalized geometry, source links, export capability, locks, and independent versions.</a:t>
            </a:r>
            <a:endParaRPr lang="en-US" sz="1900" dirty="0"/>
          </a:p>
        </p:txBody>
      </p:sp>
      <p:sp>
        <p:nvSpPr>
          <p:cNvPr id="6" name="element_44a5a69fd943f707615802f5bb0b004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Stable IDs survive every view</a:t>
            </a:r>
            <a:endParaRPr lang="en-US" sz="1700" dirty="0"/>
          </a:p>
        </p:txBody>
      </p:sp>
      <p:sp>
        <p:nvSpPr>
          <p:cNvPr id="7" name="element_7619532f0c188dd0400fc294e4e7725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Normalized boxes travel across renderers</a:t>
            </a:r>
            <a:endParaRPr lang="en-US" sz="1700" dirty="0"/>
          </a:p>
        </p:txBody>
      </p:sp>
      <p:sp>
        <p:nvSpPr>
          <p:cNvPr id="8" name="element_7a7ebb27158165b2cf90596043249ff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Locks protect intent</a:t>
            </a:r>
            <a:endParaRPr lang="en-US" sz="1700" dirty="0"/>
          </a:p>
        </p:txBody>
      </p:sp>
      <p:pic>
        <p:nvPicPr>
          <p:cNvPr id="9" name="element_685d0d7ee5b7d7415ac9553caaa34d27 [static image fallback]" descr="Twechie circuit board">    </p:cNvPr>
          <p:cNvPicPr>
            <a:picLocks noChangeAspect="1"/>
          </p:cNvPicPr>
          <p:nvPr/>
        </p:nvPicPr>
        <p:blipFill>
          <a:blip r:embed="rId1"/>
          <a:srcRect l="0" r="0" t="13379" b="13379"/>
          <a:stretch/>
        </p:blipFill>
        <p:spPr>
          <a:xfrm>
            <a:off x="6461598" y="2674620"/>
            <a:ext cx="4754761" cy="2606040"/>
          </a:xfrm>
          <a:prstGeom prst="rect">
            <a:avLst/>
          </a:prstGeom>
        </p:spPr>
      </p:pic>
      <p:sp>
        <p:nvSpPr>
          <p:cNvPr id="10" name="element_1f49e3654358ae94849873640bb8dd92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Twechie · BY-SA 2.0 via Openverse</a:t>
            </a:r>
            <a:endParaRPr lang="en-US" sz="1400" dirty="0"/>
          </a:p>
        </p:txBody>
      </p:sp>
      <p:sp>
        <p:nvSpPr>
          <p:cNvPr id="11" name="element_341dd253a370ff11e74b5e452add810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038284e48593fe065f003b45cd1bf26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992fee1ba91e4ca9a004597e6742ccf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984821d2d18834ecaad9338c796c49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WORKFLOW / 04</a:t>
            </a:r>
            <a:endParaRPr lang="en-US" sz="1500" dirty="0"/>
          </a:p>
        </p:txBody>
      </p:sp>
      <p:sp>
        <p:nvSpPr>
          <p:cNvPr id="4" name="element_ef0891e5a06abf23a358a58c8698ae5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→ propose → commit, with scope checked at every boundary.</a:t>
            </a:r>
            <a:endParaRPr lang="en-US" sz="3800" dirty="0"/>
          </a:p>
        </p:txBody>
      </p:sp>
      <p:sp>
        <p:nvSpPr>
          <p:cNvPr id="5" name="element_936a74298efc3b7abbef258a6b0a6a5b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agent can reason broadly, but it may only write inside the explicit deck, slide, element, comment, or bounding-box scope.</a:t>
            </a:r>
            <a:endParaRPr lang="en-US" sz="1900" dirty="0"/>
          </a:p>
        </p:txBody>
      </p:sp>
      <p:sp>
        <p:nvSpPr>
          <p:cNvPr id="6" name="element_f1c7ebd935abf6b80eb862d29cfd5a00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Read context</a:t>
            </a:r>
            <a:endParaRPr lang="en-US" sz="1700" dirty="0"/>
          </a:p>
        </p:txBody>
      </p:sp>
      <p:sp>
        <p:nvSpPr>
          <p:cNvPr id="7" name="element_fb59147033d0ebdd355fa8269598ac05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Propose an inspectable patch</a:t>
            </a:r>
            <a:endParaRPr lang="en-US" sz="1700" dirty="0"/>
          </a:p>
        </p:txBody>
      </p:sp>
      <p:sp>
        <p:nvSpPr>
          <p:cNvPr id="8" name="element_f7b1cce2eec47ae1dd15aca03b4bd7f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Validate and accept atomically</a:t>
            </a:r>
            <a:endParaRPr lang="en-US" sz="1700" dirty="0"/>
          </a:p>
        </p:txBody>
      </p:sp>
      <p:pic>
        <p:nvPicPr>
          <p:cNvPr id="9" name="element_a705e78f7921d0e1fac8cd9ad39b969b [math static fallback]" descr="The agent can only mutate the intersection of requested and authorized scop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1598" y="2880360"/>
            <a:ext cx="4754761" cy="1645920"/>
          </a:xfrm>
          <a:prstGeom prst="rect">
            <a:avLst/>
          </a:prstGeom>
        </p:spPr>
      </p:pic>
      <p:sp>
        <p:nvSpPr>
          <p:cNvPr id="10" name="element_6b81672eb33f6f3bab1a306a5225585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4e650c9873f5ff83c458fa1061032d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def08ab2d5e7ba2c61f74ebe1bffb5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56a34b2404d13745579338bf1a39ab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PROOF / 05</a:t>
            </a:r>
            <a:endParaRPr lang="en-US" sz="1500" dirty="0"/>
          </a:p>
        </p:txBody>
      </p:sp>
      <p:sp>
        <p:nvSpPr>
          <p:cNvPr id="4" name="element_bb189d7fad6c7da0c80f10526543fcd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beautiful deck still needs deterministic gates.</a:t>
            </a:r>
            <a:endParaRPr lang="en-US" sz="3800" dirty="0"/>
          </a:p>
        </p:txBody>
      </p:sp>
      <p:sp>
        <p:nvSpPr>
          <p:cNvPr id="5" name="element_2dbd943c7a617031f1f3e8ec37db9c89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Structural, geometry, source, and export checks produce separate signals for basic validity, publishing safety, and a clean handoff.</a:t>
            </a:r>
            <a:endParaRPr lang="en-US" sz="1900" dirty="0"/>
          </a:p>
        </p:txBody>
      </p:sp>
      <p:sp>
        <p:nvSpPr>
          <p:cNvPr id="6" name="element_19f293b4e7ada3cd94c1183477019783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ok · structurally valid</a:t>
            </a:r>
            <a:endParaRPr lang="en-US" sz="1700" dirty="0"/>
          </a:p>
        </p:txBody>
      </p:sp>
      <p:sp>
        <p:nvSpPr>
          <p:cNvPr id="7" name="element_aa8e3696b9384ba3ade4b98d5b38b63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publishOk · safe to present</a:t>
            </a:r>
            <a:endParaRPr lang="en-US" sz="1700" dirty="0"/>
          </a:p>
        </p:txBody>
      </p:sp>
      <p:sp>
        <p:nvSpPr>
          <p:cNvPr id="8" name="element_e6f314307e588bed0a859b2a51659c07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cleanOk · no warnings</a:t>
            </a:r>
            <a:endParaRPr lang="en-US" sz="1700" dirty="0"/>
          </a:p>
        </p:txBody>
      </p:sp>
      <p:sp>
        <p:nvSpPr>
          <p:cNvPr id="9" name="element_b984e08193aa888c60ba83586925c6d3"/>
          <p:cNvSpPr txBox="1"/>
          <p:nvPr/>
        </p:nvSpPr>
        <p:spPr>
          <a:xfrm>
            <a:off x="6827349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gates</a:t>
            </a:r>
            <a:endParaRPr lang="en-US" sz="4300" dirty="0"/>
          </a:p>
        </p:txBody>
      </p:sp>
      <p:sp>
        <p:nvSpPr>
          <p:cNvPr id="10" name="element_0c8520065e64c93c8bcf57c0dc962eaf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independent validation signals: ok, publishOk, cleanOk</a:t>
            </a:r>
            <a:endParaRPr lang="en-US" sz="1500" dirty="0"/>
          </a:p>
        </p:txBody>
      </p:sp>
      <p:graphicFrame>
        <p:nvGraphicFramePr>
          <p:cNvPr id="11" name="element_b7c2e0c95e109751e80b94665c00c355" descr=""/>
          <p:cNvGraphicFramePr/>
          <p:nvPr/>
        </p:nvGraphicFramePr>
        <p:xfrm>
          <a:off x="6461598" y="4800600"/>
          <a:ext cx="4754761" cy="11658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bc1ba3f5f882fb9fe388949e7c6b72d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9ca83d3b7c753479f3d0630471ac9b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ea2645e6466e1e09758f9f1135ffed53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2ee0b375792c78930ab30c14c760bc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TRUST / 06</a:t>
            </a:r>
            <a:endParaRPr lang="en-US" sz="1500" dirty="0"/>
          </a:p>
        </p:txBody>
      </p:sp>
      <p:sp>
        <p:nvSpPr>
          <p:cNvPr id="4" name="element_33b695d9609af4fdcd51933aab93ad3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become context. Patches remain choices.</a:t>
            </a:r>
            <a:endParaRPr lang="en-US" sz="3800" dirty="0"/>
          </a:p>
        </p:txBody>
      </p:sp>
      <p:sp>
        <p:nvSpPr>
          <p:cNvPr id="5" name="element_bdff415a134d419988dc74e4e61e1fe9"/>
          <p:cNvSpPr txBox="1"/>
          <p:nvPr/>
        </p:nvSpPr>
        <p:spPr>
          <a:xfrm>
            <a:off x="853419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reviewer can anchor feedback to a deck, slide, element, or region; link the resolution to an accepted patch; and restore any prior snapshot.</a:t>
            </a:r>
            <a:endParaRPr lang="en-US" sz="1900" dirty="0"/>
          </a:p>
        </p:txBody>
      </p:sp>
      <p:sp>
        <p:nvSpPr>
          <p:cNvPr id="6" name="element_4ebd1f3665e900252dd8bdf1c34e6caf"/>
          <p:cNvSpPr txBox="1"/>
          <p:nvPr/>
        </p:nvSpPr>
        <p:spPr>
          <a:xfrm>
            <a:off x="853419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Anchored discussion</a:t>
            </a:r>
            <a:endParaRPr lang="en-US" sz="1700" dirty="0"/>
          </a:p>
        </p:txBody>
      </p:sp>
      <p:sp>
        <p:nvSpPr>
          <p:cNvPr id="7" name="element_17da4dc09a7123b6f357b5d9dfc15263"/>
          <p:cNvSpPr txBox="1"/>
          <p:nvPr/>
        </p:nvSpPr>
        <p:spPr>
          <a:xfrm>
            <a:off x="4389010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Compare-and-set acceptance</a:t>
            </a:r>
            <a:endParaRPr lang="en-US" sz="1700" dirty="0"/>
          </a:p>
        </p:txBody>
      </p:sp>
      <p:sp>
        <p:nvSpPr>
          <p:cNvPr id="8" name="element_f675e796b7e596ad6305417440114f4d"/>
          <p:cNvSpPr txBox="1"/>
          <p:nvPr/>
        </p:nvSpPr>
        <p:spPr>
          <a:xfrm>
            <a:off x="7924602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Version recovery</a:t>
            </a:r>
            <a:endParaRPr lang="en-US" sz="1700" dirty="0"/>
          </a:p>
        </p:txBody>
      </p:sp>
      <p:sp>
        <p:nvSpPr>
          <p:cNvPr id="9" name="element_053c53287496f1b91eddc1ef6e5239a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e192349583606f6fa2c5b79dd9ea538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ce658c1da4abd36c7ec578e67486eb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30a87e8755d10a2d6c44f0c5e38517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NEXT / 07</a:t>
            </a:r>
            <a:endParaRPr lang="en-US" sz="1500" dirty="0"/>
          </a:p>
        </p:txBody>
      </p:sp>
      <p:sp>
        <p:nvSpPr>
          <p:cNvPr id="4" name="element_cb8ce3567c03e909d5f790b9f031dc1c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at presentation speed without giving up engineering-grade trust.</a:t>
            </a:r>
            <a:endParaRPr lang="en-US" sz="3800" dirty="0"/>
          </a:p>
        </p:txBody>
      </p:sp>
      <p:sp>
        <p:nvSpPr>
          <p:cNvPr id="5" name="element_922ece3ccc860fdefad3c3071d580b19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with a brief, shape the narrative together, and leave with a deck whose content, sources, changes, and exports are still yours.</a:t>
            </a:r>
            <a:endParaRPr lang="en-US" sz="1900" dirty="0"/>
          </a:p>
        </p:txBody>
      </p:sp>
      <p:sp>
        <p:nvSpPr>
          <p:cNvPr id="6" name="element_f11a8ef5547f4dce84f69bf38e032b55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Create from brief</a:t>
            </a:r>
            <a:endParaRPr lang="en-US" sz="1600" dirty="0"/>
          </a:p>
        </p:txBody>
      </p:sp>
      <p:sp>
        <p:nvSpPr>
          <p:cNvPr id="7" name="element_e2b0e4eba4202bd8be4f93912c83383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Review every change</a:t>
            </a:r>
            <a:endParaRPr lang="en-US" sz="1600" dirty="0"/>
          </a:p>
        </p:txBody>
      </p:sp>
      <p:sp>
        <p:nvSpPr>
          <p:cNvPr id="8" name="element_30ce98e8d6b80d2212b45a9c8585f11c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Present with confidence</a:t>
            </a:r>
            <a:endParaRPr lang="en-US" sz="1600" dirty="0"/>
          </a:p>
        </p:txBody>
      </p:sp>
      <p:sp>
        <p:nvSpPr>
          <p:cNvPr id="9" name="element_f472fdd9e3ed8cec18794254e2f1313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7e652075b630fedc909b2eb5ac48ac2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stories with structure</dc:title>
  <dc:subject>Demonstrate the NodeSlide product story with a credible, polished golden deck</dc:subject>
  <dc:creator>NodeSlide</dc:creator>
  <cp:lastModifiedBy>NodeSlide</cp:lastModifiedBy>
  <cp:revision>1</cp:revision>
  <dcterms:created xsi:type="dcterms:W3CDTF">2026-07-21T02:27:56Z</dcterms:created>
  <dcterms:modified xsi:type="dcterms:W3CDTF">2026-07-21T02:27:56Z</dcterms:modified>
</cp:coreProperties>
</file>