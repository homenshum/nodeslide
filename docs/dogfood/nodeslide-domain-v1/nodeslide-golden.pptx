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ok</c:v>
                  </c:pt>
                  <c:pt idx="1">
                    <c:v>publish</c:v>
                  </c:pt>
                  <c:pt idx="2">
                    <c:v>clean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NodeSlide / 01. Keep the spoken transition focused on “Build the story. Keep every decision editable.”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Scenario / 02. Keep the spoken transition focused on “Keep source context attached as the story moves.”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
[source_9166291db29d5f29909e29a0d8103ecb]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Foundation / 03. Keep the spoken transition focused on “Structure turns a visual artifact into an operating surface.”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
[source_9166291db29d5f29909e29a0d8103ecb]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Workflow / 04. Keep the spoken transition focused on “Plan → propose → commit, with scope checked at every boundary.”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
[source_9166291db29d5f29909e29a0d8103ecb]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Proof / 05. Keep the spoken transition focused on “A beautiful deck still needs deterministic gates.”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
[source_9166291db29d5f29909e29a0d8103ecb]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Trust / 06. Keep the spoken transition focused on “Comments become context. Patches remain choices.”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Next / 07. Keep the spoken transition focused on “Move at presentation speed without giving up engineering-grade trust.”
Evidence note: Content is based on the supplied creation brief. Illustrative examples are not independently verified; replace them with measured evidence before external publication.
NodeSlide sources
[source_eb6f482081316bbfef1b23151b379cc3]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4bb266d8b30ee96e3ba6d2bcec5a51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9e433d86cdb0e9ce35490d0b50f8b5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29f443b6b0e9c7e218aca4c213e1e4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/ 01</a:t>
            </a:r>
            <a:endParaRPr lang="en-US" sz="1500" dirty="0"/>
          </a:p>
        </p:txBody>
      </p:sp>
      <p:sp>
        <p:nvSpPr>
          <p:cNvPr id="5" name="element_729da4302a801963eb9301d2ad4f45e5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story. Keep every decision editable.</a:t>
            </a:r>
            <a:endParaRPr lang="en-US" sz="4800" dirty="0"/>
          </a:p>
        </p:txBody>
      </p:sp>
      <p:sp>
        <p:nvSpPr>
          <p:cNvPr id="6" name="element_5378b9d22985f6483da3089708242a1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treats a deck as a typed system: narrative, geometry, sources, comments, and changes stay connected from first brief to final room.</a:t>
            </a:r>
            <a:endParaRPr lang="en-US" sz="1900" dirty="0"/>
          </a:p>
        </p:txBody>
      </p:sp>
      <p:sp>
        <p:nvSpPr>
          <p:cNvPr id="7" name="element_2884836eae2b5ac0251ec315218a463c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canvas</a:t>
            </a:r>
            <a:endParaRPr lang="en-US" sz="1600" dirty="0"/>
          </a:p>
        </p:txBody>
      </p:sp>
      <p:sp>
        <p:nvSpPr>
          <p:cNvPr id="8" name="element_e9e0ac3ae1103959ffb415d155ea2eac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Guarded edits</a:t>
            </a:r>
            <a:endParaRPr lang="en-US" sz="1600" dirty="0"/>
          </a:p>
        </p:txBody>
      </p:sp>
      <p:sp>
        <p:nvSpPr>
          <p:cNvPr id="9" name="element_d7e0c60767b9c77ca0490c8f2620f28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Traceable claims</a:t>
            </a:r>
            <a:endParaRPr lang="en-US" sz="1600" dirty="0"/>
          </a:p>
        </p:txBody>
      </p:sp>
      <p:sp>
        <p:nvSpPr>
          <p:cNvPr id="10" name="element_afa1445e71343dc9874b4937b3e3f04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1531f5f2e586c0a414c730b88509866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ff5bc5962780c010684138f496bb911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45cd07865401e6b76f306bcec00129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7ed444176f9e815ed519322d862db60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SCENARIO / 02</a:t>
            </a:r>
            <a:endParaRPr lang="en-US" sz="1500" dirty="0"/>
          </a:p>
        </p:txBody>
      </p:sp>
      <p:sp>
        <p:nvSpPr>
          <p:cNvPr id="5" name="element_9795d8a1e172a4d994caf66d6414157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source context attached as the story moves.</a:t>
            </a:r>
            <a:endParaRPr lang="en-US" sz="3800" dirty="0"/>
          </a:p>
        </p:txBody>
      </p:sp>
      <p:sp>
        <p:nvSpPr>
          <p:cNvPr id="6" name="element_87e833662e178b3d07ba67d4b0a24b3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golden scenario focuses on one design goal: keep copy, layout, citations, and feedback connected through drafting, review, revision, and handoff.</a:t>
            </a:r>
            <a:endParaRPr lang="en-US" sz="1900" dirty="0"/>
          </a:p>
        </p:txBody>
      </p:sp>
      <p:sp>
        <p:nvSpPr>
          <p:cNvPr id="7" name="element_bc5a313065d2d1cd4941bd9b21d63e2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Draft with source context</a:t>
            </a:r>
            <a:endParaRPr lang="en-US" sz="1700" dirty="0"/>
          </a:p>
        </p:txBody>
      </p:sp>
      <p:sp>
        <p:nvSpPr>
          <p:cNvPr id="8" name="element_5b6f9b1ff82fe76ce1880ac03ad1d8b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on stable anchors</a:t>
            </a:r>
            <a:endParaRPr lang="en-US" sz="1700" dirty="0"/>
          </a:p>
        </p:txBody>
      </p:sp>
      <p:sp>
        <p:nvSpPr>
          <p:cNvPr id="9" name="element_204d9eb6a4b5ecad252613df93392f7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Hand off editable structure</a:t>
            </a:r>
            <a:endParaRPr lang="en-US" sz="1700" dirty="0"/>
          </a:p>
        </p:txBody>
      </p:sp>
      <p:sp>
        <p:nvSpPr>
          <p:cNvPr id="10" name="element_ac604e6863af4935b0a3f88efd80001b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</a:t>
            </a:r>
            <a:endParaRPr lang="en-US" sz="5600" dirty="0"/>
          </a:p>
        </p:txBody>
      </p:sp>
      <p:sp>
        <p:nvSpPr>
          <p:cNvPr id="11" name="element_b4d2b98aa26e96a037fce9328bce0d18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Qualitative workflow label — not a measured benchmark</a:t>
            </a:r>
            <a:endParaRPr lang="en-US" sz="1500" dirty="0"/>
          </a:p>
        </p:txBody>
      </p:sp>
      <p:sp>
        <p:nvSpPr>
          <p:cNvPr id="12" name="element_ff0f88e8dfe00998d57c20769a9e390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2b52970cb49ed12fb665ed2a5c5e1d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5013980cdf574ef9a3945e3362f5e5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5c22ac303bac62375235a1949d7c7f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904710a9932fd0d294aa8f0d280c472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FOUNDATION / 03</a:t>
            </a:r>
            <a:endParaRPr lang="en-US" sz="1500" dirty="0"/>
          </a:p>
        </p:txBody>
      </p:sp>
      <p:sp>
        <p:nvSpPr>
          <p:cNvPr id="5" name="element_f0b0753148f984f26bf2ac40f5126ba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turns a visual artifact into an operating surface.</a:t>
            </a:r>
            <a:endParaRPr lang="en-US" sz="3800" dirty="0"/>
          </a:p>
        </p:txBody>
      </p:sp>
      <p:sp>
        <p:nvSpPr>
          <p:cNvPr id="6" name="element_fa7ed116f5f52f8b3cf54be8d874c73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Slides and elements carry stable IDs, normalized geometry, source links, export capability, locks, and independent versions.</a:t>
            </a:r>
            <a:endParaRPr lang="en-US" sz="1900" dirty="0"/>
          </a:p>
        </p:txBody>
      </p:sp>
      <p:sp>
        <p:nvSpPr>
          <p:cNvPr id="7" name="element_17153d78dfa9bc302f4e6be00e94a763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Stable IDs survive every view</a:t>
            </a:r>
            <a:endParaRPr lang="en-US" sz="1700" dirty="0"/>
          </a:p>
        </p:txBody>
      </p:sp>
      <p:sp>
        <p:nvSpPr>
          <p:cNvPr id="8" name="element_a083b6194447f47851270c927eed152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Normalized boxes travel across renderers</a:t>
            </a:r>
            <a:endParaRPr lang="en-US" sz="1700" dirty="0"/>
          </a:p>
        </p:txBody>
      </p:sp>
      <p:sp>
        <p:nvSpPr>
          <p:cNvPr id="9" name="element_76cd7a0d6f1556c8341e15b80f4de6d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Locks protect intent</a:t>
            </a:r>
            <a:endParaRPr lang="en-US" sz="1700" dirty="0"/>
          </a:p>
        </p:txBody>
      </p:sp>
      <p:sp>
        <p:nvSpPr>
          <p:cNvPr id="10" name="element_5e52a380e5e2b6c8aaf0c2aab12525ba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1" name="element_5e52a380e5e2b6c8aaf0c2aab12525ba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deck graph connecting slides, elements, sources, and versions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canonical deck graph keeps every artifact connected.</a:t>
            </a:r>
            <a:endParaRPr lang="en-US" sz="1400" dirty="0"/>
          </a:p>
        </p:txBody>
      </p:sp>
      <p:sp>
        <p:nvSpPr>
          <p:cNvPr id="12" name="element_7daeb11a11b3c1ee17636a78f752275f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canonical deck graph keeps every artifact connected.</a:t>
            </a:r>
            <a:endParaRPr lang="en-US" sz="1400" dirty="0"/>
          </a:p>
        </p:txBody>
      </p:sp>
      <p:sp>
        <p:nvSpPr>
          <p:cNvPr id="13" name="element_1a94eb22c800a9d3b58274817bbf2ee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1d1fb929ec1c87031012748a9395d90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378cb8853f3b5a80c3fd290653a28d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8580d6dc9328c672e56f8695a1ba12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0656d19b150c06aa0462bac795200a1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WORKFLOW / 04</a:t>
            </a:r>
            <a:endParaRPr lang="en-US" sz="1500" dirty="0"/>
          </a:p>
        </p:txBody>
      </p:sp>
      <p:sp>
        <p:nvSpPr>
          <p:cNvPr id="5" name="element_c722e8e4c24159b9336a7ed9f283c18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→ propose → commit, with scope checked at every boundary.</a:t>
            </a:r>
            <a:endParaRPr lang="en-US" sz="3800" dirty="0"/>
          </a:p>
        </p:txBody>
      </p:sp>
      <p:sp>
        <p:nvSpPr>
          <p:cNvPr id="6" name="element_33b30fa577a74f35be7364c94bb4cdb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agent can reason broadly, but it may only write inside the explicit deck, slide, element, comment, or bounding-box scope.</a:t>
            </a:r>
            <a:endParaRPr lang="en-US" sz="1900" dirty="0"/>
          </a:p>
        </p:txBody>
      </p:sp>
      <p:sp>
        <p:nvSpPr>
          <p:cNvPr id="7" name="element_e9316c00eb7dae80238142b4d859b5bc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Read context</a:t>
            </a:r>
            <a:endParaRPr lang="en-US" sz="1700" dirty="0"/>
          </a:p>
        </p:txBody>
      </p:sp>
      <p:sp>
        <p:nvSpPr>
          <p:cNvPr id="8" name="element_16b50b88158499ad4c54c06e41c2fce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Propose an inspectable patch</a:t>
            </a:r>
            <a:endParaRPr lang="en-US" sz="1700" dirty="0"/>
          </a:p>
        </p:txBody>
      </p:sp>
      <p:sp>
        <p:nvSpPr>
          <p:cNvPr id="9" name="element_f53225b5fe3b142d14843d4623d8e4c6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Validate and accept atomically</a:t>
            </a:r>
            <a:endParaRPr lang="en-US" sz="1700" dirty="0"/>
          </a:p>
        </p:txBody>
      </p:sp>
      <p:sp>
        <p:nvSpPr>
          <p:cNvPr id="10" name="element_273d00d9131ca6c87106d0fb160e5255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authorized change = requested scope ∩ allowed scope</a:t>
            </a:r>
            <a:endParaRPr lang="en-US" sz="3000" dirty="0"/>
          </a:p>
        </p:txBody>
      </p:sp>
      <p:sp>
        <p:nvSpPr>
          <p:cNvPr id="11" name="element_476710e3250482343af08dc3ff5208d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a4f2f1d806504a710b61195b3f39f04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6879f5b92b9a5a2cdf6bca80e6ca17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744c0f4aa525cdd34921fbe03d7050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5be6cd04515e63082888ff34a5e48e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PROOF / 05</a:t>
            </a:r>
            <a:endParaRPr lang="en-US" sz="1500" dirty="0"/>
          </a:p>
        </p:txBody>
      </p:sp>
      <p:sp>
        <p:nvSpPr>
          <p:cNvPr id="5" name="element_82f891406c434b03c3614a9e2fb7755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beautiful deck still needs deterministic gates.</a:t>
            </a:r>
            <a:endParaRPr lang="en-US" sz="3800" dirty="0"/>
          </a:p>
        </p:txBody>
      </p:sp>
      <p:sp>
        <p:nvSpPr>
          <p:cNvPr id="6" name="element_d41f6c85f7bd0924a0f5c75cfaddf3ad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Structural, geometry, source, and export checks produce separate signals for basic validity, publishing safety, and a clean handoff.</a:t>
            </a:r>
            <a:endParaRPr lang="en-US" sz="1900" dirty="0"/>
          </a:p>
        </p:txBody>
      </p:sp>
      <p:sp>
        <p:nvSpPr>
          <p:cNvPr id="7" name="element_e562008434cfab97b2c353875440777a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ok · structurally valid</a:t>
            </a:r>
            <a:endParaRPr lang="en-US" sz="1700" dirty="0"/>
          </a:p>
        </p:txBody>
      </p:sp>
      <p:sp>
        <p:nvSpPr>
          <p:cNvPr id="8" name="element_dc37b85904618e04c22cb13012b40c62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publishOk · safe to present</a:t>
            </a:r>
            <a:endParaRPr lang="en-US" sz="1700" dirty="0"/>
          </a:p>
        </p:txBody>
      </p:sp>
      <p:sp>
        <p:nvSpPr>
          <p:cNvPr id="9" name="element_ec19aaa2029b02bd2d109b9cbec0bcd3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cleanOk · no warnings</a:t>
            </a:r>
            <a:endParaRPr lang="en-US" sz="1700" dirty="0"/>
          </a:p>
        </p:txBody>
      </p:sp>
      <p:sp>
        <p:nvSpPr>
          <p:cNvPr id="10" name="element_a606a28bd371b47ba40d91d7c7e78fc9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gates</a:t>
            </a:r>
            <a:endParaRPr lang="en-US" sz="4300" dirty="0"/>
          </a:p>
        </p:txBody>
      </p:sp>
      <p:sp>
        <p:nvSpPr>
          <p:cNvPr id="11" name="element_5a6ff4a5ecaf760c63fdcc995c4d014f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independent validation signals: ok, publishOk, cleanOk</a:t>
            </a:r>
            <a:endParaRPr lang="en-US" sz="1500" dirty="0"/>
          </a:p>
        </p:txBody>
      </p:sp>
      <p:graphicFrame>
        <p:nvGraphicFramePr>
          <p:cNvPr id="12" name="element_eba41f0c14faf338e8873aa648f92b92" descr=""/>
          <p:cNvGraphicFramePr/>
          <p:nvPr/>
        </p:nvGraphicFramePr>
        <p:xfrm>
          <a:off x="6461598" y="4800600"/>
          <a:ext cx="4754761" cy="11658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element_e8f0ffc9792aa91fb489f95289ed6ef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d7a6b95ef6ff94dff5483ee65ac98d2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d229caec6f66e457e90bbef915a3b2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491c3e7d24240ae7d7bb0072d691eb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554fc81093b95bdd15cd7da7398a7e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TRUST / 06</a:t>
            </a:r>
            <a:endParaRPr lang="en-US" sz="1500" dirty="0"/>
          </a:p>
        </p:txBody>
      </p:sp>
      <p:sp>
        <p:nvSpPr>
          <p:cNvPr id="5" name="element_266ebcd61e3edc0097e384309e1de41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become context. Patches remain choices.</a:t>
            </a:r>
            <a:endParaRPr lang="en-US" sz="3800" dirty="0"/>
          </a:p>
        </p:txBody>
      </p:sp>
      <p:sp>
        <p:nvSpPr>
          <p:cNvPr id="6" name="element_aebfd3c87fb5234246ed8eaa2dc7c672"/>
          <p:cNvSpPr txBox="1"/>
          <p:nvPr/>
        </p:nvSpPr>
        <p:spPr>
          <a:xfrm>
            <a:off x="853419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reviewer can anchor feedback to a deck, slide, element, or region; link the resolution to an accepted patch; and restore any prior snapshot.</a:t>
            </a:r>
            <a:endParaRPr lang="en-US" sz="1900" dirty="0"/>
          </a:p>
        </p:txBody>
      </p:sp>
      <p:sp>
        <p:nvSpPr>
          <p:cNvPr id="7" name="element_de564ee75933cd88c9e0c226efe55649"/>
          <p:cNvSpPr txBox="1"/>
          <p:nvPr/>
        </p:nvSpPr>
        <p:spPr>
          <a:xfrm>
            <a:off x="853419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Anchored discussion</a:t>
            </a:r>
            <a:endParaRPr lang="en-US" sz="1700" dirty="0"/>
          </a:p>
        </p:txBody>
      </p:sp>
      <p:sp>
        <p:nvSpPr>
          <p:cNvPr id="8" name="element_38d2741595e667cb5063c334a4217dfd"/>
          <p:cNvSpPr txBox="1"/>
          <p:nvPr/>
        </p:nvSpPr>
        <p:spPr>
          <a:xfrm>
            <a:off x="4389010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Compare-and-set acceptance</a:t>
            </a:r>
            <a:endParaRPr lang="en-US" sz="1700" dirty="0"/>
          </a:p>
        </p:txBody>
      </p:sp>
      <p:sp>
        <p:nvSpPr>
          <p:cNvPr id="9" name="element_11d0e6fc1a4190334487839825a514d0"/>
          <p:cNvSpPr txBox="1"/>
          <p:nvPr/>
        </p:nvSpPr>
        <p:spPr>
          <a:xfrm>
            <a:off x="7924602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Version recovery</a:t>
            </a:r>
            <a:endParaRPr lang="en-US" sz="1700" dirty="0"/>
          </a:p>
        </p:txBody>
      </p:sp>
      <p:sp>
        <p:nvSpPr>
          <p:cNvPr id="10" name="element_3b285cacb9bbe413ae5e56cc1f811d9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7475d1ef6f5d51c06499aaf8fa11b40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20bd3e06e7921fdae1b46c3337edc81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939c5cef3359c82bf358902ad5d9ed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c66d866551ade78da1e2f24ab08be41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NEXT / 07</a:t>
            </a:r>
            <a:endParaRPr lang="en-US" sz="1500" dirty="0"/>
          </a:p>
        </p:txBody>
      </p:sp>
      <p:sp>
        <p:nvSpPr>
          <p:cNvPr id="5" name="element_3d4e1464e3c8c109dd6d3bac4e883a1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at presentation speed without giving up engineering-grade trust.</a:t>
            </a:r>
            <a:endParaRPr lang="en-US" sz="3800" dirty="0"/>
          </a:p>
        </p:txBody>
      </p:sp>
      <p:sp>
        <p:nvSpPr>
          <p:cNvPr id="6" name="element_257b004c78dbb29cae662bb2dda85a2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with a brief, shape the narrative together, and leave with a deck whose content, sources, changes, and exports are still yours.</a:t>
            </a:r>
            <a:endParaRPr lang="en-US" sz="1900" dirty="0"/>
          </a:p>
        </p:txBody>
      </p:sp>
      <p:sp>
        <p:nvSpPr>
          <p:cNvPr id="7" name="element_1e451b7f09dcad9b11292ee0169c700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Create from brief</a:t>
            </a:r>
            <a:endParaRPr lang="en-US" sz="1600" dirty="0"/>
          </a:p>
        </p:txBody>
      </p:sp>
      <p:sp>
        <p:nvSpPr>
          <p:cNvPr id="8" name="element_e8e5f4a5b006c02063c98ed3ea6b87ad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Review every change</a:t>
            </a:r>
            <a:endParaRPr lang="en-US" sz="1600" dirty="0"/>
          </a:p>
        </p:txBody>
      </p:sp>
      <p:sp>
        <p:nvSpPr>
          <p:cNvPr id="9" name="element_a3a3295ca708ee0fae856b12126c836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Present with confidence</a:t>
            </a:r>
            <a:endParaRPr lang="en-US" sz="1600" dirty="0"/>
          </a:p>
        </p:txBody>
      </p:sp>
      <p:sp>
        <p:nvSpPr>
          <p:cNvPr id="10" name="element_3d2626824b2c865994a9b2dc900357a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bcdca2e6a9b2ed5b86d9a97c536aa87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stories with structure</dc:title>
  <dc:subject>Demonstrate the NodeSlide product story with a credible, polished golden deck</dc:subject>
  <dc:creator>NodeSlide</dc:creator>
  <cp:lastModifiedBy>NodeSlide</cp:lastModifiedBy>
  <cp:revision>1</cp:revision>
  <dcterms:created xsi:type="dcterms:W3CDTF">2026-07-27T21:04:25Z</dcterms:created>
  <dcterms:modified xsi:type="dcterms:W3CDTF">2026-07-27T21:04:25Z</dcterms:modified>
</cp:coreProperties>
</file>